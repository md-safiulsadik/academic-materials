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8" r:id="rId2"/>
    <p:sldId id="353" r:id="rId3"/>
    <p:sldId id="354" r:id="rId4"/>
    <p:sldId id="387" r:id="rId5"/>
    <p:sldId id="355" r:id="rId6"/>
    <p:sldId id="388" r:id="rId7"/>
    <p:sldId id="356" r:id="rId8"/>
    <p:sldId id="389" r:id="rId9"/>
    <p:sldId id="427" r:id="rId10"/>
    <p:sldId id="428" r:id="rId11"/>
    <p:sldId id="476" r:id="rId12"/>
    <p:sldId id="477" r:id="rId13"/>
    <p:sldId id="478" r:id="rId14"/>
    <p:sldId id="357" r:id="rId15"/>
    <p:sldId id="358" r:id="rId16"/>
    <p:sldId id="359" r:id="rId17"/>
    <p:sldId id="480" r:id="rId18"/>
    <p:sldId id="479" r:id="rId19"/>
    <p:sldId id="482" r:id="rId20"/>
    <p:sldId id="483" r:id="rId21"/>
    <p:sldId id="484" r:id="rId22"/>
    <p:sldId id="485" r:id="rId23"/>
    <p:sldId id="481" r:id="rId24"/>
    <p:sldId id="486" r:id="rId25"/>
    <p:sldId id="487" r:id="rId26"/>
    <p:sldId id="488" r:id="rId27"/>
    <p:sldId id="396" r:id="rId28"/>
    <p:sldId id="397" r:id="rId29"/>
    <p:sldId id="401" r:id="rId30"/>
    <p:sldId id="398" r:id="rId31"/>
    <p:sldId id="399" r:id="rId32"/>
    <p:sldId id="400" r:id="rId33"/>
    <p:sldId id="368" r:id="rId34"/>
    <p:sldId id="402" r:id="rId35"/>
    <p:sldId id="403" r:id="rId36"/>
    <p:sldId id="489" r:id="rId37"/>
    <p:sldId id="490" r:id="rId38"/>
    <p:sldId id="491" r:id="rId39"/>
    <p:sldId id="430" r:id="rId4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009999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9120" autoAdjust="0"/>
  </p:normalViewPr>
  <p:slideViewPr>
    <p:cSldViewPr snapToGrid="0">
      <p:cViewPr varScale="1">
        <p:scale>
          <a:sx n="85" d="100"/>
          <a:sy n="85" d="100"/>
        </p:scale>
        <p:origin x="134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862"/>
    </p:cViewPr>
  </p:sorterViewPr>
  <p:notesViewPr>
    <p:cSldViewPr snapToGrid="0">
      <p:cViewPr>
        <p:scale>
          <a:sx n="66" d="100"/>
          <a:sy n="66" d="100"/>
        </p:scale>
        <p:origin x="-984" y="-58"/>
      </p:cViewPr>
      <p:guideLst>
        <p:guide orient="horz" pos="3025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7.xml"/><Relationship Id="rId2" Type="http://schemas.openxmlformats.org/officeDocument/2006/relationships/slide" Target="slides/slide3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53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t" anchorCtr="0" compatLnSpc="1">
            <a:prstTxWarp prst="textNoShape">
              <a:avLst/>
            </a:prstTxWarp>
          </a:bodyPr>
          <a:lstStyle>
            <a:lvl1pPr defTabSz="966788">
              <a:defRPr sz="1200"/>
            </a:lvl1pPr>
          </a:lstStyle>
          <a:p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0675" y="0"/>
            <a:ext cx="32115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2413"/>
            <a:ext cx="31353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b" anchorCtr="0" compatLnSpc="1">
            <a:prstTxWarp prst="textNoShape">
              <a:avLst/>
            </a:prstTxWarp>
          </a:bodyPr>
          <a:lstStyle>
            <a:lvl1pPr defTabSz="966788">
              <a:defRPr sz="1200"/>
            </a:lvl1pPr>
          </a:lstStyle>
          <a:p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0675" y="9142413"/>
            <a:ext cx="32115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fld id="{7B57EB3D-BE7E-44B2-86BA-6C84A77C5E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>
            <a:lvl1pPr defTabSz="1020763">
              <a:defRPr sz="1400"/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400"/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b" anchorCtr="0" compatLnSpc="1">
            <a:prstTxWarp prst="textNoShape">
              <a:avLst/>
            </a:prstTxWarp>
          </a:bodyPr>
          <a:lstStyle>
            <a:lvl1pPr defTabSz="1020763">
              <a:defRPr sz="1400"/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400"/>
            </a:lvl1pPr>
          </a:lstStyle>
          <a:p>
            <a:fld id="{F5981114-7927-46FD-AC83-97BAEE9A2D5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C9C6BB-82E1-4179-B201-12C3D842AABF}" type="slidenum">
              <a:rPr lang="en-US"/>
              <a:pPr/>
              <a:t>1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6765EF-2606-4448-A5A9-8A97B646B1D8}" type="slidenum">
              <a:rPr lang="en-US"/>
              <a:pPr/>
              <a:t>7</a:t>
            </a:fld>
            <a:endParaRPr lang="en-US"/>
          </a:p>
        </p:txBody>
      </p:sp>
      <p:sp>
        <p:nvSpPr>
          <p:cNvPr id="57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No. The total gate input cost remains the same.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A08E70-60AF-45DC-B914-6A9CC0BE8540}" type="slidenum">
              <a:rPr lang="en-US"/>
              <a:pPr/>
              <a:t>15</a:t>
            </a:fld>
            <a:endParaRPr lang="en-US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over table explaining how entries were obtained, particularly those containing Xs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1" name="Text Box 1051"/>
          <p:cNvSpPr txBox="1">
            <a:spLocks noChangeArrowheads="1"/>
          </p:cNvSpPr>
          <p:nvPr userDrawn="1"/>
        </p:nvSpPr>
        <p:spPr bwMode="auto">
          <a:xfrm>
            <a:off x="1833563" y="5167313"/>
            <a:ext cx="5913437" cy="153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200" b="1"/>
              <a:t>Charles Kime &amp; Thomas Kaminski</a:t>
            </a:r>
          </a:p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200">
                <a:cs typeface="Times New Roman" pitchFamily="18" charset="0"/>
              </a:rPr>
              <a:t>© 2004 Pearson Education, Inc.</a:t>
            </a:r>
            <a:br>
              <a:rPr lang="en-US" sz="2200">
                <a:cs typeface="Times New Roman" pitchFamily="18" charset="0"/>
              </a:rPr>
            </a:br>
            <a:r>
              <a:rPr lang="en-US" sz="2200">
                <a:cs typeface="Times New Roman" pitchFamily="18" charset="0"/>
                <a:hlinkClick r:id="" action="ppaction://hlinkshowjump?jump=lastslide"/>
              </a:rPr>
              <a:t>Terms of Use</a:t>
            </a:r>
            <a:br>
              <a:rPr lang="en-US" sz="2200">
                <a:cs typeface="Times New Roman" pitchFamily="18" charset="0"/>
              </a:rPr>
            </a:br>
            <a:r>
              <a:rPr lang="en-US" sz="1800">
                <a:cs typeface="Times New Roman" pitchFamily="18" charset="0"/>
              </a:rPr>
              <a:t>(Hyperlinks are active in View Show mode)</a:t>
            </a:r>
          </a:p>
        </p:txBody>
      </p:sp>
      <p:sp>
        <p:nvSpPr>
          <p:cNvPr id="6172" name="Text Box 1052"/>
          <p:cNvSpPr txBox="1">
            <a:spLocks noChangeArrowheads="1"/>
          </p:cNvSpPr>
          <p:nvPr userDrawn="1"/>
        </p:nvSpPr>
        <p:spPr bwMode="auto">
          <a:xfrm>
            <a:off x="1301750" y="2847975"/>
            <a:ext cx="6978650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4000" b="1" dirty="0">
                <a:solidFill>
                  <a:schemeClr val="hlink"/>
                </a:solidFill>
                <a:latin typeface="Helvetica" pitchFamily="34" charset="0"/>
              </a:rPr>
              <a:t>Chapter 3 – Combinational Logic Design</a:t>
            </a:r>
          </a:p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400" b="1" dirty="0">
                <a:solidFill>
                  <a:schemeClr val="hlink"/>
                </a:solidFill>
                <a:latin typeface="Helvetica" pitchFamily="34" charset="0"/>
              </a:rPr>
              <a:t>Part 2 – Encoder, Multiplexer, Adder</a:t>
            </a:r>
            <a:endParaRPr lang="en-US" sz="2400" b="1" dirty="0">
              <a:solidFill>
                <a:schemeClr val="hlink"/>
              </a:solidFill>
            </a:endParaRPr>
          </a:p>
        </p:txBody>
      </p:sp>
      <p:sp>
        <p:nvSpPr>
          <p:cNvPr id="6173" name="Text Box 1053"/>
          <p:cNvSpPr txBox="1">
            <a:spLocks noChangeArrowheads="1"/>
          </p:cNvSpPr>
          <p:nvPr userDrawn="1"/>
        </p:nvSpPr>
        <p:spPr bwMode="auto">
          <a:xfrm>
            <a:off x="904875" y="2179638"/>
            <a:ext cx="7772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b="1"/>
              <a:t>Logic and Computer Design Fundamentals</a:t>
            </a:r>
          </a:p>
        </p:txBody>
      </p:sp>
      <p:sp>
        <p:nvSpPr>
          <p:cNvPr id="6174" name="Line 1054"/>
          <p:cNvSpPr>
            <a:spLocks noChangeShapeType="1"/>
          </p:cNvSpPr>
          <p:nvPr userDrawn="1"/>
        </p:nvSpPr>
        <p:spPr bwMode="auto">
          <a:xfrm>
            <a:off x="579438" y="1935163"/>
            <a:ext cx="8015287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78F56C46-B32F-44AF-8035-121CDED981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2A785447-DD71-46D2-AA87-9AC8CFC042C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138" y="1314450"/>
            <a:ext cx="3810000" cy="5027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1538" y="1314450"/>
            <a:ext cx="3810000" cy="5027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4DB6DF5A-27CB-4472-955C-BD2ECDC113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47799879-55C2-463D-8C0B-169097B8C2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FF4836FC-7F41-46D2-B8F0-408B793E22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80939B9B-7934-4468-B89C-236572F2B2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8EE35770-DEE8-446A-98E2-B858139AE4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77C09889-7A44-449C-BD41-5EEA52629A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50BE36D8-4F38-4CD4-83F3-C1411A21F8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8438" y="0"/>
            <a:ext cx="19431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5963" y="0"/>
            <a:ext cx="5680075" cy="63420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DA9996F5-CE90-4D42-9863-7ACB75A8B7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Picture 47" descr="C:\Documents and Settings\Charles R Kime\My Documents\Texts\Website\PowerPoint_Slides\Work_Area\Chapter_01\watermark.jpg"/>
          <p:cNvPicPr>
            <a:picLocks noChangeAspect="1" noChangeArrowheads="1"/>
          </p:cNvPicPr>
          <p:nvPr userDrawn="1"/>
        </p:nvPicPr>
        <p:blipFill>
          <a:blip r:embed="rId13" cstate="print"/>
          <a:srcRect t="39345"/>
          <a:stretch>
            <a:fillRect/>
          </a:stretch>
        </p:blipFill>
        <p:spPr bwMode="auto">
          <a:xfrm>
            <a:off x="693738" y="6353175"/>
            <a:ext cx="2230437" cy="476250"/>
          </a:xfrm>
          <a:prstGeom prst="rect">
            <a:avLst/>
          </a:prstGeom>
          <a:noFill/>
        </p:spPr>
      </p:pic>
      <p:sp>
        <p:nvSpPr>
          <p:cNvPr id="1072" name="Text Box 48"/>
          <p:cNvSpPr txBox="1">
            <a:spLocks noChangeArrowheads="1"/>
          </p:cNvSpPr>
          <p:nvPr userDrawn="1"/>
        </p:nvSpPr>
        <p:spPr bwMode="auto">
          <a:xfrm>
            <a:off x="696913" y="6338888"/>
            <a:ext cx="2728912" cy="519112"/>
          </a:xfrm>
          <a:prstGeom prst="rect">
            <a:avLst/>
          </a:prstGeom>
          <a:noFill/>
          <a:ln w="1588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sz="2800" b="1">
              <a:solidFill>
                <a:schemeClr val="accent2"/>
              </a:solidFill>
            </a:endParaRPr>
          </a:p>
        </p:txBody>
      </p:sp>
      <p:sp>
        <p:nvSpPr>
          <p:cNvPr id="1074" name="Rectangle 5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7350" y="6489700"/>
            <a:ext cx="23812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cs typeface="Times New Roman" pitchFamily="18" charset="0"/>
              </a:defRPr>
            </a:lvl1pPr>
          </a:lstStyle>
          <a:p>
            <a:r>
              <a:rPr lang="en-US"/>
              <a:t>Chapter 3 - Part 1        </a:t>
            </a:r>
            <a:fld id="{9846C95D-D136-4B96-BF18-D43BED9EF8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75" name="Line 51"/>
          <p:cNvSpPr>
            <a:spLocks noChangeShapeType="1"/>
          </p:cNvSpPr>
          <p:nvPr userDrawn="1"/>
        </p:nvSpPr>
        <p:spPr bwMode="auto">
          <a:xfrm>
            <a:off x="581025" y="1173163"/>
            <a:ext cx="8015288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076" name="Rectangle 52"/>
          <p:cNvSpPr>
            <a:spLocks noGrp="1" noChangeArrowheads="1"/>
          </p:cNvSpPr>
          <p:nvPr>
            <p:ph type="title"/>
          </p:nvPr>
        </p:nvSpPr>
        <p:spPr bwMode="auto">
          <a:xfrm>
            <a:off x="715963" y="0"/>
            <a:ext cx="7772400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7" name="Rectangle 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314450"/>
            <a:ext cx="7772400" cy="502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622EEE53-04C3-4408-8B92-1724C4A81658}" type="slidenum">
              <a:rPr lang="en-US"/>
              <a:pPr/>
              <a:t>2</a:t>
            </a:fld>
            <a:endParaRPr lang="en-US"/>
          </a:p>
        </p:txBody>
      </p:sp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Part1 - </a:t>
            </a:r>
            <a:r>
              <a:rPr lang="en-US" sz="2000" dirty="0"/>
              <a:t>Introduction</a:t>
            </a: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000" dirty="0"/>
              <a:t>Design Topics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Design hierarchy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Design Procedure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The major design steps: specification, formulation, optimization, technology mapping, and verification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Technology Mapping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 From AND, OR, and NOT to other gate types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Decoders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Part 2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Encoders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Multiplexers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Binary Adders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3EA9DFC1-E4E2-4BD4-B8DA-1C9C2D66A1F0}" type="slidenum">
              <a:rPr lang="en-US"/>
              <a:pPr/>
              <a:t>3</a:t>
            </a:fld>
            <a:endParaRPr lang="en-US"/>
          </a:p>
        </p:txBody>
      </p:sp>
      <p:sp>
        <p:nvSpPr>
          <p:cNvPr id="574469" name="Rectangle 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Encoding</a:t>
            </a:r>
          </a:p>
        </p:txBody>
      </p:sp>
      <p:sp>
        <p:nvSpPr>
          <p:cNvPr id="57447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65138" y="1228725"/>
            <a:ext cx="8650287" cy="5027613"/>
          </a:xfrm>
        </p:spPr>
        <p:txBody>
          <a:bodyPr/>
          <a:lstStyle/>
          <a:p>
            <a:r>
              <a:rPr lang="en-US" sz="2800"/>
              <a:t>Encoding - the opposite of decoding - the conversion of an </a:t>
            </a:r>
            <a:r>
              <a:rPr lang="en-US" sz="2800" i="1"/>
              <a:t>m</a:t>
            </a:r>
            <a:r>
              <a:rPr lang="en-US" sz="2800"/>
              <a:t>-bit input code to a </a:t>
            </a:r>
            <a:r>
              <a:rPr lang="en-US" sz="2800" i="1"/>
              <a:t>n</a:t>
            </a:r>
            <a:r>
              <a:rPr lang="en-US" sz="2800"/>
              <a:t>-bit output code with </a:t>
            </a:r>
            <a:r>
              <a:rPr lang="en-US" sz="2800" i="1"/>
              <a:t>n</a:t>
            </a:r>
            <a:r>
              <a:rPr lang="en-US" sz="2800"/>
              <a:t> </a:t>
            </a:r>
            <a:r>
              <a:rPr lang="en-US" sz="2800">
                <a:latin typeface="Symbol" pitchFamily="18" charset="2"/>
              </a:rPr>
              <a:t>£ </a:t>
            </a:r>
            <a:r>
              <a:rPr lang="en-US" sz="2800" i="1"/>
              <a:t>m</a:t>
            </a:r>
            <a:r>
              <a:rPr lang="en-US" sz="2800"/>
              <a:t> </a:t>
            </a:r>
            <a:r>
              <a:rPr lang="en-US" sz="2800">
                <a:latin typeface="Symbol" pitchFamily="18" charset="2"/>
              </a:rPr>
              <a:t>£ </a:t>
            </a:r>
            <a:r>
              <a:rPr lang="en-US" sz="2800"/>
              <a:t> 2</a:t>
            </a:r>
            <a:r>
              <a:rPr lang="en-US" sz="2800" i="1" baseline="30000"/>
              <a:t>n  </a:t>
            </a:r>
            <a:r>
              <a:rPr lang="en-US" sz="2800"/>
              <a:t>such that each valid code word produces a unique output code</a:t>
            </a:r>
          </a:p>
          <a:p>
            <a:r>
              <a:rPr lang="en-US" sz="2800"/>
              <a:t>Circuits that perform encoding are called </a:t>
            </a:r>
            <a:r>
              <a:rPr lang="en-US" sz="2800" i="1"/>
              <a:t>encoders</a:t>
            </a:r>
          </a:p>
          <a:p>
            <a:r>
              <a:rPr lang="en-US" sz="2800"/>
              <a:t>An encoder has 2</a:t>
            </a:r>
            <a:r>
              <a:rPr lang="en-US" sz="2800" i="1" baseline="30000"/>
              <a:t>n</a:t>
            </a:r>
            <a:r>
              <a:rPr lang="en-US" sz="2800"/>
              <a:t> (or fewer) input lines and </a:t>
            </a:r>
            <a:r>
              <a:rPr lang="en-US" sz="2800" i="1"/>
              <a:t>n</a:t>
            </a:r>
            <a:r>
              <a:rPr lang="en-US" sz="2800"/>
              <a:t> output lines which generate the binary code corresponding to the input values</a:t>
            </a:r>
          </a:p>
          <a:p>
            <a:r>
              <a:rPr lang="en-US" sz="2800"/>
              <a:t>Typically, an encoder converts a code containing exactly one bit that is 1 to a binary code corres-ponding to the position in which the 1 appears.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73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8325" y="1384324"/>
            <a:ext cx="7200332" cy="271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9680BD94-A7A2-416C-A9F6-06D92E0CA4DB}" type="slidenum">
              <a:rPr lang="en-US"/>
              <a:pPr/>
              <a:t>5</a:t>
            </a:fld>
            <a:endParaRPr lang="en-US"/>
          </a:p>
        </p:txBody>
      </p:sp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Encoder Example</a:t>
            </a:r>
          </a:p>
        </p:txBody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138" y="1314450"/>
            <a:ext cx="7874000" cy="5027613"/>
          </a:xfrm>
        </p:spPr>
        <p:txBody>
          <a:bodyPr/>
          <a:lstStyle/>
          <a:p>
            <a:r>
              <a:rPr lang="en-US" dirty="0"/>
              <a:t>A decimal-to-BCD encoder</a:t>
            </a:r>
          </a:p>
          <a:p>
            <a:pPr lvl="1"/>
            <a:r>
              <a:rPr lang="en-US" dirty="0"/>
              <a:t>Inputs: 10 bits corresponding to decimal digits 0 through 9, (D</a:t>
            </a:r>
            <a:r>
              <a:rPr lang="en-US" baseline="-20000" dirty="0"/>
              <a:t>0</a:t>
            </a:r>
            <a:r>
              <a:rPr lang="en-US" dirty="0"/>
              <a:t>, …, D</a:t>
            </a:r>
            <a:r>
              <a:rPr lang="en-US" baseline="-20000" dirty="0"/>
              <a:t>9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Outputs: 4 bits with BCD codes</a:t>
            </a:r>
          </a:p>
          <a:p>
            <a:pPr lvl="1"/>
            <a:r>
              <a:rPr lang="en-US" dirty="0"/>
              <a:t>Function: If input bit D</a:t>
            </a:r>
            <a:r>
              <a:rPr lang="en-US" baseline="-25000" dirty="0"/>
              <a:t>i</a:t>
            </a:r>
            <a:r>
              <a:rPr lang="en-US" dirty="0"/>
              <a:t> is a 1, then the output (A</a:t>
            </a:r>
            <a:r>
              <a:rPr lang="en-US" baseline="-20000" dirty="0"/>
              <a:t>3</a:t>
            </a:r>
            <a:r>
              <a:rPr lang="en-US" dirty="0"/>
              <a:t>, A</a:t>
            </a:r>
            <a:r>
              <a:rPr lang="en-US" baseline="-20000" dirty="0"/>
              <a:t>2</a:t>
            </a:r>
            <a:r>
              <a:rPr lang="en-US" dirty="0"/>
              <a:t>, A</a:t>
            </a:r>
            <a:r>
              <a:rPr lang="en-US" baseline="-20000" dirty="0"/>
              <a:t>1</a:t>
            </a:r>
            <a:r>
              <a:rPr lang="en-US" dirty="0"/>
              <a:t>, A</a:t>
            </a:r>
            <a:r>
              <a:rPr lang="en-US" baseline="-20000" dirty="0"/>
              <a:t>0</a:t>
            </a:r>
            <a:r>
              <a:rPr lang="en-US" dirty="0"/>
              <a:t>) is the BCD code for </a:t>
            </a:r>
            <a:r>
              <a:rPr lang="en-US" dirty="0" err="1"/>
              <a:t>i</a:t>
            </a:r>
            <a:r>
              <a:rPr lang="en-US" i="1" dirty="0"/>
              <a:t>,</a:t>
            </a:r>
            <a:endParaRPr lang="en-US" dirty="0"/>
          </a:p>
          <a:p>
            <a:r>
              <a:rPr lang="en-US" dirty="0"/>
              <a:t>The truth table could be formed, but alternatively, the equations for each of the four outputs can be obtained directly.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Decimal-to-BCD encoder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74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3767" y="1711514"/>
            <a:ext cx="4312693" cy="3633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99B24EF3-A15E-471E-8297-511886E150E1}" type="slidenum">
              <a:rPr lang="en-US"/>
              <a:pPr/>
              <a:t>7</a:t>
            </a:fld>
            <a:endParaRPr lang="en-US"/>
          </a:p>
        </p:txBody>
      </p:sp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7388" y="0"/>
            <a:ext cx="7772400" cy="1020763"/>
          </a:xfrm>
        </p:spPr>
        <p:txBody>
          <a:bodyPr/>
          <a:lstStyle/>
          <a:p>
            <a:r>
              <a:rPr lang="en-US" dirty="0"/>
              <a:t>Encoder Example (continued)</a:t>
            </a: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402" y="1177970"/>
            <a:ext cx="4667680" cy="5027613"/>
          </a:xfrm>
        </p:spPr>
        <p:txBody>
          <a:bodyPr/>
          <a:lstStyle/>
          <a:p>
            <a:r>
              <a:rPr lang="en-US" sz="2800" dirty="0"/>
              <a:t>Input D</a:t>
            </a:r>
            <a:r>
              <a:rPr lang="en-US" sz="2800" baseline="-25000" dirty="0"/>
              <a:t>i</a:t>
            </a:r>
            <a:r>
              <a:rPr lang="en-US" sz="2800" i="1" dirty="0"/>
              <a:t> </a:t>
            </a:r>
            <a:r>
              <a:rPr lang="en-US" sz="2800" dirty="0"/>
              <a:t>is a term in equation </a:t>
            </a:r>
            <a:r>
              <a:rPr lang="en-US" sz="2800" i="1" dirty="0" err="1"/>
              <a:t>A</a:t>
            </a:r>
            <a:r>
              <a:rPr lang="en-US" sz="2800" baseline="-20000" dirty="0" err="1"/>
              <a:t>j</a:t>
            </a:r>
            <a:r>
              <a:rPr lang="en-US" sz="2800" baseline="-20000" dirty="0"/>
              <a:t> </a:t>
            </a:r>
            <a:r>
              <a:rPr lang="en-US" sz="2800" dirty="0"/>
              <a:t>if bit </a:t>
            </a:r>
            <a:r>
              <a:rPr lang="en-US" sz="2800" i="1" dirty="0" err="1"/>
              <a:t>A</a:t>
            </a:r>
            <a:r>
              <a:rPr lang="en-US" sz="2800" baseline="-20000" dirty="0" err="1"/>
              <a:t>j</a:t>
            </a:r>
            <a:r>
              <a:rPr lang="en-US" sz="2800" dirty="0"/>
              <a:t> is 1 in the binary value for </a:t>
            </a:r>
            <a:r>
              <a:rPr lang="en-US" sz="2800" dirty="0" err="1"/>
              <a:t>i</a:t>
            </a:r>
            <a:r>
              <a:rPr lang="en-US" sz="2800" dirty="0"/>
              <a:t>.</a:t>
            </a:r>
          </a:p>
          <a:p>
            <a:r>
              <a:rPr lang="en-US" sz="2800" dirty="0"/>
              <a:t>Equations:</a:t>
            </a:r>
          </a:p>
          <a:p>
            <a:pPr lvl="1">
              <a:buFontTx/>
              <a:buNone/>
            </a:pPr>
            <a:r>
              <a:rPr lang="en-US" sz="2400" dirty="0"/>
              <a:t>A</a:t>
            </a:r>
            <a:r>
              <a:rPr lang="en-US" sz="2400" baseline="-25000" dirty="0"/>
              <a:t>3</a:t>
            </a:r>
            <a:r>
              <a:rPr lang="en-US" sz="2400" dirty="0"/>
              <a:t> = D</a:t>
            </a:r>
            <a:r>
              <a:rPr lang="en-US" sz="2400" baseline="-25000" dirty="0"/>
              <a:t>8</a:t>
            </a:r>
            <a:r>
              <a:rPr lang="en-US" sz="2400" dirty="0"/>
              <a:t> + D</a:t>
            </a:r>
            <a:r>
              <a:rPr lang="en-US" sz="2400" baseline="-25000" dirty="0"/>
              <a:t>9</a:t>
            </a:r>
          </a:p>
          <a:p>
            <a:pPr lvl="1">
              <a:buFontTx/>
              <a:buNone/>
            </a:pPr>
            <a:r>
              <a:rPr lang="en-US" sz="2400" dirty="0"/>
              <a:t>A</a:t>
            </a:r>
            <a:r>
              <a:rPr lang="en-US" sz="2400" baseline="-25000" dirty="0"/>
              <a:t>2</a:t>
            </a:r>
            <a:r>
              <a:rPr lang="en-US" sz="2400" dirty="0"/>
              <a:t> = D</a:t>
            </a:r>
            <a:r>
              <a:rPr lang="en-US" sz="2400" baseline="-25000" dirty="0"/>
              <a:t>4</a:t>
            </a:r>
            <a:r>
              <a:rPr lang="en-US" sz="2400" dirty="0"/>
              <a:t> + D</a:t>
            </a:r>
            <a:r>
              <a:rPr lang="en-US" sz="2400" baseline="-25000" dirty="0"/>
              <a:t>5</a:t>
            </a:r>
            <a:r>
              <a:rPr lang="en-US" sz="2400" dirty="0"/>
              <a:t> + D</a:t>
            </a:r>
            <a:r>
              <a:rPr lang="en-US" sz="2400" baseline="-25000" dirty="0"/>
              <a:t>6</a:t>
            </a:r>
            <a:r>
              <a:rPr lang="en-US" sz="2400" dirty="0"/>
              <a:t> + D</a:t>
            </a:r>
            <a:r>
              <a:rPr lang="en-US" sz="2400" baseline="-25000" dirty="0"/>
              <a:t>7</a:t>
            </a:r>
          </a:p>
          <a:p>
            <a:pPr lvl="1">
              <a:buFontTx/>
              <a:buNone/>
            </a:pPr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 = D</a:t>
            </a:r>
            <a:r>
              <a:rPr lang="en-US" sz="2400" baseline="-25000" dirty="0"/>
              <a:t>2</a:t>
            </a:r>
            <a:r>
              <a:rPr lang="en-US" sz="2400" dirty="0"/>
              <a:t> + D</a:t>
            </a:r>
            <a:r>
              <a:rPr lang="en-US" sz="2400" baseline="-25000" dirty="0"/>
              <a:t>3</a:t>
            </a:r>
            <a:r>
              <a:rPr lang="en-US" sz="2400" dirty="0"/>
              <a:t> + D</a:t>
            </a:r>
            <a:r>
              <a:rPr lang="en-US" sz="2400" baseline="-25000" dirty="0"/>
              <a:t>6</a:t>
            </a:r>
            <a:r>
              <a:rPr lang="en-US" sz="2400" dirty="0"/>
              <a:t> + D</a:t>
            </a:r>
            <a:r>
              <a:rPr lang="en-US" sz="2400" baseline="-25000" dirty="0"/>
              <a:t>7</a:t>
            </a:r>
          </a:p>
          <a:p>
            <a:pPr lvl="1">
              <a:buFontTx/>
              <a:buNone/>
            </a:pPr>
            <a:r>
              <a:rPr lang="en-US" sz="2400" dirty="0"/>
              <a:t>A</a:t>
            </a:r>
            <a:r>
              <a:rPr lang="en-US" sz="2400" baseline="-25000" dirty="0"/>
              <a:t>0</a:t>
            </a:r>
            <a:r>
              <a:rPr lang="en-US" sz="2400" dirty="0"/>
              <a:t> = D</a:t>
            </a:r>
            <a:r>
              <a:rPr lang="en-US" sz="2400" baseline="-25000" dirty="0"/>
              <a:t>1</a:t>
            </a:r>
            <a:r>
              <a:rPr lang="en-US" sz="2400" dirty="0"/>
              <a:t> + D</a:t>
            </a:r>
            <a:r>
              <a:rPr lang="en-US" sz="2400" baseline="-25000" dirty="0"/>
              <a:t>3</a:t>
            </a:r>
            <a:r>
              <a:rPr lang="en-US" sz="2400" dirty="0"/>
              <a:t> + D</a:t>
            </a:r>
            <a:r>
              <a:rPr lang="en-US" sz="2400" baseline="-25000" dirty="0"/>
              <a:t>5</a:t>
            </a:r>
            <a:r>
              <a:rPr lang="en-US" sz="2400" dirty="0"/>
              <a:t> + D</a:t>
            </a:r>
            <a:r>
              <a:rPr lang="en-US" sz="2400" baseline="-25000" dirty="0"/>
              <a:t>7</a:t>
            </a:r>
            <a:r>
              <a:rPr lang="en-US" sz="2400" dirty="0"/>
              <a:t> + D</a:t>
            </a:r>
            <a:r>
              <a:rPr lang="en-US" sz="2400" baseline="-25000" dirty="0"/>
              <a:t>9</a:t>
            </a:r>
          </a:p>
          <a:p>
            <a:r>
              <a:rPr lang="en-US" sz="2800" dirty="0"/>
              <a:t>F</a:t>
            </a:r>
            <a:r>
              <a:rPr lang="en-US" sz="2800" baseline="-25000" dirty="0"/>
              <a:t>1</a:t>
            </a:r>
            <a:r>
              <a:rPr lang="en-US" sz="2800" dirty="0"/>
              <a:t> = D</a:t>
            </a:r>
            <a:r>
              <a:rPr lang="en-US" sz="2800" baseline="-25000" dirty="0"/>
              <a:t>6</a:t>
            </a:r>
            <a:r>
              <a:rPr lang="en-US" sz="2800" dirty="0"/>
              <a:t> + D</a:t>
            </a:r>
            <a:r>
              <a:rPr lang="en-US" sz="2800" baseline="-25000" dirty="0"/>
              <a:t>7</a:t>
            </a:r>
            <a:r>
              <a:rPr lang="en-US" sz="2800" dirty="0"/>
              <a:t> can be extracted from A</a:t>
            </a:r>
            <a:r>
              <a:rPr lang="en-US" sz="2800" baseline="-25000" dirty="0"/>
              <a:t>2</a:t>
            </a:r>
            <a:r>
              <a:rPr lang="en-US" sz="2800" dirty="0"/>
              <a:t> and A</a:t>
            </a:r>
            <a:r>
              <a:rPr lang="en-US" sz="2800" baseline="-25000" dirty="0"/>
              <a:t>1</a:t>
            </a:r>
            <a:r>
              <a:rPr lang="en-US" sz="2800" dirty="0"/>
              <a:t> Is there any cost saving?</a:t>
            </a:r>
          </a:p>
        </p:txBody>
      </p:sp>
      <p:pic>
        <p:nvPicPr>
          <p:cNvPr id="553985" name="Picture 1"/>
          <p:cNvPicPr>
            <a:picLocks noChangeAspect="1" noChangeArrowheads="1"/>
          </p:cNvPicPr>
          <p:nvPr/>
        </p:nvPicPr>
        <p:blipFill>
          <a:blip r:embed="rId3" cstate="print"/>
          <a:srcRect l="4020" r="2042"/>
          <a:stretch>
            <a:fillRect/>
          </a:stretch>
        </p:blipFill>
        <p:spPr bwMode="auto">
          <a:xfrm>
            <a:off x="4754102" y="1224529"/>
            <a:ext cx="4339989" cy="386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Example (continued)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indent="-647700">
              <a:buFontTx/>
              <a:buNone/>
            </a:pPr>
            <a:r>
              <a:rPr lang="en-US" sz="2000" dirty="0"/>
              <a:t>A</a:t>
            </a:r>
            <a:r>
              <a:rPr lang="en-US" sz="2000" baseline="-25000" dirty="0"/>
              <a:t>3</a:t>
            </a:r>
            <a:r>
              <a:rPr lang="en-US" sz="2000" dirty="0"/>
              <a:t> = D</a:t>
            </a:r>
            <a:r>
              <a:rPr lang="en-US" sz="2000" baseline="-25000" dirty="0"/>
              <a:t>8</a:t>
            </a:r>
            <a:r>
              <a:rPr lang="en-US" sz="2000" dirty="0"/>
              <a:t> + D</a:t>
            </a:r>
            <a:r>
              <a:rPr lang="en-US" sz="2000" baseline="-25000" dirty="0"/>
              <a:t>9</a:t>
            </a:r>
          </a:p>
          <a:p>
            <a:pPr lvl="1" indent="-647700">
              <a:buFontTx/>
              <a:buNone/>
            </a:pPr>
            <a:r>
              <a:rPr lang="en-US" sz="2000" dirty="0"/>
              <a:t>A</a:t>
            </a:r>
            <a:r>
              <a:rPr lang="en-US" sz="2000" baseline="-25000" dirty="0"/>
              <a:t>2</a:t>
            </a:r>
            <a:r>
              <a:rPr lang="en-US" sz="2000" dirty="0"/>
              <a:t> = D</a:t>
            </a:r>
            <a:r>
              <a:rPr lang="en-US" sz="2000" baseline="-25000" dirty="0"/>
              <a:t>4</a:t>
            </a:r>
            <a:r>
              <a:rPr lang="en-US" sz="2000" dirty="0"/>
              <a:t> + D</a:t>
            </a:r>
            <a:r>
              <a:rPr lang="en-US" sz="2000" baseline="-25000" dirty="0"/>
              <a:t>5</a:t>
            </a:r>
            <a:r>
              <a:rPr lang="en-US" sz="2000" dirty="0"/>
              <a:t> + D</a:t>
            </a:r>
            <a:r>
              <a:rPr lang="en-US" sz="2000" baseline="-25000" dirty="0"/>
              <a:t>6</a:t>
            </a:r>
            <a:r>
              <a:rPr lang="en-US" sz="2000" dirty="0"/>
              <a:t> + D</a:t>
            </a:r>
            <a:r>
              <a:rPr lang="en-US" sz="2000" baseline="-25000" dirty="0"/>
              <a:t>7</a:t>
            </a:r>
          </a:p>
          <a:p>
            <a:pPr lvl="1" indent="-647700">
              <a:buFontTx/>
              <a:buNone/>
            </a:pPr>
            <a:r>
              <a:rPr lang="en-US" sz="2000" dirty="0"/>
              <a:t>A</a:t>
            </a:r>
            <a:r>
              <a:rPr lang="en-US" sz="2000" baseline="-25000" dirty="0"/>
              <a:t>1</a:t>
            </a:r>
            <a:r>
              <a:rPr lang="en-US" sz="2000" dirty="0"/>
              <a:t> = D</a:t>
            </a:r>
            <a:r>
              <a:rPr lang="en-US" sz="2000" baseline="-25000" dirty="0"/>
              <a:t>2</a:t>
            </a:r>
            <a:r>
              <a:rPr lang="en-US" sz="2000" dirty="0"/>
              <a:t> + D</a:t>
            </a:r>
            <a:r>
              <a:rPr lang="en-US" sz="2000" baseline="-25000" dirty="0"/>
              <a:t>3</a:t>
            </a:r>
            <a:r>
              <a:rPr lang="en-US" sz="2000" dirty="0"/>
              <a:t> + D</a:t>
            </a:r>
            <a:r>
              <a:rPr lang="en-US" sz="2000" baseline="-25000" dirty="0"/>
              <a:t>6</a:t>
            </a:r>
            <a:r>
              <a:rPr lang="en-US" sz="2000" dirty="0"/>
              <a:t> + D</a:t>
            </a:r>
            <a:r>
              <a:rPr lang="en-US" sz="2000" baseline="-25000" dirty="0"/>
              <a:t>7</a:t>
            </a:r>
          </a:p>
          <a:p>
            <a:pPr lvl="1" indent="-647700">
              <a:buFontTx/>
              <a:buNone/>
            </a:pPr>
            <a:r>
              <a:rPr lang="en-US" sz="2000" dirty="0"/>
              <a:t>A</a:t>
            </a:r>
            <a:r>
              <a:rPr lang="en-US" sz="2000" baseline="-25000" dirty="0"/>
              <a:t>0</a:t>
            </a:r>
            <a:r>
              <a:rPr lang="en-US" sz="2000" dirty="0"/>
              <a:t> = D</a:t>
            </a:r>
            <a:r>
              <a:rPr lang="en-US" sz="2000" baseline="-25000" dirty="0"/>
              <a:t>1</a:t>
            </a:r>
            <a:r>
              <a:rPr lang="en-US" sz="2000" dirty="0"/>
              <a:t> + D</a:t>
            </a:r>
            <a:r>
              <a:rPr lang="en-US" sz="2000" baseline="-25000" dirty="0"/>
              <a:t>3</a:t>
            </a:r>
            <a:r>
              <a:rPr lang="en-US" sz="2000" dirty="0"/>
              <a:t> + D</a:t>
            </a:r>
            <a:r>
              <a:rPr lang="en-US" sz="2000" baseline="-25000" dirty="0"/>
              <a:t>5</a:t>
            </a:r>
            <a:r>
              <a:rPr lang="en-US" sz="2000" dirty="0"/>
              <a:t> + D</a:t>
            </a:r>
            <a:r>
              <a:rPr lang="en-US" sz="2000" baseline="-25000" dirty="0"/>
              <a:t>7</a:t>
            </a:r>
            <a:r>
              <a:rPr lang="en-US" sz="2000" dirty="0"/>
              <a:t> + D</a:t>
            </a:r>
            <a:r>
              <a:rPr lang="en-US" sz="2000" baseline="-25000" dirty="0"/>
              <a:t>9</a:t>
            </a:r>
          </a:p>
          <a:p>
            <a:endParaRPr lang="en-CA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76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7741" y="1426263"/>
            <a:ext cx="4523229" cy="310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Spring 2024 Question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561A1-DB33-0847-797C-C2B45934D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70" y="2072591"/>
            <a:ext cx="8714459" cy="271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0267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475129"/>
          </a:xfrm>
        </p:spPr>
        <p:txBody>
          <a:bodyPr/>
          <a:lstStyle/>
          <a:p>
            <a:r>
              <a:rPr lang="en-CA" dirty="0"/>
              <a:t>Spring 2024 Question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6E4CED-4941-C755-54A8-E1B8940B24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59" y="755620"/>
            <a:ext cx="4207792" cy="610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296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7C5A3-7234-6BE3-230F-A2D84D843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32" y="2779707"/>
            <a:ext cx="8751736" cy="129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1178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1"/>
            <a:ext cx="7772400" cy="457200"/>
          </a:xfrm>
        </p:spPr>
        <p:txBody>
          <a:bodyPr/>
          <a:lstStyle/>
          <a:p>
            <a:r>
              <a:rPr lang="en-CA" dirty="0"/>
              <a:t>Fall 2023 Question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4F5CF-882F-DCB2-E762-30D3B8CE28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11" y="1151518"/>
            <a:ext cx="3480854" cy="56482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341B3C-1E70-BD38-D78E-E28DFB648E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163" y="1295176"/>
            <a:ext cx="3388520" cy="536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5937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1"/>
            <a:ext cx="7772400" cy="457200"/>
          </a:xfrm>
        </p:spPr>
        <p:txBody>
          <a:bodyPr/>
          <a:lstStyle/>
          <a:p>
            <a:r>
              <a:rPr lang="en-CA" dirty="0"/>
              <a:t>Fall 2023 Question 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8E858E-DED9-7E72-6117-5EF1AAF75F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153" y="1353671"/>
            <a:ext cx="2995693" cy="528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4079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2B6296C4-5932-4B58-BC6D-37BDCD6D94B2}" type="slidenum">
              <a:rPr lang="en-US"/>
              <a:pPr/>
              <a:t>14</a:t>
            </a:fld>
            <a:endParaRPr lang="en-US"/>
          </a:p>
        </p:txBody>
      </p:sp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Encoder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138" y="1228725"/>
            <a:ext cx="7772400" cy="5027613"/>
          </a:xfrm>
        </p:spPr>
        <p:txBody>
          <a:bodyPr/>
          <a:lstStyle/>
          <a:p>
            <a:r>
              <a:rPr lang="en-US" sz="2800" dirty="0"/>
              <a:t>If more than one input value is 1, then the encoder just designed does not work. </a:t>
            </a:r>
          </a:p>
          <a:p>
            <a:r>
              <a:rPr lang="en-US" sz="2800" dirty="0"/>
              <a:t>One encoder that can accept all possible combinations of input values and produce a meaningful result is a </a:t>
            </a:r>
            <a:r>
              <a:rPr lang="en-US" sz="2800" i="1" dirty="0"/>
              <a:t>priority encoder</a:t>
            </a:r>
            <a:r>
              <a:rPr lang="en-US" sz="2800" dirty="0"/>
              <a:t>.</a:t>
            </a:r>
          </a:p>
          <a:p>
            <a:r>
              <a:rPr lang="en-US" sz="2800" dirty="0"/>
              <a:t>Among the 1s that appear, it selects the most significant input position (or the least significant input position) containing a 1 and responds with  the corresponding binary code for that position.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B31C8A78-6D9F-4A86-88F4-D13F92B6DB6D}" type="slidenum">
              <a:rPr lang="en-US"/>
              <a:pPr/>
              <a:t>15</a:t>
            </a:fld>
            <a:endParaRPr lang="en-US"/>
          </a:p>
        </p:txBody>
      </p:sp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Encoder Example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138" y="1149350"/>
            <a:ext cx="8424862" cy="5027613"/>
          </a:xfrm>
        </p:spPr>
        <p:txBody>
          <a:bodyPr/>
          <a:lstStyle/>
          <a:p>
            <a:r>
              <a:rPr lang="en-US" sz="2000"/>
              <a:t>Priority encoder with 5 inputs (D</a:t>
            </a:r>
            <a:r>
              <a:rPr lang="en-US" sz="2000" baseline="-25000"/>
              <a:t>4</a:t>
            </a:r>
            <a:r>
              <a:rPr lang="en-US" sz="2000"/>
              <a:t>, D</a:t>
            </a:r>
            <a:r>
              <a:rPr lang="en-US" sz="2000" baseline="-25000"/>
              <a:t>3</a:t>
            </a:r>
            <a:r>
              <a:rPr lang="en-US" sz="2000"/>
              <a:t>, D</a:t>
            </a:r>
            <a:r>
              <a:rPr lang="en-US" sz="2000" baseline="-25000"/>
              <a:t>2</a:t>
            </a:r>
            <a:r>
              <a:rPr lang="en-US" sz="2000"/>
              <a:t>, D</a:t>
            </a:r>
            <a:r>
              <a:rPr lang="en-US" sz="2000" baseline="-25000"/>
              <a:t>1</a:t>
            </a:r>
            <a:r>
              <a:rPr lang="en-US" sz="2000"/>
              <a:t>, D</a:t>
            </a:r>
            <a:r>
              <a:rPr lang="en-US" sz="2000" baseline="-25000"/>
              <a:t>0</a:t>
            </a:r>
            <a:r>
              <a:rPr lang="en-US" sz="2000"/>
              <a:t>) - highest priority to most significant 1 present - Code outputs A2, A1, A0 and V where V indicates at least one 1 present.</a:t>
            </a:r>
          </a:p>
          <a:p>
            <a:endParaRPr lang="en-US" sz="2000"/>
          </a:p>
          <a:p>
            <a:endParaRPr lang="en-US" sz="2400"/>
          </a:p>
          <a:p>
            <a:endParaRPr lang="en-US" sz="28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800"/>
          </a:p>
          <a:p>
            <a:r>
              <a:rPr lang="en-US" sz="2000"/>
              <a:t>Xs in input part of table represent 0 or 1; thus table entries correspond to product terms instead of minterms. The column on the left shows that all 32 minterms are present in the product terms in the table</a:t>
            </a:r>
          </a:p>
        </p:txBody>
      </p:sp>
      <p:graphicFrame>
        <p:nvGraphicFramePr>
          <p:cNvPr id="581851" name="Group 219"/>
          <p:cNvGraphicFramePr>
            <a:graphicFrameLocks noGrp="1"/>
          </p:cNvGraphicFramePr>
          <p:nvPr/>
        </p:nvGraphicFramePr>
        <p:xfrm>
          <a:off x="901700" y="2144713"/>
          <a:ext cx="7100888" cy="3169920"/>
        </p:xfrm>
        <a:graphic>
          <a:graphicData uri="http://schemas.openxmlformats.org/drawingml/2006/table">
            <a:tbl>
              <a:tblPr/>
              <a:tblGrid>
                <a:gridCol w="15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No. of Min-terms/Row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Inputs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Outputs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1A59F887-6E1A-40E1-AF0B-08697B0E31C9}" type="slidenum">
              <a:rPr lang="en-US"/>
              <a:pPr/>
              <a:t>16</a:t>
            </a:fld>
            <a:endParaRPr lang="en-US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609013" cy="1020763"/>
          </a:xfrm>
        </p:spPr>
        <p:txBody>
          <a:bodyPr/>
          <a:lstStyle/>
          <a:p>
            <a:r>
              <a:rPr lang="en-US" sz="4000"/>
              <a:t>Priority Encoder Example </a:t>
            </a:r>
            <a:r>
              <a:rPr lang="en-US" sz="4000" b="0"/>
              <a:t>(continued) </a:t>
            </a:r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use a K-map to get equations, but can be read directly from table and manually optimized if careful:</a:t>
            </a:r>
          </a:p>
          <a:p>
            <a:pPr lvl="1">
              <a:buFontTx/>
              <a:buNone/>
            </a:pPr>
            <a:r>
              <a:rPr lang="en-US" dirty="0"/>
              <a:t>A</a:t>
            </a:r>
            <a:r>
              <a:rPr lang="en-US" baseline="-25000" dirty="0"/>
              <a:t>2</a:t>
            </a:r>
            <a:r>
              <a:rPr lang="en-US" dirty="0"/>
              <a:t> = D</a:t>
            </a:r>
            <a:r>
              <a:rPr lang="en-US" baseline="-25000" dirty="0"/>
              <a:t>4</a:t>
            </a:r>
          </a:p>
          <a:p>
            <a:pPr lvl="1">
              <a:buFontTx/>
              <a:buNone/>
            </a:pPr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 =      D</a:t>
            </a:r>
            <a:r>
              <a:rPr lang="en-US" baseline="-25000" dirty="0"/>
              <a:t>3</a:t>
            </a:r>
            <a:r>
              <a:rPr lang="en-US" dirty="0"/>
              <a:t> +           D</a:t>
            </a:r>
            <a:r>
              <a:rPr lang="en-US" baseline="-25000" dirty="0"/>
              <a:t>2</a:t>
            </a:r>
            <a:r>
              <a:rPr lang="en-US" dirty="0"/>
              <a:t> =       F</a:t>
            </a:r>
            <a:r>
              <a:rPr lang="en-US" baseline="-25000" dirty="0"/>
              <a:t>1</a:t>
            </a:r>
            <a:r>
              <a:rPr lang="en-US" dirty="0"/>
              <a:t>,  F</a:t>
            </a:r>
            <a:r>
              <a:rPr lang="en-US" baseline="-25000" dirty="0"/>
              <a:t>1</a:t>
            </a:r>
            <a:r>
              <a:rPr lang="en-US" dirty="0"/>
              <a:t> = (D</a:t>
            </a:r>
            <a:r>
              <a:rPr lang="en-US" baseline="-25000" dirty="0"/>
              <a:t>3</a:t>
            </a:r>
            <a:r>
              <a:rPr lang="en-US" dirty="0"/>
              <a:t> + D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lvl="1">
              <a:buFontTx/>
              <a:buNone/>
            </a:pPr>
            <a:r>
              <a:rPr lang="en-US" dirty="0"/>
              <a:t>A</a:t>
            </a:r>
            <a:r>
              <a:rPr lang="en-US" baseline="-25000" dirty="0"/>
              <a:t>0</a:t>
            </a:r>
            <a:r>
              <a:rPr lang="en-US" dirty="0"/>
              <a:t> =      D</a:t>
            </a:r>
            <a:r>
              <a:rPr lang="en-US" baseline="-25000" dirty="0"/>
              <a:t>3</a:t>
            </a:r>
            <a:r>
              <a:rPr lang="en-US" dirty="0"/>
              <a:t> +                D</a:t>
            </a:r>
            <a:r>
              <a:rPr lang="en-US" baseline="-25000" dirty="0"/>
              <a:t>1</a:t>
            </a:r>
            <a:r>
              <a:rPr lang="en-US" dirty="0"/>
              <a:t> =       (D</a:t>
            </a:r>
            <a:r>
              <a:rPr lang="en-US" baseline="-25000" dirty="0"/>
              <a:t>3</a:t>
            </a:r>
            <a:r>
              <a:rPr lang="en-US" dirty="0"/>
              <a:t> </a:t>
            </a:r>
            <a:r>
              <a:rPr lang="en-US"/>
              <a:t>+      D</a:t>
            </a:r>
            <a:r>
              <a:rPr lang="en-US" baseline="-25000"/>
              <a:t>1</a:t>
            </a:r>
            <a:r>
              <a:rPr lang="en-US"/>
              <a:t>)</a:t>
            </a:r>
            <a:endParaRPr lang="en-US" dirty="0"/>
          </a:p>
          <a:p>
            <a:pPr lvl="1">
              <a:buFontTx/>
              <a:buNone/>
            </a:pPr>
            <a:r>
              <a:rPr lang="en-US" dirty="0"/>
              <a:t>V  = D</a:t>
            </a:r>
            <a:r>
              <a:rPr lang="en-US" baseline="-25000" dirty="0"/>
              <a:t>4</a:t>
            </a:r>
            <a:r>
              <a:rPr lang="en-US" dirty="0"/>
              <a:t> + F</a:t>
            </a:r>
            <a:r>
              <a:rPr lang="en-US" baseline="-25000" dirty="0"/>
              <a:t>1</a:t>
            </a:r>
            <a:r>
              <a:rPr lang="en-US" dirty="0"/>
              <a:t> + D</a:t>
            </a:r>
            <a:r>
              <a:rPr lang="en-US" baseline="-25000" dirty="0"/>
              <a:t>1</a:t>
            </a:r>
            <a:r>
              <a:rPr lang="en-US" dirty="0"/>
              <a:t> + D</a:t>
            </a:r>
            <a:r>
              <a:rPr lang="en-US" baseline="-25000" dirty="0"/>
              <a:t>0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</a:t>
            </a:r>
          </a:p>
          <a:p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868488" y="3376613"/>
            <a:ext cx="654050" cy="519112"/>
            <a:chOff x="1273" y="2463"/>
            <a:chExt cx="412" cy="327"/>
          </a:xfrm>
        </p:grpSpPr>
        <p:sp>
          <p:nvSpPr>
            <p:cNvPr id="583685" name="Text Box 5"/>
            <p:cNvSpPr txBox="1">
              <a:spLocks noChangeArrowheads="1"/>
            </p:cNvSpPr>
            <p:nvPr/>
          </p:nvSpPr>
          <p:spPr bwMode="auto">
            <a:xfrm>
              <a:off x="1273" y="2463"/>
              <a:ext cx="4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800" b="1" u="none" baseline="0" dirty="0"/>
                <a:t>D</a:t>
              </a:r>
              <a:r>
                <a:rPr lang="en-US" sz="2800" b="1" u="none" baseline="-25000" dirty="0"/>
                <a:t>4</a:t>
              </a:r>
            </a:p>
          </p:txBody>
        </p:sp>
        <p:sp>
          <p:nvSpPr>
            <p:cNvPr id="583686" name="Line 6"/>
            <p:cNvSpPr>
              <a:spLocks noChangeShapeType="1"/>
            </p:cNvSpPr>
            <p:nvPr/>
          </p:nvSpPr>
          <p:spPr bwMode="auto">
            <a:xfrm>
              <a:off x="1351" y="2523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544888" y="3376613"/>
            <a:ext cx="654050" cy="519112"/>
            <a:chOff x="1273" y="2463"/>
            <a:chExt cx="412" cy="327"/>
          </a:xfrm>
        </p:grpSpPr>
        <p:sp>
          <p:nvSpPr>
            <p:cNvPr id="583688" name="Text Box 8"/>
            <p:cNvSpPr txBox="1">
              <a:spLocks noChangeArrowheads="1"/>
            </p:cNvSpPr>
            <p:nvPr/>
          </p:nvSpPr>
          <p:spPr bwMode="auto">
            <a:xfrm>
              <a:off x="1273" y="2463"/>
              <a:ext cx="4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800" b="1" u="none" baseline="0" dirty="0"/>
                <a:t>D</a:t>
              </a:r>
              <a:r>
                <a:rPr lang="en-US" sz="2800" b="1" baseline="-25000" dirty="0"/>
                <a:t>3</a:t>
              </a:r>
              <a:endParaRPr lang="en-US" sz="2800" b="1" u="none" dirty="0"/>
            </a:p>
          </p:txBody>
        </p:sp>
        <p:sp>
          <p:nvSpPr>
            <p:cNvPr id="583689" name="Line 9"/>
            <p:cNvSpPr>
              <a:spLocks noChangeShapeType="1"/>
            </p:cNvSpPr>
            <p:nvPr/>
          </p:nvSpPr>
          <p:spPr bwMode="auto">
            <a:xfrm>
              <a:off x="1351" y="2523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151188" y="3376613"/>
            <a:ext cx="654050" cy="519112"/>
            <a:chOff x="1273" y="2463"/>
            <a:chExt cx="412" cy="327"/>
          </a:xfrm>
        </p:grpSpPr>
        <p:sp>
          <p:nvSpPr>
            <p:cNvPr id="583691" name="Text Box 11"/>
            <p:cNvSpPr txBox="1">
              <a:spLocks noChangeArrowheads="1"/>
            </p:cNvSpPr>
            <p:nvPr/>
          </p:nvSpPr>
          <p:spPr bwMode="auto">
            <a:xfrm>
              <a:off x="1273" y="2463"/>
              <a:ext cx="4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800" b="1" u="none" baseline="0" dirty="0"/>
                <a:t>D</a:t>
              </a:r>
              <a:r>
                <a:rPr lang="en-US" sz="2800" b="1" baseline="-25000" dirty="0"/>
                <a:t>4</a:t>
              </a:r>
              <a:endParaRPr lang="en-US" sz="2800" b="1" u="none" dirty="0"/>
            </a:p>
          </p:txBody>
        </p:sp>
        <p:sp>
          <p:nvSpPr>
            <p:cNvPr id="583692" name="Line 12"/>
            <p:cNvSpPr>
              <a:spLocks noChangeShapeType="1"/>
            </p:cNvSpPr>
            <p:nvPr/>
          </p:nvSpPr>
          <p:spPr bwMode="auto">
            <a:xfrm>
              <a:off x="1351" y="2523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4840288" y="3376613"/>
            <a:ext cx="654050" cy="519112"/>
            <a:chOff x="1273" y="2463"/>
            <a:chExt cx="412" cy="327"/>
          </a:xfrm>
        </p:grpSpPr>
        <p:sp>
          <p:nvSpPr>
            <p:cNvPr id="583694" name="Text Box 14"/>
            <p:cNvSpPr txBox="1">
              <a:spLocks noChangeArrowheads="1"/>
            </p:cNvSpPr>
            <p:nvPr/>
          </p:nvSpPr>
          <p:spPr bwMode="auto">
            <a:xfrm>
              <a:off x="1273" y="2463"/>
              <a:ext cx="4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800" b="1" u="none" baseline="0" dirty="0"/>
                <a:t>D</a:t>
              </a:r>
              <a:r>
                <a:rPr lang="en-US" sz="2800" b="1" baseline="-25000" dirty="0"/>
                <a:t>4</a:t>
              </a:r>
              <a:endParaRPr lang="en-US" sz="2800" b="1" u="none" dirty="0"/>
            </a:p>
          </p:txBody>
        </p:sp>
        <p:sp>
          <p:nvSpPr>
            <p:cNvPr id="583695" name="Line 15"/>
            <p:cNvSpPr>
              <a:spLocks noChangeShapeType="1"/>
            </p:cNvSpPr>
            <p:nvPr/>
          </p:nvSpPr>
          <p:spPr bwMode="auto">
            <a:xfrm>
              <a:off x="1351" y="2523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1868488" y="3884613"/>
            <a:ext cx="654050" cy="519112"/>
            <a:chOff x="1273" y="2463"/>
            <a:chExt cx="412" cy="327"/>
          </a:xfrm>
        </p:grpSpPr>
        <p:sp>
          <p:nvSpPr>
            <p:cNvPr id="583697" name="Text Box 17"/>
            <p:cNvSpPr txBox="1">
              <a:spLocks noChangeArrowheads="1"/>
            </p:cNvSpPr>
            <p:nvPr/>
          </p:nvSpPr>
          <p:spPr bwMode="auto">
            <a:xfrm>
              <a:off x="1273" y="2463"/>
              <a:ext cx="4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800" b="1" u="none" baseline="0" dirty="0"/>
                <a:t>D</a:t>
              </a:r>
              <a:r>
                <a:rPr lang="en-US" sz="2800" b="1" baseline="-25000" dirty="0"/>
                <a:t>4</a:t>
              </a:r>
              <a:endParaRPr lang="en-US" sz="2800" b="1" u="none" dirty="0"/>
            </a:p>
          </p:txBody>
        </p:sp>
        <p:sp>
          <p:nvSpPr>
            <p:cNvPr id="583698" name="Line 18"/>
            <p:cNvSpPr>
              <a:spLocks noChangeShapeType="1"/>
            </p:cNvSpPr>
            <p:nvPr/>
          </p:nvSpPr>
          <p:spPr bwMode="auto">
            <a:xfrm>
              <a:off x="1351" y="2523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3570288" y="3884613"/>
            <a:ext cx="654050" cy="519112"/>
            <a:chOff x="1273" y="2463"/>
            <a:chExt cx="412" cy="327"/>
          </a:xfrm>
        </p:grpSpPr>
        <p:sp>
          <p:nvSpPr>
            <p:cNvPr id="583700" name="Text Box 20"/>
            <p:cNvSpPr txBox="1">
              <a:spLocks noChangeArrowheads="1"/>
            </p:cNvSpPr>
            <p:nvPr/>
          </p:nvSpPr>
          <p:spPr bwMode="auto">
            <a:xfrm>
              <a:off x="1273" y="2463"/>
              <a:ext cx="4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800" b="1" u="none" baseline="0" dirty="0"/>
                <a:t>D</a:t>
              </a:r>
              <a:r>
                <a:rPr lang="en-US" sz="2800" b="1" baseline="-25000" dirty="0"/>
                <a:t>3</a:t>
              </a:r>
              <a:endParaRPr lang="en-US" sz="2800" b="1" u="none" dirty="0"/>
            </a:p>
          </p:txBody>
        </p:sp>
        <p:sp>
          <p:nvSpPr>
            <p:cNvPr id="583701" name="Line 21"/>
            <p:cNvSpPr>
              <a:spLocks noChangeShapeType="1"/>
            </p:cNvSpPr>
            <p:nvPr/>
          </p:nvSpPr>
          <p:spPr bwMode="auto">
            <a:xfrm>
              <a:off x="1351" y="2523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3163888" y="3884613"/>
            <a:ext cx="654050" cy="519112"/>
            <a:chOff x="1273" y="2463"/>
            <a:chExt cx="412" cy="327"/>
          </a:xfrm>
        </p:grpSpPr>
        <p:sp>
          <p:nvSpPr>
            <p:cNvPr id="583703" name="Text Box 23"/>
            <p:cNvSpPr txBox="1">
              <a:spLocks noChangeArrowheads="1"/>
            </p:cNvSpPr>
            <p:nvPr/>
          </p:nvSpPr>
          <p:spPr bwMode="auto">
            <a:xfrm>
              <a:off x="1273" y="2463"/>
              <a:ext cx="4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800" b="1" u="none" baseline="0" dirty="0"/>
                <a:t>D</a:t>
              </a:r>
              <a:r>
                <a:rPr lang="en-US" sz="2800" b="1" baseline="-25000" dirty="0"/>
                <a:t>4</a:t>
              </a:r>
              <a:endParaRPr lang="en-US" sz="2800" b="1" u="none" dirty="0"/>
            </a:p>
          </p:txBody>
        </p:sp>
        <p:sp>
          <p:nvSpPr>
            <p:cNvPr id="583704" name="Line 24"/>
            <p:cNvSpPr>
              <a:spLocks noChangeShapeType="1"/>
            </p:cNvSpPr>
            <p:nvPr/>
          </p:nvSpPr>
          <p:spPr bwMode="auto">
            <a:xfrm>
              <a:off x="1351" y="2523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9" name="Group 25"/>
          <p:cNvGrpSpPr>
            <a:grpSpLocks/>
          </p:cNvGrpSpPr>
          <p:nvPr/>
        </p:nvGrpSpPr>
        <p:grpSpPr bwMode="auto">
          <a:xfrm>
            <a:off x="3963988" y="3884613"/>
            <a:ext cx="654050" cy="519112"/>
            <a:chOff x="1273" y="2463"/>
            <a:chExt cx="412" cy="327"/>
          </a:xfrm>
        </p:grpSpPr>
        <p:sp>
          <p:nvSpPr>
            <p:cNvPr id="583706" name="Text Box 26"/>
            <p:cNvSpPr txBox="1">
              <a:spLocks noChangeArrowheads="1"/>
            </p:cNvSpPr>
            <p:nvPr/>
          </p:nvSpPr>
          <p:spPr bwMode="auto">
            <a:xfrm>
              <a:off x="1273" y="2463"/>
              <a:ext cx="4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800" b="1" u="none" baseline="0" dirty="0"/>
                <a:t>D</a:t>
              </a:r>
              <a:r>
                <a:rPr lang="en-US" sz="2800" b="1" baseline="-25000" dirty="0"/>
                <a:t>2</a:t>
              </a:r>
              <a:endParaRPr lang="en-US" sz="2800" b="1" u="none" dirty="0"/>
            </a:p>
          </p:txBody>
        </p:sp>
        <p:sp>
          <p:nvSpPr>
            <p:cNvPr id="583707" name="Line 27"/>
            <p:cNvSpPr>
              <a:spLocks noChangeShapeType="1"/>
            </p:cNvSpPr>
            <p:nvPr/>
          </p:nvSpPr>
          <p:spPr bwMode="auto">
            <a:xfrm>
              <a:off x="1351" y="2523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5272088" y="3884613"/>
            <a:ext cx="654050" cy="519112"/>
            <a:chOff x="1273" y="2463"/>
            <a:chExt cx="412" cy="327"/>
          </a:xfrm>
        </p:grpSpPr>
        <p:sp>
          <p:nvSpPr>
            <p:cNvPr id="583709" name="Text Box 29"/>
            <p:cNvSpPr txBox="1">
              <a:spLocks noChangeArrowheads="1"/>
            </p:cNvSpPr>
            <p:nvPr/>
          </p:nvSpPr>
          <p:spPr bwMode="auto">
            <a:xfrm>
              <a:off x="1273" y="2463"/>
              <a:ext cx="4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800" b="1" u="none" baseline="0" dirty="0"/>
                <a:t>D</a:t>
              </a:r>
              <a:r>
                <a:rPr lang="en-US" sz="2800" b="1" baseline="-25000" dirty="0"/>
                <a:t>4</a:t>
              </a:r>
              <a:endParaRPr lang="en-US" sz="2800" b="1" u="none" dirty="0"/>
            </a:p>
          </p:txBody>
        </p:sp>
        <p:sp>
          <p:nvSpPr>
            <p:cNvPr id="583710" name="Line 30"/>
            <p:cNvSpPr>
              <a:spLocks noChangeShapeType="1"/>
            </p:cNvSpPr>
            <p:nvPr/>
          </p:nvSpPr>
          <p:spPr bwMode="auto">
            <a:xfrm>
              <a:off x="1351" y="2523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1" name="Group 31"/>
          <p:cNvGrpSpPr>
            <a:grpSpLocks/>
          </p:cNvGrpSpPr>
          <p:nvPr/>
        </p:nvGrpSpPr>
        <p:grpSpPr bwMode="auto">
          <a:xfrm>
            <a:off x="6605588" y="3884613"/>
            <a:ext cx="654050" cy="519112"/>
            <a:chOff x="1273" y="2463"/>
            <a:chExt cx="412" cy="327"/>
          </a:xfrm>
        </p:grpSpPr>
        <p:sp>
          <p:nvSpPr>
            <p:cNvPr id="583712" name="Text Box 32"/>
            <p:cNvSpPr txBox="1">
              <a:spLocks noChangeArrowheads="1"/>
            </p:cNvSpPr>
            <p:nvPr/>
          </p:nvSpPr>
          <p:spPr bwMode="auto">
            <a:xfrm>
              <a:off x="1273" y="2463"/>
              <a:ext cx="4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800" b="1" u="none" baseline="0" dirty="0"/>
                <a:t>D</a:t>
              </a:r>
              <a:r>
                <a:rPr lang="en-US" sz="2800" b="1" baseline="-25000" dirty="0"/>
                <a:t>2</a:t>
              </a:r>
              <a:endParaRPr lang="en-US" sz="2800" b="1" u="none" dirty="0"/>
            </a:p>
          </p:txBody>
        </p:sp>
        <p:sp>
          <p:nvSpPr>
            <p:cNvPr id="583713" name="Line 33"/>
            <p:cNvSpPr>
              <a:spLocks noChangeShapeType="1"/>
            </p:cNvSpPr>
            <p:nvPr/>
          </p:nvSpPr>
          <p:spPr bwMode="auto">
            <a:xfrm>
              <a:off x="1351" y="2523"/>
              <a:ext cx="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Spring 2024 Question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71150-40F6-DDB7-48A6-8AB7AC39E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20" y="2066426"/>
            <a:ext cx="8397360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9613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475129"/>
          </a:xfrm>
        </p:spPr>
        <p:txBody>
          <a:bodyPr/>
          <a:lstStyle/>
          <a:p>
            <a:r>
              <a:rPr lang="en-CA" dirty="0"/>
              <a:t>Spring 2024 Question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E00AF5-1651-844C-AA24-03C8588756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314" y="890733"/>
            <a:ext cx="6259371" cy="596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4128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475129"/>
          </a:xfrm>
        </p:spPr>
        <p:txBody>
          <a:bodyPr/>
          <a:lstStyle/>
          <a:p>
            <a:r>
              <a:rPr lang="en-CA" dirty="0"/>
              <a:t>Spring 2024 Question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22497-7C27-F051-B540-7B7ECCFD12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330" y="2406423"/>
            <a:ext cx="6660777" cy="3195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E00AF5-1651-844C-AA24-03C8588756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3" y="2406423"/>
            <a:ext cx="3065553" cy="292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2517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475129"/>
          </a:xfrm>
        </p:spPr>
        <p:txBody>
          <a:bodyPr/>
          <a:lstStyle/>
          <a:p>
            <a:r>
              <a:rPr lang="en-CA" dirty="0"/>
              <a:t>Spring 2024 Question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E00AF5-1651-844C-AA24-03C8588756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3" y="2133599"/>
            <a:ext cx="3756213" cy="35809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3ED977-9985-6146-4D7C-03153D4356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64" y="1205753"/>
            <a:ext cx="3527549" cy="553122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D7638F-AA27-4CDB-525F-EB54E14B1430}"/>
              </a:ext>
            </a:extLst>
          </p:cNvPr>
          <p:cNvCxnSpPr/>
          <p:nvPr/>
        </p:nvCxnSpPr>
        <p:spPr bwMode="auto">
          <a:xfrm>
            <a:off x="5871882" y="2752165"/>
            <a:ext cx="14343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95690207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475129"/>
          </a:xfrm>
        </p:spPr>
        <p:txBody>
          <a:bodyPr/>
          <a:lstStyle/>
          <a:p>
            <a:r>
              <a:rPr lang="en-CA" dirty="0"/>
              <a:t>Spring 2024 Question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E00AF5-1651-844C-AA24-03C8588756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3" y="2133599"/>
            <a:ext cx="3756213" cy="3580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35829C-D26B-35B4-F802-69CC7F4A03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776" y="2133599"/>
            <a:ext cx="4660224" cy="393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100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29F20C-C8D6-6863-6854-C53FC5ABC3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6266"/>
            <a:ext cx="4949441" cy="36090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475129"/>
          </a:xfrm>
        </p:spPr>
        <p:txBody>
          <a:bodyPr/>
          <a:lstStyle/>
          <a:p>
            <a:r>
              <a:rPr lang="en-CA" dirty="0"/>
              <a:t>Spring 2024 Question 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295A21-76CE-3631-3B9C-F2DDB96D88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198" y="1697325"/>
            <a:ext cx="5124802" cy="425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2907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8800F-BB26-61FB-9FBB-090D9BE85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27" y="1411977"/>
            <a:ext cx="8321746" cy="485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40410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D396D-4E0B-6560-9BC7-88012E78C9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08" y="1020763"/>
            <a:ext cx="3990129" cy="5837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7FC3B0-7C67-4751-9D42-E400D0857F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559" y="1020763"/>
            <a:ext cx="3933914" cy="583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6373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D396D-4E0B-6560-9BC7-88012E78C9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08" y="1020763"/>
            <a:ext cx="3990129" cy="5837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42F8B7-8D5E-6FAE-E490-C126508D8E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092" y="1020762"/>
            <a:ext cx="3939472" cy="583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4186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7B4688-A013-A1A6-E508-D17F145FD1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221" y="1172401"/>
            <a:ext cx="3769557" cy="557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7460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8CE92135-8D3E-4593-BB68-22D908C58A01}" type="slidenum">
              <a:rPr lang="en-US"/>
              <a:pPr/>
              <a:t>27</a:t>
            </a:fld>
            <a:endParaRPr lang="en-US"/>
          </a:p>
        </p:txBody>
      </p:sp>
      <p:sp>
        <p:nvSpPr>
          <p:cNvPr id="53760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Selecting of data or information is a critical function in digital systems and computers</a:t>
            </a:r>
          </a:p>
          <a:p>
            <a:r>
              <a:rPr lang="en-US" sz="2800"/>
              <a:t>Circuits that perform selecting have:</a:t>
            </a:r>
          </a:p>
          <a:p>
            <a:pPr lvl="1"/>
            <a:r>
              <a:rPr lang="en-US" sz="2400"/>
              <a:t>A set of information inputs from which the selection is made</a:t>
            </a:r>
          </a:p>
          <a:p>
            <a:pPr lvl="1"/>
            <a:r>
              <a:rPr lang="en-US" sz="2400"/>
              <a:t>A single output</a:t>
            </a:r>
          </a:p>
          <a:p>
            <a:pPr lvl="1"/>
            <a:r>
              <a:rPr lang="en-US" sz="2400"/>
              <a:t>A set of control lines for making the selection</a:t>
            </a:r>
          </a:p>
          <a:p>
            <a:r>
              <a:rPr lang="en-US" sz="2800"/>
              <a:t>Logic circuits that perform selecting are called </a:t>
            </a:r>
            <a:r>
              <a:rPr lang="en-US" sz="2800" i="1"/>
              <a:t>multiplexers</a:t>
            </a:r>
          </a:p>
          <a:p>
            <a:r>
              <a:rPr lang="en-US" sz="2800"/>
              <a:t>Selecting can also be done by three-state logic or transmission gates</a:t>
            </a:r>
          </a:p>
          <a:p>
            <a:endParaRPr lang="en-US" sz="2800"/>
          </a:p>
        </p:txBody>
      </p:sp>
      <p:sp>
        <p:nvSpPr>
          <p:cNvPr id="537606" name="Rectangle 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Selecting</a:t>
            </a:r>
            <a:endParaRPr lang="en-US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F76A7CB6-C4FC-4BB7-8F41-9E09B6CD7EEB}" type="slidenum">
              <a:rPr lang="en-US"/>
              <a:pPr/>
              <a:t>28</a:t>
            </a:fld>
            <a:endParaRPr lang="en-US"/>
          </a:p>
        </p:txBody>
      </p:sp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Multiplexers</a:t>
            </a:r>
          </a:p>
        </p:txBody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138" y="1212850"/>
            <a:ext cx="7772400" cy="5027613"/>
          </a:xfrm>
        </p:spPr>
        <p:txBody>
          <a:bodyPr/>
          <a:lstStyle/>
          <a:p>
            <a:r>
              <a:rPr lang="en-US"/>
              <a:t>A multiplexer selects information from an input line and directs the information to an output line</a:t>
            </a:r>
          </a:p>
          <a:p>
            <a:r>
              <a:rPr lang="en-US"/>
              <a:t>A typical multiplexer has </a:t>
            </a:r>
            <a:r>
              <a:rPr lang="en-US" i="1"/>
              <a:t>n</a:t>
            </a:r>
            <a:r>
              <a:rPr lang="en-US"/>
              <a:t> control inputs (S</a:t>
            </a:r>
            <a:r>
              <a:rPr lang="en-US" baseline="-25000"/>
              <a:t>n </a:t>
            </a:r>
            <a:r>
              <a:rPr lang="en-US" baseline="-25000">
                <a:latin typeface="Symbol" pitchFamily="18" charset="2"/>
              </a:rPr>
              <a:t>- </a:t>
            </a:r>
            <a:r>
              <a:rPr lang="en-US" baseline="-25000"/>
              <a:t>1</a:t>
            </a:r>
            <a:r>
              <a:rPr lang="en-US"/>
              <a:t>, … S</a:t>
            </a:r>
            <a:r>
              <a:rPr lang="en-US" baseline="-25000"/>
              <a:t>0</a:t>
            </a:r>
            <a:r>
              <a:rPr lang="en-US"/>
              <a:t>) called </a:t>
            </a:r>
            <a:r>
              <a:rPr lang="en-US" i="1"/>
              <a:t>selection inputs</a:t>
            </a:r>
            <a:r>
              <a:rPr lang="en-US"/>
              <a:t>, 2</a:t>
            </a:r>
            <a:r>
              <a:rPr lang="en-US" i="1" baseline="30000"/>
              <a:t>n</a:t>
            </a:r>
            <a:r>
              <a:rPr lang="en-US"/>
              <a:t> information inputs (I</a:t>
            </a:r>
            <a:r>
              <a:rPr lang="en-US" baseline="-25000"/>
              <a:t>2</a:t>
            </a:r>
            <a:r>
              <a:rPr lang="en-US" baseline="30000"/>
              <a:t>n</a:t>
            </a:r>
            <a:r>
              <a:rPr lang="en-US" baseline="-25000"/>
              <a:t> </a:t>
            </a:r>
            <a:r>
              <a:rPr lang="en-US" baseline="-25000">
                <a:latin typeface="Symbol" pitchFamily="18" charset="2"/>
              </a:rPr>
              <a:t>- </a:t>
            </a:r>
            <a:r>
              <a:rPr lang="en-US" baseline="-25000"/>
              <a:t>1</a:t>
            </a:r>
            <a:r>
              <a:rPr lang="en-US"/>
              <a:t>, … I</a:t>
            </a:r>
            <a:r>
              <a:rPr lang="en-US" baseline="-25000"/>
              <a:t>0</a:t>
            </a:r>
            <a:r>
              <a:rPr lang="en-US"/>
              <a:t>), and one output Y</a:t>
            </a:r>
          </a:p>
          <a:p>
            <a:r>
              <a:rPr lang="en-US"/>
              <a:t>A multiplexer can be designed to have </a:t>
            </a:r>
            <a:r>
              <a:rPr lang="en-US" i="1"/>
              <a:t>m</a:t>
            </a:r>
            <a:r>
              <a:rPr lang="en-US"/>
              <a:t> information inputs with m </a:t>
            </a:r>
            <a:r>
              <a:rPr lang="en-US">
                <a:latin typeface="Symbol" pitchFamily="18" charset="2"/>
              </a:rPr>
              <a:t>&lt; </a:t>
            </a:r>
            <a:r>
              <a:rPr lang="en-US"/>
              <a:t>2</a:t>
            </a:r>
            <a:r>
              <a:rPr lang="en-US" baseline="30000"/>
              <a:t>n</a:t>
            </a:r>
            <a:r>
              <a:rPr lang="en-US"/>
              <a:t> as well as </a:t>
            </a:r>
            <a:r>
              <a:rPr lang="en-US" i="1"/>
              <a:t>n</a:t>
            </a:r>
            <a:r>
              <a:rPr lang="en-US"/>
              <a:t> selection inputs </a:t>
            </a:r>
          </a:p>
          <a:p>
            <a:endParaRPr 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4-to-1-line Multiplexer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5775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7499" y="1482417"/>
            <a:ext cx="5306632" cy="3623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3F8FBF36-9CB5-4E57-BE3A-729BA8E8A311}" type="slidenum">
              <a:rPr lang="en-US"/>
              <a:pPr/>
              <a:t>30</a:t>
            </a:fld>
            <a:endParaRPr lang="en-US"/>
          </a:p>
        </p:txBody>
      </p:sp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2-to-1-Line Multiplexer</a:t>
            </a:r>
          </a:p>
        </p:txBody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Since 2 = 2</a:t>
            </a:r>
            <a:r>
              <a:rPr lang="en-US" sz="2800" baseline="30000" dirty="0"/>
              <a:t>1</a:t>
            </a:r>
            <a:r>
              <a:rPr lang="en-US" sz="2800" dirty="0"/>
              <a:t>, n = 1</a:t>
            </a:r>
          </a:p>
          <a:p>
            <a:r>
              <a:rPr lang="en-US" sz="2800" dirty="0"/>
              <a:t>Selection variable S:</a:t>
            </a:r>
          </a:p>
          <a:p>
            <a:pPr lvl="1"/>
            <a:r>
              <a:rPr lang="en-US" sz="2400" dirty="0"/>
              <a:t>S = 0 selects input I</a:t>
            </a:r>
            <a:r>
              <a:rPr lang="en-US" sz="2400" baseline="-25000" dirty="0"/>
              <a:t>0</a:t>
            </a:r>
          </a:p>
          <a:p>
            <a:pPr lvl="1"/>
            <a:r>
              <a:rPr lang="en-US" sz="2400" dirty="0"/>
              <a:t>S = 1 selects input I</a:t>
            </a:r>
            <a:r>
              <a:rPr lang="en-US" sz="2400" baseline="-25000" dirty="0"/>
              <a:t>1</a:t>
            </a:r>
          </a:p>
          <a:p>
            <a:r>
              <a:rPr lang="en-US" sz="2800" dirty="0"/>
              <a:t>The equation: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       Y =     I</a:t>
            </a:r>
            <a:r>
              <a:rPr lang="en-US" sz="2800" baseline="-25000" dirty="0"/>
              <a:t>0</a:t>
            </a:r>
            <a:r>
              <a:rPr lang="en-US" sz="2800" dirty="0"/>
              <a:t> + SI</a:t>
            </a:r>
            <a:r>
              <a:rPr lang="en-US" sz="2800" baseline="-25000" dirty="0"/>
              <a:t>1</a:t>
            </a:r>
          </a:p>
          <a:p>
            <a:r>
              <a:rPr lang="en-US" sz="2800" dirty="0"/>
              <a:t>The circuit:</a:t>
            </a:r>
          </a:p>
          <a:p>
            <a:pPr>
              <a:buFont typeface="Wingdings" pitchFamily="2" charset="2"/>
              <a:buNone/>
            </a:pPr>
            <a:endParaRPr lang="en-US" sz="2800" baseline="-25000" dirty="0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117725" y="3724275"/>
            <a:ext cx="382588" cy="519113"/>
            <a:chOff x="1334" y="2346"/>
            <a:chExt cx="241" cy="327"/>
          </a:xfrm>
        </p:grpSpPr>
        <p:sp>
          <p:nvSpPr>
            <p:cNvPr id="587781" name="Text Box 5"/>
            <p:cNvSpPr txBox="1">
              <a:spLocks noChangeArrowheads="1"/>
            </p:cNvSpPr>
            <p:nvPr/>
          </p:nvSpPr>
          <p:spPr bwMode="auto">
            <a:xfrm>
              <a:off x="1334" y="2346"/>
              <a:ext cx="24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b="1" u="none" baseline="0"/>
                <a:t>S</a:t>
              </a:r>
            </a:p>
          </p:txBody>
        </p:sp>
        <p:sp>
          <p:nvSpPr>
            <p:cNvPr id="587782" name="Line 6"/>
            <p:cNvSpPr>
              <a:spLocks noChangeShapeType="1"/>
            </p:cNvSpPr>
            <p:nvPr/>
          </p:nvSpPr>
          <p:spPr bwMode="auto">
            <a:xfrm>
              <a:off x="1392" y="2400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587784" name="Picture 8" descr="C:\Documents and Settings\Charles R Kime\My Documents\Texts\Website\PowerPoint_Slides\Work_Area\Chapter_04\Fig_4-13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0950" y="4168775"/>
            <a:ext cx="6445250" cy="2279650"/>
          </a:xfrm>
          <a:prstGeom prst="rect">
            <a:avLst/>
          </a:prstGeom>
          <a:noFill/>
        </p:spPr>
      </p:pic>
      <p:pic>
        <p:nvPicPr>
          <p:cNvPr id="545793" name="Picture 1"/>
          <p:cNvPicPr>
            <a:picLocks noChangeAspect="1" noChangeArrowheads="1"/>
          </p:cNvPicPr>
          <p:nvPr/>
        </p:nvPicPr>
        <p:blipFill>
          <a:blip r:embed="rId3" cstate="print"/>
          <a:srcRect t="3291"/>
          <a:stretch>
            <a:fillRect/>
          </a:stretch>
        </p:blipFill>
        <p:spPr bwMode="auto">
          <a:xfrm>
            <a:off x="6209739" y="791570"/>
            <a:ext cx="2743201" cy="3132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53641" y="1383349"/>
          <a:ext cx="1760562" cy="1249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0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" pitchFamily="34" charset="0"/>
                          <a:cs typeface="Arial" pitchFamily="34" charset="0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rial" pitchFamily="34" charset="0"/>
                          <a:cs typeface="Arial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I</a:t>
                      </a:r>
                      <a:r>
                        <a:rPr lang="en-US" sz="2000" b="1" baseline="-25000" dirty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itchFamily="34" charset="0"/>
                          <a:cs typeface="Arial" pitchFamily="34" charset="0"/>
                        </a:rPr>
                        <a:t>I</a:t>
                      </a:r>
                      <a:r>
                        <a:rPr lang="en-US" sz="2000" b="1" baseline="-25000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sz="20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78B9A71B-02E7-4B99-8F08-09E7636D1556}" type="slidenum">
              <a:rPr lang="en-US"/>
              <a:pPr/>
              <a:t>31</a:t>
            </a:fld>
            <a:endParaRPr lang="en-US"/>
          </a:p>
        </p:txBody>
      </p:sp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49263" y="0"/>
            <a:ext cx="8356600" cy="1020763"/>
          </a:xfrm>
        </p:spPr>
        <p:txBody>
          <a:bodyPr/>
          <a:lstStyle/>
          <a:p>
            <a:r>
              <a:rPr lang="en-US"/>
              <a:t>2-to-1-Line Multiplexer </a:t>
            </a:r>
            <a:r>
              <a:rPr lang="en-US" sz="4000" b="0"/>
              <a:t>(continued)</a:t>
            </a:r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Note the regions of the multiplexer circuit shown:</a:t>
            </a:r>
          </a:p>
          <a:p>
            <a:pPr lvl="1"/>
            <a:r>
              <a:rPr lang="en-US" sz="2400" dirty="0"/>
              <a:t>1-to-2-line Decoder</a:t>
            </a:r>
          </a:p>
          <a:p>
            <a:pPr lvl="1"/>
            <a:r>
              <a:rPr lang="en-US" sz="2400" dirty="0"/>
              <a:t>2 Enabling circuits</a:t>
            </a:r>
          </a:p>
          <a:p>
            <a:pPr lvl="1"/>
            <a:r>
              <a:rPr lang="en-US" sz="2400" dirty="0"/>
              <a:t>2-input OR gate</a:t>
            </a:r>
          </a:p>
          <a:p>
            <a:r>
              <a:rPr lang="en-US" sz="2800" dirty="0"/>
              <a:t>To obtain a basis for multiplexer expansion, we combine the Enabling circuits and OR gate into a 2 </a:t>
            </a:r>
            <a:r>
              <a:rPr lang="en-US" dirty="0">
                <a:latin typeface="Symbol" pitchFamily="18" charset="2"/>
              </a:rPr>
              <a:t>´</a:t>
            </a:r>
            <a:r>
              <a:rPr lang="en-US" sz="2800" dirty="0"/>
              <a:t> 2 AND-OR circuit:</a:t>
            </a:r>
          </a:p>
          <a:p>
            <a:pPr lvl="1"/>
            <a:r>
              <a:rPr lang="en-US" sz="2400" dirty="0"/>
              <a:t>1-to-2-line decoder</a:t>
            </a:r>
          </a:p>
          <a:p>
            <a:pPr lvl="1"/>
            <a:r>
              <a:rPr lang="en-US" sz="2400" dirty="0"/>
              <a:t>2 </a:t>
            </a:r>
            <a:r>
              <a:rPr lang="en-US" sz="2400" dirty="0">
                <a:latin typeface="Symbol" pitchFamily="18" charset="2"/>
              </a:rPr>
              <a:t>´</a:t>
            </a:r>
            <a:r>
              <a:rPr lang="en-US" sz="2400" dirty="0"/>
              <a:t> 2 AND-OR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6EDBCC75-E586-47F7-BDC8-3115B0F9E6BD}" type="slidenum">
              <a:rPr lang="en-US"/>
              <a:pPr/>
              <a:t>32</a:t>
            </a:fld>
            <a:endParaRPr lang="en-US"/>
          </a:p>
        </p:txBody>
      </p:sp>
      <p:sp>
        <p:nvSpPr>
          <p:cNvPr id="538630" name="Rectangle 6"/>
          <p:cNvSpPr>
            <a:spLocks noGrp="1" noChangeArrowheads="1"/>
          </p:cNvSpPr>
          <p:nvPr>
            <p:ph type="title"/>
          </p:nvPr>
        </p:nvSpPr>
        <p:spPr>
          <a:xfrm>
            <a:off x="588963" y="0"/>
            <a:ext cx="8255000" cy="1020763"/>
          </a:xfrm>
        </p:spPr>
        <p:txBody>
          <a:bodyPr/>
          <a:lstStyle/>
          <a:p>
            <a:r>
              <a:rPr lang="en-US" dirty="0"/>
              <a:t>Example: 4-to-1-line Multiplexer</a:t>
            </a:r>
          </a:p>
        </p:txBody>
      </p:sp>
      <p:sp>
        <p:nvSpPr>
          <p:cNvPr id="53863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2-to-2</a:t>
            </a:r>
            <a:r>
              <a:rPr lang="en-US" sz="2400" baseline="30000" dirty="0"/>
              <a:t>2</a:t>
            </a:r>
            <a:r>
              <a:rPr lang="en-US" sz="2400" dirty="0"/>
              <a:t>-line decoder</a:t>
            </a:r>
          </a:p>
          <a:p>
            <a:r>
              <a:rPr lang="en-US" sz="2400" dirty="0"/>
              <a:t>2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r>
              <a:rPr lang="en-US" sz="2800" dirty="0">
                <a:latin typeface="Symbol" pitchFamily="18" charset="2"/>
              </a:rPr>
              <a:t>´</a:t>
            </a:r>
            <a:r>
              <a:rPr lang="en-US" sz="1800" dirty="0">
                <a:latin typeface="Symbol" pitchFamily="18" charset="2"/>
              </a:rPr>
              <a:t> </a:t>
            </a:r>
            <a:r>
              <a:rPr lang="en-US" sz="2400" dirty="0"/>
              <a:t> 2 AND-OR</a:t>
            </a:r>
          </a:p>
          <a:p>
            <a:r>
              <a:rPr lang="en-US" sz="2400" dirty="0"/>
              <a:t>Y = (S</a:t>
            </a:r>
            <a:r>
              <a:rPr lang="en-US" sz="2400" baseline="-25000" dirty="0"/>
              <a:t>1</a:t>
            </a:r>
            <a:r>
              <a:rPr lang="en-US" sz="2400" dirty="0"/>
              <a:t> S</a:t>
            </a:r>
            <a:r>
              <a:rPr lang="en-US" sz="2400" baseline="-25000" dirty="0"/>
              <a:t>0</a:t>
            </a:r>
            <a:r>
              <a:rPr lang="en-US" sz="2400" dirty="0"/>
              <a:t>) I</a:t>
            </a:r>
            <a:r>
              <a:rPr lang="en-US" sz="2400" baseline="-25000" dirty="0"/>
              <a:t>0 </a:t>
            </a:r>
            <a:r>
              <a:rPr lang="en-US" sz="2400" dirty="0"/>
              <a:t>+ (S</a:t>
            </a:r>
            <a:r>
              <a:rPr lang="en-US" sz="2400" baseline="-25000" dirty="0"/>
              <a:t>1 </a:t>
            </a:r>
            <a:r>
              <a:rPr lang="en-US" sz="2400" dirty="0"/>
              <a:t>S</a:t>
            </a:r>
            <a:r>
              <a:rPr lang="en-US" sz="2400" baseline="-25000" dirty="0"/>
              <a:t>0</a:t>
            </a:r>
            <a:r>
              <a:rPr lang="en-US" sz="2400" dirty="0"/>
              <a:t>) I</a:t>
            </a:r>
            <a:r>
              <a:rPr lang="en-US" sz="2400" baseline="-25000" dirty="0"/>
              <a:t>1 </a:t>
            </a:r>
            <a:r>
              <a:rPr lang="en-US" sz="2400" dirty="0"/>
              <a:t>+ (S</a:t>
            </a:r>
            <a:r>
              <a:rPr lang="en-US" sz="2400" baseline="-25000" dirty="0"/>
              <a:t>1 </a:t>
            </a:r>
            <a:r>
              <a:rPr lang="en-US" sz="2400" dirty="0"/>
              <a:t>S</a:t>
            </a:r>
            <a:r>
              <a:rPr lang="en-US" sz="2400" baseline="-25000" dirty="0"/>
              <a:t>0</a:t>
            </a:r>
            <a:r>
              <a:rPr lang="en-US" sz="2400" dirty="0"/>
              <a:t>) I</a:t>
            </a:r>
            <a:r>
              <a:rPr lang="en-US" sz="2400" baseline="-25000" dirty="0"/>
              <a:t>2 </a:t>
            </a:r>
            <a:r>
              <a:rPr lang="en-US" sz="2400" dirty="0"/>
              <a:t>+ (S</a:t>
            </a:r>
            <a:r>
              <a:rPr lang="en-US" sz="2400" baseline="-25000" dirty="0"/>
              <a:t>1 </a:t>
            </a:r>
            <a:r>
              <a:rPr lang="en-US" sz="2400" dirty="0"/>
              <a:t>S</a:t>
            </a:r>
            <a:r>
              <a:rPr lang="en-US" sz="2400" baseline="-25000" dirty="0"/>
              <a:t>0</a:t>
            </a:r>
            <a:r>
              <a:rPr lang="en-US" sz="2400" dirty="0"/>
              <a:t>) I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pic>
        <p:nvPicPr>
          <p:cNvPr id="538632" name="Picture 8" descr="C:\Documents and Settings\Charles R Kime\My Documents\Texts\Website\PowerPoint_Slides\Work_Area\Chapter_04\Fig_4-14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9936" y="2813245"/>
            <a:ext cx="5660978" cy="3299721"/>
          </a:xfrm>
          <a:prstGeom prst="rect">
            <a:avLst/>
          </a:prstGeom>
          <a:noFill/>
        </p:spPr>
      </p:pic>
      <p:pic>
        <p:nvPicPr>
          <p:cNvPr id="5437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0967" y="1275641"/>
            <a:ext cx="1832782" cy="200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Straight Connector 9"/>
          <p:cNvCxnSpPr/>
          <p:nvPr/>
        </p:nvCxnSpPr>
        <p:spPr bwMode="auto">
          <a:xfrm>
            <a:off x="1774209" y="2347416"/>
            <a:ext cx="177421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2131329" y="2336040"/>
            <a:ext cx="177421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3223169" y="2336040"/>
            <a:ext cx="177421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4915521" y="2336040"/>
            <a:ext cx="177421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FB031AB6-488F-4DC5-AFA7-925DACE45D0B}" type="slidenum">
              <a:rPr lang="en-US"/>
              <a:pPr/>
              <a:t>33</a:t>
            </a:fld>
            <a:endParaRPr lang="en-US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3" y="0"/>
            <a:ext cx="9113837" cy="1020763"/>
          </a:xfrm>
        </p:spPr>
        <p:txBody>
          <a:bodyPr/>
          <a:lstStyle/>
          <a:p>
            <a:r>
              <a:rPr lang="en-US" sz="4000" dirty="0"/>
              <a:t>Combinational Function Implementation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Alternative implementation techniques: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/>
              <a:t>Decoders and OR gates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/>
              <a:t>Multiplexers (and inverter)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Combinational Function Implementation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000" dirty="0"/>
              <a:t>F(</a:t>
            </a:r>
            <a:r>
              <a:rPr lang="en-CA" sz="2000" dirty="0" err="1"/>
              <a:t>x,y,z</a:t>
            </a:r>
            <a:r>
              <a:rPr lang="en-CA" sz="2000" dirty="0"/>
              <a:t>) = Σ(1,2,6,7) using 4-to-1 multiplexer.</a:t>
            </a:r>
          </a:p>
          <a:p>
            <a:r>
              <a:rPr lang="en-CA" sz="2000" dirty="0"/>
              <a:t>Connect the variables x and y to the selection inputs S1, and S0. The inputs of the multiplexers can be obtained from the truth table as shown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78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3249" y="2689391"/>
            <a:ext cx="3757115" cy="3135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85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94549" y="2748744"/>
            <a:ext cx="3430848" cy="279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200" dirty="0"/>
              <a:t>F(A, B, C, D) = Σ(2, 3, 5, 7, 10, 11, 15)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579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3142" y="872249"/>
            <a:ext cx="3349174" cy="5815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95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0817" y="882201"/>
            <a:ext cx="4951863" cy="549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509209"/>
          </a:xfrm>
        </p:spPr>
        <p:txBody>
          <a:bodyPr/>
          <a:lstStyle/>
          <a:p>
            <a:r>
              <a:rPr lang="en-CA" dirty="0"/>
              <a:t>Spring 2024 Question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2073C-31F7-0D04-42C6-F577EB785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36" y="682993"/>
            <a:ext cx="7397654" cy="509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C96318-07C8-FE64-0AF6-603E5E473B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503" y="1192201"/>
            <a:ext cx="4122993" cy="571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91132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9486E-0AA8-DA90-2EFF-6E570DB7E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07" y="1222755"/>
            <a:ext cx="7254869" cy="701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66FA07-28A4-113B-EF10-FC992E793E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834" y="1923856"/>
            <a:ext cx="3319413" cy="482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665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6F488-E295-2B0C-C722-E866DEEEE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518" y="1437618"/>
            <a:ext cx="3343833" cy="51677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007A08-0257-F23D-A178-99345CC784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9" y="1150669"/>
            <a:ext cx="3881716" cy="564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8861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574" y="3429000"/>
            <a:ext cx="7772400" cy="1020763"/>
          </a:xfrm>
        </p:spPr>
        <p:txBody>
          <a:bodyPr/>
          <a:lstStyle/>
          <a:p>
            <a:pPr algn="ctr"/>
            <a:r>
              <a:rPr lang="en-CA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02129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9283</TotalTime>
  <Words>1203</Words>
  <Application>Microsoft Office PowerPoint</Application>
  <PresentationFormat>On-screen Show (4:3)</PresentationFormat>
  <Paragraphs>233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Helvetica</vt:lpstr>
      <vt:lpstr>Symbol</vt:lpstr>
      <vt:lpstr>Times New Roman</vt:lpstr>
      <vt:lpstr>Wingdings</vt:lpstr>
      <vt:lpstr>Default Design</vt:lpstr>
      <vt:lpstr>PowerPoint Presentation</vt:lpstr>
      <vt:lpstr>Overview</vt:lpstr>
      <vt:lpstr>Encoding</vt:lpstr>
      <vt:lpstr>Encoder</vt:lpstr>
      <vt:lpstr>Encoder Example</vt:lpstr>
      <vt:lpstr>Decimal-to-BCD encoder</vt:lpstr>
      <vt:lpstr>Encoder Example (continued)</vt:lpstr>
      <vt:lpstr>Encoder Example (continued)</vt:lpstr>
      <vt:lpstr>Spring 2024 Question 5</vt:lpstr>
      <vt:lpstr>Spring 2024 Question 5</vt:lpstr>
      <vt:lpstr>Fall 2023 Question 6</vt:lpstr>
      <vt:lpstr>Fall 2023 Question 6</vt:lpstr>
      <vt:lpstr>Fall 2023 Question 6</vt:lpstr>
      <vt:lpstr>Priority Encoder</vt:lpstr>
      <vt:lpstr>Priority Encoder Example</vt:lpstr>
      <vt:lpstr>Priority Encoder Example (continued) </vt:lpstr>
      <vt:lpstr>Spring 2024 Question 4</vt:lpstr>
      <vt:lpstr>Spring 2024 Question 4</vt:lpstr>
      <vt:lpstr>Spring 2024 Question 4</vt:lpstr>
      <vt:lpstr>Spring 2024 Question 4</vt:lpstr>
      <vt:lpstr>Spring 2024 Question 4</vt:lpstr>
      <vt:lpstr>Spring 2024 Question 4</vt:lpstr>
      <vt:lpstr>Fall 2023 Question 4</vt:lpstr>
      <vt:lpstr>Fall 2023 Question 4</vt:lpstr>
      <vt:lpstr>Fall 2023 Question 4</vt:lpstr>
      <vt:lpstr>Fall 2023 Question 4</vt:lpstr>
      <vt:lpstr>Selecting</vt:lpstr>
      <vt:lpstr>Multiplexers</vt:lpstr>
      <vt:lpstr>4-to-1-line Multiplexer</vt:lpstr>
      <vt:lpstr>2-to-1-Line Multiplexer</vt:lpstr>
      <vt:lpstr>2-to-1-Line Multiplexer (continued)</vt:lpstr>
      <vt:lpstr>Example: 4-to-1-line Multiplexer</vt:lpstr>
      <vt:lpstr>Combinational Function Implementation</vt:lpstr>
      <vt:lpstr>Combinational Function Implementation</vt:lpstr>
      <vt:lpstr>F(A, B, C, D) = Σ(2, 3, 5, 7, 10, 11, 15) </vt:lpstr>
      <vt:lpstr>Spring 2024 Question 7</vt:lpstr>
      <vt:lpstr>Fall 2023 Question 7</vt:lpstr>
      <vt:lpstr>Fall 2023 Question 7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2 - Part 1 - PPT - Mano &amp; Kime - 2nd Ed</dc:title>
  <dc:creator>Kaminski &amp; Kime</dc:creator>
  <dc:description>Fall 2001 Draft</dc:description>
  <cp:lastModifiedBy>Shafqat Rakin</cp:lastModifiedBy>
  <cp:revision>346</cp:revision>
  <cp:lastPrinted>1999-06-21T13:11:14Z</cp:lastPrinted>
  <dcterms:created xsi:type="dcterms:W3CDTF">1999-02-14T20:48:18Z</dcterms:created>
  <dcterms:modified xsi:type="dcterms:W3CDTF">2024-10-04T05:57:11Z</dcterms:modified>
</cp:coreProperties>
</file>