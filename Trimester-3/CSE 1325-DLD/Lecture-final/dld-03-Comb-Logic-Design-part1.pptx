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8" r:id="rId2"/>
    <p:sldId id="353" r:id="rId3"/>
    <p:sldId id="396" r:id="rId4"/>
    <p:sldId id="424" r:id="rId5"/>
    <p:sldId id="425" r:id="rId6"/>
    <p:sldId id="464" r:id="rId7"/>
    <p:sldId id="466" r:id="rId8"/>
    <p:sldId id="465" r:id="rId9"/>
    <p:sldId id="426" r:id="rId10"/>
    <p:sldId id="427" r:id="rId11"/>
    <p:sldId id="469" r:id="rId12"/>
    <p:sldId id="470" r:id="rId13"/>
    <p:sldId id="467" r:id="rId14"/>
    <p:sldId id="471" r:id="rId15"/>
    <p:sldId id="472" r:id="rId16"/>
    <p:sldId id="473" r:id="rId17"/>
    <p:sldId id="474" r:id="rId18"/>
    <p:sldId id="419" r:id="rId19"/>
    <p:sldId id="475" r:id="rId20"/>
    <p:sldId id="476" r:id="rId21"/>
    <p:sldId id="477" r:id="rId22"/>
    <p:sldId id="430" r:id="rId2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0099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9120" autoAdjust="0"/>
  </p:normalViewPr>
  <p:slideViewPr>
    <p:cSldViewPr snapToGrid="0">
      <p:cViewPr>
        <p:scale>
          <a:sx n="100" d="100"/>
          <a:sy n="100" d="100"/>
        </p:scale>
        <p:origin x="1122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62"/>
    </p:cViewPr>
  </p:sorterViewPr>
  <p:notesViewPr>
    <p:cSldViewPr snapToGrid="0">
      <p:cViewPr>
        <p:scale>
          <a:sx n="66" d="100"/>
          <a:sy n="66" d="100"/>
        </p:scale>
        <p:origin x="-984" y="-58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2" Type="http://schemas.openxmlformats.org/officeDocument/2006/relationships/slide" Target="slides/slide4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53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0675" y="0"/>
            <a:ext cx="32115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2413"/>
            <a:ext cx="31353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0675" y="9142413"/>
            <a:ext cx="32115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fld id="{7B57EB3D-BE7E-44B2-86BA-6C84A77C5E2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defTabSz="1020763">
              <a:defRPr sz="140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40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defTabSz="1020763">
              <a:defRPr sz="140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400"/>
            </a:lvl1pPr>
          </a:lstStyle>
          <a:p>
            <a:fld id="{F5981114-7927-46FD-AC83-97BAEE9A2D5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C9C6BB-82E1-4179-B201-12C3D842AABF}" type="slidenum">
              <a:rPr lang="en-US"/>
              <a:pPr/>
              <a:t>1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80073C-1EE5-4DF2-8FC3-7408F3F2EE62}" type="slidenum">
              <a:rPr lang="en-US"/>
              <a:pPr/>
              <a:t>3</a:t>
            </a:fld>
            <a:endParaRPr lang="en-US"/>
          </a:p>
        </p:txBody>
      </p:sp>
      <p:sp>
        <p:nvSpPr>
          <p:cNvPr id="4546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799013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66" tIns="47582" rIns="95166" bIns="47582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1" name="Text Box 1051"/>
          <p:cNvSpPr txBox="1">
            <a:spLocks noChangeArrowheads="1"/>
          </p:cNvSpPr>
          <p:nvPr userDrawn="1"/>
        </p:nvSpPr>
        <p:spPr bwMode="auto">
          <a:xfrm>
            <a:off x="1833563" y="5167313"/>
            <a:ext cx="5913437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 b="1"/>
              <a:t>Charles Kime &amp; Thomas Kaminski</a:t>
            </a:r>
          </a:p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>
                <a:cs typeface="Times New Roman" pitchFamily="18" charset="0"/>
              </a:rPr>
              <a:t>© 2004 Pearson Education, Inc.</a:t>
            </a:r>
            <a:br>
              <a:rPr lang="en-US" sz="2200">
                <a:cs typeface="Times New Roman" pitchFamily="18" charset="0"/>
              </a:rPr>
            </a:br>
            <a:r>
              <a:rPr lang="en-US" sz="2200">
                <a:cs typeface="Times New Roman" pitchFamily="18" charset="0"/>
                <a:hlinkClick r:id="" action="ppaction://hlinkshowjump?jump=lastslide"/>
              </a:rPr>
              <a:t>Terms of Use</a:t>
            </a:r>
            <a:br>
              <a:rPr lang="en-US" sz="2200">
                <a:cs typeface="Times New Roman" pitchFamily="18" charset="0"/>
              </a:rPr>
            </a:br>
            <a:r>
              <a:rPr lang="en-US" sz="1800">
                <a:cs typeface="Times New Roman" pitchFamily="18" charset="0"/>
              </a:rPr>
              <a:t>(Hyperlinks are active in View Show mode)</a:t>
            </a:r>
          </a:p>
        </p:txBody>
      </p:sp>
      <p:sp>
        <p:nvSpPr>
          <p:cNvPr id="6172" name="Text Box 1052"/>
          <p:cNvSpPr txBox="1">
            <a:spLocks noChangeArrowheads="1"/>
          </p:cNvSpPr>
          <p:nvPr userDrawn="1"/>
        </p:nvSpPr>
        <p:spPr bwMode="auto">
          <a:xfrm>
            <a:off x="1301750" y="2847975"/>
            <a:ext cx="697865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4000" b="1" dirty="0">
                <a:solidFill>
                  <a:schemeClr val="hlink"/>
                </a:solidFill>
                <a:latin typeface="Helvetica" pitchFamily="34" charset="0"/>
              </a:rPr>
              <a:t>Chapter 3 – Combinational Logic Design</a:t>
            </a:r>
          </a:p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chemeClr val="hlink"/>
                </a:solidFill>
                <a:latin typeface="Helvetica" pitchFamily="34" charset="0"/>
              </a:rPr>
              <a:t>Part 1 – </a:t>
            </a:r>
            <a:r>
              <a:rPr lang="en-US" sz="2400" b="1" dirty="0">
                <a:solidFill>
                  <a:schemeClr val="hlink"/>
                </a:solidFill>
              </a:rPr>
              <a:t>Introduction and Encoder </a:t>
            </a:r>
          </a:p>
        </p:txBody>
      </p:sp>
      <p:sp>
        <p:nvSpPr>
          <p:cNvPr id="6173" name="Text Box 1053"/>
          <p:cNvSpPr txBox="1">
            <a:spLocks noChangeArrowheads="1"/>
          </p:cNvSpPr>
          <p:nvPr userDrawn="1"/>
        </p:nvSpPr>
        <p:spPr bwMode="auto">
          <a:xfrm>
            <a:off x="904875" y="2179638"/>
            <a:ext cx="7772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b="1"/>
              <a:t>Logic and Computer Design Fundamentals</a:t>
            </a:r>
          </a:p>
        </p:txBody>
      </p:sp>
      <p:sp>
        <p:nvSpPr>
          <p:cNvPr id="6174" name="Line 1054"/>
          <p:cNvSpPr>
            <a:spLocks noChangeShapeType="1"/>
          </p:cNvSpPr>
          <p:nvPr userDrawn="1"/>
        </p:nvSpPr>
        <p:spPr bwMode="auto">
          <a:xfrm>
            <a:off x="579438" y="1935163"/>
            <a:ext cx="8015287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78F56C46-B32F-44AF-8035-121CDED981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2A785447-DD71-46D2-AA87-9AC8CFC042C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1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5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4DB6DF5A-27CB-4472-955C-BD2ECDC113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47799879-55C2-463D-8C0B-169097B8C2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FF4836FC-7F41-46D2-B8F0-408B793E22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80939B9B-7934-4468-B89C-236572F2B2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8EE35770-DEE8-446A-98E2-B858139AE4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77C09889-7A44-449C-BD41-5EEA52629A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50BE36D8-4F38-4CD4-83F3-C1411A21F8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8438" y="0"/>
            <a:ext cx="19431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5963" y="0"/>
            <a:ext cx="5680075" cy="6342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3 - Part 1        </a:t>
            </a:r>
            <a:fld id="{DA9996F5-CE90-4D42-9863-7ACB75A8B7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Picture 47" descr="C:\Documents and Settings\Charles R Kime\My Documents\Texts\Website\PowerPoint_Slides\Work_Area\Chapter_01\watermark.jpg"/>
          <p:cNvPicPr>
            <a:picLocks noChangeAspect="1" noChangeArrowheads="1"/>
          </p:cNvPicPr>
          <p:nvPr userDrawn="1"/>
        </p:nvPicPr>
        <p:blipFill>
          <a:blip r:embed="rId13" cstate="print"/>
          <a:srcRect t="39345"/>
          <a:stretch>
            <a:fillRect/>
          </a:stretch>
        </p:blipFill>
        <p:spPr bwMode="auto">
          <a:xfrm>
            <a:off x="693738" y="6353175"/>
            <a:ext cx="2230437" cy="476250"/>
          </a:xfrm>
          <a:prstGeom prst="rect">
            <a:avLst/>
          </a:prstGeom>
          <a:noFill/>
        </p:spPr>
      </p:pic>
      <p:sp>
        <p:nvSpPr>
          <p:cNvPr id="1072" name="Text Box 48"/>
          <p:cNvSpPr txBox="1">
            <a:spLocks noChangeArrowheads="1"/>
          </p:cNvSpPr>
          <p:nvPr userDrawn="1"/>
        </p:nvSpPr>
        <p:spPr bwMode="auto">
          <a:xfrm>
            <a:off x="696913" y="6338888"/>
            <a:ext cx="2728912" cy="519112"/>
          </a:xfrm>
          <a:prstGeom prst="rect">
            <a:avLst/>
          </a:prstGeom>
          <a:noFill/>
          <a:ln w="1588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sz="2800" b="1">
              <a:solidFill>
                <a:schemeClr val="accent2"/>
              </a:solidFill>
            </a:endParaRPr>
          </a:p>
        </p:txBody>
      </p:sp>
      <p:sp>
        <p:nvSpPr>
          <p:cNvPr id="1074" name="Rectangle 5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7350" y="6489700"/>
            <a:ext cx="23812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cs typeface="Times New Roman" pitchFamily="18" charset="0"/>
              </a:defRPr>
            </a:lvl1pPr>
          </a:lstStyle>
          <a:p>
            <a:r>
              <a:rPr lang="en-US"/>
              <a:t>Chapter 3 - Part 1        </a:t>
            </a:r>
            <a:fld id="{9846C95D-D136-4B96-BF18-D43BED9EF8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75" name="Line 51"/>
          <p:cNvSpPr>
            <a:spLocks noChangeShapeType="1"/>
          </p:cNvSpPr>
          <p:nvPr userDrawn="1"/>
        </p:nvSpPr>
        <p:spPr bwMode="auto">
          <a:xfrm>
            <a:off x="581025" y="1173163"/>
            <a:ext cx="8015288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076" name="Rectangle 52"/>
          <p:cNvSpPr>
            <a:spLocks noGrp="1" noChangeArrowheads="1"/>
          </p:cNvSpPr>
          <p:nvPr>
            <p:ph type="title"/>
          </p:nvPr>
        </p:nvSpPr>
        <p:spPr bwMode="auto">
          <a:xfrm>
            <a:off x="715963" y="0"/>
            <a:ext cx="7772400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7" name="Rectangle 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314450"/>
            <a:ext cx="7772400" cy="502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1.pn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622EEE53-04C3-4408-8B92-1724C4A81658}" type="slidenum">
              <a:rPr lang="en-US"/>
              <a:pPr/>
              <a:t>2</a:t>
            </a:fld>
            <a:endParaRPr lang="en-US"/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Part1 - </a:t>
            </a:r>
            <a:r>
              <a:rPr lang="en-US" sz="2000" dirty="0"/>
              <a:t>Introduction</a:t>
            </a:r>
            <a:endParaRPr lang="en-US" sz="2400" dirty="0"/>
          </a:p>
          <a:p>
            <a:pPr lvl="2">
              <a:lnSpc>
                <a:spcPct val="90000"/>
              </a:lnSpc>
            </a:pPr>
            <a:r>
              <a:rPr lang="en-US" sz="2000" dirty="0"/>
              <a:t>Design Topics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Design hierarchy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Design Procedure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The major design steps: specification, formulation, optimization, technology mapping, and verification 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Technology Mapping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 From AND, OR, and NOT to other gate types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Decoders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Part 2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Encoders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Multiplexers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Binary Adders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29DE2E88-BBD9-4E1E-9062-91065831F85F}" type="slidenum">
              <a:rPr lang="en-US"/>
              <a:pPr/>
              <a:t>3</a:t>
            </a:fld>
            <a:endParaRPr lang="en-US"/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cs typeface="Times New Roman" pitchFamily="18" charset="0"/>
              </a:rPr>
              <a:t>Combinational Circuits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214438"/>
            <a:ext cx="8264525" cy="5027612"/>
          </a:xfrm>
        </p:spPr>
        <p:txBody>
          <a:bodyPr/>
          <a:lstStyle/>
          <a:p>
            <a:r>
              <a:rPr lang="en-US" sz="2800">
                <a:cs typeface="Times New Roman" pitchFamily="18" charset="0"/>
              </a:rPr>
              <a:t>A combinational logic circuit has:</a:t>
            </a:r>
          </a:p>
          <a:p>
            <a:pPr lvl="1"/>
            <a:r>
              <a:rPr lang="en-US" sz="2400">
                <a:cs typeface="Times New Roman" pitchFamily="18" charset="0"/>
              </a:rPr>
              <a:t>A set of </a:t>
            </a:r>
            <a:r>
              <a:rPr lang="en-US" sz="2400" i="1">
                <a:cs typeface="Times New Roman" pitchFamily="18" charset="0"/>
              </a:rPr>
              <a:t>m</a:t>
            </a:r>
            <a:r>
              <a:rPr lang="en-US" sz="2400">
                <a:cs typeface="Times New Roman" pitchFamily="18" charset="0"/>
              </a:rPr>
              <a:t> Boolean inputs,</a:t>
            </a:r>
          </a:p>
          <a:p>
            <a:pPr lvl="1"/>
            <a:r>
              <a:rPr lang="en-US" sz="2400">
                <a:cs typeface="Times New Roman" pitchFamily="18" charset="0"/>
              </a:rPr>
              <a:t>A set of </a:t>
            </a:r>
            <a:r>
              <a:rPr lang="en-US" sz="2400" i="1">
                <a:cs typeface="Times New Roman" pitchFamily="18" charset="0"/>
              </a:rPr>
              <a:t>n</a:t>
            </a:r>
            <a:r>
              <a:rPr lang="en-US" sz="2400">
                <a:cs typeface="Times New Roman" pitchFamily="18" charset="0"/>
              </a:rPr>
              <a:t> Boolean outputs, and</a:t>
            </a:r>
          </a:p>
          <a:p>
            <a:pPr lvl="1"/>
            <a:r>
              <a:rPr lang="en-US" sz="2400" i="1">
                <a:cs typeface="Times New Roman" pitchFamily="18" charset="0"/>
              </a:rPr>
              <a:t>n</a:t>
            </a:r>
            <a:r>
              <a:rPr lang="en-US" sz="2400">
                <a:cs typeface="Times New Roman" pitchFamily="18" charset="0"/>
              </a:rPr>
              <a:t> switching functions, each mapping the 2</a:t>
            </a:r>
            <a:r>
              <a:rPr lang="en-US" sz="2400" i="1" baseline="30000">
                <a:cs typeface="Times New Roman" pitchFamily="18" charset="0"/>
              </a:rPr>
              <a:t>m</a:t>
            </a:r>
            <a:r>
              <a:rPr lang="en-US" sz="2400">
                <a:cs typeface="Times New Roman" pitchFamily="18" charset="0"/>
              </a:rPr>
              <a:t> input combinations to an output such that the current output depends only on the current input values</a:t>
            </a:r>
          </a:p>
          <a:p>
            <a:r>
              <a:rPr lang="en-US" sz="2800">
                <a:cs typeface="Times New Roman" pitchFamily="18" charset="0"/>
              </a:rPr>
              <a:t>A block diagram:</a:t>
            </a:r>
          </a:p>
          <a:p>
            <a:endParaRPr lang="en-US" sz="2800"/>
          </a:p>
        </p:txBody>
      </p:sp>
      <p:grpSp>
        <p:nvGrpSpPr>
          <p:cNvPr id="453636" name="Group 4"/>
          <p:cNvGrpSpPr>
            <a:grpSpLocks noChangeAspect="1"/>
          </p:cNvGrpSpPr>
          <p:nvPr/>
        </p:nvGrpSpPr>
        <p:grpSpPr bwMode="auto">
          <a:xfrm>
            <a:off x="3217863" y="3822700"/>
            <a:ext cx="5767387" cy="2689225"/>
            <a:chOff x="2126" y="2669"/>
            <a:chExt cx="2635" cy="1229"/>
          </a:xfrm>
        </p:grpSpPr>
        <p:sp>
          <p:nvSpPr>
            <p:cNvPr id="453637" name="Rectangle 5"/>
            <p:cNvSpPr>
              <a:spLocks noChangeAspect="1" noChangeArrowheads="1"/>
            </p:cNvSpPr>
            <p:nvPr/>
          </p:nvSpPr>
          <p:spPr bwMode="auto">
            <a:xfrm>
              <a:off x="2768" y="2669"/>
              <a:ext cx="1363" cy="969"/>
            </a:xfrm>
            <a:prstGeom prst="rect">
              <a:avLst/>
            </a:prstGeom>
            <a:noFill/>
            <a:ln w="301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38" name="Line 6"/>
            <p:cNvSpPr>
              <a:spLocks noChangeAspect="1" noChangeShapeType="1"/>
            </p:cNvSpPr>
            <p:nvPr/>
          </p:nvSpPr>
          <p:spPr bwMode="auto">
            <a:xfrm>
              <a:off x="2330" y="2737"/>
              <a:ext cx="438" cy="1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39" name="Line 7"/>
            <p:cNvSpPr>
              <a:spLocks noChangeAspect="1" noChangeShapeType="1"/>
            </p:cNvSpPr>
            <p:nvPr/>
          </p:nvSpPr>
          <p:spPr bwMode="auto">
            <a:xfrm flipH="1" flipV="1">
              <a:off x="2651" y="2703"/>
              <a:ext cx="117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0" name="Line 8"/>
            <p:cNvSpPr>
              <a:spLocks noChangeAspect="1" noChangeShapeType="1"/>
            </p:cNvSpPr>
            <p:nvPr/>
          </p:nvSpPr>
          <p:spPr bwMode="auto">
            <a:xfrm flipH="1">
              <a:off x="2651" y="2737"/>
              <a:ext cx="88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1" name="Line 9"/>
            <p:cNvSpPr>
              <a:spLocks noChangeAspect="1" noChangeShapeType="1"/>
            </p:cNvSpPr>
            <p:nvPr/>
          </p:nvSpPr>
          <p:spPr bwMode="auto">
            <a:xfrm>
              <a:off x="2330" y="2850"/>
              <a:ext cx="438" cy="1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2" name="Line 10"/>
            <p:cNvSpPr>
              <a:spLocks noChangeAspect="1" noChangeShapeType="1"/>
            </p:cNvSpPr>
            <p:nvPr/>
          </p:nvSpPr>
          <p:spPr bwMode="auto">
            <a:xfrm flipH="1" flipV="1">
              <a:off x="2651" y="2816"/>
              <a:ext cx="117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3" name="Line 11"/>
            <p:cNvSpPr>
              <a:spLocks noChangeAspect="1" noChangeShapeType="1"/>
            </p:cNvSpPr>
            <p:nvPr/>
          </p:nvSpPr>
          <p:spPr bwMode="auto">
            <a:xfrm flipH="1">
              <a:off x="2651" y="2850"/>
              <a:ext cx="88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4" name="Line 12"/>
            <p:cNvSpPr>
              <a:spLocks noChangeAspect="1" noChangeShapeType="1"/>
            </p:cNvSpPr>
            <p:nvPr/>
          </p:nvSpPr>
          <p:spPr bwMode="auto">
            <a:xfrm>
              <a:off x="2330" y="3529"/>
              <a:ext cx="438" cy="1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5" name="Line 13"/>
            <p:cNvSpPr>
              <a:spLocks noChangeAspect="1" noChangeShapeType="1"/>
            </p:cNvSpPr>
            <p:nvPr/>
          </p:nvSpPr>
          <p:spPr bwMode="auto">
            <a:xfrm flipH="1" flipV="1">
              <a:off x="2651" y="3495"/>
              <a:ext cx="117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6" name="Line 14"/>
            <p:cNvSpPr>
              <a:spLocks noChangeAspect="1" noChangeShapeType="1"/>
            </p:cNvSpPr>
            <p:nvPr/>
          </p:nvSpPr>
          <p:spPr bwMode="auto">
            <a:xfrm flipH="1">
              <a:off x="2651" y="3529"/>
              <a:ext cx="88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7" name="Line 15"/>
            <p:cNvSpPr>
              <a:spLocks noChangeAspect="1" noChangeShapeType="1"/>
            </p:cNvSpPr>
            <p:nvPr/>
          </p:nvSpPr>
          <p:spPr bwMode="auto">
            <a:xfrm>
              <a:off x="4150" y="2748"/>
              <a:ext cx="438" cy="1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8" name="Line 16"/>
            <p:cNvSpPr>
              <a:spLocks noChangeAspect="1" noChangeShapeType="1"/>
            </p:cNvSpPr>
            <p:nvPr/>
          </p:nvSpPr>
          <p:spPr bwMode="auto">
            <a:xfrm flipH="1" flipV="1">
              <a:off x="4471" y="2714"/>
              <a:ext cx="117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49" name="Line 17"/>
            <p:cNvSpPr>
              <a:spLocks noChangeAspect="1" noChangeShapeType="1"/>
            </p:cNvSpPr>
            <p:nvPr/>
          </p:nvSpPr>
          <p:spPr bwMode="auto">
            <a:xfrm flipH="1">
              <a:off x="4471" y="2748"/>
              <a:ext cx="88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50" name="Line 18"/>
            <p:cNvSpPr>
              <a:spLocks noChangeAspect="1" noChangeShapeType="1"/>
            </p:cNvSpPr>
            <p:nvPr/>
          </p:nvSpPr>
          <p:spPr bwMode="auto">
            <a:xfrm>
              <a:off x="4150" y="2861"/>
              <a:ext cx="438" cy="1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51" name="Line 19"/>
            <p:cNvSpPr>
              <a:spLocks noChangeAspect="1" noChangeShapeType="1"/>
            </p:cNvSpPr>
            <p:nvPr/>
          </p:nvSpPr>
          <p:spPr bwMode="auto">
            <a:xfrm flipH="1" flipV="1">
              <a:off x="4471" y="2827"/>
              <a:ext cx="117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52" name="Line 20"/>
            <p:cNvSpPr>
              <a:spLocks noChangeAspect="1" noChangeShapeType="1"/>
            </p:cNvSpPr>
            <p:nvPr/>
          </p:nvSpPr>
          <p:spPr bwMode="auto">
            <a:xfrm flipH="1">
              <a:off x="4471" y="2861"/>
              <a:ext cx="88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53" name="Line 21"/>
            <p:cNvSpPr>
              <a:spLocks noChangeAspect="1" noChangeShapeType="1"/>
            </p:cNvSpPr>
            <p:nvPr/>
          </p:nvSpPr>
          <p:spPr bwMode="auto">
            <a:xfrm>
              <a:off x="4150" y="3540"/>
              <a:ext cx="438" cy="1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54" name="Line 22"/>
            <p:cNvSpPr>
              <a:spLocks noChangeAspect="1" noChangeShapeType="1"/>
            </p:cNvSpPr>
            <p:nvPr/>
          </p:nvSpPr>
          <p:spPr bwMode="auto">
            <a:xfrm flipH="1" flipV="1">
              <a:off x="4471" y="3506"/>
              <a:ext cx="117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55" name="Line 23"/>
            <p:cNvSpPr>
              <a:spLocks noChangeAspect="1" noChangeShapeType="1"/>
            </p:cNvSpPr>
            <p:nvPr/>
          </p:nvSpPr>
          <p:spPr bwMode="auto">
            <a:xfrm flipH="1">
              <a:off x="4471" y="3540"/>
              <a:ext cx="88" cy="34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53656" name="Rectangle 24"/>
            <p:cNvSpPr>
              <a:spLocks noChangeAspect="1" noChangeArrowheads="1"/>
            </p:cNvSpPr>
            <p:nvPr/>
          </p:nvSpPr>
          <p:spPr bwMode="auto">
            <a:xfrm>
              <a:off x="2126" y="3732"/>
              <a:ext cx="855" cy="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1" i="1">
                  <a:solidFill>
                    <a:srgbClr val="000000"/>
                  </a:solidFill>
                  <a:latin typeface="SWISS" charset="0"/>
                </a:rPr>
                <a:t>m</a:t>
              </a:r>
              <a:r>
                <a:rPr lang="en-US" sz="1900" b="1">
                  <a:solidFill>
                    <a:srgbClr val="000000"/>
                  </a:solidFill>
                  <a:latin typeface="SWISS" charset="0"/>
                </a:rPr>
                <a:t>  Boolean Inputs</a:t>
              </a:r>
              <a:endParaRPr lang="en-US" sz="2400" b="1"/>
            </a:p>
          </p:txBody>
        </p:sp>
        <p:sp>
          <p:nvSpPr>
            <p:cNvPr id="453657" name="Rectangle 25"/>
            <p:cNvSpPr>
              <a:spLocks noChangeAspect="1" noChangeArrowheads="1"/>
            </p:cNvSpPr>
            <p:nvPr/>
          </p:nvSpPr>
          <p:spPr bwMode="auto">
            <a:xfrm>
              <a:off x="3878" y="3766"/>
              <a:ext cx="883" cy="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1" i="1">
                  <a:solidFill>
                    <a:srgbClr val="000000"/>
                  </a:solidFill>
                  <a:latin typeface="SWISS" charset="0"/>
                </a:rPr>
                <a:t>n</a:t>
              </a:r>
              <a:r>
                <a:rPr lang="en-US" sz="1900" b="1">
                  <a:solidFill>
                    <a:srgbClr val="000000"/>
                  </a:solidFill>
                  <a:latin typeface="SWISS" charset="0"/>
                </a:rPr>
                <a:t> Boolean Outputs</a:t>
              </a:r>
              <a:endParaRPr lang="en-US" sz="2400" b="1"/>
            </a:p>
          </p:txBody>
        </p:sp>
        <p:sp>
          <p:nvSpPr>
            <p:cNvPr id="453658" name="Rectangle 26"/>
            <p:cNvSpPr>
              <a:spLocks noChangeAspect="1" noChangeArrowheads="1"/>
            </p:cNvSpPr>
            <p:nvPr/>
          </p:nvSpPr>
          <p:spPr bwMode="auto">
            <a:xfrm>
              <a:off x="3089" y="2816"/>
              <a:ext cx="765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1">
                  <a:solidFill>
                    <a:srgbClr val="000000"/>
                  </a:solidFill>
                  <a:latin typeface="SWISS" charset="0"/>
                </a:rPr>
                <a:t>Combinatorial</a:t>
              </a:r>
              <a:endParaRPr lang="en-US" sz="2800" b="1"/>
            </a:p>
          </p:txBody>
        </p:sp>
        <p:sp>
          <p:nvSpPr>
            <p:cNvPr id="453659" name="Rectangle 27"/>
            <p:cNvSpPr>
              <a:spLocks noChangeAspect="1" noChangeArrowheads="1"/>
            </p:cNvSpPr>
            <p:nvPr/>
          </p:nvSpPr>
          <p:spPr bwMode="auto">
            <a:xfrm>
              <a:off x="3089" y="2991"/>
              <a:ext cx="319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1">
                  <a:solidFill>
                    <a:srgbClr val="000000"/>
                  </a:solidFill>
                  <a:latin typeface="SWISS" charset="0"/>
                </a:rPr>
                <a:t>Logic</a:t>
              </a:r>
              <a:r>
                <a:rPr lang="en-US" sz="1900" b="1">
                  <a:solidFill>
                    <a:srgbClr val="000000"/>
                  </a:solidFill>
                  <a:latin typeface="SWISS" charset="0"/>
                </a:rPr>
                <a:t> </a:t>
              </a:r>
              <a:endParaRPr lang="en-US" sz="2400" b="1"/>
            </a:p>
          </p:txBody>
        </p:sp>
        <p:sp>
          <p:nvSpPr>
            <p:cNvPr id="453660" name="Rectangle 28"/>
            <p:cNvSpPr>
              <a:spLocks noChangeAspect="1" noChangeArrowheads="1"/>
            </p:cNvSpPr>
            <p:nvPr/>
          </p:nvSpPr>
          <p:spPr bwMode="auto">
            <a:xfrm>
              <a:off x="3089" y="3166"/>
              <a:ext cx="373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1">
                  <a:solidFill>
                    <a:srgbClr val="000000"/>
                  </a:solidFill>
                  <a:latin typeface="SWISS" charset="0"/>
                </a:rPr>
                <a:t>Circuit</a:t>
              </a:r>
              <a:endParaRPr lang="en-US" sz="2800" b="1"/>
            </a:p>
          </p:txBody>
        </p:sp>
        <p:sp>
          <p:nvSpPr>
            <p:cNvPr id="453661" name="Oval 29"/>
            <p:cNvSpPr>
              <a:spLocks noChangeAspect="1" noChangeArrowheads="1"/>
            </p:cNvSpPr>
            <p:nvPr/>
          </p:nvSpPr>
          <p:spPr bwMode="auto">
            <a:xfrm>
              <a:off x="4320" y="297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53662" name="Oval 30"/>
            <p:cNvSpPr>
              <a:spLocks noChangeAspect="1" noChangeArrowheads="1"/>
            </p:cNvSpPr>
            <p:nvPr/>
          </p:nvSpPr>
          <p:spPr bwMode="auto">
            <a:xfrm>
              <a:off x="4320" y="316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53663" name="Oval 31"/>
            <p:cNvSpPr>
              <a:spLocks noChangeAspect="1" noChangeArrowheads="1"/>
            </p:cNvSpPr>
            <p:nvPr/>
          </p:nvSpPr>
          <p:spPr bwMode="auto">
            <a:xfrm>
              <a:off x="4320" y="33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53664" name="Oval 32"/>
            <p:cNvSpPr>
              <a:spLocks noChangeAspect="1" noChangeArrowheads="1"/>
            </p:cNvSpPr>
            <p:nvPr/>
          </p:nvSpPr>
          <p:spPr bwMode="auto">
            <a:xfrm>
              <a:off x="2496" y="297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53665" name="Oval 33"/>
            <p:cNvSpPr>
              <a:spLocks noChangeAspect="1" noChangeArrowheads="1"/>
            </p:cNvSpPr>
            <p:nvPr/>
          </p:nvSpPr>
          <p:spPr bwMode="auto">
            <a:xfrm>
              <a:off x="2496" y="3168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53666" name="Oval 34"/>
            <p:cNvSpPr>
              <a:spLocks noChangeAspect="1" noChangeArrowheads="1"/>
            </p:cNvSpPr>
            <p:nvPr/>
          </p:nvSpPr>
          <p:spPr bwMode="auto">
            <a:xfrm>
              <a:off x="2496" y="336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02854451-05C7-4618-B3B2-D7FCA34007DE}" type="slidenum">
              <a:rPr lang="en-US"/>
              <a:pPr/>
              <a:t>4</a:t>
            </a:fld>
            <a:endParaRPr lang="en-US"/>
          </a:p>
        </p:txBody>
      </p:sp>
      <p:sp>
        <p:nvSpPr>
          <p:cNvPr id="528428" name="Rectangle 44"/>
          <p:cNvSpPr>
            <a:spLocks noGrp="1" noChangeArrowheads="1"/>
          </p:cNvSpPr>
          <p:nvPr>
            <p:ph type="body" idx="1"/>
          </p:nvPr>
        </p:nvSpPr>
        <p:spPr>
          <a:xfrm>
            <a:off x="719138" y="1314450"/>
            <a:ext cx="8193087" cy="5027613"/>
          </a:xfrm>
        </p:spPr>
        <p:txBody>
          <a:bodyPr/>
          <a:lstStyle/>
          <a:p>
            <a:r>
              <a:rPr lang="en-US" dirty="0"/>
              <a:t>Decoding - the conversion of an </a:t>
            </a:r>
            <a:r>
              <a:rPr lang="en-US" i="1" dirty="0"/>
              <a:t>n</a:t>
            </a:r>
            <a:r>
              <a:rPr lang="en-US" dirty="0"/>
              <a:t>-bit input code to an </a:t>
            </a:r>
            <a:r>
              <a:rPr lang="en-US" i="1" dirty="0"/>
              <a:t>m</a:t>
            </a:r>
            <a:r>
              <a:rPr lang="en-US" dirty="0"/>
              <a:t>-bit output code with</a:t>
            </a:r>
            <a:br>
              <a:rPr lang="en-US" dirty="0"/>
            </a:br>
            <a:r>
              <a:rPr lang="en-US" dirty="0"/>
              <a:t>n </a:t>
            </a:r>
            <a:r>
              <a:rPr lang="en-US" dirty="0">
                <a:latin typeface="Symbol" pitchFamily="18" charset="2"/>
              </a:rPr>
              <a:t>£ </a:t>
            </a:r>
            <a:r>
              <a:rPr lang="en-US" dirty="0"/>
              <a:t>m </a:t>
            </a:r>
            <a:r>
              <a:rPr lang="en-US" dirty="0">
                <a:latin typeface="Symbol" pitchFamily="18" charset="2"/>
              </a:rPr>
              <a:t>£ </a:t>
            </a:r>
            <a:r>
              <a:rPr lang="en-US" dirty="0"/>
              <a:t> 2</a:t>
            </a:r>
            <a:r>
              <a:rPr lang="en-US" i="1" baseline="30000" dirty="0"/>
              <a:t>n</a:t>
            </a:r>
            <a:r>
              <a:rPr lang="en-US" dirty="0"/>
              <a:t> such that each valid code word produces a unique output code</a:t>
            </a:r>
          </a:p>
          <a:p>
            <a:r>
              <a:rPr lang="en-US" dirty="0"/>
              <a:t>Circuits that perform decoding are called </a:t>
            </a:r>
            <a:r>
              <a:rPr lang="en-US" i="1" dirty="0"/>
              <a:t>decoders</a:t>
            </a:r>
          </a:p>
          <a:p>
            <a:r>
              <a:rPr lang="en-US" dirty="0"/>
              <a:t>Here, functional blocks for decoding are</a:t>
            </a:r>
          </a:p>
          <a:p>
            <a:pPr lvl="1"/>
            <a:r>
              <a:rPr lang="en-US" dirty="0"/>
              <a:t>called </a:t>
            </a:r>
            <a:r>
              <a:rPr lang="en-US" i="1" dirty="0"/>
              <a:t>n</a:t>
            </a:r>
            <a:r>
              <a:rPr lang="en-US" dirty="0"/>
              <a:t>-to-</a:t>
            </a:r>
            <a:r>
              <a:rPr lang="en-US" i="1" dirty="0"/>
              <a:t>m</a:t>
            </a:r>
            <a:r>
              <a:rPr lang="en-US" dirty="0"/>
              <a:t> line decoders, where </a:t>
            </a:r>
            <a:r>
              <a:rPr lang="en-US" i="1" dirty="0"/>
              <a:t>m</a:t>
            </a:r>
            <a:r>
              <a:rPr lang="en-US" dirty="0"/>
              <a:t> </a:t>
            </a:r>
            <a:r>
              <a:rPr lang="en-US" dirty="0">
                <a:latin typeface="Symbol" pitchFamily="18" charset="2"/>
              </a:rPr>
              <a:t>£ </a:t>
            </a:r>
            <a:r>
              <a:rPr lang="en-US" dirty="0"/>
              <a:t> 2</a:t>
            </a:r>
            <a:r>
              <a:rPr lang="en-US" i="1" baseline="30000" dirty="0"/>
              <a:t>n</a:t>
            </a:r>
            <a:r>
              <a:rPr lang="en-US" i="1" dirty="0"/>
              <a:t>, </a:t>
            </a:r>
            <a:r>
              <a:rPr lang="en-US" dirty="0"/>
              <a:t>and</a:t>
            </a:r>
          </a:p>
          <a:p>
            <a:pPr lvl="1"/>
            <a:r>
              <a:rPr lang="en-US" dirty="0"/>
              <a:t>generate 2</a:t>
            </a:r>
            <a:r>
              <a:rPr lang="en-US" i="1" baseline="30000" dirty="0"/>
              <a:t>n</a:t>
            </a:r>
            <a:r>
              <a:rPr lang="en-US" dirty="0"/>
              <a:t> (or fewer) </a:t>
            </a:r>
            <a:r>
              <a:rPr lang="en-US" dirty="0" err="1"/>
              <a:t>minterms</a:t>
            </a:r>
            <a:r>
              <a:rPr lang="en-US" dirty="0"/>
              <a:t> for the </a:t>
            </a:r>
            <a:r>
              <a:rPr lang="en-US" i="1" dirty="0"/>
              <a:t>n</a:t>
            </a:r>
            <a:r>
              <a:rPr lang="en-US" dirty="0"/>
              <a:t> input variables</a:t>
            </a:r>
          </a:p>
        </p:txBody>
      </p:sp>
      <p:sp>
        <p:nvSpPr>
          <p:cNvPr id="528430" name="Rectangle 4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Decoding </a:t>
            </a:r>
            <a:endParaRPr lang="en-US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Chapter 4    </a:t>
            </a:r>
          </a:p>
        </p:txBody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214438"/>
            <a:ext cx="7772400" cy="5027612"/>
          </a:xfrm>
        </p:spPr>
        <p:txBody>
          <a:bodyPr/>
          <a:lstStyle/>
          <a:p>
            <a:r>
              <a:rPr lang="en-US" sz="2000" dirty="0"/>
              <a:t>1-to-2-Line Decoder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2-to-4-Line Decoder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600" dirty="0"/>
          </a:p>
          <a:p>
            <a:endParaRPr lang="en-US" sz="1200" dirty="0"/>
          </a:p>
        </p:txBody>
      </p:sp>
      <p:grpSp>
        <p:nvGrpSpPr>
          <p:cNvPr id="2" name="Group 228"/>
          <p:cNvGrpSpPr>
            <a:grpSpLocks/>
          </p:cNvGrpSpPr>
          <p:nvPr/>
        </p:nvGrpSpPr>
        <p:grpSpPr bwMode="auto">
          <a:xfrm>
            <a:off x="720725" y="2816225"/>
            <a:ext cx="6145213" cy="3892550"/>
            <a:chOff x="454" y="1774"/>
            <a:chExt cx="3871" cy="2452"/>
          </a:xfrm>
        </p:grpSpPr>
        <p:sp>
          <p:nvSpPr>
            <p:cNvPr id="567414" name="Text Box 118"/>
            <p:cNvSpPr txBox="1">
              <a:spLocks noChangeArrowheads="1"/>
            </p:cNvSpPr>
            <p:nvPr/>
          </p:nvSpPr>
          <p:spPr bwMode="auto">
            <a:xfrm>
              <a:off x="454" y="3372"/>
              <a:ext cx="2517" cy="8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  <a:buClr>
                  <a:srgbClr val="009999"/>
                </a:buClr>
                <a:buFont typeface="Wingdings" pitchFamily="2" charset="2"/>
                <a:buChar char="§"/>
              </a:pPr>
              <a:r>
                <a:rPr lang="en-US" sz="2400" b="1" u="none" baseline="0" dirty="0"/>
                <a:t>  </a:t>
              </a:r>
              <a:r>
                <a:rPr lang="en-US" sz="2000" b="1" u="none" baseline="0" dirty="0"/>
                <a:t>Note that the 2-4-line</a:t>
              </a:r>
              <a:br>
                <a:rPr lang="en-US" sz="2000" b="1" u="none" baseline="0" dirty="0"/>
              </a:br>
              <a:r>
                <a:rPr lang="en-US" sz="2000" b="1" u="none" baseline="0" dirty="0"/>
                <a:t>    made up of  2 1-to-2-</a:t>
              </a:r>
              <a:br>
                <a:rPr lang="en-US" sz="2000" b="1" u="none" baseline="0" dirty="0"/>
              </a:br>
              <a:r>
                <a:rPr lang="en-US" sz="2000" b="1" u="none" baseline="0" dirty="0"/>
                <a:t>    line decoders and 4 AND gates.</a:t>
              </a:r>
            </a:p>
            <a:p>
              <a:endParaRPr lang="en-US" sz="2800" dirty="0"/>
            </a:p>
          </p:txBody>
        </p:sp>
        <p:sp>
          <p:nvSpPr>
            <p:cNvPr id="567304" name="Rectangle 8"/>
            <p:cNvSpPr>
              <a:spLocks noChangeArrowheads="1"/>
            </p:cNvSpPr>
            <p:nvPr/>
          </p:nvSpPr>
          <p:spPr bwMode="auto">
            <a:xfrm>
              <a:off x="3968" y="2305"/>
              <a:ext cx="357" cy="1700"/>
            </a:xfrm>
            <a:prstGeom prst="rect">
              <a:avLst/>
            </a:prstGeom>
            <a:solidFill>
              <a:srgbClr val="00FFCC"/>
            </a:solidFill>
            <a:ln w="9525">
              <a:solidFill>
                <a:srgbClr val="00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67303" name="Rectangle 7"/>
            <p:cNvSpPr>
              <a:spLocks noChangeArrowheads="1"/>
            </p:cNvSpPr>
            <p:nvPr/>
          </p:nvSpPr>
          <p:spPr bwMode="auto">
            <a:xfrm>
              <a:off x="2689" y="2126"/>
              <a:ext cx="1084" cy="311"/>
            </a:xfrm>
            <a:prstGeom prst="rect">
              <a:avLst/>
            </a:prstGeom>
            <a:solidFill>
              <a:srgbClr val="00FF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67302" name="Rectangle 6"/>
            <p:cNvSpPr>
              <a:spLocks noChangeArrowheads="1"/>
            </p:cNvSpPr>
            <p:nvPr/>
          </p:nvSpPr>
          <p:spPr bwMode="auto">
            <a:xfrm>
              <a:off x="2917" y="1774"/>
              <a:ext cx="1087" cy="291"/>
            </a:xfrm>
            <a:prstGeom prst="rect">
              <a:avLst/>
            </a:prstGeom>
            <a:solidFill>
              <a:srgbClr val="00FF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 Examples</a:t>
            </a:r>
          </a:p>
        </p:txBody>
      </p:sp>
      <p:pic>
        <p:nvPicPr>
          <p:cNvPr id="567300" name="Picture 4" descr="C:\Documents and Settings\Charles R Kime\My Documents\Texts\Website\PowerPoint_Slides\Work_Area\Chapter_04\Fig_4-06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63963" y="1427163"/>
            <a:ext cx="4652962" cy="1557337"/>
          </a:xfrm>
          <a:prstGeom prst="rect">
            <a:avLst/>
          </a:prstGeom>
          <a:noFill/>
        </p:spPr>
      </p:pic>
      <p:pic>
        <p:nvPicPr>
          <p:cNvPr id="567301" name="Picture 5" descr="C:\Documents and Settings\Charles R Kime\My Documents\Texts\Website\PowerPoint_Slides\Work_Area\Chapter_04\Fig_4-07.e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825750"/>
            <a:ext cx="7248525" cy="3754438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528215-3BA1-4D86-AC58-F10C2F022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506" y="1636713"/>
            <a:ext cx="209550" cy="285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658252-501F-439A-8042-E07772D50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981" y="2205831"/>
            <a:ext cx="209550" cy="285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785D6E-6EA7-4EF9-B359-830B08568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3744912"/>
            <a:ext cx="209550" cy="285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CF8047-EA62-4EDD-8D72-E4CCA7164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4470400"/>
            <a:ext cx="209550" cy="2857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35BF31-F50B-4DE0-B8C0-F54C028E1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981" y="5210175"/>
            <a:ext cx="209550" cy="285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28F1C2-35DF-4486-BFEE-3351D5BE2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981" y="5935663"/>
            <a:ext cx="209550" cy="2857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51B54483-35C6-4B79-9E64-CBD805BE0F25}" type="slidenum">
              <a:rPr lang="en-US"/>
              <a:pPr/>
              <a:t>6</a:t>
            </a:fld>
            <a:endParaRPr lang="en-US"/>
          </a:p>
        </p:txBody>
      </p:sp>
      <p:sp>
        <p:nvSpPr>
          <p:cNvPr id="53044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0850" y="1244600"/>
            <a:ext cx="8524875" cy="5027613"/>
          </a:xfrm>
        </p:spPr>
        <p:txBody>
          <a:bodyPr/>
          <a:lstStyle/>
          <a:p>
            <a:r>
              <a:rPr lang="en-US" sz="2400"/>
              <a:t>In general, attach </a:t>
            </a:r>
            <a:r>
              <a:rPr lang="en-US" sz="2400" i="1"/>
              <a:t>m</a:t>
            </a:r>
            <a:r>
              <a:rPr lang="en-US" sz="2400"/>
              <a:t>-enabling circuits to the outputs</a:t>
            </a:r>
          </a:p>
          <a:p>
            <a:r>
              <a:rPr lang="en-US" sz="2400"/>
              <a:t>See truth table below for function</a:t>
            </a:r>
          </a:p>
          <a:p>
            <a:pPr lvl="1"/>
            <a:r>
              <a:rPr lang="en-US" sz="2000"/>
              <a:t>Note use of X’s to denote both 0 and 1</a:t>
            </a:r>
          </a:p>
          <a:p>
            <a:pPr lvl="1"/>
            <a:r>
              <a:rPr lang="en-US" sz="2000"/>
              <a:t>Combination containing two X’s represent four binary combinations</a:t>
            </a:r>
          </a:p>
          <a:p>
            <a:r>
              <a:rPr lang="en-US" sz="2400"/>
              <a:t>Alternatively, can be viewed as distributing value of signal EN to 1 of 4 outputs</a:t>
            </a:r>
          </a:p>
          <a:p>
            <a:r>
              <a:rPr lang="en-US" sz="2400"/>
              <a:t>In this case, called a</a:t>
            </a:r>
            <a:br>
              <a:rPr lang="en-US" sz="2400"/>
            </a:br>
            <a:r>
              <a:rPr lang="en-US" sz="2400" i="1"/>
              <a:t>demultiplexer</a:t>
            </a:r>
            <a:r>
              <a:rPr lang="en-US" sz="2400"/>
              <a:t> </a:t>
            </a:r>
          </a:p>
        </p:txBody>
      </p:sp>
      <p:pic>
        <p:nvPicPr>
          <p:cNvPr id="530438" name="Picture 6" descr="C:\Documents and Settings\Charles R Kime\My Documents\Texts\Website\PowerPoint_Slides\Work_Area\Chapter_04\Fig_4-10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3263" y="3311525"/>
            <a:ext cx="6453187" cy="3341688"/>
          </a:xfrm>
          <a:prstGeom prst="rect">
            <a:avLst/>
          </a:prstGeom>
          <a:noFill/>
        </p:spPr>
      </p:pic>
      <p:sp>
        <p:nvSpPr>
          <p:cNvPr id="530442" name="Rectangle 10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Decoder with Enable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2-to-4 Decoder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438400"/>
            <a:ext cx="76200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NAND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5142" y="1334637"/>
            <a:ext cx="8683269" cy="4233650"/>
          </a:xfrm>
          <a:prstGeom prst="rect">
            <a:avLst/>
          </a:prstGeom>
          <a:noFill/>
        </p:spPr>
      </p:pic>
      <p:cxnSp>
        <p:nvCxnSpPr>
          <p:cNvPr id="28" name="Straight Connector 27"/>
          <p:cNvCxnSpPr/>
          <p:nvPr/>
        </p:nvCxnSpPr>
        <p:spPr bwMode="auto">
          <a:xfrm>
            <a:off x="5155725" y="1627522"/>
            <a:ext cx="163901" cy="8627"/>
          </a:xfrm>
          <a:prstGeom prst="line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 bwMode="auto">
          <a:xfrm>
            <a:off x="5147099" y="2412525"/>
            <a:ext cx="163901" cy="8627"/>
          </a:xfrm>
          <a:prstGeom prst="line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 bwMode="auto">
          <a:xfrm>
            <a:off x="5138472" y="3206155"/>
            <a:ext cx="163901" cy="8627"/>
          </a:xfrm>
          <a:prstGeom prst="line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 bwMode="auto">
          <a:xfrm>
            <a:off x="5138472" y="4008412"/>
            <a:ext cx="163901" cy="8627"/>
          </a:xfrm>
          <a:prstGeom prst="line">
            <a:avLst/>
          </a:prstGeom>
          <a:ln w="158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3" cstate="print"/>
          <a:srcRect l="61559" t="37119" b="10375"/>
          <a:stretch>
            <a:fillRect/>
          </a:stretch>
        </p:blipFill>
        <p:spPr bwMode="auto">
          <a:xfrm>
            <a:off x="5596759" y="1371619"/>
            <a:ext cx="3337928" cy="2222938"/>
          </a:xfrm>
          <a:prstGeom prst="rect">
            <a:avLst/>
          </a:prstGeom>
          <a:noFill/>
        </p:spPr>
      </p:pic>
      <p:grpSp>
        <p:nvGrpSpPr>
          <p:cNvPr id="19" name="Group 18"/>
          <p:cNvGrpSpPr/>
          <p:nvPr/>
        </p:nvGrpSpPr>
        <p:grpSpPr>
          <a:xfrm>
            <a:off x="7363990" y="1586376"/>
            <a:ext cx="1291039" cy="23011"/>
            <a:chOff x="7332457" y="3131393"/>
            <a:chExt cx="1291039" cy="23011"/>
          </a:xfrm>
        </p:grpSpPr>
        <p:cxnSp>
          <p:nvCxnSpPr>
            <p:cNvPr id="14" name="Straight Connector 13"/>
            <p:cNvCxnSpPr/>
            <p:nvPr/>
          </p:nvCxnSpPr>
          <p:spPr bwMode="auto">
            <a:xfrm>
              <a:off x="7332457" y="3131393"/>
              <a:ext cx="163901" cy="8627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auto">
            <a:xfrm>
              <a:off x="7674629" y="3145777"/>
              <a:ext cx="163901" cy="8627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auto">
            <a:xfrm>
              <a:off x="8054173" y="3145777"/>
              <a:ext cx="163901" cy="8627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auto">
            <a:xfrm>
              <a:off x="8459595" y="3137151"/>
              <a:ext cx="163901" cy="8627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 bwMode="auto">
          <a:xfrm>
            <a:off x="5738648" y="3247697"/>
            <a:ext cx="3216166" cy="197068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6177226" y="3104198"/>
          <a:ext cx="1617996" cy="445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4" imgW="825480" imgH="279360" progId="Equation.3">
                  <p:embed/>
                </p:oleObj>
              </mc:Choice>
              <mc:Fallback>
                <p:oleObj name="Equation" r:id="rId4" imgW="825480" imgH="2793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226" y="3104198"/>
                        <a:ext cx="1617996" cy="4459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1" name="Object 3"/>
          <p:cNvGraphicFramePr>
            <a:graphicFrameLocks noChangeAspect="1"/>
          </p:cNvGraphicFramePr>
          <p:nvPr/>
        </p:nvGraphicFramePr>
        <p:xfrm>
          <a:off x="6199842" y="3646645"/>
          <a:ext cx="1592546" cy="44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6" imgW="812520" imgH="279360" progId="Equation.3">
                  <p:embed/>
                </p:oleObj>
              </mc:Choice>
              <mc:Fallback>
                <p:oleObj name="Equation" r:id="rId6" imgW="812520" imgH="2793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842" y="3646645"/>
                        <a:ext cx="1592546" cy="44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2" name="Object 4"/>
          <p:cNvGraphicFramePr>
            <a:graphicFrameLocks noChangeAspect="1"/>
          </p:cNvGraphicFramePr>
          <p:nvPr/>
        </p:nvGraphicFramePr>
        <p:xfrm>
          <a:off x="6156375" y="4214093"/>
          <a:ext cx="1617638" cy="44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8" imgW="825480" imgH="279360" progId="Equation.3">
                  <p:embed/>
                </p:oleObj>
              </mc:Choice>
              <mc:Fallback>
                <p:oleObj name="Equation" r:id="rId8" imgW="825480" imgH="2793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75" y="4214093"/>
                        <a:ext cx="1617638" cy="44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9413" name="Object 5"/>
          <p:cNvGraphicFramePr>
            <a:graphicFrameLocks noChangeAspect="1"/>
          </p:cNvGraphicFramePr>
          <p:nvPr/>
        </p:nvGraphicFramePr>
        <p:xfrm>
          <a:off x="6172575" y="4808198"/>
          <a:ext cx="1617638" cy="405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10" imgW="825480" imgH="253800" progId="Equation.3">
                  <p:embed/>
                </p:oleObj>
              </mc:Choice>
              <mc:Fallback>
                <p:oleObj name="Equation" r:id="rId10" imgW="825480" imgH="2538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575" y="4808198"/>
                        <a:ext cx="1617638" cy="4050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07F27F2E-F401-44FC-AD21-67AD89C33A85}" type="slidenum">
              <a:rPr lang="en-US"/>
              <a:pPr/>
              <a:t>9</a:t>
            </a:fld>
            <a:endParaRPr lang="en-US"/>
          </a:p>
        </p:txBody>
      </p:sp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 Expansion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General procedure given in book for any decoder with </a:t>
            </a:r>
            <a:r>
              <a:rPr lang="en-US" sz="2400" i="1"/>
              <a:t>n</a:t>
            </a:r>
            <a:r>
              <a:rPr lang="en-US" sz="2400"/>
              <a:t> inputs and 2</a:t>
            </a:r>
            <a:r>
              <a:rPr lang="en-US" sz="2400" i="1" baseline="30000"/>
              <a:t>n</a:t>
            </a:r>
            <a:r>
              <a:rPr lang="en-US" sz="2400"/>
              <a:t> outputs.</a:t>
            </a:r>
          </a:p>
          <a:p>
            <a:r>
              <a:rPr lang="en-US" sz="2400"/>
              <a:t>This procedure builds a decoder backward from the outputs.</a:t>
            </a:r>
          </a:p>
          <a:p>
            <a:r>
              <a:rPr lang="en-US" sz="2400"/>
              <a:t>The output AND gates are driven by two decoders with their numbers of inputs either equal or differing by 1.</a:t>
            </a:r>
          </a:p>
          <a:p>
            <a:r>
              <a:rPr lang="en-US" sz="2400"/>
              <a:t>These decoders are then designed using the same procedure until 2-to-1-line decoders are reached. </a:t>
            </a:r>
          </a:p>
          <a:p>
            <a:r>
              <a:rPr lang="en-US" sz="2400"/>
              <a:t>The procedure can be modified to apply to decoders with the number of outputs ≠ 2</a:t>
            </a:r>
            <a:r>
              <a:rPr lang="en-US" sz="2400" baseline="30000"/>
              <a:t>n</a:t>
            </a:r>
          </a:p>
          <a:p>
            <a:pPr>
              <a:buFont typeface="Wingdings" pitchFamily="2" charset="2"/>
              <a:buNone/>
            </a:pPr>
            <a:endParaRPr lang="en-US" sz="24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4    </a:t>
            </a:r>
            <a:fld id="{55A759B0-D710-4B6E-BC74-D54414BEDB75}" type="slidenum">
              <a:rPr lang="en-US"/>
              <a:pPr/>
              <a:t>10</a:t>
            </a:fld>
            <a:endParaRPr lang="en-US"/>
          </a:p>
        </p:txBody>
      </p:sp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73100" y="0"/>
            <a:ext cx="8237538" cy="1020763"/>
          </a:xfrm>
        </p:spPr>
        <p:txBody>
          <a:bodyPr/>
          <a:lstStyle/>
          <a:p>
            <a:r>
              <a:rPr lang="en-US" sz="4000" dirty="0"/>
              <a:t>3-to-8-line decoder (without enable) </a:t>
            </a:r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363" y="1314450"/>
            <a:ext cx="8250237" cy="5027613"/>
          </a:xfrm>
        </p:spPr>
        <p:txBody>
          <a:bodyPr/>
          <a:lstStyle/>
          <a:p>
            <a:r>
              <a:rPr lang="en-US" sz="2800" dirty="0"/>
              <a:t>Consider a 3-to-8-line decoder (without enabler) </a:t>
            </a:r>
          </a:p>
        </p:txBody>
      </p:sp>
      <p:graphicFrame>
        <p:nvGraphicFramePr>
          <p:cNvPr id="5" name="Table 4"/>
          <p:cNvGraphicFramePr>
            <a:graphicFrameLocks/>
          </p:cNvGraphicFramePr>
          <p:nvPr/>
        </p:nvGraphicFramePr>
        <p:xfrm>
          <a:off x="709708" y="2049245"/>
          <a:ext cx="7772400" cy="4114803"/>
        </p:xfrm>
        <a:graphic>
          <a:graphicData uri="http://schemas.openxmlformats.org/drawingml/2006/table">
            <a:tbl>
              <a:tblPr/>
              <a:tblGrid>
                <a:gridCol w="706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4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A2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A0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D7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3-to-8-line Decoder Implementation</a:t>
            </a:r>
            <a:endParaRPr lang="en-CA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13490" y="1240219"/>
            <a:ext cx="5927834" cy="534008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Easier way by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800" dirty="0">
                <a:ea typeface="Gulim" pitchFamily="34" charset="-127"/>
              </a:rPr>
              <a:t>Decoder expansion</a:t>
            </a:r>
          </a:p>
          <a:p>
            <a:pPr lvl="1">
              <a:lnSpc>
                <a:spcPct val="90000"/>
              </a:lnSpc>
            </a:pPr>
            <a:r>
              <a:rPr lang="en-US" altLang="ko-KR" dirty="0">
                <a:ea typeface="Gulim" pitchFamily="34" charset="-127"/>
              </a:rPr>
              <a:t>Combine two or more small decoders with enable inputs to form a larger decoder</a:t>
            </a:r>
          </a:p>
          <a:p>
            <a:pPr>
              <a:lnSpc>
                <a:spcPct val="90000"/>
              </a:lnSpc>
            </a:pPr>
            <a:r>
              <a:rPr lang="en-US" altLang="ko-KR" sz="2800" dirty="0">
                <a:ea typeface="Gulim" pitchFamily="34" charset="-127"/>
              </a:rPr>
              <a:t>3-to-8-line decoder constructed from two 2-to-4-line decoders</a:t>
            </a:r>
          </a:p>
          <a:p>
            <a:pPr lvl="2">
              <a:lnSpc>
                <a:spcPct val="90000"/>
              </a:lnSpc>
            </a:pPr>
            <a:r>
              <a:rPr kumimoji="1" lang="en-US" altLang="ko-KR" dirty="0">
                <a:ea typeface="신명조"/>
                <a:cs typeface="신명조"/>
              </a:rPr>
              <a:t>The MSB is connected to the enable inputs</a:t>
            </a:r>
          </a:p>
          <a:p>
            <a:pPr lvl="2">
              <a:lnSpc>
                <a:spcPct val="90000"/>
              </a:lnSpc>
            </a:pPr>
            <a:r>
              <a:rPr kumimoji="1" lang="en-US" altLang="ko-KR" dirty="0">
                <a:ea typeface="신명조"/>
                <a:cs typeface="신명조"/>
              </a:rPr>
              <a:t>if A</a:t>
            </a:r>
            <a:r>
              <a:rPr kumimoji="1" lang="en-US" altLang="ko-KR" baseline="-25000" dirty="0">
                <a:ea typeface="신명조"/>
                <a:cs typeface="신명조"/>
              </a:rPr>
              <a:t>2</a:t>
            </a:r>
            <a:r>
              <a:rPr kumimoji="1" lang="en-US" altLang="ko-KR" dirty="0">
                <a:ea typeface="신명조"/>
                <a:cs typeface="신명조"/>
              </a:rPr>
              <a:t>=0, upper is enabled; if A</a:t>
            </a:r>
            <a:r>
              <a:rPr kumimoji="1" lang="en-US" altLang="ko-KR" baseline="-25000" dirty="0">
                <a:ea typeface="신명조"/>
                <a:cs typeface="신명조"/>
              </a:rPr>
              <a:t>2</a:t>
            </a:r>
            <a:r>
              <a:rPr kumimoji="1" lang="en-US" altLang="ko-KR" dirty="0">
                <a:ea typeface="신명조"/>
                <a:cs typeface="신명조"/>
              </a:rPr>
              <a:t>=1, lower is enabled.</a:t>
            </a:r>
            <a:endParaRPr kumimoji="1" lang="ko-KR" altLang="en-US" dirty="0">
              <a:ea typeface="신명조"/>
              <a:cs typeface="신명조"/>
            </a:endParaRPr>
          </a:p>
          <a:p>
            <a:pPr>
              <a:lnSpc>
                <a:spcPct val="90000"/>
              </a:lnSpc>
            </a:pPr>
            <a:endParaRPr 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CA" dirty="0"/>
              <a:t>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9698" y="2632841"/>
            <a:ext cx="4951832" cy="3736429"/>
          </a:xfrm>
          <a:prstGeom prst="rect">
            <a:avLst/>
          </a:prstGeom>
          <a:noFill/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481" y="260130"/>
            <a:ext cx="5270397" cy="279838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2" y="0"/>
            <a:ext cx="8143029" cy="1020763"/>
          </a:xfrm>
        </p:spPr>
        <p:txBody>
          <a:bodyPr/>
          <a:lstStyle/>
          <a:p>
            <a:r>
              <a:rPr lang="en-US" altLang="ko-KR" sz="3200" dirty="0">
                <a:ea typeface="Gulim" pitchFamily="34" charset="-127"/>
              </a:rPr>
              <a:t>Combinational Circuit Design with Decoders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>
                <a:ea typeface="Gulim" pitchFamily="34" charset="-127"/>
              </a:rPr>
              <a:t>Combinational circuit implementation with decoders</a:t>
            </a:r>
          </a:p>
          <a:p>
            <a:pPr lvl="1"/>
            <a:r>
              <a:rPr lang="en-US" altLang="ko-KR" dirty="0">
                <a:ea typeface="Gulim" pitchFamily="34" charset="-127"/>
              </a:rPr>
              <a:t>A decoder provide 2</a:t>
            </a:r>
            <a:r>
              <a:rPr lang="en-US" altLang="ko-KR" baseline="30000" dirty="0">
                <a:ea typeface="Gulim" pitchFamily="34" charset="-127"/>
              </a:rPr>
              <a:t>n</a:t>
            </a:r>
            <a:r>
              <a:rPr lang="en-US" altLang="ko-KR" dirty="0">
                <a:ea typeface="Gulim" pitchFamily="34" charset="-127"/>
              </a:rPr>
              <a:t> </a:t>
            </a:r>
            <a:r>
              <a:rPr lang="en-US" altLang="ko-KR" dirty="0" err="1">
                <a:ea typeface="Gulim" pitchFamily="34" charset="-127"/>
              </a:rPr>
              <a:t>minterms</a:t>
            </a:r>
            <a:r>
              <a:rPr lang="en-US" altLang="ko-KR" dirty="0">
                <a:ea typeface="Gulim" pitchFamily="34" charset="-127"/>
              </a:rPr>
              <a:t> of n input variables</a:t>
            </a:r>
          </a:p>
          <a:p>
            <a:pPr lvl="1"/>
            <a:r>
              <a:rPr lang="en-US" altLang="ko-KR" dirty="0">
                <a:ea typeface="Gulim" pitchFamily="34" charset="-127"/>
              </a:rPr>
              <a:t>Since any Boolean function can be expressed as a sum of </a:t>
            </a:r>
            <a:r>
              <a:rPr lang="en-US" altLang="ko-KR" dirty="0" err="1">
                <a:ea typeface="Gulim" pitchFamily="34" charset="-127"/>
              </a:rPr>
              <a:t>minterms</a:t>
            </a:r>
            <a:r>
              <a:rPr lang="en-US" altLang="ko-KR" dirty="0">
                <a:ea typeface="Gulim" pitchFamily="34" charset="-127"/>
              </a:rPr>
              <a:t>, one can use a decoder and external OR gates to implement any combinational function.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2" y="0"/>
            <a:ext cx="8119279" cy="1020763"/>
          </a:xfrm>
        </p:spPr>
        <p:txBody>
          <a:bodyPr/>
          <a:lstStyle/>
          <a:p>
            <a:r>
              <a:rPr lang="en-US" altLang="ko-KR" sz="3200" dirty="0">
                <a:ea typeface="Gulim" pitchFamily="34" charset="-127"/>
              </a:rPr>
              <a:t>Combinational Circuit Design with Decoders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itchFamily="18" charset="0"/>
              </a:rPr>
              <a:t>Realize F (X,Y,Z) = Σ (1, 4, 7) with a decoder:</a:t>
            </a:r>
          </a:p>
          <a:p>
            <a:endParaRPr lang="en-CA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515093" y="2409707"/>
          <a:ext cx="5716979" cy="223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Bitmap Image" r:id="rId3" imgW="6838095" imgH="2676899" progId="PBrush">
                  <p:embed/>
                </p:oleObj>
              </mc:Choice>
              <mc:Fallback>
                <p:oleObj name="Bitmap Image" r:id="rId3" imgW="6838095" imgH="2676899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5093" y="2409707"/>
                        <a:ext cx="5716979" cy="223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200" dirty="0"/>
              <a:t>Decoder Implementation of a Full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Truth Table: </a:t>
            </a:r>
            <a:r>
              <a:rPr lang="en-CA" sz="2000" dirty="0"/>
              <a:t>We have two outputs, called S, which stands for sum, and C, which stands for carry. Both sum and carry are functions of X, Y, and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31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5458" y="2596118"/>
            <a:ext cx="6136227" cy="328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2" y="0"/>
            <a:ext cx="7976775" cy="1020763"/>
          </a:xfrm>
        </p:spPr>
        <p:txBody>
          <a:bodyPr/>
          <a:lstStyle/>
          <a:p>
            <a:r>
              <a:rPr lang="en-CA" sz="3200" dirty="0"/>
              <a:t>Decoder Implementation of a Full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000" dirty="0"/>
              <a:t>The output functions S &amp; C can be expressed in sum-of-</a:t>
            </a:r>
            <a:r>
              <a:rPr lang="en-CA" sz="2000" dirty="0" err="1"/>
              <a:t>minterms</a:t>
            </a:r>
            <a:r>
              <a:rPr lang="en-CA" sz="2000" dirty="0"/>
              <a:t> forms as follows:</a:t>
            </a:r>
          </a:p>
          <a:p>
            <a:pPr>
              <a:buNone/>
            </a:pPr>
            <a:endParaRPr lang="en-CA" sz="2000" dirty="0"/>
          </a:p>
          <a:p>
            <a:r>
              <a:rPr lang="en-CA" sz="2000" dirty="0"/>
              <a:t>S is implemented by taking </a:t>
            </a:r>
            <a:r>
              <a:rPr lang="en-CA" sz="2000" dirty="0" err="1"/>
              <a:t>minterms</a:t>
            </a:r>
            <a:r>
              <a:rPr lang="en-CA" sz="2000" dirty="0"/>
              <a:t> 1, 2, 4, and 7 and the OR gates forms the logical sum of </a:t>
            </a:r>
            <a:r>
              <a:rPr lang="en-CA" sz="2000" dirty="0" err="1"/>
              <a:t>minterm</a:t>
            </a:r>
            <a:r>
              <a:rPr lang="en-CA" sz="2000" dirty="0"/>
              <a:t> for S</a:t>
            </a:r>
          </a:p>
          <a:p>
            <a:r>
              <a:rPr lang="en-CA" sz="2000" dirty="0"/>
              <a:t>Similarly, carry C is implemented by taking logical sum of </a:t>
            </a:r>
            <a:r>
              <a:rPr lang="en-CA" sz="2000" dirty="0" err="1"/>
              <a:t>minterms</a:t>
            </a:r>
            <a:r>
              <a:rPr lang="en-CA" sz="2000" dirty="0"/>
              <a:t> 3, 5, 6, and 7 from the same decoder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Chapter 3 - Part 1        </a:t>
            </a:r>
            <a:fld id="{78F56C46-B32F-44AF-8035-121CDED9816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32482" name="Picture 2"/>
          <p:cNvPicPr>
            <a:picLocks noChangeAspect="1" noChangeArrowheads="1"/>
          </p:cNvPicPr>
          <p:nvPr/>
        </p:nvPicPr>
        <p:blipFill>
          <a:blip r:embed="rId2" cstate="print"/>
          <a:srcRect t="5628"/>
          <a:stretch>
            <a:fillRect/>
          </a:stretch>
        </p:blipFill>
        <p:spPr bwMode="auto">
          <a:xfrm>
            <a:off x="3017880" y="1686299"/>
            <a:ext cx="2717902" cy="76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484" name="Picture 4"/>
          <p:cNvPicPr>
            <a:picLocks noChangeAspect="1" noChangeArrowheads="1"/>
          </p:cNvPicPr>
          <p:nvPr/>
        </p:nvPicPr>
        <p:blipFill>
          <a:blip r:embed="rId3" cstate="print"/>
          <a:srcRect t="3075"/>
          <a:stretch>
            <a:fillRect/>
          </a:stretch>
        </p:blipFill>
        <p:spPr bwMode="auto">
          <a:xfrm>
            <a:off x="1652589" y="3740727"/>
            <a:ext cx="5476750" cy="2755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Spring 2024 Question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30CB3-3E02-689B-2D90-6A2EC238F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46" y="2751409"/>
            <a:ext cx="8519107" cy="183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0267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Spring 2024 Question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BB7B5-7592-4A29-B958-49B433FF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399" y="2398646"/>
            <a:ext cx="6305201" cy="324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2715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9A174-99E9-B5AB-52C6-E01060C66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0675"/>
            <a:ext cx="9144000" cy="309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1178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7C9C0-48FB-3900-F360-478823ADF0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695" y="1727738"/>
            <a:ext cx="5580511" cy="478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0120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574" y="3429000"/>
            <a:ext cx="7772400" cy="1020763"/>
          </a:xfrm>
        </p:spPr>
        <p:txBody>
          <a:bodyPr/>
          <a:lstStyle/>
          <a:p>
            <a:pPr algn="ctr"/>
            <a:r>
              <a:rPr lang="en-CA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02129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8549</TotalTime>
  <Words>748</Words>
  <Application>Microsoft Office PowerPoint</Application>
  <PresentationFormat>On-screen Show (4:3)</PresentationFormat>
  <Paragraphs>144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Helvetica</vt:lpstr>
      <vt:lpstr>SWISS</vt:lpstr>
      <vt:lpstr>Symbol</vt:lpstr>
      <vt:lpstr>Tahoma</vt:lpstr>
      <vt:lpstr>Times New Roman</vt:lpstr>
      <vt:lpstr>Wingdings</vt:lpstr>
      <vt:lpstr>Default Design</vt:lpstr>
      <vt:lpstr>Equation</vt:lpstr>
      <vt:lpstr>Bitmap Image</vt:lpstr>
      <vt:lpstr>PowerPoint Presentation</vt:lpstr>
      <vt:lpstr>Overview</vt:lpstr>
      <vt:lpstr>Combinational Circuits</vt:lpstr>
      <vt:lpstr>Decoding </vt:lpstr>
      <vt:lpstr>Decoder Examples</vt:lpstr>
      <vt:lpstr>Decoder with Enable</vt:lpstr>
      <vt:lpstr>2-to-4 Decoder Diagram</vt:lpstr>
      <vt:lpstr>NAND Only</vt:lpstr>
      <vt:lpstr>Decoder Expansion</vt:lpstr>
      <vt:lpstr>3-to-8-line decoder (without enable) </vt:lpstr>
      <vt:lpstr>3-to-8-line Decoder Implementation</vt:lpstr>
      <vt:lpstr>Easier way by Expansion</vt:lpstr>
      <vt:lpstr>Expansion</vt:lpstr>
      <vt:lpstr>Combinational Circuit Design with Decoders</vt:lpstr>
      <vt:lpstr>Combinational Circuit Design with Decoders</vt:lpstr>
      <vt:lpstr>Decoder Implementation of a Full Adder</vt:lpstr>
      <vt:lpstr>Decoder Implementation of a Full Adder</vt:lpstr>
      <vt:lpstr>Spring 2024 Question 6</vt:lpstr>
      <vt:lpstr>Spring 2024 Question 6</vt:lpstr>
      <vt:lpstr>Fall 2023 Question 5</vt:lpstr>
      <vt:lpstr>Fall 2023 Question 5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2 - Part 1 - PPT - Mano &amp; Kime - 2nd Ed</dc:title>
  <dc:creator>Kaminski &amp; Kime</dc:creator>
  <dc:description>Fall 2001 Draft</dc:description>
  <cp:lastModifiedBy>Jamil Wahid</cp:lastModifiedBy>
  <cp:revision>320</cp:revision>
  <cp:lastPrinted>1999-06-21T13:11:14Z</cp:lastPrinted>
  <dcterms:created xsi:type="dcterms:W3CDTF">1999-02-14T20:48:18Z</dcterms:created>
  <dcterms:modified xsi:type="dcterms:W3CDTF">2025-09-16T04:39:43Z</dcterms:modified>
</cp:coreProperties>
</file>