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565F6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565F6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81000" y="0"/>
            <a:ext cx="444500" cy="6858000"/>
          </a:xfrm>
          <a:custGeom>
            <a:avLst/>
            <a:gdLst/>
            <a:ahLst/>
            <a:cxnLst/>
            <a:rect l="l" t="t" r="r" b="b"/>
            <a:pathLst>
              <a:path w="444500" h="6858000">
                <a:moveTo>
                  <a:pt x="0" y="6858000"/>
                </a:moveTo>
                <a:lnTo>
                  <a:pt x="444500" y="6858000"/>
                </a:lnTo>
                <a:lnTo>
                  <a:pt x="4445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C3AD">
              <a:alpha val="5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82650" y="0"/>
            <a:ext cx="3175" cy="6858000"/>
          </a:xfrm>
          <a:custGeom>
            <a:avLst/>
            <a:gdLst/>
            <a:ahLst/>
            <a:cxnLst/>
            <a:rect l="l" t="t" r="r" b="b"/>
            <a:pathLst>
              <a:path w="3175" h="6858000">
                <a:moveTo>
                  <a:pt x="0" y="6858000"/>
                </a:moveTo>
                <a:lnTo>
                  <a:pt x="3175" y="6858000"/>
                </a:lnTo>
                <a:lnTo>
                  <a:pt x="317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C3AD">
              <a:alpha val="5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42975" y="0"/>
            <a:ext cx="47625" cy="6858000"/>
          </a:xfrm>
          <a:custGeom>
            <a:avLst/>
            <a:gdLst/>
            <a:ahLst/>
            <a:cxnLst/>
            <a:rect l="l" t="t" r="r" b="b"/>
            <a:pathLst>
              <a:path w="47625" h="6858000">
                <a:moveTo>
                  <a:pt x="0" y="6858000"/>
                </a:moveTo>
                <a:lnTo>
                  <a:pt x="47625" y="6858000"/>
                </a:lnTo>
                <a:lnTo>
                  <a:pt x="4762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C3AD">
              <a:alpha val="5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76225" y="0"/>
            <a:ext cx="104775" cy="6858000"/>
          </a:xfrm>
          <a:custGeom>
            <a:avLst/>
            <a:gdLst/>
            <a:ahLst/>
            <a:cxnLst/>
            <a:rect l="l" t="t" r="r" b="b"/>
            <a:pathLst>
              <a:path w="104775" h="6858000">
                <a:moveTo>
                  <a:pt x="104775" y="0"/>
                </a:moveTo>
                <a:lnTo>
                  <a:pt x="0" y="0"/>
                </a:lnTo>
                <a:lnTo>
                  <a:pt x="0" y="6858000"/>
                </a:lnTo>
                <a:lnTo>
                  <a:pt x="104775" y="6858000"/>
                </a:lnTo>
                <a:lnTo>
                  <a:pt x="104775" y="0"/>
                </a:lnTo>
                <a:close/>
              </a:path>
            </a:pathLst>
          </a:custGeom>
          <a:solidFill>
            <a:srgbClr val="FFD9CE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90600" y="0"/>
            <a:ext cx="182880" cy="6858000"/>
          </a:xfrm>
          <a:custGeom>
            <a:avLst/>
            <a:gdLst/>
            <a:ahLst/>
            <a:cxnLst/>
            <a:rect l="l" t="t" r="r" b="b"/>
            <a:pathLst>
              <a:path w="182880" h="6858000">
                <a:moveTo>
                  <a:pt x="182562" y="0"/>
                </a:moveTo>
                <a:lnTo>
                  <a:pt x="0" y="0"/>
                </a:lnTo>
                <a:lnTo>
                  <a:pt x="0" y="6858000"/>
                </a:lnTo>
                <a:lnTo>
                  <a:pt x="182562" y="6858000"/>
                </a:lnTo>
                <a:lnTo>
                  <a:pt x="182562" y="0"/>
                </a:lnTo>
                <a:close/>
              </a:path>
            </a:pathLst>
          </a:custGeom>
          <a:solidFill>
            <a:srgbClr val="FFD9C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141412" y="0"/>
            <a:ext cx="230504" cy="6858000"/>
          </a:xfrm>
          <a:custGeom>
            <a:avLst/>
            <a:gdLst/>
            <a:ahLst/>
            <a:cxnLst/>
            <a:rect l="l" t="t" r="r" b="b"/>
            <a:pathLst>
              <a:path w="230505" h="6858000">
                <a:moveTo>
                  <a:pt x="230187" y="0"/>
                </a:moveTo>
                <a:lnTo>
                  <a:pt x="0" y="0"/>
                </a:lnTo>
                <a:lnTo>
                  <a:pt x="0" y="6858000"/>
                </a:lnTo>
                <a:lnTo>
                  <a:pt x="230187" y="6858000"/>
                </a:lnTo>
                <a:lnTo>
                  <a:pt x="230187" y="0"/>
                </a:lnTo>
                <a:close/>
              </a:path>
            </a:pathLst>
          </a:custGeom>
          <a:solidFill>
            <a:srgbClr val="FFECE8">
              <a:alpha val="709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6362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1" y="6857999"/>
                </a:lnTo>
              </a:path>
            </a:pathLst>
          </a:custGeom>
          <a:ln w="57150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9144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57150">
            <a:solidFill>
              <a:srgbClr val="FFEC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854075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57150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17272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28575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10668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9525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9085199" y="0"/>
            <a:ext cx="57150" cy="6858000"/>
          </a:xfrm>
          <a:custGeom>
            <a:avLst/>
            <a:gdLst/>
            <a:ahLst/>
            <a:cxnLst/>
            <a:rect l="l" t="t" r="r" b="b"/>
            <a:pathLst>
              <a:path w="57150" h="6858000">
                <a:moveTo>
                  <a:pt x="11430" y="0"/>
                </a:moveTo>
                <a:lnTo>
                  <a:pt x="0" y="0"/>
                </a:lnTo>
                <a:lnTo>
                  <a:pt x="0" y="6858000"/>
                </a:lnTo>
                <a:lnTo>
                  <a:pt x="11430" y="6858000"/>
                </a:lnTo>
                <a:lnTo>
                  <a:pt x="11430" y="0"/>
                </a:lnTo>
                <a:close/>
              </a:path>
              <a:path w="57150" h="6858000">
                <a:moveTo>
                  <a:pt x="57150" y="0"/>
                </a:moveTo>
                <a:lnTo>
                  <a:pt x="22860" y="0"/>
                </a:lnTo>
                <a:lnTo>
                  <a:pt x="22860" y="6858000"/>
                </a:lnTo>
                <a:lnTo>
                  <a:pt x="57150" y="6858000"/>
                </a:lnTo>
                <a:lnTo>
                  <a:pt x="57150" y="0"/>
                </a:lnTo>
                <a:close/>
              </a:path>
            </a:pathLst>
          </a:custGeom>
          <a:solidFill>
            <a:srgbClr val="FDC3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1219200" y="0"/>
            <a:ext cx="76200" cy="6858000"/>
          </a:xfrm>
          <a:custGeom>
            <a:avLst/>
            <a:gdLst/>
            <a:ahLst/>
            <a:cxnLst/>
            <a:rect l="l" t="t" r="r" b="b"/>
            <a:pathLst>
              <a:path w="76200" h="6858000">
                <a:moveTo>
                  <a:pt x="76200" y="0"/>
                </a:moveTo>
                <a:lnTo>
                  <a:pt x="0" y="0"/>
                </a:lnTo>
                <a:lnTo>
                  <a:pt x="0" y="6858000"/>
                </a:lnTo>
                <a:lnTo>
                  <a:pt x="76200" y="6858000"/>
                </a:lnTo>
                <a:lnTo>
                  <a:pt x="76200" y="0"/>
                </a:lnTo>
                <a:close/>
              </a:path>
            </a:pathLst>
          </a:custGeom>
          <a:solidFill>
            <a:srgbClr val="FDC3AD">
              <a:alpha val="509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609600" y="3428999"/>
            <a:ext cx="1341755" cy="2079625"/>
          </a:xfrm>
          <a:custGeom>
            <a:avLst/>
            <a:gdLst/>
            <a:ahLst/>
            <a:cxnLst/>
            <a:rect l="l" t="t" r="r" b="b"/>
            <a:pathLst>
              <a:path w="1341755" h="2079625">
                <a:moveTo>
                  <a:pt x="1295400" y="647700"/>
                </a:moveTo>
                <a:lnTo>
                  <a:pt x="1293622" y="599363"/>
                </a:lnTo>
                <a:lnTo>
                  <a:pt x="1288376" y="551980"/>
                </a:lnTo>
                <a:lnTo>
                  <a:pt x="1279779" y="505701"/>
                </a:lnTo>
                <a:lnTo>
                  <a:pt x="1267968" y="460629"/>
                </a:lnTo>
                <a:lnTo>
                  <a:pt x="1253070" y="416890"/>
                </a:lnTo>
                <a:lnTo>
                  <a:pt x="1235202" y="374637"/>
                </a:lnTo>
                <a:lnTo>
                  <a:pt x="1214488" y="333959"/>
                </a:lnTo>
                <a:lnTo>
                  <a:pt x="1191056" y="295008"/>
                </a:lnTo>
                <a:lnTo>
                  <a:pt x="1165034" y="257898"/>
                </a:lnTo>
                <a:lnTo>
                  <a:pt x="1136535" y="222745"/>
                </a:lnTo>
                <a:lnTo>
                  <a:pt x="1105700" y="189699"/>
                </a:lnTo>
                <a:lnTo>
                  <a:pt x="1072654" y="158864"/>
                </a:lnTo>
                <a:lnTo>
                  <a:pt x="1037501" y="130365"/>
                </a:lnTo>
                <a:lnTo>
                  <a:pt x="1000391" y="104343"/>
                </a:lnTo>
                <a:lnTo>
                  <a:pt x="961440" y="80911"/>
                </a:lnTo>
                <a:lnTo>
                  <a:pt x="920762" y="60198"/>
                </a:lnTo>
                <a:lnTo>
                  <a:pt x="878509" y="42329"/>
                </a:lnTo>
                <a:lnTo>
                  <a:pt x="834771" y="27432"/>
                </a:lnTo>
                <a:lnTo>
                  <a:pt x="789698" y="15621"/>
                </a:lnTo>
                <a:lnTo>
                  <a:pt x="743419" y="7023"/>
                </a:lnTo>
                <a:lnTo>
                  <a:pt x="696036" y="1778"/>
                </a:lnTo>
                <a:lnTo>
                  <a:pt x="647700" y="0"/>
                </a:lnTo>
                <a:lnTo>
                  <a:pt x="599351" y="1778"/>
                </a:lnTo>
                <a:lnTo>
                  <a:pt x="551980" y="7023"/>
                </a:lnTo>
                <a:lnTo>
                  <a:pt x="505701" y="15621"/>
                </a:lnTo>
                <a:lnTo>
                  <a:pt x="460629" y="27432"/>
                </a:lnTo>
                <a:lnTo>
                  <a:pt x="416902" y="42329"/>
                </a:lnTo>
                <a:lnTo>
                  <a:pt x="374637" y="60198"/>
                </a:lnTo>
                <a:lnTo>
                  <a:pt x="333971" y="80911"/>
                </a:lnTo>
                <a:lnTo>
                  <a:pt x="295008" y="104343"/>
                </a:lnTo>
                <a:lnTo>
                  <a:pt x="257898" y="130365"/>
                </a:lnTo>
                <a:lnTo>
                  <a:pt x="222758" y="158864"/>
                </a:lnTo>
                <a:lnTo>
                  <a:pt x="189699" y="189699"/>
                </a:lnTo>
                <a:lnTo>
                  <a:pt x="158864" y="222745"/>
                </a:lnTo>
                <a:lnTo>
                  <a:pt x="130365" y="257898"/>
                </a:lnTo>
                <a:lnTo>
                  <a:pt x="104343" y="295008"/>
                </a:lnTo>
                <a:lnTo>
                  <a:pt x="80911" y="333959"/>
                </a:lnTo>
                <a:lnTo>
                  <a:pt x="60185" y="374637"/>
                </a:lnTo>
                <a:lnTo>
                  <a:pt x="42316" y="416890"/>
                </a:lnTo>
                <a:lnTo>
                  <a:pt x="27419" y="460629"/>
                </a:lnTo>
                <a:lnTo>
                  <a:pt x="15608" y="505701"/>
                </a:lnTo>
                <a:lnTo>
                  <a:pt x="7010" y="551980"/>
                </a:lnTo>
                <a:lnTo>
                  <a:pt x="1765" y="599363"/>
                </a:lnTo>
                <a:lnTo>
                  <a:pt x="0" y="647700"/>
                </a:lnTo>
                <a:lnTo>
                  <a:pt x="1765" y="696048"/>
                </a:lnTo>
                <a:lnTo>
                  <a:pt x="7010" y="743432"/>
                </a:lnTo>
                <a:lnTo>
                  <a:pt x="15608" y="789711"/>
                </a:lnTo>
                <a:lnTo>
                  <a:pt x="27419" y="834783"/>
                </a:lnTo>
                <a:lnTo>
                  <a:pt x="42316" y="878522"/>
                </a:lnTo>
                <a:lnTo>
                  <a:pt x="60185" y="920775"/>
                </a:lnTo>
                <a:lnTo>
                  <a:pt x="80911" y="961453"/>
                </a:lnTo>
                <a:lnTo>
                  <a:pt x="104343" y="1000404"/>
                </a:lnTo>
                <a:lnTo>
                  <a:pt x="130365" y="1037513"/>
                </a:lnTo>
                <a:lnTo>
                  <a:pt x="158864" y="1072667"/>
                </a:lnTo>
                <a:lnTo>
                  <a:pt x="189699" y="1105712"/>
                </a:lnTo>
                <a:lnTo>
                  <a:pt x="222758" y="1136548"/>
                </a:lnTo>
                <a:lnTo>
                  <a:pt x="257898" y="1165047"/>
                </a:lnTo>
                <a:lnTo>
                  <a:pt x="295008" y="1191069"/>
                </a:lnTo>
                <a:lnTo>
                  <a:pt x="333971" y="1214501"/>
                </a:lnTo>
                <a:lnTo>
                  <a:pt x="374637" y="1235214"/>
                </a:lnTo>
                <a:lnTo>
                  <a:pt x="416902" y="1253083"/>
                </a:lnTo>
                <a:lnTo>
                  <a:pt x="460629" y="1267980"/>
                </a:lnTo>
                <a:lnTo>
                  <a:pt x="505701" y="1279791"/>
                </a:lnTo>
                <a:lnTo>
                  <a:pt x="551980" y="1288389"/>
                </a:lnTo>
                <a:lnTo>
                  <a:pt x="599351" y="1293634"/>
                </a:lnTo>
                <a:lnTo>
                  <a:pt x="647700" y="1295400"/>
                </a:lnTo>
                <a:lnTo>
                  <a:pt x="696036" y="1293634"/>
                </a:lnTo>
                <a:lnTo>
                  <a:pt x="743419" y="1288389"/>
                </a:lnTo>
                <a:lnTo>
                  <a:pt x="789698" y="1279791"/>
                </a:lnTo>
                <a:lnTo>
                  <a:pt x="834771" y="1267980"/>
                </a:lnTo>
                <a:lnTo>
                  <a:pt x="878509" y="1253083"/>
                </a:lnTo>
                <a:lnTo>
                  <a:pt x="920762" y="1235214"/>
                </a:lnTo>
                <a:lnTo>
                  <a:pt x="961440" y="1214501"/>
                </a:lnTo>
                <a:lnTo>
                  <a:pt x="1000391" y="1191069"/>
                </a:lnTo>
                <a:lnTo>
                  <a:pt x="1037501" y="1165047"/>
                </a:lnTo>
                <a:lnTo>
                  <a:pt x="1072654" y="1136548"/>
                </a:lnTo>
                <a:lnTo>
                  <a:pt x="1105700" y="1105712"/>
                </a:lnTo>
                <a:lnTo>
                  <a:pt x="1136535" y="1072667"/>
                </a:lnTo>
                <a:lnTo>
                  <a:pt x="1165034" y="1037513"/>
                </a:lnTo>
                <a:lnTo>
                  <a:pt x="1191056" y="1000404"/>
                </a:lnTo>
                <a:lnTo>
                  <a:pt x="1214488" y="961453"/>
                </a:lnTo>
                <a:lnTo>
                  <a:pt x="1235202" y="920775"/>
                </a:lnTo>
                <a:lnTo>
                  <a:pt x="1253070" y="878522"/>
                </a:lnTo>
                <a:lnTo>
                  <a:pt x="1267968" y="834783"/>
                </a:lnTo>
                <a:lnTo>
                  <a:pt x="1279779" y="789711"/>
                </a:lnTo>
                <a:lnTo>
                  <a:pt x="1288376" y="743432"/>
                </a:lnTo>
                <a:lnTo>
                  <a:pt x="1293622" y="696048"/>
                </a:lnTo>
                <a:lnTo>
                  <a:pt x="1295400" y="647700"/>
                </a:lnTo>
                <a:close/>
              </a:path>
              <a:path w="1341755" h="2079625">
                <a:moveTo>
                  <a:pt x="1341501" y="1758950"/>
                </a:moveTo>
                <a:lnTo>
                  <a:pt x="1338021" y="1711553"/>
                </a:lnTo>
                <a:lnTo>
                  <a:pt x="1327912" y="1666316"/>
                </a:lnTo>
                <a:lnTo>
                  <a:pt x="1311681" y="1623745"/>
                </a:lnTo>
                <a:lnTo>
                  <a:pt x="1289812" y="1584312"/>
                </a:lnTo>
                <a:lnTo>
                  <a:pt x="1262811" y="1548549"/>
                </a:lnTo>
                <a:lnTo>
                  <a:pt x="1231176" y="1516913"/>
                </a:lnTo>
                <a:lnTo>
                  <a:pt x="1195400" y="1489925"/>
                </a:lnTo>
                <a:lnTo>
                  <a:pt x="1155979" y="1468081"/>
                </a:lnTo>
                <a:lnTo>
                  <a:pt x="1113409" y="1451851"/>
                </a:lnTo>
                <a:lnTo>
                  <a:pt x="1068197" y="1441754"/>
                </a:lnTo>
                <a:lnTo>
                  <a:pt x="1020826" y="1438275"/>
                </a:lnTo>
                <a:lnTo>
                  <a:pt x="973416" y="1441754"/>
                </a:lnTo>
                <a:lnTo>
                  <a:pt x="928179" y="1451851"/>
                </a:lnTo>
                <a:lnTo>
                  <a:pt x="885609" y="1468081"/>
                </a:lnTo>
                <a:lnTo>
                  <a:pt x="846175" y="1489925"/>
                </a:lnTo>
                <a:lnTo>
                  <a:pt x="810412" y="1516913"/>
                </a:lnTo>
                <a:lnTo>
                  <a:pt x="778776" y="1548549"/>
                </a:lnTo>
                <a:lnTo>
                  <a:pt x="751789" y="1584312"/>
                </a:lnTo>
                <a:lnTo>
                  <a:pt x="729945" y="1623745"/>
                </a:lnTo>
                <a:lnTo>
                  <a:pt x="713714" y="1666316"/>
                </a:lnTo>
                <a:lnTo>
                  <a:pt x="703618" y="1711553"/>
                </a:lnTo>
                <a:lnTo>
                  <a:pt x="700151" y="1758950"/>
                </a:lnTo>
                <a:lnTo>
                  <a:pt x="703618" y="1806359"/>
                </a:lnTo>
                <a:lnTo>
                  <a:pt x="713714" y="1851596"/>
                </a:lnTo>
                <a:lnTo>
                  <a:pt x="729945" y="1894166"/>
                </a:lnTo>
                <a:lnTo>
                  <a:pt x="751789" y="1933600"/>
                </a:lnTo>
                <a:lnTo>
                  <a:pt x="778776" y="1969363"/>
                </a:lnTo>
                <a:lnTo>
                  <a:pt x="810412" y="2000999"/>
                </a:lnTo>
                <a:lnTo>
                  <a:pt x="846175" y="2027986"/>
                </a:lnTo>
                <a:lnTo>
                  <a:pt x="885609" y="2049830"/>
                </a:lnTo>
                <a:lnTo>
                  <a:pt x="928179" y="2066061"/>
                </a:lnTo>
                <a:lnTo>
                  <a:pt x="973416" y="2076157"/>
                </a:lnTo>
                <a:lnTo>
                  <a:pt x="1020826" y="2079625"/>
                </a:lnTo>
                <a:lnTo>
                  <a:pt x="1068197" y="2076157"/>
                </a:lnTo>
                <a:lnTo>
                  <a:pt x="1113409" y="2066061"/>
                </a:lnTo>
                <a:lnTo>
                  <a:pt x="1155979" y="2049830"/>
                </a:lnTo>
                <a:lnTo>
                  <a:pt x="1195400" y="2027986"/>
                </a:lnTo>
                <a:lnTo>
                  <a:pt x="1231176" y="2000999"/>
                </a:lnTo>
                <a:lnTo>
                  <a:pt x="1262811" y="1969363"/>
                </a:lnTo>
                <a:lnTo>
                  <a:pt x="1289812" y="1933600"/>
                </a:lnTo>
                <a:lnTo>
                  <a:pt x="1311681" y="1894166"/>
                </a:lnTo>
                <a:lnTo>
                  <a:pt x="1327912" y="1851596"/>
                </a:lnTo>
                <a:lnTo>
                  <a:pt x="1338021" y="1806359"/>
                </a:lnTo>
                <a:lnTo>
                  <a:pt x="1341501" y="175895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0" name="bg object 3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0612" y="5500750"/>
            <a:ext cx="138112" cy="136461"/>
          </a:xfrm>
          <a:prstGeom prst="rect">
            <a:avLst/>
          </a:prstGeom>
        </p:spPr>
      </p:pic>
      <p:sp>
        <p:nvSpPr>
          <p:cNvPr id="31" name="bg object 31"/>
          <p:cNvSpPr/>
          <p:nvPr/>
        </p:nvSpPr>
        <p:spPr>
          <a:xfrm>
            <a:off x="1663700" y="4495799"/>
            <a:ext cx="606425" cy="1567180"/>
          </a:xfrm>
          <a:custGeom>
            <a:avLst/>
            <a:gdLst/>
            <a:ahLst/>
            <a:cxnLst/>
            <a:rect l="l" t="t" r="r" b="b"/>
            <a:pathLst>
              <a:path w="606425" h="1567179">
                <a:moveTo>
                  <a:pt x="274701" y="1429537"/>
                </a:moveTo>
                <a:lnTo>
                  <a:pt x="267677" y="1386141"/>
                </a:lnTo>
                <a:lnTo>
                  <a:pt x="248158" y="1348447"/>
                </a:lnTo>
                <a:lnTo>
                  <a:pt x="218401" y="1318729"/>
                </a:lnTo>
                <a:lnTo>
                  <a:pt x="180682" y="1299235"/>
                </a:lnTo>
                <a:lnTo>
                  <a:pt x="137287" y="1292225"/>
                </a:lnTo>
                <a:lnTo>
                  <a:pt x="93891" y="1299235"/>
                </a:lnTo>
                <a:lnTo>
                  <a:pt x="56197" y="1318729"/>
                </a:lnTo>
                <a:lnTo>
                  <a:pt x="26479" y="1348447"/>
                </a:lnTo>
                <a:lnTo>
                  <a:pt x="6997" y="1386141"/>
                </a:lnTo>
                <a:lnTo>
                  <a:pt x="0" y="1429537"/>
                </a:lnTo>
                <a:lnTo>
                  <a:pt x="6997" y="1472946"/>
                </a:lnTo>
                <a:lnTo>
                  <a:pt x="26479" y="1510652"/>
                </a:lnTo>
                <a:lnTo>
                  <a:pt x="56197" y="1540370"/>
                </a:lnTo>
                <a:lnTo>
                  <a:pt x="93891" y="1559864"/>
                </a:lnTo>
                <a:lnTo>
                  <a:pt x="137287" y="1566862"/>
                </a:lnTo>
                <a:lnTo>
                  <a:pt x="180682" y="1559864"/>
                </a:lnTo>
                <a:lnTo>
                  <a:pt x="218401" y="1540370"/>
                </a:lnTo>
                <a:lnTo>
                  <a:pt x="248158" y="1510652"/>
                </a:lnTo>
                <a:lnTo>
                  <a:pt x="267677" y="1472946"/>
                </a:lnTo>
                <a:lnTo>
                  <a:pt x="274701" y="1429537"/>
                </a:lnTo>
                <a:close/>
              </a:path>
              <a:path w="606425" h="1567179">
                <a:moveTo>
                  <a:pt x="606425" y="182499"/>
                </a:moveTo>
                <a:lnTo>
                  <a:pt x="599897" y="134023"/>
                </a:lnTo>
                <a:lnTo>
                  <a:pt x="581482" y="90424"/>
                </a:lnTo>
                <a:lnTo>
                  <a:pt x="552932" y="53492"/>
                </a:lnTo>
                <a:lnTo>
                  <a:pt x="516001" y="24942"/>
                </a:lnTo>
                <a:lnTo>
                  <a:pt x="472401" y="6527"/>
                </a:lnTo>
                <a:lnTo>
                  <a:pt x="423926" y="0"/>
                </a:lnTo>
                <a:lnTo>
                  <a:pt x="375373" y="6527"/>
                </a:lnTo>
                <a:lnTo>
                  <a:pt x="331749" y="24942"/>
                </a:lnTo>
                <a:lnTo>
                  <a:pt x="294792" y="53492"/>
                </a:lnTo>
                <a:lnTo>
                  <a:pt x="266230" y="90424"/>
                </a:lnTo>
                <a:lnTo>
                  <a:pt x="247815" y="134023"/>
                </a:lnTo>
                <a:lnTo>
                  <a:pt x="241300" y="182499"/>
                </a:lnTo>
                <a:lnTo>
                  <a:pt x="247815" y="231051"/>
                </a:lnTo>
                <a:lnTo>
                  <a:pt x="266230" y="274675"/>
                </a:lnTo>
                <a:lnTo>
                  <a:pt x="294792" y="311632"/>
                </a:lnTo>
                <a:lnTo>
                  <a:pt x="331749" y="340194"/>
                </a:lnTo>
                <a:lnTo>
                  <a:pt x="375373" y="358609"/>
                </a:lnTo>
                <a:lnTo>
                  <a:pt x="423926" y="365125"/>
                </a:lnTo>
                <a:lnTo>
                  <a:pt x="472401" y="358609"/>
                </a:lnTo>
                <a:lnTo>
                  <a:pt x="516001" y="340194"/>
                </a:lnTo>
                <a:lnTo>
                  <a:pt x="552932" y="311632"/>
                </a:lnTo>
                <a:lnTo>
                  <a:pt x="581482" y="274675"/>
                </a:lnTo>
                <a:lnTo>
                  <a:pt x="599897" y="231051"/>
                </a:lnTo>
                <a:lnTo>
                  <a:pt x="606425" y="182499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565F6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7630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38100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156575" y="5715000"/>
            <a:ext cx="549275" cy="549275"/>
          </a:xfrm>
          <a:custGeom>
            <a:avLst/>
            <a:gdLst/>
            <a:ahLst/>
            <a:cxnLst/>
            <a:rect l="l" t="t" r="r" b="b"/>
            <a:pathLst>
              <a:path w="549275" h="549275">
                <a:moveTo>
                  <a:pt x="274700" y="0"/>
                </a:moveTo>
                <a:lnTo>
                  <a:pt x="225309" y="4424"/>
                </a:lnTo>
                <a:lnTo>
                  <a:pt x="178828" y="17182"/>
                </a:lnTo>
                <a:lnTo>
                  <a:pt x="136031" y="37496"/>
                </a:lnTo>
                <a:lnTo>
                  <a:pt x="97693" y="64591"/>
                </a:lnTo>
                <a:lnTo>
                  <a:pt x="64589" y="97692"/>
                </a:lnTo>
                <a:lnTo>
                  <a:pt x="37493" y="136023"/>
                </a:lnTo>
                <a:lnTo>
                  <a:pt x="17180" y="178808"/>
                </a:lnTo>
                <a:lnTo>
                  <a:pt x="4424" y="225271"/>
                </a:lnTo>
                <a:lnTo>
                  <a:pt x="0" y="274637"/>
                </a:lnTo>
                <a:lnTo>
                  <a:pt x="4424" y="324003"/>
                </a:lnTo>
                <a:lnTo>
                  <a:pt x="17180" y="370466"/>
                </a:lnTo>
                <a:lnTo>
                  <a:pt x="37493" y="413251"/>
                </a:lnTo>
                <a:lnTo>
                  <a:pt x="64589" y="451582"/>
                </a:lnTo>
                <a:lnTo>
                  <a:pt x="97693" y="484683"/>
                </a:lnTo>
                <a:lnTo>
                  <a:pt x="136031" y="511778"/>
                </a:lnTo>
                <a:lnTo>
                  <a:pt x="178828" y="532092"/>
                </a:lnTo>
                <a:lnTo>
                  <a:pt x="225309" y="544850"/>
                </a:lnTo>
                <a:lnTo>
                  <a:pt x="274700" y="549275"/>
                </a:lnTo>
                <a:lnTo>
                  <a:pt x="324054" y="544850"/>
                </a:lnTo>
                <a:lnTo>
                  <a:pt x="370506" y="532092"/>
                </a:lnTo>
                <a:lnTo>
                  <a:pt x="413281" y="511778"/>
                </a:lnTo>
                <a:lnTo>
                  <a:pt x="451603" y="484683"/>
                </a:lnTo>
                <a:lnTo>
                  <a:pt x="484696" y="451582"/>
                </a:lnTo>
                <a:lnTo>
                  <a:pt x="511786" y="413251"/>
                </a:lnTo>
                <a:lnTo>
                  <a:pt x="532096" y="370466"/>
                </a:lnTo>
                <a:lnTo>
                  <a:pt x="544851" y="324003"/>
                </a:lnTo>
                <a:lnTo>
                  <a:pt x="549275" y="274637"/>
                </a:lnTo>
                <a:lnTo>
                  <a:pt x="544851" y="225271"/>
                </a:lnTo>
                <a:lnTo>
                  <a:pt x="532096" y="178808"/>
                </a:lnTo>
                <a:lnTo>
                  <a:pt x="511786" y="136023"/>
                </a:lnTo>
                <a:lnTo>
                  <a:pt x="484696" y="97692"/>
                </a:lnTo>
                <a:lnTo>
                  <a:pt x="451603" y="64591"/>
                </a:lnTo>
                <a:lnTo>
                  <a:pt x="413281" y="37496"/>
                </a:lnTo>
                <a:lnTo>
                  <a:pt x="370506" y="17182"/>
                </a:lnTo>
                <a:lnTo>
                  <a:pt x="324054" y="4424"/>
                </a:lnTo>
                <a:lnTo>
                  <a:pt x="274700" y="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7625" y="0"/>
            <a:ext cx="57150" cy="6858000"/>
          </a:xfrm>
          <a:custGeom>
            <a:avLst/>
            <a:gdLst/>
            <a:ahLst/>
            <a:cxnLst/>
            <a:rect l="l" t="t" r="r" b="b"/>
            <a:pathLst>
              <a:path w="57150" h="6858000">
                <a:moveTo>
                  <a:pt x="11430" y="0"/>
                </a:moveTo>
                <a:lnTo>
                  <a:pt x="0" y="0"/>
                </a:lnTo>
                <a:lnTo>
                  <a:pt x="0" y="6858000"/>
                </a:lnTo>
                <a:lnTo>
                  <a:pt x="11430" y="6858000"/>
                </a:lnTo>
                <a:lnTo>
                  <a:pt x="11430" y="0"/>
                </a:lnTo>
                <a:close/>
              </a:path>
              <a:path w="57150" h="6858000">
                <a:moveTo>
                  <a:pt x="57150" y="0"/>
                </a:moveTo>
                <a:lnTo>
                  <a:pt x="22860" y="0"/>
                </a:lnTo>
                <a:lnTo>
                  <a:pt x="22860" y="6858000"/>
                </a:lnTo>
                <a:lnTo>
                  <a:pt x="57150" y="6858000"/>
                </a:lnTo>
                <a:lnTo>
                  <a:pt x="57150" y="0"/>
                </a:lnTo>
                <a:close/>
              </a:path>
            </a:pathLst>
          </a:custGeom>
          <a:solidFill>
            <a:srgbClr val="FDC3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839200" y="0"/>
            <a:ext cx="304800" cy="6858000"/>
          </a:xfrm>
          <a:custGeom>
            <a:avLst/>
            <a:gdLst/>
            <a:ahLst/>
            <a:cxnLst/>
            <a:rect l="l" t="t" r="r" b="b"/>
            <a:pathLst>
              <a:path w="304800" h="6858000">
                <a:moveTo>
                  <a:pt x="304800" y="0"/>
                </a:moveTo>
                <a:lnTo>
                  <a:pt x="0" y="0"/>
                </a:lnTo>
                <a:lnTo>
                  <a:pt x="0" y="6858000"/>
                </a:lnTo>
                <a:lnTo>
                  <a:pt x="304800" y="6858000"/>
                </a:lnTo>
                <a:lnTo>
                  <a:pt x="304800" y="0"/>
                </a:lnTo>
                <a:close/>
              </a:path>
            </a:pathLst>
          </a:custGeom>
          <a:solidFill>
            <a:srgbClr val="FDC3AD">
              <a:alpha val="8705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154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9525">
            <a:solidFill>
              <a:srgbClr val="FD85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69415" y="4038727"/>
            <a:ext cx="6805168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565F6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628978"/>
            <a:ext cx="8072119" cy="3760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shafqat@cse.uiu.ac.bd" TargetMode="Externa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searchsoa.techtarget.com/definition/object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onstructed_language" TargetMode="External"/><Relationship Id="rId2" Type="http://schemas.openxmlformats.org/officeDocument/2006/relationships/hyperlink" Target="https://en.wikipedia.org/wiki/Formal_languag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Computer" TargetMode="External"/><Relationship Id="rId5" Type="http://schemas.openxmlformats.org/officeDocument/2006/relationships/hyperlink" Target="https://en.wikipedia.org/wiki/Machine" TargetMode="External"/><Relationship Id="rId4" Type="http://schemas.openxmlformats.org/officeDocument/2006/relationships/hyperlink" Target="https://en.wikipedia.org/wiki/Machine_instruction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java.sun.com/products/index.html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EMLTOMdIz4w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9005" y="881917"/>
            <a:ext cx="7898384" cy="13054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7770">
              <a:lnSpc>
                <a:spcPct val="100000"/>
              </a:lnSpc>
              <a:spcBef>
                <a:spcPts val="100"/>
              </a:spcBef>
            </a:pPr>
            <a:r>
              <a:rPr sz="3000" spc="320" dirty="0"/>
              <a:t>I</a:t>
            </a:r>
            <a:r>
              <a:rPr spc="320" dirty="0"/>
              <a:t>NTRODUCTION</a:t>
            </a:r>
            <a:r>
              <a:rPr spc="305" dirty="0"/>
              <a:t> </a:t>
            </a:r>
            <a:r>
              <a:rPr spc="254" dirty="0"/>
              <a:t>TO</a:t>
            </a:r>
            <a:r>
              <a:rPr spc="325" dirty="0"/>
              <a:t> </a:t>
            </a:r>
            <a:r>
              <a:rPr sz="3000" spc="420" dirty="0"/>
              <a:t>OOP</a:t>
            </a:r>
            <a:r>
              <a:rPr sz="3000" spc="175" dirty="0"/>
              <a:t> </a:t>
            </a:r>
            <a:r>
              <a:rPr spc="355" dirty="0"/>
              <a:t>USING</a:t>
            </a:r>
            <a:r>
              <a:rPr lang="en-US" sz="3000" dirty="0"/>
              <a:t> </a:t>
            </a:r>
            <a:r>
              <a:rPr sz="3000" spc="430" dirty="0"/>
              <a:t>J</a:t>
            </a:r>
            <a:r>
              <a:rPr spc="430" dirty="0"/>
              <a:t>AV</a:t>
            </a:r>
            <a:r>
              <a:rPr lang="en-US" spc="430" dirty="0"/>
              <a:t>A</a:t>
            </a:r>
            <a:br>
              <a:rPr lang="en-GB" spc="430" dirty="0"/>
            </a:br>
            <a:br>
              <a:rPr lang="en-US" spc="430" dirty="0"/>
            </a:br>
            <a:endParaRPr sz="3000" dirty="0"/>
          </a:p>
        </p:txBody>
      </p:sp>
      <p:sp>
        <p:nvSpPr>
          <p:cNvPr id="3" name="object 3"/>
          <p:cNvSpPr txBox="1"/>
          <p:nvPr/>
        </p:nvSpPr>
        <p:spPr>
          <a:xfrm>
            <a:off x="5181600" y="6400800"/>
            <a:ext cx="5026406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1800" b="1" spc="125" dirty="0">
                <a:solidFill>
                  <a:srgbClr val="565F6C"/>
                </a:solidFill>
                <a:latin typeface="Cambria"/>
                <a:cs typeface="Cambria"/>
              </a:rPr>
              <a:t>Acknowledged: </a:t>
            </a:r>
            <a:r>
              <a:rPr sz="1800" b="1" spc="125" dirty="0" err="1">
                <a:solidFill>
                  <a:srgbClr val="565F6C"/>
                </a:solidFill>
                <a:latin typeface="Cambria"/>
                <a:cs typeface="Cambria"/>
              </a:rPr>
              <a:t>Tanjina</a:t>
            </a:r>
            <a:r>
              <a:rPr sz="1800" b="1" spc="50" dirty="0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sz="1800" b="1" spc="125" dirty="0">
                <a:solidFill>
                  <a:srgbClr val="565F6C"/>
                </a:solidFill>
                <a:latin typeface="Cambria"/>
                <a:cs typeface="Cambria"/>
              </a:rPr>
              <a:t>Helaly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4" name="Subtitle 4">
            <a:extLst>
              <a:ext uri="{FF2B5EF4-FFF2-40B4-BE49-F238E27FC236}">
                <a16:creationId xmlns:a16="http://schemas.microsoft.com/office/drawing/2014/main" id="{273721AC-6343-B217-F307-52E75475CFB4}"/>
              </a:ext>
            </a:extLst>
          </p:cNvPr>
          <p:cNvSpPr txBox="1">
            <a:spLocks/>
          </p:cNvSpPr>
          <p:nvPr/>
        </p:nvSpPr>
        <p:spPr>
          <a:xfrm>
            <a:off x="1949900" y="5334000"/>
            <a:ext cx="2622100" cy="947046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71"/>
              </a:spcBef>
            </a:pPr>
            <a:r>
              <a:rPr lang="en-US" sz="1400" kern="0" spc="-4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Md. Shafqat </a:t>
            </a:r>
            <a:r>
              <a:rPr lang="en-US" sz="1400" kern="0" spc="-4" dirty="0" err="1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Talukder</a:t>
            </a:r>
            <a:r>
              <a:rPr lang="en-US" sz="1400" kern="0" spc="-4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Rakin</a:t>
            </a:r>
            <a:endParaRPr lang="en-US" sz="1400" kern="0" dirty="0">
              <a:solidFill>
                <a:sysClr val="windowText" lastClr="000000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R="3810"/>
            <a:r>
              <a:rPr lang="en-US" sz="1400" kern="0" spc="-4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Lecturer, Department of CSE,  </a:t>
            </a:r>
          </a:p>
          <a:p>
            <a:pPr marR="3810"/>
            <a:r>
              <a:rPr lang="en-US" sz="1400" kern="0" spc="-4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United International</a:t>
            </a:r>
            <a:r>
              <a:rPr lang="en-US" sz="1400" kern="0" spc="8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1400" kern="0" spc="-4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University</a:t>
            </a:r>
          </a:p>
          <a:p>
            <a:pPr marR="3810"/>
            <a:r>
              <a:rPr lang="en-US" sz="1400" kern="0" spc="-4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Email id : </a:t>
            </a:r>
            <a:r>
              <a:rPr lang="en-US" sz="1400" kern="0" spc="-4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shafqat@cse.uiu.ac.bd</a:t>
            </a:r>
            <a:endParaRPr lang="en-US" sz="1400" kern="0" dirty="0">
              <a:solidFill>
                <a:sysClr val="windowText" lastClr="000000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endParaRPr lang="en-US" kern="0" dirty="0"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1783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235" dirty="0">
                <a:latin typeface="Cambria"/>
                <a:cs typeface="Cambria"/>
              </a:rPr>
              <a:t>W</a:t>
            </a:r>
            <a:r>
              <a:rPr b="0" spc="235" dirty="0">
                <a:latin typeface="Cambria"/>
                <a:cs typeface="Cambria"/>
              </a:rPr>
              <a:t>HAT</a:t>
            </a:r>
            <a:r>
              <a:rPr b="0" spc="265" dirty="0">
                <a:latin typeface="Cambria"/>
                <a:cs typeface="Cambria"/>
              </a:rPr>
              <a:t> </a:t>
            </a:r>
            <a:r>
              <a:rPr b="0" spc="254" dirty="0">
                <a:latin typeface="Cambria"/>
                <a:cs typeface="Cambria"/>
              </a:rPr>
              <a:t>IS</a:t>
            </a:r>
            <a:r>
              <a:rPr b="0" spc="270" dirty="0">
                <a:latin typeface="Cambria"/>
                <a:cs typeface="Cambria"/>
              </a:rPr>
              <a:t> </a:t>
            </a:r>
            <a:r>
              <a:rPr sz="3000" b="0" spc="290" dirty="0">
                <a:latin typeface="Cambria"/>
                <a:cs typeface="Cambria"/>
              </a:rPr>
              <a:t>P</a:t>
            </a:r>
            <a:r>
              <a:rPr b="0" spc="290" dirty="0">
                <a:latin typeface="Cambria"/>
                <a:cs typeface="Cambria"/>
              </a:rPr>
              <a:t>ROGRAMMING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52763"/>
            <a:ext cx="7208520" cy="24676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7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90" dirty="0">
                <a:latin typeface="Cambria"/>
                <a:cs typeface="Cambria"/>
              </a:rPr>
              <a:t>Instruction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5" dirty="0">
                <a:latin typeface="Cambria"/>
                <a:cs typeface="Cambria"/>
              </a:rPr>
              <a:t>computer/device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perform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135" dirty="0">
                <a:latin typeface="Cambria"/>
                <a:cs typeface="Cambria"/>
              </a:rPr>
              <a:t>task.</a:t>
            </a:r>
            <a:endParaRPr sz="2400">
              <a:latin typeface="Cambria"/>
              <a:cs typeface="Cambria"/>
            </a:endParaRPr>
          </a:p>
          <a:p>
            <a:pPr marL="285115" marR="532130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00" dirty="0">
                <a:latin typeface="Cambria"/>
                <a:cs typeface="Cambria"/>
              </a:rPr>
              <a:t>Computer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understands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only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5" dirty="0">
                <a:latin typeface="Cambria"/>
                <a:cs typeface="Cambria"/>
              </a:rPr>
              <a:t>0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and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1.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Nothing </a:t>
            </a:r>
            <a:r>
              <a:rPr sz="2400" spc="-509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else.</a:t>
            </a:r>
            <a:endParaRPr sz="2400">
              <a:latin typeface="Cambria"/>
              <a:cs typeface="Cambria"/>
            </a:endParaRPr>
          </a:p>
          <a:p>
            <a:pPr marL="285115" marR="5080" indent="-273050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40" dirty="0">
                <a:latin typeface="Cambria"/>
                <a:cs typeface="Cambria"/>
              </a:rPr>
              <a:t>So,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15" dirty="0">
                <a:latin typeface="Cambria"/>
                <a:cs typeface="Cambria"/>
              </a:rPr>
              <a:t>we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need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send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instruction</a:t>
            </a:r>
            <a:r>
              <a:rPr sz="2400" spc="105" dirty="0">
                <a:latin typeface="Cambria"/>
                <a:cs typeface="Cambria"/>
              </a:rPr>
              <a:t> in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form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of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0,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5" dirty="0">
                <a:latin typeface="Cambria"/>
                <a:cs typeface="Cambria"/>
              </a:rPr>
              <a:t>1</a:t>
            </a:r>
            <a:endParaRPr sz="24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0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85" dirty="0">
                <a:latin typeface="Cambria"/>
                <a:cs typeface="Cambria"/>
              </a:rPr>
              <a:t>Do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40" dirty="0">
                <a:latin typeface="Cambria"/>
                <a:cs typeface="Cambria"/>
              </a:rPr>
              <a:t>you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write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program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with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just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5" dirty="0">
                <a:latin typeface="Cambria"/>
                <a:cs typeface="Cambria"/>
              </a:rPr>
              <a:t>0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and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20" dirty="0">
                <a:latin typeface="Cambria"/>
                <a:cs typeface="Cambria"/>
              </a:rPr>
              <a:t>1?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38734"/>
            <a:ext cx="551815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b="0" spc="250" dirty="0">
                <a:latin typeface="Cambria"/>
                <a:cs typeface="Cambria"/>
              </a:rPr>
              <a:t>C</a:t>
            </a:r>
            <a:r>
              <a:rPr b="0" spc="250" dirty="0">
                <a:latin typeface="Cambria"/>
                <a:cs typeface="Cambria"/>
              </a:rPr>
              <a:t>LASSIFICATION</a:t>
            </a:r>
            <a:r>
              <a:rPr sz="3000" b="0" spc="250" dirty="0">
                <a:latin typeface="Cambria"/>
                <a:cs typeface="Cambria"/>
              </a:rPr>
              <a:t>/E</a:t>
            </a:r>
            <a:r>
              <a:rPr b="0" spc="250" dirty="0">
                <a:latin typeface="Cambria"/>
                <a:cs typeface="Cambria"/>
              </a:rPr>
              <a:t>VOLUTION </a:t>
            </a:r>
            <a:r>
              <a:rPr sz="3000" b="0" spc="340" dirty="0">
                <a:latin typeface="Cambria"/>
                <a:cs typeface="Cambria"/>
              </a:rPr>
              <a:t>O</a:t>
            </a:r>
            <a:r>
              <a:rPr b="0" spc="340" dirty="0">
                <a:latin typeface="Cambria"/>
                <a:cs typeface="Cambria"/>
              </a:rPr>
              <a:t>F </a:t>
            </a:r>
            <a:r>
              <a:rPr b="0" spc="-515" dirty="0">
                <a:latin typeface="Cambria"/>
                <a:cs typeface="Cambria"/>
              </a:rPr>
              <a:t> </a:t>
            </a:r>
            <a:r>
              <a:rPr sz="3000" b="0" spc="290" dirty="0">
                <a:latin typeface="Cambria"/>
                <a:cs typeface="Cambria"/>
              </a:rPr>
              <a:t>P</a:t>
            </a:r>
            <a:r>
              <a:rPr b="0" spc="290" dirty="0">
                <a:latin typeface="Cambria"/>
                <a:cs typeface="Cambria"/>
              </a:rPr>
              <a:t>ROGRAMMING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55822"/>
            <a:ext cx="5264785" cy="464312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67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20" dirty="0">
                <a:latin typeface="Cambria"/>
                <a:cs typeface="Cambria"/>
              </a:rPr>
              <a:t>Machine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level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programming</a:t>
            </a:r>
            <a:endParaRPr sz="24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10" dirty="0">
                <a:latin typeface="Cambria"/>
                <a:cs typeface="Cambria"/>
              </a:rPr>
              <a:t>Send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instruction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in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b="1" spc="140" dirty="0">
                <a:latin typeface="Cambria"/>
                <a:cs typeface="Cambria"/>
              </a:rPr>
              <a:t>binary</a:t>
            </a:r>
            <a:r>
              <a:rPr sz="2100" b="1" spc="120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format</a:t>
            </a:r>
            <a:endParaRPr sz="21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90" dirty="0">
                <a:latin typeface="Cambria"/>
                <a:cs typeface="Cambria"/>
              </a:rPr>
              <a:t>Assembly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Programming</a:t>
            </a:r>
            <a:endParaRPr sz="24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60" dirty="0">
                <a:latin typeface="Cambria"/>
                <a:cs typeface="Cambria"/>
              </a:rPr>
              <a:t>send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b="1" spc="120" dirty="0">
                <a:latin typeface="Cambria"/>
                <a:cs typeface="Cambria"/>
              </a:rPr>
              <a:t>code</a:t>
            </a:r>
            <a:r>
              <a:rPr sz="2100" b="1" spc="114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instead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dirty="0">
                <a:latin typeface="Cambria"/>
                <a:cs typeface="Cambria"/>
              </a:rPr>
              <a:t>of</a:t>
            </a:r>
            <a:r>
              <a:rPr sz="2100" spc="100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binary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30" dirty="0">
                <a:latin typeface="Cambria"/>
                <a:cs typeface="Cambria"/>
              </a:rPr>
              <a:t>code.</a:t>
            </a:r>
            <a:endParaRPr sz="21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90" dirty="0">
                <a:latin typeface="Cambria"/>
                <a:cs typeface="Cambria"/>
              </a:rPr>
              <a:t>Need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b="1" spc="110" dirty="0">
                <a:latin typeface="Cambria"/>
                <a:cs typeface="Cambria"/>
              </a:rPr>
              <a:t>assembler</a:t>
            </a:r>
            <a:r>
              <a:rPr sz="2100" b="1" spc="90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to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45" dirty="0">
                <a:latin typeface="Cambria"/>
                <a:cs typeface="Cambria"/>
              </a:rPr>
              <a:t>convert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to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binary</a:t>
            </a:r>
            <a:endParaRPr sz="21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70" dirty="0">
                <a:latin typeface="Cambria"/>
                <a:cs typeface="Cambria"/>
              </a:rPr>
              <a:t>High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level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programming</a:t>
            </a:r>
            <a:endParaRPr sz="24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9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80" dirty="0">
                <a:latin typeface="Cambria"/>
                <a:cs typeface="Cambria"/>
              </a:rPr>
              <a:t>Code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is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b="1" spc="105" dirty="0">
                <a:latin typeface="Cambria"/>
                <a:cs typeface="Cambria"/>
              </a:rPr>
              <a:t>close</a:t>
            </a:r>
            <a:r>
              <a:rPr sz="2100" b="1" spc="130" dirty="0">
                <a:latin typeface="Cambria"/>
                <a:cs typeface="Cambria"/>
              </a:rPr>
              <a:t> </a:t>
            </a:r>
            <a:r>
              <a:rPr sz="2100" b="1" spc="105" dirty="0">
                <a:latin typeface="Cambria"/>
                <a:cs typeface="Cambria"/>
              </a:rPr>
              <a:t>to</a:t>
            </a:r>
            <a:r>
              <a:rPr sz="2100" b="1" spc="135" dirty="0">
                <a:latin typeface="Cambria"/>
                <a:cs typeface="Cambria"/>
              </a:rPr>
              <a:t> </a:t>
            </a:r>
            <a:r>
              <a:rPr sz="2100" b="1" spc="170" dirty="0">
                <a:latin typeface="Cambria"/>
                <a:cs typeface="Cambria"/>
              </a:rPr>
              <a:t>English</a:t>
            </a:r>
            <a:r>
              <a:rPr sz="2100" b="1" spc="114" dirty="0">
                <a:latin typeface="Cambria"/>
                <a:cs typeface="Cambria"/>
              </a:rPr>
              <a:t> </a:t>
            </a:r>
            <a:r>
              <a:rPr sz="2100" spc="120" dirty="0">
                <a:latin typeface="Cambria"/>
                <a:cs typeface="Cambria"/>
              </a:rPr>
              <a:t>Language</a:t>
            </a:r>
            <a:endParaRPr sz="21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0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90" dirty="0">
                <a:latin typeface="Cambria"/>
                <a:cs typeface="Cambria"/>
              </a:rPr>
              <a:t>Need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b="1" spc="150" dirty="0">
                <a:latin typeface="Cambria"/>
                <a:cs typeface="Cambria"/>
              </a:rPr>
              <a:t>Compiler</a:t>
            </a:r>
            <a:r>
              <a:rPr sz="2100" b="1" spc="100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to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45" dirty="0">
                <a:latin typeface="Cambria"/>
                <a:cs typeface="Cambria"/>
              </a:rPr>
              <a:t>convert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to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binary</a:t>
            </a:r>
            <a:endParaRPr sz="21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5" dirty="0">
                <a:latin typeface="Cambria"/>
                <a:cs typeface="Cambria"/>
              </a:rPr>
              <a:t>3</a:t>
            </a:r>
            <a:r>
              <a:rPr sz="2100" spc="75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types</a:t>
            </a:r>
            <a:endParaRPr sz="2100">
              <a:latin typeface="Cambria"/>
              <a:cs typeface="Cambria"/>
            </a:endParaRPr>
          </a:p>
          <a:p>
            <a:pPr marL="927100" lvl="2" indent="-183515">
              <a:lnSpc>
                <a:spcPct val="100000"/>
              </a:lnSpc>
              <a:spcBef>
                <a:spcPts val="445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sz="1800" spc="90" dirty="0">
                <a:latin typeface="Cambria"/>
                <a:cs typeface="Cambria"/>
              </a:rPr>
              <a:t>Non</a:t>
            </a:r>
            <a:r>
              <a:rPr sz="1800" spc="6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structured</a:t>
            </a:r>
            <a:endParaRPr sz="1800">
              <a:latin typeface="Cambria"/>
              <a:cs typeface="Cambria"/>
            </a:endParaRPr>
          </a:p>
          <a:p>
            <a:pPr marL="927100" lvl="2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sz="1800" spc="45" dirty="0">
                <a:latin typeface="Cambria"/>
                <a:cs typeface="Cambria"/>
              </a:rPr>
              <a:t>Structured/Procedural</a:t>
            </a:r>
            <a:endParaRPr sz="1800">
              <a:latin typeface="Cambria"/>
              <a:cs typeface="Cambria"/>
            </a:endParaRPr>
          </a:p>
          <a:p>
            <a:pPr marL="927100" lvl="2" indent="-183515">
              <a:lnSpc>
                <a:spcPct val="100000"/>
              </a:lnSpc>
              <a:spcBef>
                <a:spcPts val="430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sz="1800" spc="65" dirty="0">
                <a:latin typeface="Cambria"/>
                <a:cs typeface="Cambria"/>
              </a:rPr>
              <a:t>Object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Oriented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Programming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38734"/>
            <a:ext cx="551815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b="0" spc="250" dirty="0">
                <a:latin typeface="Cambria"/>
                <a:cs typeface="Cambria"/>
              </a:rPr>
              <a:t>C</a:t>
            </a:r>
            <a:r>
              <a:rPr b="0" spc="250" dirty="0">
                <a:latin typeface="Cambria"/>
                <a:cs typeface="Cambria"/>
              </a:rPr>
              <a:t>LASSIFICATION</a:t>
            </a:r>
            <a:r>
              <a:rPr sz="3000" b="0" spc="250" dirty="0">
                <a:latin typeface="Cambria"/>
                <a:cs typeface="Cambria"/>
              </a:rPr>
              <a:t>/E</a:t>
            </a:r>
            <a:r>
              <a:rPr b="0" spc="250" dirty="0">
                <a:latin typeface="Cambria"/>
                <a:cs typeface="Cambria"/>
              </a:rPr>
              <a:t>VOLUTION </a:t>
            </a:r>
            <a:r>
              <a:rPr sz="3000" b="0" spc="340" dirty="0">
                <a:latin typeface="Cambria"/>
                <a:cs typeface="Cambria"/>
              </a:rPr>
              <a:t>O</a:t>
            </a:r>
            <a:r>
              <a:rPr b="0" spc="340" dirty="0">
                <a:latin typeface="Cambria"/>
                <a:cs typeface="Cambria"/>
              </a:rPr>
              <a:t>F </a:t>
            </a:r>
            <a:r>
              <a:rPr b="0" spc="-515" dirty="0">
                <a:latin typeface="Cambria"/>
                <a:cs typeface="Cambria"/>
              </a:rPr>
              <a:t> </a:t>
            </a:r>
            <a:r>
              <a:rPr sz="3000" b="0" spc="290" dirty="0">
                <a:latin typeface="Cambria"/>
                <a:cs typeface="Cambria"/>
              </a:rPr>
              <a:t>P</a:t>
            </a:r>
            <a:r>
              <a:rPr b="0" spc="290" dirty="0">
                <a:latin typeface="Cambria"/>
                <a:cs typeface="Cambria"/>
              </a:rPr>
              <a:t>ROGRAMMING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61541"/>
            <a:ext cx="7242809" cy="4584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95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7020" algn="l"/>
              </a:tabLst>
            </a:pPr>
            <a:r>
              <a:rPr sz="2200" spc="110" dirty="0">
                <a:latin typeface="Cambria"/>
                <a:cs typeface="Cambria"/>
              </a:rPr>
              <a:t>Non</a:t>
            </a:r>
            <a:r>
              <a:rPr sz="2200" spc="105" dirty="0">
                <a:latin typeface="Cambria"/>
                <a:cs typeface="Cambria"/>
              </a:rPr>
              <a:t> </a:t>
            </a:r>
            <a:r>
              <a:rPr sz="2200" spc="70" dirty="0">
                <a:latin typeface="Cambria"/>
                <a:cs typeface="Cambria"/>
              </a:rPr>
              <a:t>structured</a:t>
            </a:r>
            <a:endParaRPr sz="2200">
              <a:latin typeface="Cambria"/>
              <a:cs typeface="Cambria"/>
            </a:endParaRPr>
          </a:p>
          <a:p>
            <a:pPr marL="652780" lvl="1" indent="-275590">
              <a:lnSpc>
                <a:spcPct val="100000"/>
              </a:lnSpc>
              <a:spcBef>
                <a:spcPts val="15"/>
              </a:spcBef>
              <a:buClr>
                <a:srgbClr val="FD8537"/>
              </a:buClr>
              <a:buSzPct val="78947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900" spc="90" dirty="0">
                <a:latin typeface="Cambria"/>
                <a:cs typeface="Cambria"/>
              </a:rPr>
              <a:t>Generate</a:t>
            </a:r>
            <a:r>
              <a:rPr sz="1900" spc="95" dirty="0">
                <a:latin typeface="Cambria"/>
                <a:cs typeface="Cambria"/>
              </a:rPr>
              <a:t> </a:t>
            </a:r>
            <a:r>
              <a:rPr sz="1900" spc="75" dirty="0">
                <a:latin typeface="Cambria"/>
                <a:cs typeface="Cambria"/>
              </a:rPr>
              <a:t>spaghetti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-5" dirty="0">
                <a:latin typeface="Cambria"/>
                <a:cs typeface="Cambria"/>
              </a:rPr>
              <a:t>code</a:t>
            </a:r>
            <a:endParaRPr sz="1900">
              <a:latin typeface="Cambria"/>
              <a:cs typeface="Cambria"/>
            </a:endParaRPr>
          </a:p>
          <a:p>
            <a:pPr marL="652780" lvl="1" indent="-275590">
              <a:lnSpc>
                <a:spcPct val="100000"/>
              </a:lnSpc>
              <a:buClr>
                <a:srgbClr val="FD8537"/>
              </a:buClr>
              <a:buSzPct val="78947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900" spc="85" dirty="0">
                <a:latin typeface="Cambria"/>
                <a:cs typeface="Cambria"/>
              </a:rPr>
              <a:t>Sequential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85" dirty="0">
                <a:latin typeface="Cambria"/>
                <a:cs typeface="Cambria"/>
              </a:rPr>
              <a:t>and</a:t>
            </a:r>
            <a:r>
              <a:rPr sz="1900" spc="95" dirty="0">
                <a:latin typeface="Cambria"/>
                <a:cs typeface="Cambria"/>
              </a:rPr>
              <a:t> has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80" dirty="0">
                <a:latin typeface="Cambria"/>
                <a:cs typeface="Cambria"/>
              </a:rPr>
              <a:t>GoTo</a:t>
            </a:r>
            <a:endParaRPr sz="1900">
              <a:latin typeface="Cambria"/>
              <a:cs typeface="Cambria"/>
            </a:endParaRPr>
          </a:p>
          <a:p>
            <a:pPr marL="652780" lvl="1" indent="-275590">
              <a:lnSpc>
                <a:spcPct val="100000"/>
              </a:lnSpc>
              <a:buClr>
                <a:srgbClr val="FD8537"/>
              </a:buClr>
              <a:buSzPct val="78947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900" spc="220" dirty="0">
                <a:latin typeface="Cambria"/>
                <a:cs typeface="Cambria"/>
              </a:rPr>
              <a:t>COBOL,</a:t>
            </a:r>
            <a:r>
              <a:rPr sz="1900" spc="90" dirty="0">
                <a:latin typeface="Cambria"/>
                <a:cs typeface="Cambria"/>
              </a:rPr>
              <a:t> </a:t>
            </a:r>
            <a:r>
              <a:rPr sz="1900" spc="200" dirty="0">
                <a:latin typeface="Cambria"/>
                <a:cs typeface="Cambria"/>
              </a:rPr>
              <a:t>BASIC,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200" dirty="0">
                <a:latin typeface="Cambria"/>
                <a:cs typeface="Cambria"/>
              </a:rPr>
              <a:t>FORTRAN</a:t>
            </a:r>
            <a:endParaRPr sz="19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60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7020" algn="l"/>
              </a:tabLst>
            </a:pPr>
            <a:r>
              <a:rPr sz="2200" spc="55" dirty="0">
                <a:latin typeface="Cambria"/>
                <a:cs typeface="Cambria"/>
              </a:rPr>
              <a:t>Structured/Procedural</a:t>
            </a:r>
            <a:endParaRPr sz="2200">
              <a:latin typeface="Cambria"/>
              <a:cs typeface="Cambria"/>
            </a:endParaRPr>
          </a:p>
          <a:p>
            <a:pPr marL="652780" lvl="1" indent="-275590">
              <a:lnSpc>
                <a:spcPct val="100000"/>
              </a:lnSpc>
              <a:spcBef>
                <a:spcPts val="15"/>
              </a:spcBef>
              <a:buClr>
                <a:srgbClr val="FD8537"/>
              </a:buClr>
              <a:buSzPct val="78947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900" spc="130" dirty="0">
                <a:latin typeface="Cambria"/>
                <a:cs typeface="Cambria"/>
              </a:rPr>
              <a:t>Use</a:t>
            </a:r>
            <a:r>
              <a:rPr sz="1900" spc="90" dirty="0">
                <a:latin typeface="Cambria"/>
                <a:cs typeface="Cambria"/>
              </a:rPr>
              <a:t> </a:t>
            </a:r>
            <a:r>
              <a:rPr sz="1900" spc="50" dirty="0">
                <a:latin typeface="Cambria"/>
                <a:cs typeface="Cambria"/>
              </a:rPr>
              <a:t>Subroutine/Function</a:t>
            </a:r>
            <a:endParaRPr sz="1900">
              <a:latin typeface="Cambria"/>
              <a:cs typeface="Cambria"/>
            </a:endParaRPr>
          </a:p>
          <a:p>
            <a:pPr marL="720090" lvl="1" indent="-342900">
              <a:lnSpc>
                <a:spcPct val="100000"/>
              </a:lnSpc>
              <a:buClr>
                <a:srgbClr val="FD8537"/>
              </a:buClr>
              <a:buSzPct val="78947"/>
              <a:buFont typeface="Segoe UI Symbol"/>
              <a:buChar char="⚫"/>
              <a:tabLst>
                <a:tab pos="719455" algn="l"/>
                <a:tab pos="720725" algn="l"/>
              </a:tabLst>
            </a:pPr>
            <a:r>
              <a:rPr sz="1900" spc="55" dirty="0">
                <a:latin typeface="Cambria"/>
                <a:cs typeface="Cambria"/>
              </a:rPr>
              <a:t>improving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70" dirty="0">
                <a:latin typeface="Cambria"/>
                <a:cs typeface="Cambria"/>
              </a:rPr>
              <a:t>the</a:t>
            </a:r>
            <a:r>
              <a:rPr sz="1900" spc="120" dirty="0">
                <a:latin typeface="Cambria"/>
                <a:cs typeface="Cambria"/>
              </a:rPr>
              <a:t> </a:t>
            </a:r>
            <a:r>
              <a:rPr sz="1900" spc="75" dirty="0">
                <a:latin typeface="Cambria"/>
                <a:cs typeface="Cambria"/>
              </a:rPr>
              <a:t>clarity,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80" dirty="0">
                <a:latin typeface="Cambria"/>
                <a:cs typeface="Cambria"/>
              </a:rPr>
              <a:t>quality,</a:t>
            </a:r>
            <a:r>
              <a:rPr sz="1900" spc="125" dirty="0">
                <a:latin typeface="Cambria"/>
                <a:cs typeface="Cambria"/>
              </a:rPr>
              <a:t> </a:t>
            </a:r>
            <a:r>
              <a:rPr sz="1900" spc="85" dirty="0">
                <a:latin typeface="Cambria"/>
                <a:cs typeface="Cambria"/>
              </a:rPr>
              <a:t>and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45" dirty="0">
                <a:latin typeface="Cambria"/>
                <a:cs typeface="Cambria"/>
              </a:rPr>
              <a:t>development</a:t>
            </a:r>
            <a:r>
              <a:rPr sz="1900" spc="135" dirty="0">
                <a:latin typeface="Cambria"/>
                <a:cs typeface="Cambria"/>
              </a:rPr>
              <a:t> </a:t>
            </a:r>
            <a:r>
              <a:rPr sz="1900" spc="65" dirty="0">
                <a:latin typeface="Cambria"/>
                <a:cs typeface="Cambria"/>
              </a:rPr>
              <a:t>time</a:t>
            </a:r>
            <a:endParaRPr sz="1900">
              <a:latin typeface="Cambria"/>
              <a:cs typeface="Cambria"/>
            </a:endParaRPr>
          </a:p>
          <a:p>
            <a:pPr marL="652780" lvl="1" indent="-275590">
              <a:lnSpc>
                <a:spcPct val="100000"/>
              </a:lnSpc>
              <a:buClr>
                <a:srgbClr val="FD8537"/>
              </a:buClr>
              <a:buSzPct val="78947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900" spc="215" dirty="0">
                <a:latin typeface="Cambria"/>
                <a:cs typeface="Cambria"/>
              </a:rPr>
              <a:t>C,</a:t>
            </a:r>
            <a:r>
              <a:rPr sz="1900" spc="60" dirty="0">
                <a:latin typeface="Cambria"/>
                <a:cs typeface="Cambria"/>
              </a:rPr>
              <a:t> </a:t>
            </a:r>
            <a:r>
              <a:rPr sz="1900" spc="225" dirty="0">
                <a:latin typeface="Cambria"/>
                <a:cs typeface="Cambria"/>
              </a:rPr>
              <a:t>PASCAL</a:t>
            </a:r>
            <a:endParaRPr sz="19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60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7020" algn="l"/>
              </a:tabLst>
            </a:pPr>
            <a:r>
              <a:rPr sz="2200" spc="80" dirty="0">
                <a:latin typeface="Cambria"/>
                <a:cs typeface="Cambria"/>
              </a:rPr>
              <a:t>Object</a:t>
            </a:r>
            <a:r>
              <a:rPr sz="2200" spc="110" dirty="0">
                <a:latin typeface="Cambria"/>
                <a:cs typeface="Cambria"/>
              </a:rPr>
              <a:t> </a:t>
            </a:r>
            <a:r>
              <a:rPr sz="2200" spc="90" dirty="0">
                <a:latin typeface="Cambria"/>
                <a:cs typeface="Cambria"/>
              </a:rPr>
              <a:t>Oriented</a:t>
            </a:r>
            <a:r>
              <a:rPr sz="2200" spc="105" dirty="0">
                <a:latin typeface="Cambria"/>
                <a:cs typeface="Cambria"/>
              </a:rPr>
              <a:t> </a:t>
            </a:r>
            <a:r>
              <a:rPr sz="2200" spc="95" dirty="0">
                <a:latin typeface="Cambria"/>
                <a:cs typeface="Cambria"/>
              </a:rPr>
              <a:t>Programming</a:t>
            </a:r>
            <a:endParaRPr sz="2200">
              <a:latin typeface="Cambria"/>
              <a:cs typeface="Cambria"/>
            </a:endParaRPr>
          </a:p>
          <a:p>
            <a:pPr marL="652780" marR="476884" lvl="1" indent="-274955">
              <a:lnSpc>
                <a:spcPct val="80000"/>
              </a:lnSpc>
              <a:spcBef>
                <a:spcPts val="470"/>
              </a:spcBef>
              <a:buClr>
                <a:srgbClr val="FD8537"/>
              </a:buClr>
              <a:buSzPct val="78947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900" spc="45" dirty="0">
                <a:latin typeface="Cambria"/>
                <a:cs typeface="Cambria"/>
              </a:rPr>
              <a:t>Object-oriented</a:t>
            </a:r>
            <a:r>
              <a:rPr sz="1900" spc="125" dirty="0">
                <a:latin typeface="Cambria"/>
                <a:cs typeface="Cambria"/>
              </a:rPr>
              <a:t> </a:t>
            </a:r>
            <a:r>
              <a:rPr sz="1900" spc="60" dirty="0">
                <a:latin typeface="Cambria"/>
                <a:cs typeface="Cambria"/>
              </a:rPr>
              <a:t>programming</a:t>
            </a:r>
            <a:r>
              <a:rPr sz="1900" spc="145" dirty="0">
                <a:latin typeface="Cambria"/>
                <a:cs typeface="Cambria"/>
              </a:rPr>
              <a:t> </a:t>
            </a:r>
            <a:r>
              <a:rPr sz="1900" spc="90" dirty="0">
                <a:latin typeface="Cambria"/>
                <a:cs typeface="Cambria"/>
              </a:rPr>
              <a:t>(OOP)</a:t>
            </a:r>
            <a:r>
              <a:rPr sz="1900" spc="120" dirty="0">
                <a:latin typeface="Cambria"/>
                <a:cs typeface="Cambria"/>
              </a:rPr>
              <a:t> </a:t>
            </a:r>
            <a:r>
              <a:rPr sz="1900" spc="65" dirty="0">
                <a:latin typeface="Cambria"/>
                <a:cs typeface="Cambria"/>
              </a:rPr>
              <a:t>is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125" dirty="0">
                <a:latin typeface="Cambria"/>
                <a:cs typeface="Cambria"/>
              </a:rPr>
              <a:t>a</a:t>
            </a:r>
            <a:r>
              <a:rPr sz="1900" spc="135" dirty="0">
                <a:latin typeface="Cambria"/>
                <a:cs typeface="Cambria"/>
              </a:rPr>
              <a:t> </a:t>
            </a:r>
            <a:r>
              <a:rPr sz="1900" spc="60" dirty="0">
                <a:latin typeface="Cambria"/>
                <a:cs typeface="Cambria"/>
              </a:rPr>
              <a:t>programming </a:t>
            </a:r>
            <a:r>
              <a:rPr sz="1900" spc="-405" dirty="0">
                <a:latin typeface="Cambria"/>
                <a:cs typeface="Cambria"/>
              </a:rPr>
              <a:t> </a:t>
            </a:r>
            <a:r>
              <a:rPr sz="1900" spc="85" dirty="0">
                <a:latin typeface="Cambria"/>
                <a:cs typeface="Cambria"/>
              </a:rPr>
              <a:t>language</a:t>
            </a:r>
            <a:r>
              <a:rPr sz="1900" spc="130" dirty="0">
                <a:latin typeface="Cambria"/>
                <a:cs typeface="Cambria"/>
              </a:rPr>
              <a:t> </a:t>
            </a:r>
            <a:r>
              <a:rPr sz="1900" spc="30" dirty="0">
                <a:latin typeface="Cambria"/>
                <a:cs typeface="Cambria"/>
              </a:rPr>
              <a:t>model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50" dirty="0">
                <a:latin typeface="Cambria"/>
                <a:cs typeface="Cambria"/>
              </a:rPr>
              <a:t>organized</a:t>
            </a:r>
            <a:r>
              <a:rPr sz="1900" spc="114" dirty="0">
                <a:latin typeface="Cambria"/>
                <a:cs typeface="Cambria"/>
              </a:rPr>
              <a:t> </a:t>
            </a:r>
            <a:r>
              <a:rPr sz="1900" spc="55" dirty="0">
                <a:latin typeface="Cambria"/>
                <a:cs typeface="Cambria"/>
              </a:rPr>
              <a:t>around</a:t>
            </a:r>
            <a:r>
              <a:rPr sz="1900" spc="140" dirty="0">
                <a:solidFill>
                  <a:srgbClr val="D2601C"/>
                </a:solidFill>
                <a:latin typeface="Cambria"/>
                <a:cs typeface="Cambria"/>
              </a:rPr>
              <a:t> </a:t>
            </a:r>
            <a:r>
              <a:rPr sz="1900" u="sng" spc="25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  <a:hlinkClick r:id="rId2"/>
              </a:rPr>
              <a:t>objects</a:t>
            </a:r>
            <a:r>
              <a:rPr sz="1900" spc="120" dirty="0">
                <a:solidFill>
                  <a:srgbClr val="D2601C"/>
                </a:solidFill>
                <a:latin typeface="Cambria"/>
                <a:cs typeface="Cambria"/>
                <a:hlinkClick r:id="rId2"/>
              </a:rPr>
              <a:t> </a:t>
            </a:r>
            <a:r>
              <a:rPr sz="1900" spc="75" dirty="0">
                <a:latin typeface="Cambria"/>
                <a:cs typeface="Cambria"/>
              </a:rPr>
              <a:t>rather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105" dirty="0">
                <a:latin typeface="Cambria"/>
                <a:cs typeface="Cambria"/>
              </a:rPr>
              <a:t>than 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35" dirty="0">
                <a:latin typeface="Cambria"/>
                <a:cs typeface="Cambria"/>
              </a:rPr>
              <a:t>"actions"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85" dirty="0">
                <a:latin typeface="Cambria"/>
                <a:cs typeface="Cambria"/>
              </a:rPr>
              <a:t>and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90" dirty="0">
                <a:latin typeface="Cambria"/>
                <a:cs typeface="Cambria"/>
              </a:rPr>
              <a:t>data</a:t>
            </a:r>
            <a:r>
              <a:rPr sz="1900" spc="114" dirty="0">
                <a:latin typeface="Cambria"/>
                <a:cs typeface="Cambria"/>
              </a:rPr>
              <a:t> </a:t>
            </a:r>
            <a:r>
              <a:rPr sz="1900" spc="75" dirty="0">
                <a:latin typeface="Cambria"/>
                <a:cs typeface="Cambria"/>
              </a:rPr>
              <a:t>rather</a:t>
            </a:r>
            <a:r>
              <a:rPr sz="1900" spc="114" dirty="0">
                <a:latin typeface="Cambria"/>
                <a:cs typeface="Cambria"/>
              </a:rPr>
              <a:t> </a:t>
            </a:r>
            <a:r>
              <a:rPr sz="1900" spc="100" dirty="0">
                <a:latin typeface="Cambria"/>
                <a:cs typeface="Cambria"/>
              </a:rPr>
              <a:t>than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50" dirty="0">
                <a:latin typeface="Cambria"/>
                <a:cs typeface="Cambria"/>
              </a:rPr>
              <a:t>logic.</a:t>
            </a:r>
            <a:endParaRPr sz="1900">
              <a:latin typeface="Cambria"/>
              <a:cs typeface="Cambria"/>
            </a:endParaRPr>
          </a:p>
          <a:p>
            <a:pPr marL="652780" marR="5080" lvl="1" indent="-274955">
              <a:lnSpc>
                <a:spcPct val="80000"/>
              </a:lnSpc>
              <a:spcBef>
                <a:spcPts val="459"/>
              </a:spcBef>
              <a:buClr>
                <a:srgbClr val="FD8537"/>
              </a:buClr>
              <a:buSzPct val="78947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900" spc="80" dirty="0">
                <a:latin typeface="Cambria"/>
                <a:cs typeface="Cambria"/>
              </a:rPr>
              <a:t>Historically,</a:t>
            </a:r>
            <a:r>
              <a:rPr sz="1900" spc="120" dirty="0">
                <a:latin typeface="Cambria"/>
                <a:cs typeface="Cambria"/>
              </a:rPr>
              <a:t> </a:t>
            </a:r>
            <a:r>
              <a:rPr sz="1900" spc="125" dirty="0">
                <a:latin typeface="Cambria"/>
                <a:cs typeface="Cambria"/>
              </a:rPr>
              <a:t>a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55" dirty="0">
                <a:latin typeface="Cambria"/>
                <a:cs typeface="Cambria"/>
              </a:rPr>
              <a:t>program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100" dirty="0">
                <a:latin typeface="Cambria"/>
                <a:cs typeface="Cambria"/>
              </a:rPr>
              <a:t>has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30" dirty="0">
                <a:latin typeface="Cambria"/>
                <a:cs typeface="Cambria"/>
              </a:rPr>
              <a:t>been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30" dirty="0">
                <a:latin typeface="Cambria"/>
                <a:cs typeface="Cambria"/>
              </a:rPr>
              <a:t>viewed</a:t>
            </a:r>
            <a:r>
              <a:rPr sz="1900" spc="120" dirty="0">
                <a:latin typeface="Cambria"/>
                <a:cs typeface="Cambria"/>
              </a:rPr>
              <a:t> </a:t>
            </a:r>
            <a:r>
              <a:rPr sz="1900" spc="90" dirty="0">
                <a:latin typeface="Cambria"/>
                <a:cs typeface="Cambria"/>
              </a:rPr>
              <a:t>as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125" dirty="0">
                <a:latin typeface="Cambria"/>
                <a:cs typeface="Cambria"/>
              </a:rPr>
              <a:t>a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50" dirty="0">
                <a:latin typeface="Cambria"/>
                <a:cs typeface="Cambria"/>
              </a:rPr>
              <a:t>logical </a:t>
            </a:r>
            <a:r>
              <a:rPr sz="1900" spc="55" dirty="0">
                <a:latin typeface="Cambria"/>
                <a:cs typeface="Cambria"/>
              </a:rPr>
              <a:t> </a:t>
            </a:r>
            <a:r>
              <a:rPr sz="1900" spc="25" dirty="0">
                <a:latin typeface="Cambria"/>
                <a:cs typeface="Cambria"/>
              </a:rPr>
              <a:t>procedure</a:t>
            </a:r>
            <a:r>
              <a:rPr sz="1900" spc="85" dirty="0">
                <a:latin typeface="Cambria"/>
                <a:cs typeface="Cambria"/>
              </a:rPr>
              <a:t> </a:t>
            </a:r>
            <a:r>
              <a:rPr sz="1900" spc="105" dirty="0">
                <a:latin typeface="Cambria"/>
                <a:cs typeface="Cambria"/>
              </a:rPr>
              <a:t>that</a:t>
            </a:r>
            <a:r>
              <a:rPr sz="1900" spc="114" dirty="0">
                <a:latin typeface="Cambria"/>
                <a:cs typeface="Cambria"/>
              </a:rPr>
              <a:t> </a:t>
            </a:r>
            <a:r>
              <a:rPr sz="1900" spc="80" dirty="0">
                <a:latin typeface="Cambria"/>
                <a:cs typeface="Cambria"/>
              </a:rPr>
              <a:t>takes</a:t>
            </a:r>
            <a:r>
              <a:rPr sz="1900" spc="100" dirty="0">
                <a:latin typeface="Cambria"/>
                <a:cs typeface="Cambria"/>
              </a:rPr>
              <a:t> </a:t>
            </a:r>
            <a:r>
              <a:rPr sz="1900" spc="80" dirty="0">
                <a:latin typeface="Cambria"/>
                <a:cs typeface="Cambria"/>
              </a:rPr>
              <a:t>input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100" dirty="0">
                <a:latin typeface="Cambria"/>
                <a:cs typeface="Cambria"/>
              </a:rPr>
              <a:t>data,</a:t>
            </a:r>
            <a:r>
              <a:rPr sz="1900" spc="120" dirty="0">
                <a:latin typeface="Cambria"/>
                <a:cs typeface="Cambria"/>
              </a:rPr>
              <a:t> </a:t>
            </a:r>
            <a:r>
              <a:rPr sz="1900" spc="25" dirty="0">
                <a:latin typeface="Cambria"/>
                <a:cs typeface="Cambria"/>
              </a:rPr>
              <a:t>processes</a:t>
            </a:r>
            <a:r>
              <a:rPr sz="1900" spc="85" dirty="0">
                <a:latin typeface="Cambria"/>
                <a:cs typeface="Cambria"/>
              </a:rPr>
              <a:t> </a:t>
            </a:r>
            <a:r>
              <a:rPr sz="1900" spc="100" dirty="0">
                <a:latin typeface="Cambria"/>
                <a:cs typeface="Cambria"/>
              </a:rPr>
              <a:t>it,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80" dirty="0">
                <a:latin typeface="Cambria"/>
                <a:cs typeface="Cambria"/>
              </a:rPr>
              <a:t>and</a:t>
            </a:r>
            <a:r>
              <a:rPr sz="1900" spc="100" dirty="0">
                <a:latin typeface="Cambria"/>
                <a:cs typeface="Cambria"/>
              </a:rPr>
              <a:t> </a:t>
            </a:r>
            <a:r>
              <a:rPr sz="1900" spc="30" dirty="0">
                <a:latin typeface="Cambria"/>
                <a:cs typeface="Cambria"/>
              </a:rPr>
              <a:t>produces </a:t>
            </a:r>
            <a:r>
              <a:rPr sz="1900" spc="-400" dirty="0">
                <a:latin typeface="Cambria"/>
                <a:cs typeface="Cambria"/>
              </a:rPr>
              <a:t> </a:t>
            </a:r>
            <a:r>
              <a:rPr sz="1900" spc="60" dirty="0">
                <a:latin typeface="Cambria"/>
                <a:cs typeface="Cambria"/>
              </a:rPr>
              <a:t>output</a:t>
            </a:r>
            <a:r>
              <a:rPr sz="1900" spc="100" dirty="0">
                <a:latin typeface="Cambria"/>
                <a:cs typeface="Cambria"/>
              </a:rPr>
              <a:t> data.</a:t>
            </a:r>
            <a:endParaRPr sz="1900">
              <a:latin typeface="Cambria"/>
              <a:cs typeface="Cambria"/>
            </a:endParaRPr>
          </a:p>
          <a:p>
            <a:pPr marL="652780" lvl="1" indent="-275590">
              <a:lnSpc>
                <a:spcPct val="100000"/>
              </a:lnSpc>
              <a:buClr>
                <a:srgbClr val="FD8537"/>
              </a:buClr>
              <a:buSzPct val="78947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900" spc="180" dirty="0">
                <a:latin typeface="Cambria"/>
                <a:cs typeface="Cambria"/>
              </a:rPr>
              <a:t>Java,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150" dirty="0">
                <a:latin typeface="Cambria"/>
                <a:cs typeface="Cambria"/>
              </a:rPr>
              <a:t>C++,</a:t>
            </a:r>
            <a:r>
              <a:rPr sz="1900" spc="80" dirty="0">
                <a:latin typeface="Cambria"/>
                <a:cs typeface="Cambria"/>
              </a:rPr>
              <a:t> C#</a:t>
            </a:r>
            <a:endParaRPr sz="19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45585" y="2449195"/>
            <a:ext cx="197738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u="heavy" spc="385" dirty="0">
                <a:uFill>
                  <a:solidFill>
                    <a:srgbClr val="565F6C"/>
                  </a:solidFill>
                </a:uFill>
              </a:rPr>
              <a:t>O</a:t>
            </a:r>
            <a:r>
              <a:rPr u="heavy" spc="385" dirty="0">
                <a:uFill>
                  <a:solidFill>
                    <a:srgbClr val="565F6C"/>
                  </a:solidFill>
                </a:uFill>
              </a:rPr>
              <a:t>UR</a:t>
            </a:r>
            <a:r>
              <a:rPr u="heavy" spc="245" dirty="0">
                <a:uFill>
                  <a:solidFill>
                    <a:srgbClr val="565F6C"/>
                  </a:solidFill>
                </a:uFill>
              </a:rPr>
              <a:t> </a:t>
            </a:r>
            <a:r>
              <a:rPr sz="3000" u="heavy" spc="385" dirty="0">
                <a:uFill>
                  <a:solidFill>
                    <a:srgbClr val="565F6C"/>
                  </a:solidFill>
                </a:uFill>
              </a:rPr>
              <a:t>G</a:t>
            </a:r>
            <a:r>
              <a:rPr u="heavy" spc="385" dirty="0">
                <a:uFill>
                  <a:solidFill>
                    <a:srgbClr val="565F6C"/>
                  </a:solidFill>
                </a:uFill>
              </a:rPr>
              <a:t>OAL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725525" y="3363848"/>
            <a:ext cx="761809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000" spc="305" dirty="0">
                <a:solidFill>
                  <a:srgbClr val="565F6C"/>
                </a:solidFill>
                <a:latin typeface="Cambria"/>
                <a:cs typeface="Cambria"/>
              </a:rPr>
              <a:t>L</a:t>
            </a:r>
            <a:r>
              <a:rPr sz="2400" spc="305" dirty="0">
                <a:solidFill>
                  <a:srgbClr val="565F6C"/>
                </a:solidFill>
                <a:latin typeface="Cambria"/>
                <a:cs typeface="Cambria"/>
              </a:rPr>
              <a:t>EARN</a:t>
            </a:r>
            <a:r>
              <a:rPr sz="2400" spc="300" dirty="0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sz="3000" b="1" spc="430" dirty="0">
                <a:solidFill>
                  <a:srgbClr val="565F6C"/>
                </a:solidFill>
                <a:latin typeface="Cambria"/>
                <a:cs typeface="Cambria"/>
              </a:rPr>
              <a:t>O</a:t>
            </a:r>
            <a:r>
              <a:rPr sz="2400" b="1" spc="430" dirty="0">
                <a:solidFill>
                  <a:srgbClr val="565F6C"/>
                </a:solidFill>
                <a:latin typeface="Cambria"/>
                <a:cs typeface="Cambria"/>
              </a:rPr>
              <a:t>BJECT</a:t>
            </a:r>
            <a:r>
              <a:rPr sz="2400" b="1" spc="305" dirty="0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sz="3000" b="1" spc="340" dirty="0">
                <a:solidFill>
                  <a:srgbClr val="565F6C"/>
                </a:solidFill>
                <a:latin typeface="Cambria"/>
                <a:cs typeface="Cambria"/>
              </a:rPr>
              <a:t>O</a:t>
            </a:r>
            <a:r>
              <a:rPr sz="2400" b="1" spc="340" dirty="0">
                <a:solidFill>
                  <a:srgbClr val="565F6C"/>
                </a:solidFill>
                <a:latin typeface="Cambria"/>
                <a:cs typeface="Cambria"/>
              </a:rPr>
              <a:t>RIENTED</a:t>
            </a:r>
            <a:r>
              <a:rPr sz="2400" b="1" spc="320" dirty="0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sz="3000" b="1" spc="355" dirty="0">
                <a:solidFill>
                  <a:srgbClr val="565F6C"/>
                </a:solidFill>
                <a:latin typeface="Cambria"/>
                <a:cs typeface="Cambria"/>
              </a:rPr>
              <a:t>P</a:t>
            </a:r>
            <a:r>
              <a:rPr sz="2400" b="1" spc="355" dirty="0">
                <a:solidFill>
                  <a:srgbClr val="565F6C"/>
                </a:solidFill>
                <a:latin typeface="Cambria"/>
                <a:cs typeface="Cambria"/>
              </a:rPr>
              <a:t>ROGRAMMING</a:t>
            </a:r>
            <a:endParaRPr sz="2400">
              <a:latin typeface="Cambria"/>
              <a:cs typeface="Cambria"/>
            </a:endParaRPr>
          </a:p>
          <a:p>
            <a:pPr marL="635" algn="ctr">
              <a:lnSpc>
                <a:spcPct val="100000"/>
              </a:lnSpc>
            </a:pPr>
            <a:r>
              <a:rPr sz="2400" spc="325" dirty="0">
                <a:solidFill>
                  <a:srgbClr val="565F6C"/>
                </a:solidFill>
                <a:latin typeface="Cambria"/>
                <a:cs typeface="Cambria"/>
              </a:rPr>
              <a:t>USING</a:t>
            </a:r>
            <a:r>
              <a:rPr sz="2400" spc="270" dirty="0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sz="3000" b="1" spc="434" dirty="0">
                <a:solidFill>
                  <a:srgbClr val="565F6C"/>
                </a:solidFill>
                <a:latin typeface="Cambria"/>
                <a:cs typeface="Cambria"/>
              </a:rPr>
              <a:t>J</a:t>
            </a:r>
            <a:r>
              <a:rPr sz="2400" b="1" spc="434" dirty="0">
                <a:solidFill>
                  <a:srgbClr val="565F6C"/>
                </a:solidFill>
                <a:latin typeface="Cambria"/>
                <a:cs typeface="Cambria"/>
              </a:rPr>
              <a:t>AVA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5897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290" dirty="0">
                <a:latin typeface="Cambria"/>
                <a:cs typeface="Cambria"/>
              </a:rPr>
              <a:t>P</a:t>
            </a:r>
            <a:r>
              <a:rPr b="0" spc="290" dirty="0">
                <a:latin typeface="Cambria"/>
                <a:cs typeface="Cambria"/>
              </a:rPr>
              <a:t>ROGRAMMING</a:t>
            </a:r>
            <a:r>
              <a:rPr b="0" spc="254" dirty="0">
                <a:latin typeface="Cambria"/>
                <a:cs typeface="Cambria"/>
              </a:rPr>
              <a:t> </a:t>
            </a:r>
            <a:r>
              <a:rPr sz="3000" b="0" spc="335" dirty="0">
                <a:latin typeface="Cambria"/>
                <a:cs typeface="Cambria"/>
              </a:rPr>
              <a:t>L</a:t>
            </a:r>
            <a:r>
              <a:rPr b="0" spc="335" dirty="0">
                <a:latin typeface="Cambria"/>
                <a:cs typeface="Cambria"/>
              </a:rPr>
              <a:t>ANGUAGE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19899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marR="5080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235" dirty="0">
                <a:latin typeface="Cambria"/>
                <a:cs typeface="Cambria"/>
              </a:rPr>
              <a:t>A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programming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language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is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40" dirty="0">
                <a:solidFill>
                  <a:srgbClr val="D2601C"/>
                </a:solidFill>
                <a:latin typeface="Cambria"/>
                <a:cs typeface="Cambria"/>
              </a:rPr>
              <a:t> </a:t>
            </a:r>
            <a:r>
              <a:rPr sz="2400" u="heavy" spc="80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  <a:hlinkClick r:id="rId2"/>
              </a:rPr>
              <a:t>formal</a:t>
            </a:r>
            <a:r>
              <a:rPr sz="2400" spc="114" dirty="0">
                <a:solidFill>
                  <a:srgbClr val="D2601C"/>
                </a:solidFill>
                <a:latin typeface="Cambria"/>
                <a:cs typeface="Cambria"/>
                <a:hlinkClick r:id="rId2"/>
              </a:rPr>
              <a:t> </a:t>
            </a:r>
            <a:r>
              <a:rPr sz="2400" u="heavy" spc="60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  <a:hlinkClick r:id="rId3"/>
              </a:rPr>
              <a:t>constructed </a:t>
            </a:r>
            <a:r>
              <a:rPr sz="2400" spc="-515" dirty="0">
                <a:solidFill>
                  <a:srgbClr val="D2601C"/>
                </a:solidFill>
                <a:latin typeface="Cambria"/>
                <a:cs typeface="Cambria"/>
              </a:rPr>
              <a:t> </a:t>
            </a:r>
            <a:r>
              <a:rPr sz="2400" u="heavy" spc="110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  <a:hlinkClick r:id="rId3"/>
              </a:rPr>
              <a:t>language</a:t>
            </a:r>
            <a:r>
              <a:rPr sz="2400" spc="135" dirty="0">
                <a:solidFill>
                  <a:srgbClr val="D2601C"/>
                </a:solidFill>
                <a:latin typeface="Cambria"/>
                <a:cs typeface="Cambria"/>
                <a:hlinkClick r:id="rId3"/>
              </a:rPr>
              <a:t> </a:t>
            </a:r>
            <a:r>
              <a:rPr sz="2400" spc="65" dirty="0">
                <a:latin typeface="Cambria"/>
                <a:cs typeface="Cambria"/>
              </a:rPr>
              <a:t>designed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communicate</a:t>
            </a:r>
            <a:r>
              <a:rPr sz="2400" spc="114" dirty="0">
                <a:solidFill>
                  <a:srgbClr val="D2601C"/>
                </a:solidFill>
                <a:latin typeface="Cambria"/>
                <a:cs typeface="Cambria"/>
              </a:rPr>
              <a:t> </a:t>
            </a:r>
            <a:r>
              <a:rPr sz="2400" u="heavy" spc="80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  <a:hlinkClick r:id="rId4"/>
              </a:rPr>
              <a:t>instructions </a:t>
            </a:r>
            <a:r>
              <a:rPr sz="2400" spc="85" dirty="0">
                <a:solidFill>
                  <a:srgbClr val="D2601C"/>
                </a:solidFill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35" dirty="0">
                <a:solidFill>
                  <a:srgbClr val="D2601C"/>
                </a:solidFill>
                <a:latin typeface="Cambria"/>
                <a:cs typeface="Cambria"/>
              </a:rPr>
              <a:t> </a:t>
            </a:r>
            <a:r>
              <a:rPr sz="2400" u="heavy" spc="100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  <a:hlinkClick r:id="rId5"/>
              </a:rPr>
              <a:t>machine</a:t>
            </a:r>
            <a:r>
              <a:rPr sz="2400" spc="100" dirty="0">
                <a:latin typeface="Cambria"/>
                <a:cs typeface="Cambria"/>
              </a:rPr>
              <a:t>,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particularly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55" dirty="0">
                <a:solidFill>
                  <a:srgbClr val="D2601C"/>
                </a:solidFill>
                <a:latin typeface="Cambria"/>
                <a:cs typeface="Cambria"/>
              </a:rPr>
              <a:t> </a:t>
            </a:r>
            <a:r>
              <a:rPr sz="2400" u="heavy" spc="70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  <a:hlinkClick r:id="rId6"/>
              </a:rPr>
              <a:t>computer</a:t>
            </a:r>
            <a:r>
              <a:rPr sz="2400" spc="70" dirty="0">
                <a:latin typeface="Cambria"/>
                <a:cs typeface="Cambria"/>
              </a:rPr>
              <a:t>.</a:t>
            </a:r>
            <a:endParaRPr sz="24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7984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290" dirty="0">
                <a:latin typeface="Cambria"/>
                <a:cs typeface="Cambria"/>
              </a:rPr>
              <a:t>J</a:t>
            </a:r>
            <a:r>
              <a:rPr b="0" spc="290" dirty="0">
                <a:latin typeface="Cambria"/>
                <a:cs typeface="Cambria"/>
              </a:rPr>
              <a:t>AVA</a:t>
            </a:r>
            <a:r>
              <a:rPr sz="3000" b="0" spc="290" dirty="0">
                <a:latin typeface="Cambria"/>
                <a:cs typeface="Cambria"/>
              </a:rPr>
              <a:t>’</a:t>
            </a:r>
            <a:r>
              <a:rPr b="0" spc="290" dirty="0">
                <a:latin typeface="Cambria"/>
                <a:cs typeface="Cambria"/>
              </a:rPr>
              <a:t>S</a:t>
            </a:r>
            <a:r>
              <a:rPr b="0" spc="260" dirty="0">
                <a:latin typeface="Cambria"/>
                <a:cs typeface="Cambria"/>
              </a:rPr>
              <a:t> </a:t>
            </a:r>
            <a:r>
              <a:rPr sz="3000" b="0" spc="315" dirty="0">
                <a:latin typeface="Cambria"/>
                <a:cs typeface="Cambria"/>
              </a:rPr>
              <a:t>L</a:t>
            </a:r>
            <a:r>
              <a:rPr b="0" spc="315" dirty="0">
                <a:latin typeface="Cambria"/>
                <a:cs typeface="Cambria"/>
              </a:rPr>
              <a:t>INEAGE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215505" cy="2711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245" dirty="0">
                <a:latin typeface="Cambria"/>
                <a:cs typeface="Cambria"/>
              </a:rPr>
              <a:t>Java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is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related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95" dirty="0">
                <a:latin typeface="Cambria"/>
                <a:cs typeface="Cambria"/>
              </a:rPr>
              <a:t>C++,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which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is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direct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sz="2400" spc="60" dirty="0">
                <a:latin typeface="Cambria"/>
                <a:cs typeface="Cambria"/>
              </a:rPr>
              <a:t>descendent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of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270" dirty="0">
                <a:latin typeface="Cambria"/>
                <a:cs typeface="Cambria"/>
              </a:rPr>
              <a:t>C.</a:t>
            </a:r>
            <a:endParaRPr sz="2400">
              <a:latin typeface="Cambria"/>
              <a:cs typeface="Cambria"/>
            </a:endParaRPr>
          </a:p>
          <a:p>
            <a:pPr marL="652780" marR="50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30" dirty="0">
                <a:latin typeface="Cambria"/>
                <a:cs typeface="Cambria"/>
              </a:rPr>
              <a:t>Much </a:t>
            </a:r>
            <a:r>
              <a:rPr sz="2100" spc="-5" dirty="0">
                <a:latin typeface="Cambria"/>
                <a:cs typeface="Cambria"/>
              </a:rPr>
              <a:t>of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character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-5" dirty="0">
                <a:latin typeface="Cambria"/>
                <a:cs typeface="Cambria"/>
              </a:rPr>
              <a:t>of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215" dirty="0">
                <a:latin typeface="Cambria"/>
                <a:cs typeface="Cambria"/>
              </a:rPr>
              <a:t>Java</a:t>
            </a:r>
            <a:r>
              <a:rPr sz="2100" spc="95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is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inherited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45" dirty="0">
                <a:latin typeface="Cambria"/>
                <a:cs typeface="Cambria"/>
              </a:rPr>
              <a:t>from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these </a:t>
            </a:r>
            <a:r>
              <a:rPr sz="2100" spc="-450" dirty="0">
                <a:latin typeface="Cambria"/>
                <a:cs typeface="Cambria"/>
              </a:rPr>
              <a:t> </a:t>
            </a:r>
            <a:r>
              <a:rPr sz="2100" spc="10" dirty="0">
                <a:latin typeface="Cambria"/>
                <a:cs typeface="Cambria"/>
              </a:rPr>
              <a:t>two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100" dirty="0">
                <a:latin typeface="Cambria"/>
                <a:cs typeface="Cambria"/>
              </a:rPr>
              <a:t>languages.</a:t>
            </a:r>
            <a:endParaRPr sz="21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10" dirty="0">
                <a:latin typeface="Cambria"/>
                <a:cs typeface="Cambria"/>
              </a:rPr>
              <a:t>From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270" dirty="0">
                <a:latin typeface="Cambria"/>
                <a:cs typeface="Cambria"/>
              </a:rPr>
              <a:t>C,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245" dirty="0">
                <a:latin typeface="Cambria"/>
                <a:cs typeface="Cambria"/>
              </a:rPr>
              <a:t>Java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derives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its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syntax.</a:t>
            </a:r>
            <a:endParaRPr sz="2400">
              <a:latin typeface="Cambria"/>
              <a:cs typeface="Cambria"/>
            </a:endParaRPr>
          </a:p>
          <a:p>
            <a:pPr marL="285115" marR="6407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65" dirty="0">
                <a:latin typeface="Cambria"/>
                <a:cs typeface="Cambria"/>
              </a:rPr>
              <a:t>Many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of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165" dirty="0">
                <a:latin typeface="Cambria"/>
                <a:cs typeface="Cambria"/>
              </a:rPr>
              <a:t>Java’s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40" dirty="0">
                <a:latin typeface="Cambria"/>
                <a:cs typeface="Cambria"/>
              </a:rPr>
              <a:t>object-oriented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features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30" dirty="0">
                <a:latin typeface="Cambria"/>
                <a:cs typeface="Cambria"/>
              </a:rPr>
              <a:t>were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influenced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by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95" dirty="0">
                <a:latin typeface="Cambria"/>
                <a:cs typeface="Cambria"/>
              </a:rPr>
              <a:t>C++.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3427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370" dirty="0">
                <a:latin typeface="Cambria"/>
                <a:cs typeface="Cambria"/>
              </a:rPr>
              <a:t>J</a:t>
            </a:r>
            <a:r>
              <a:rPr b="0" spc="370" dirty="0">
                <a:latin typeface="Cambria"/>
                <a:cs typeface="Cambria"/>
              </a:rPr>
              <a:t>AVA</a:t>
            </a:r>
            <a:r>
              <a:rPr b="0" spc="300" dirty="0">
                <a:latin typeface="Cambria"/>
                <a:cs typeface="Cambria"/>
              </a:rPr>
              <a:t> </a:t>
            </a:r>
            <a:r>
              <a:rPr sz="3000" b="0" dirty="0">
                <a:latin typeface="Cambria"/>
                <a:cs typeface="Cambria"/>
              </a:rPr>
              <a:t>-</a:t>
            </a:r>
            <a:r>
              <a:rPr sz="3000" b="0" spc="145" dirty="0">
                <a:latin typeface="Cambria"/>
                <a:cs typeface="Cambria"/>
              </a:rPr>
              <a:t> </a:t>
            </a:r>
            <a:r>
              <a:rPr sz="3000" b="0" spc="280" dirty="0">
                <a:latin typeface="Cambria"/>
                <a:cs typeface="Cambria"/>
              </a:rPr>
              <a:t>C</a:t>
            </a:r>
            <a:r>
              <a:rPr b="0" spc="280" dirty="0">
                <a:latin typeface="Cambria"/>
                <a:cs typeface="Cambria"/>
              </a:rPr>
              <a:t>HARACTERISTICS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238365" cy="5026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120" dirty="0">
                <a:latin typeface="Cambria"/>
                <a:cs typeface="Cambria"/>
              </a:rPr>
              <a:t>Uses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C/C++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basic</a:t>
            </a:r>
            <a:r>
              <a:rPr sz="2000" spc="100" dirty="0">
                <a:latin typeface="Cambria"/>
                <a:cs typeface="Cambria"/>
              </a:rPr>
              <a:t> syntax</a:t>
            </a:r>
            <a:r>
              <a:rPr sz="2000" spc="90" dirty="0">
                <a:latin typeface="Cambria"/>
                <a:cs typeface="Cambria"/>
              </a:rPr>
              <a:t> and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basic</a:t>
            </a:r>
            <a:r>
              <a:rPr sz="2000" spc="100" dirty="0">
                <a:latin typeface="Cambria"/>
                <a:cs typeface="Cambria"/>
              </a:rPr>
              <a:t> data </a:t>
            </a:r>
            <a:r>
              <a:rPr sz="2000" spc="60" dirty="0">
                <a:latin typeface="Cambria"/>
                <a:cs typeface="Cambria"/>
              </a:rPr>
              <a:t>types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-int,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char,</a:t>
            </a:r>
            <a:endParaRPr sz="20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sz="2000" spc="80" dirty="0">
                <a:latin typeface="Cambria"/>
                <a:cs typeface="Cambria"/>
              </a:rPr>
              <a:t>float,</a:t>
            </a:r>
            <a:r>
              <a:rPr sz="2000" spc="6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double,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long,</a:t>
            </a:r>
            <a:r>
              <a:rPr sz="2000" spc="70" dirty="0">
                <a:latin typeface="Cambria"/>
                <a:cs typeface="Cambria"/>
              </a:rPr>
              <a:t> short,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byte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etc.</a:t>
            </a:r>
            <a:endParaRPr sz="20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125" dirty="0">
                <a:latin typeface="Cambria"/>
                <a:cs typeface="Cambria"/>
              </a:rPr>
              <a:t>Uses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standard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C/C++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35" dirty="0">
                <a:latin typeface="Cambria"/>
                <a:cs typeface="Cambria"/>
              </a:rPr>
              <a:t>control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structures</a:t>
            </a:r>
            <a:endParaRPr sz="20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70" dirty="0">
                <a:latin typeface="Cambria"/>
                <a:cs typeface="Cambria"/>
              </a:rPr>
              <a:t>“Pure”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250" dirty="0">
                <a:latin typeface="Cambria"/>
                <a:cs typeface="Cambria"/>
              </a:rPr>
              <a:t>OO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language</a:t>
            </a:r>
            <a:endParaRPr sz="20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105" dirty="0">
                <a:latin typeface="Cambria"/>
                <a:cs typeface="Cambria"/>
              </a:rPr>
              <a:t>No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stand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alone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functions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-</a:t>
            </a:r>
            <a:r>
              <a:rPr sz="2000" b="1" spc="100" dirty="0">
                <a:latin typeface="Cambria"/>
                <a:cs typeface="Cambria"/>
              </a:rPr>
              <a:t>All </a:t>
            </a:r>
            <a:r>
              <a:rPr sz="2000" b="1" spc="114" dirty="0">
                <a:latin typeface="Cambria"/>
                <a:cs typeface="Cambria"/>
              </a:rPr>
              <a:t>code</a:t>
            </a:r>
            <a:r>
              <a:rPr sz="2000" b="1" spc="130" dirty="0">
                <a:latin typeface="Cambria"/>
                <a:cs typeface="Cambria"/>
              </a:rPr>
              <a:t> </a:t>
            </a:r>
            <a:r>
              <a:rPr sz="2000" b="1" spc="95" dirty="0">
                <a:latin typeface="Cambria"/>
                <a:cs typeface="Cambria"/>
              </a:rPr>
              <a:t>is</a:t>
            </a:r>
            <a:r>
              <a:rPr sz="2000" b="1" spc="125" dirty="0">
                <a:latin typeface="Cambria"/>
                <a:cs typeface="Cambria"/>
              </a:rPr>
              <a:t> </a:t>
            </a:r>
            <a:r>
              <a:rPr sz="2000" b="1" spc="130" dirty="0">
                <a:latin typeface="Cambria"/>
                <a:cs typeface="Cambria"/>
              </a:rPr>
              <a:t>part</a:t>
            </a:r>
            <a:r>
              <a:rPr sz="2000" b="1" spc="135" dirty="0">
                <a:latin typeface="Cambria"/>
                <a:cs typeface="Cambria"/>
              </a:rPr>
              <a:t> </a:t>
            </a:r>
            <a:r>
              <a:rPr sz="2000" b="1" spc="105" dirty="0">
                <a:latin typeface="Cambria"/>
                <a:cs typeface="Cambria"/>
              </a:rPr>
              <a:t>of</a:t>
            </a:r>
            <a:r>
              <a:rPr sz="2000" b="1" spc="114" dirty="0">
                <a:latin typeface="Cambria"/>
                <a:cs typeface="Cambria"/>
              </a:rPr>
              <a:t> </a:t>
            </a:r>
            <a:r>
              <a:rPr sz="2000" b="1" spc="155" dirty="0">
                <a:latin typeface="Cambria"/>
                <a:cs typeface="Cambria"/>
              </a:rPr>
              <a:t>a</a:t>
            </a:r>
            <a:r>
              <a:rPr sz="2000" b="1" spc="135" dirty="0">
                <a:latin typeface="Cambria"/>
                <a:cs typeface="Cambria"/>
              </a:rPr>
              <a:t> </a:t>
            </a:r>
            <a:r>
              <a:rPr sz="2000" b="1" spc="110" dirty="0">
                <a:latin typeface="Cambria"/>
                <a:cs typeface="Cambria"/>
              </a:rPr>
              <a:t>class</a:t>
            </a:r>
            <a:endParaRPr sz="20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105" dirty="0">
                <a:latin typeface="Cambria"/>
                <a:cs typeface="Cambria"/>
              </a:rPr>
              <a:t>No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explicit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pointers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-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uses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references</a:t>
            </a:r>
            <a:endParaRPr sz="20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125" dirty="0">
                <a:latin typeface="Cambria"/>
                <a:cs typeface="Cambria"/>
              </a:rPr>
              <a:t>Uses</a:t>
            </a:r>
            <a:r>
              <a:rPr sz="2000" spc="75" dirty="0">
                <a:latin typeface="Cambria"/>
                <a:cs typeface="Cambria"/>
              </a:rPr>
              <a:t> garbage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35" dirty="0">
                <a:latin typeface="Cambria"/>
                <a:cs typeface="Cambria"/>
              </a:rPr>
              <a:t>collection</a:t>
            </a:r>
            <a:endParaRPr sz="20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204" dirty="0">
                <a:latin typeface="Cambria"/>
                <a:cs typeface="Cambria"/>
              </a:rPr>
              <a:t>Java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is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strongly </a:t>
            </a:r>
            <a:r>
              <a:rPr sz="2000" spc="50" dirty="0">
                <a:latin typeface="Cambria"/>
                <a:cs typeface="Cambria"/>
              </a:rPr>
              <a:t>typed</a:t>
            </a:r>
            <a:endParaRPr sz="20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210" dirty="0">
                <a:latin typeface="Cambria"/>
                <a:cs typeface="Cambria"/>
              </a:rPr>
              <a:t>Java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is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normally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40" dirty="0">
                <a:latin typeface="Cambria"/>
                <a:cs typeface="Cambria"/>
              </a:rPr>
              <a:t>compiled</a:t>
            </a:r>
            <a:r>
              <a:rPr sz="2000" spc="60" dirty="0">
                <a:latin typeface="Cambria"/>
                <a:cs typeface="Cambria"/>
              </a:rPr>
              <a:t> </a:t>
            </a:r>
            <a:r>
              <a:rPr sz="2000" spc="15" dirty="0">
                <a:latin typeface="Cambria"/>
                <a:cs typeface="Cambria"/>
              </a:rPr>
              <a:t>to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135" dirty="0">
                <a:latin typeface="Cambria"/>
                <a:cs typeface="Cambria"/>
              </a:rPr>
              <a:t>a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40" dirty="0">
                <a:latin typeface="Cambria"/>
                <a:cs typeface="Cambria"/>
              </a:rPr>
              <a:t>bytecode.</a:t>
            </a:r>
            <a:endParaRPr sz="2000">
              <a:latin typeface="Cambria"/>
              <a:cs typeface="Cambria"/>
            </a:endParaRPr>
          </a:p>
          <a:p>
            <a:pPr marL="652780" marR="448309" lvl="1" indent="-273685">
              <a:lnSpc>
                <a:spcPct val="100000"/>
              </a:lnSpc>
              <a:spcBef>
                <a:spcPts val="480"/>
              </a:spcBef>
              <a:buClr>
                <a:srgbClr val="FD8537"/>
              </a:buClr>
              <a:buSzPct val="80000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000" spc="210" dirty="0">
                <a:latin typeface="Cambria"/>
                <a:cs typeface="Cambria"/>
              </a:rPr>
              <a:t>Java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25" dirty="0">
                <a:latin typeface="Cambria"/>
                <a:cs typeface="Cambria"/>
              </a:rPr>
              <a:t>bytecode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is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135" dirty="0">
                <a:latin typeface="Cambria"/>
                <a:cs typeface="Cambria"/>
              </a:rPr>
              <a:t>a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machine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language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20" dirty="0">
                <a:latin typeface="Cambria"/>
                <a:cs typeface="Cambria"/>
              </a:rPr>
              <a:t>for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120" dirty="0">
                <a:latin typeface="Cambria"/>
                <a:cs typeface="Cambria"/>
              </a:rPr>
              <a:t>an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abstract </a:t>
            </a:r>
            <a:r>
              <a:rPr sz="2000" spc="-42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machine</a:t>
            </a:r>
            <a:endParaRPr sz="20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480"/>
              </a:spcBef>
              <a:buClr>
                <a:srgbClr val="FD8537"/>
              </a:buClr>
              <a:buSzPct val="80000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000" spc="125" dirty="0">
                <a:latin typeface="Cambria"/>
                <a:cs typeface="Cambria"/>
              </a:rPr>
              <a:t>Makes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210" dirty="0">
                <a:latin typeface="Cambria"/>
                <a:cs typeface="Cambria"/>
              </a:rPr>
              <a:t>Java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secure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and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Portable</a:t>
            </a:r>
            <a:endParaRPr sz="2000">
              <a:latin typeface="Cambria"/>
              <a:cs typeface="Cambria"/>
            </a:endParaRPr>
          </a:p>
          <a:p>
            <a:pPr marL="285115" marR="5080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135" dirty="0">
                <a:latin typeface="Cambria"/>
                <a:cs typeface="Cambria"/>
              </a:rPr>
              <a:t>Each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platform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-30" dirty="0">
                <a:latin typeface="Cambria"/>
                <a:cs typeface="Cambria"/>
              </a:rPr>
              <a:t>(or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5" dirty="0">
                <a:latin typeface="Cambria"/>
                <a:cs typeface="Cambria"/>
              </a:rPr>
              <a:t>browser)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that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runs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spc="204" dirty="0">
                <a:latin typeface="Cambria"/>
                <a:cs typeface="Cambria"/>
              </a:rPr>
              <a:t>Java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105" dirty="0">
                <a:latin typeface="Cambria"/>
                <a:cs typeface="Cambria"/>
              </a:rPr>
              <a:t>has </a:t>
            </a:r>
            <a:r>
              <a:rPr sz="2000" spc="135" dirty="0">
                <a:latin typeface="Cambria"/>
                <a:cs typeface="Cambria"/>
              </a:rPr>
              <a:t>a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210" dirty="0">
                <a:latin typeface="Cambria"/>
                <a:cs typeface="Cambria"/>
              </a:rPr>
              <a:t>Java </a:t>
            </a:r>
            <a:r>
              <a:rPr sz="2000" spc="215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Virtual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105" dirty="0">
                <a:latin typeface="Cambria"/>
                <a:cs typeface="Cambria"/>
              </a:rPr>
              <a:t>Machine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160" dirty="0">
                <a:latin typeface="Cambria"/>
                <a:cs typeface="Cambria"/>
              </a:rPr>
              <a:t>(JVM)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145" dirty="0">
                <a:latin typeface="Cambria"/>
                <a:cs typeface="Cambria"/>
              </a:rPr>
              <a:t>.</a:t>
            </a:r>
            <a:r>
              <a:rPr sz="2000" spc="95" dirty="0">
                <a:latin typeface="Cambria"/>
                <a:cs typeface="Cambria"/>
              </a:rPr>
              <a:t> The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spc="330" dirty="0">
                <a:latin typeface="Cambria"/>
                <a:cs typeface="Cambria"/>
              </a:rPr>
              <a:t>JVM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executes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210" dirty="0">
                <a:latin typeface="Cambria"/>
                <a:cs typeface="Cambria"/>
              </a:rPr>
              <a:t>Java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30" dirty="0">
                <a:latin typeface="Cambria"/>
                <a:cs typeface="Cambria"/>
              </a:rPr>
              <a:t>bytecodes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98526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370" dirty="0">
                <a:latin typeface="Cambria"/>
                <a:cs typeface="Cambria"/>
              </a:rPr>
              <a:t>J</a:t>
            </a:r>
            <a:r>
              <a:rPr b="0" spc="370" dirty="0">
                <a:latin typeface="Cambria"/>
                <a:cs typeface="Cambria"/>
              </a:rPr>
              <a:t>AVA</a:t>
            </a:r>
            <a:r>
              <a:rPr b="0" spc="305" dirty="0">
                <a:latin typeface="Cambria"/>
                <a:cs typeface="Cambria"/>
              </a:rPr>
              <a:t> </a:t>
            </a:r>
            <a:r>
              <a:rPr sz="3000" b="0" spc="165" dirty="0">
                <a:latin typeface="Cambria"/>
                <a:cs typeface="Cambria"/>
              </a:rPr>
              <a:t>–</a:t>
            </a:r>
            <a:r>
              <a:rPr sz="3000" b="0" spc="140" dirty="0">
                <a:latin typeface="Cambria"/>
                <a:cs typeface="Cambria"/>
              </a:rPr>
              <a:t> </a:t>
            </a:r>
            <a:r>
              <a:rPr sz="3000" b="0" spc="305" dirty="0">
                <a:latin typeface="Cambria"/>
                <a:cs typeface="Cambria"/>
              </a:rPr>
              <a:t>T</a:t>
            </a:r>
            <a:r>
              <a:rPr b="0" spc="305" dirty="0">
                <a:latin typeface="Cambria"/>
                <a:cs typeface="Cambria"/>
              </a:rPr>
              <a:t>HE</a:t>
            </a:r>
            <a:r>
              <a:rPr b="0" spc="280" dirty="0">
                <a:latin typeface="Cambria"/>
                <a:cs typeface="Cambria"/>
              </a:rPr>
              <a:t> </a:t>
            </a:r>
            <a:r>
              <a:rPr sz="3000" b="0" spc="270" dirty="0">
                <a:latin typeface="Cambria"/>
                <a:cs typeface="Cambria"/>
              </a:rPr>
              <a:t>P</a:t>
            </a:r>
            <a:r>
              <a:rPr b="0" spc="270" dirty="0">
                <a:latin typeface="Cambria"/>
                <a:cs typeface="Cambria"/>
              </a:rPr>
              <a:t>LATFORM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296150" cy="3641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marR="17208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245" dirty="0">
                <a:latin typeface="Cambria"/>
                <a:cs typeface="Cambria"/>
              </a:rPr>
              <a:t>Java </a:t>
            </a:r>
            <a:r>
              <a:rPr sz="2400" spc="125" dirty="0">
                <a:latin typeface="Cambria"/>
                <a:cs typeface="Cambria"/>
              </a:rPr>
              <a:t>has </a:t>
            </a:r>
            <a:r>
              <a:rPr sz="2400" spc="160" dirty="0">
                <a:latin typeface="Cambria"/>
                <a:cs typeface="Cambria"/>
              </a:rPr>
              <a:t>a </a:t>
            </a:r>
            <a:r>
              <a:rPr sz="2400" spc="95" dirty="0">
                <a:latin typeface="Cambria"/>
                <a:cs typeface="Cambria"/>
              </a:rPr>
              <a:t>large </a:t>
            </a:r>
            <a:r>
              <a:rPr sz="2400" spc="215" dirty="0">
                <a:latin typeface="Cambria"/>
                <a:cs typeface="Cambria"/>
              </a:rPr>
              <a:t>API </a:t>
            </a:r>
            <a:r>
              <a:rPr sz="2400" spc="60" dirty="0">
                <a:latin typeface="Cambria"/>
                <a:cs typeface="Cambria"/>
              </a:rPr>
              <a:t>(application </a:t>
            </a:r>
            <a:r>
              <a:rPr sz="2400" spc="80" dirty="0">
                <a:latin typeface="Cambria"/>
                <a:cs typeface="Cambria"/>
              </a:rPr>
              <a:t>programming 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interface)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covering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40" dirty="0">
                <a:latin typeface="Cambria"/>
                <a:cs typeface="Cambria"/>
              </a:rPr>
              <a:t>wide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range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of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areas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The 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following</a:t>
            </a:r>
            <a:r>
              <a:rPr sz="2400" spc="95" dirty="0">
                <a:latin typeface="Cambria"/>
                <a:cs typeface="Cambria"/>
              </a:rPr>
              <a:t> list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of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245" dirty="0">
                <a:latin typeface="Cambria"/>
                <a:cs typeface="Cambria"/>
              </a:rPr>
              <a:t>Java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180" dirty="0">
                <a:latin typeface="Cambria"/>
                <a:cs typeface="Cambria"/>
              </a:rPr>
              <a:t>APIs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and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applications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from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195" dirty="0">
                <a:latin typeface="Cambria"/>
                <a:cs typeface="Cambria"/>
              </a:rPr>
              <a:t>Sun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show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range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of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applications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of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245" dirty="0">
                <a:latin typeface="Cambria"/>
                <a:cs typeface="Cambria"/>
              </a:rPr>
              <a:t>Java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170" dirty="0">
                <a:latin typeface="Cambria"/>
                <a:cs typeface="Cambria"/>
              </a:rPr>
              <a:t>.</a:t>
            </a:r>
            <a:endParaRPr sz="24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90" dirty="0">
                <a:latin typeface="Cambria"/>
                <a:cs typeface="Cambria"/>
              </a:rPr>
              <a:t>For</a:t>
            </a:r>
            <a:r>
              <a:rPr sz="2100" spc="100" dirty="0">
                <a:latin typeface="Cambria"/>
                <a:cs typeface="Cambria"/>
              </a:rPr>
              <a:t> </a:t>
            </a:r>
            <a:r>
              <a:rPr sz="2100" spc="45" dirty="0">
                <a:latin typeface="Cambria"/>
                <a:cs typeface="Cambria"/>
              </a:rPr>
              <a:t>reference</a:t>
            </a:r>
            <a:r>
              <a:rPr sz="2100" spc="100" dirty="0">
                <a:latin typeface="Cambria"/>
                <a:cs typeface="Cambria"/>
              </a:rPr>
              <a:t> </a:t>
            </a:r>
            <a:r>
              <a:rPr sz="2100" spc="25" dirty="0">
                <a:latin typeface="Cambria"/>
                <a:cs typeface="Cambria"/>
                <a:hlinkClick r:id="rId2"/>
              </a:rPr>
              <a:t>http://java.sun.com/products/index.html</a:t>
            </a:r>
            <a:endParaRPr sz="21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245" dirty="0">
                <a:latin typeface="Cambria"/>
                <a:cs typeface="Cambria"/>
              </a:rPr>
              <a:t>Java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Foundation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Classes </a:t>
            </a:r>
            <a:r>
              <a:rPr sz="2400" spc="210" dirty="0">
                <a:latin typeface="Cambria"/>
                <a:cs typeface="Cambria"/>
              </a:rPr>
              <a:t>(JFC)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– </a:t>
            </a:r>
            <a:r>
              <a:rPr sz="2400" spc="330" dirty="0">
                <a:latin typeface="Cambria"/>
                <a:cs typeface="Cambria"/>
              </a:rPr>
              <a:t>GUI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375" dirty="0">
                <a:latin typeface="Cambria"/>
                <a:cs typeface="Cambria"/>
              </a:rPr>
              <a:t>JDBC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Database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Access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245" dirty="0">
                <a:latin typeface="Cambria"/>
                <a:cs typeface="Cambria"/>
              </a:rPr>
              <a:t>Java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Web</a:t>
            </a:r>
            <a:r>
              <a:rPr sz="2400" spc="100" dirty="0">
                <a:latin typeface="Cambria"/>
                <a:cs typeface="Cambria"/>
              </a:rPr>
              <a:t> Server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35" dirty="0">
                <a:latin typeface="Cambria"/>
                <a:cs typeface="Cambria"/>
              </a:rPr>
              <a:t>EmbeddedJava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-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245" dirty="0">
                <a:latin typeface="Cambria"/>
                <a:cs typeface="Cambria"/>
              </a:rPr>
              <a:t>Java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25" dirty="0">
                <a:latin typeface="Cambria"/>
                <a:cs typeface="Cambria"/>
              </a:rPr>
              <a:t>on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embedded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devices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184403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280" dirty="0">
                <a:latin typeface="Cambria"/>
                <a:cs typeface="Cambria"/>
              </a:rPr>
              <a:t>W</a:t>
            </a:r>
            <a:r>
              <a:rPr b="0" spc="280" dirty="0">
                <a:latin typeface="Cambria"/>
                <a:cs typeface="Cambria"/>
              </a:rPr>
              <a:t>HY</a:t>
            </a:r>
            <a:r>
              <a:rPr b="0" spc="229" dirty="0">
                <a:latin typeface="Cambria"/>
                <a:cs typeface="Cambria"/>
              </a:rPr>
              <a:t> </a:t>
            </a:r>
            <a:r>
              <a:rPr sz="3000" b="0" spc="365" dirty="0">
                <a:latin typeface="Cambria"/>
                <a:cs typeface="Cambria"/>
              </a:rPr>
              <a:t>J</a:t>
            </a:r>
            <a:r>
              <a:rPr b="0" spc="365" dirty="0">
                <a:latin typeface="Cambria"/>
                <a:cs typeface="Cambria"/>
              </a:rPr>
              <a:t>AVA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52555"/>
            <a:ext cx="7149465" cy="256222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69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00" dirty="0">
                <a:latin typeface="Cambria"/>
                <a:cs typeface="Cambria"/>
              </a:rPr>
              <a:t>Platform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Independent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-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Code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once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run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anywhere</a:t>
            </a:r>
            <a:endParaRPr sz="24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1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00" dirty="0">
                <a:latin typeface="Cambria"/>
                <a:cs typeface="Cambria"/>
              </a:rPr>
              <a:t>Byte</a:t>
            </a:r>
            <a:r>
              <a:rPr sz="2100" spc="75" dirty="0">
                <a:latin typeface="Cambria"/>
                <a:cs typeface="Cambria"/>
              </a:rPr>
              <a:t> </a:t>
            </a:r>
            <a:r>
              <a:rPr sz="2100" dirty="0">
                <a:latin typeface="Cambria"/>
                <a:cs typeface="Cambria"/>
              </a:rPr>
              <a:t>code</a:t>
            </a:r>
            <a:endParaRPr sz="21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65" dirty="0">
                <a:latin typeface="Cambria"/>
                <a:cs typeface="Cambria"/>
              </a:rPr>
              <a:t>Easy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learn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00" dirty="0">
                <a:latin typeface="Cambria"/>
                <a:cs typeface="Cambria"/>
              </a:rPr>
              <a:t>Secure</a:t>
            </a:r>
            <a:endParaRPr sz="24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00" dirty="0">
                <a:latin typeface="Cambria"/>
                <a:cs typeface="Cambria"/>
              </a:rPr>
              <a:t>Byte</a:t>
            </a:r>
            <a:r>
              <a:rPr sz="2100" spc="95" dirty="0">
                <a:latin typeface="Cambria"/>
                <a:cs typeface="Cambria"/>
              </a:rPr>
              <a:t> </a:t>
            </a:r>
            <a:r>
              <a:rPr sz="2100" dirty="0">
                <a:latin typeface="Cambria"/>
                <a:cs typeface="Cambria"/>
              </a:rPr>
              <a:t>code</a:t>
            </a:r>
            <a:r>
              <a:rPr sz="2100" spc="95" dirty="0">
                <a:latin typeface="Cambria"/>
                <a:cs typeface="Cambria"/>
              </a:rPr>
              <a:t> </a:t>
            </a:r>
            <a:r>
              <a:rPr sz="2100" spc="265" dirty="0">
                <a:latin typeface="Cambria"/>
                <a:cs typeface="Cambria"/>
              </a:rPr>
              <a:t>&amp;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250" dirty="0">
                <a:latin typeface="Cambria"/>
                <a:cs typeface="Cambria"/>
              </a:rPr>
              <a:t>VM</a:t>
            </a:r>
            <a:endParaRPr sz="21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10" dirty="0">
                <a:latin typeface="Cambria"/>
                <a:cs typeface="Cambria"/>
              </a:rPr>
              <a:t>Free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18929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420" dirty="0">
                <a:latin typeface="Cambria"/>
                <a:cs typeface="Cambria"/>
              </a:rPr>
              <a:t>JAVA</a:t>
            </a:r>
            <a:r>
              <a:rPr sz="3000" b="0" spc="70" dirty="0">
                <a:latin typeface="Cambria"/>
                <a:cs typeface="Cambria"/>
              </a:rPr>
              <a:t> </a:t>
            </a:r>
            <a:r>
              <a:rPr sz="3000" b="0" spc="340" dirty="0">
                <a:latin typeface="Cambria"/>
                <a:cs typeface="Cambria"/>
              </a:rPr>
              <a:t>IDE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6061710" cy="2515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60" dirty="0">
                <a:latin typeface="Cambria"/>
                <a:cs typeface="Cambria"/>
              </a:rPr>
              <a:t>Using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405" dirty="0">
                <a:latin typeface="Cambria"/>
                <a:cs typeface="Cambria"/>
              </a:rPr>
              <a:t>JDK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you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can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compile</a:t>
            </a:r>
            <a:r>
              <a:rPr sz="2400" spc="105" dirty="0">
                <a:latin typeface="Cambria"/>
                <a:cs typeface="Cambria"/>
              </a:rPr>
              <a:t> and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run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java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sz="2400" spc="65" dirty="0">
                <a:latin typeface="Cambria"/>
                <a:cs typeface="Cambria"/>
              </a:rPr>
              <a:t>program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from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command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line.</a:t>
            </a:r>
            <a:endParaRPr sz="24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50" dirty="0">
                <a:latin typeface="Cambria"/>
                <a:cs typeface="Cambria"/>
              </a:rPr>
              <a:t>c:&gt;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javac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HelloWorld.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210" dirty="0">
                <a:latin typeface="Cambria"/>
                <a:cs typeface="Cambria"/>
              </a:rPr>
              <a:t>Java</a:t>
            </a:r>
            <a:endParaRPr sz="2100">
              <a:latin typeface="Cambria"/>
              <a:cs typeface="Cambria"/>
            </a:endParaRPr>
          </a:p>
          <a:p>
            <a:pPr marL="927100" lvl="2" indent="-183515">
              <a:lnSpc>
                <a:spcPct val="100000"/>
              </a:lnSpc>
              <a:spcBef>
                <a:spcPts val="445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sz="1800" spc="50" dirty="0">
                <a:latin typeface="Cambria"/>
                <a:cs typeface="Cambria"/>
              </a:rPr>
              <a:t>compiling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here</a:t>
            </a:r>
            <a:r>
              <a:rPr sz="1800" spc="75" dirty="0">
                <a:latin typeface="Cambria"/>
                <a:cs typeface="Cambria"/>
              </a:rPr>
              <a:t> and</a:t>
            </a:r>
            <a:endParaRPr sz="1800">
              <a:latin typeface="Cambria"/>
              <a:cs typeface="Cambria"/>
            </a:endParaRPr>
          </a:p>
          <a:p>
            <a:pPr marL="927100" lvl="2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sz="1800" spc="75" dirty="0">
                <a:latin typeface="Cambria"/>
                <a:cs typeface="Cambria"/>
              </a:rPr>
              <a:t>it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will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spc="25" dirty="0">
                <a:latin typeface="Cambria"/>
                <a:cs typeface="Cambria"/>
              </a:rPr>
              <a:t>produce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HelloWorld.class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i.e.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30" dirty="0">
                <a:latin typeface="Cambria"/>
                <a:cs typeface="Cambria"/>
              </a:rPr>
              <a:t>bytecode.</a:t>
            </a:r>
            <a:endParaRPr sz="18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490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80" dirty="0">
                <a:latin typeface="Cambria"/>
                <a:cs typeface="Cambria"/>
              </a:rPr>
              <a:t>c:&gt;java</a:t>
            </a:r>
            <a:r>
              <a:rPr sz="2100" spc="85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HelloWorld</a:t>
            </a:r>
            <a:endParaRPr sz="2100">
              <a:latin typeface="Cambria"/>
              <a:cs typeface="Cambria"/>
            </a:endParaRPr>
          </a:p>
          <a:p>
            <a:pPr marL="927100" lvl="2" indent="-183515">
              <a:lnSpc>
                <a:spcPct val="100000"/>
              </a:lnSpc>
              <a:spcBef>
                <a:spcPts val="445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sz="1800" spc="114" dirty="0">
                <a:latin typeface="Cambria"/>
                <a:cs typeface="Cambria"/>
              </a:rPr>
              <a:t>It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runs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java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byte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code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15" dirty="0">
                <a:latin typeface="Cambria"/>
                <a:cs typeface="Cambria"/>
              </a:rPr>
              <a:t>on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native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machine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18929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420" dirty="0">
                <a:latin typeface="Cambria"/>
                <a:cs typeface="Cambria"/>
              </a:rPr>
              <a:t>JAVA</a:t>
            </a:r>
            <a:r>
              <a:rPr sz="3000" b="0" spc="70" dirty="0">
                <a:latin typeface="Cambria"/>
                <a:cs typeface="Cambria"/>
              </a:rPr>
              <a:t> </a:t>
            </a:r>
            <a:r>
              <a:rPr sz="3000" b="0" spc="340" dirty="0">
                <a:latin typeface="Cambria"/>
                <a:cs typeface="Cambria"/>
              </a:rPr>
              <a:t>IDE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7970" y="1676400"/>
            <a:ext cx="8608060" cy="42473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marR="5080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35" dirty="0">
                <a:latin typeface="Cambria"/>
                <a:cs typeface="Cambria"/>
              </a:rPr>
              <a:t>Creating,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Compiling, </a:t>
            </a:r>
            <a:r>
              <a:rPr sz="2400" spc="105" dirty="0">
                <a:latin typeface="Cambria"/>
                <a:cs typeface="Cambria"/>
              </a:rPr>
              <a:t>Debugging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and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Execution 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for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these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four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steps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405" dirty="0">
                <a:latin typeface="Cambria"/>
                <a:cs typeface="Cambria"/>
              </a:rPr>
              <a:t>JDK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not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user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friendly.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270" dirty="0">
                <a:latin typeface="Cambria"/>
                <a:cs typeface="Cambria"/>
              </a:rPr>
              <a:t>IDE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is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provided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for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40" dirty="0">
                <a:latin typeface="Cambria"/>
                <a:cs typeface="Cambria"/>
              </a:rPr>
              <a:t>that.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235" dirty="0">
                <a:latin typeface="Cambria"/>
                <a:cs typeface="Cambria"/>
              </a:rPr>
              <a:t>A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list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of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225" dirty="0">
                <a:latin typeface="Cambria"/>
                <a:cs typeface="Cambria"/>
              </a:rPr>
              <a:t>IDEs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are:</a:t>
            </a:r>
            <a:endParaRPr sz="2400" dirty="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80" dirty="0">
                <a:latin typeface="Cambria"/>
                <a:cs typeface="Cambria"/>
              </a:rPr>
              <a:t>Eclipse</a:t>
            </a:r>
            <a:endParaRPr sz="2100" dirty="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00" dirty="0">
                <a:latin typeface="Cambria"/>
                <a:cs typeface="Cambria"/>
              </a:rPr>
              <a:t>Netbeans.</a:t>
            </a:r>
            <a:endParaRPr sz="2100" dirty="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45" dirty="0">
                <a:latin typeface="Cambria"/>
                <a:cs typeface="Cambria"/>
              </a:rPr>
              <a:t>IntelliJ</a:t>
            </a:r>
            <a:r>
              <a:rPr sz="2100" spc="80" dirty="0">
                <a:latin typeface="Cambria"/>
                <a:cs typeface="Cambria"/>
              </a:rPr>
              <a:t> </a:t>
            </a:r>
            <a:r>
              <a:rPr sz="2100" spc="225" dirty="0">
                <a:latin typeface="Cambria"/>
                <a:cs typeface="Cambria"/>
              </a:rPr>
              <a:t>IDEA</a:t>
            </a:r>
            <a:endParaRPr lang="en-GB" sz="2100" spc="225" dirty="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endParaRPr lang="en-US" sz="2100" spc="225" dirty="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endParaRPr lang="en-US" sz="2100" spc="225" dirty="0">
              <a:latin typeface="Cambria"/>
              <a:cs typeface="Cambria"/>
            </a:endParaRPr>
          </a:p>
          <a:p>
            <a:pPr marL="379095" lvl="1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tabLst>
                <a:tab pos="652780" algn="l"/>
                <a:tab pos="653415" algn="l"/>
              </a:tabLst>
            </a:pPr>
            <a:r>
              <a:rPr lang="en-US" sz="2100" spc="225" dirty="0">
                <a:latin typeface="Cambria"/>
                <a:cs typeface="Cambria"/>
              </a:rPr>
              <a:t>You can install IntelliJ IDEA using the tutorial:</a:t>
            </a:r>
          </a:p>
          <a:p>
            <a:pPr marL="379095" lvl="1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tabLst>
                <a:tab pos="652780" algn="l"/>
                <a:tab pos="653415" algn="l"/>
              </a:tabLst>
            </a:pPr>
            <a:r>
              <a:rPr lang="en-US" sz="2400" dirty="0">
                <a:hlinkClick r:id="rId2"/>
              </a:rPr>
              <a:t>How to Install </a:t>
            </a:r>
            <a:r>
              <a:rPr lang="en-US" sz="2400" dirty="0" err="1">
                <a:hlinkClick r:id="rId2"/>
              </a:rPr>
              <a:t>Intellij</a:t>
            </a:r>
            <a:r>
              <a:rPr lang="en-US" sz="2400" dirty="0">
                <a:hlinkClick r:id="rId2"/>
              </a:rPr>
              <a:t> IDEA on Windows 10 + Creating First Hello World Java Application (youtube.com)</a:t>
            </a:r>
            <a:endParaRPr lang="en-US" sz="2100" spc="225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4715"/>
            <a:ext cx="51187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45" dirty="0"/>
              <a:t>A</a:t>
            </a:r>
            <a:r>
              <a:rPr spc="345" dirty="0"/>
              <a:t>N</a:t>
            </a:r>
            <a:r>
              <a:rPr spc="290" dirty="0"/>
              <a:t> </a:t>
            </a:r>
            <a:r>
              <a:rPr sz="3000" spc="360" dirty="0"/>
              <a:t>E</a:t>
            </a:r>
            <a:r>
              <a:rPr spc="360" dirty="0"/>
              <a:t>XAMPLE</a:t>
            </a:r>
            <a:r>
              <a:rPr spc="310" dirty="0"/>
              <a:t> </a:t>
            </a:r>
            <a:r>
              <a:rPr sz="3000" spc="350" dirty="0"/>
              <a:t>H</a:t>
            </a:r>
            <a:r>
              <a:rPr spc="350" dirty="0"/>
              <a:t>ELLO</a:t>
            </a:r>
            <a:r>
              <a:rPr sz="3000" spc="350" dirty="0"/>
              <a:t>W</a:t>
            </a:r>
            <a:r>
              <a:rPr spc="350" dirty="0"/>
              <a:t>ORLD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2763"/>
            <a:ext cx="5086350" cy="288861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400" spc="60" dirty="0">
                <a:latin typeface="Cambria"/>
                <a:cs typeface="Cambria"/>
              </a:rPr>
              <a:t>public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class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HelloWorldExample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spc="-135" dirty="0">
                <a:latin typeface="Cambria"/>
                <a:cs typeface="Cambria"/>
              </a:rPr>
              <a:t>{</a:t>
            </a:r>
            <a:endParaRPr sz="24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505"/>
              </a:spcBef>
            </a:pPr>
            <a:r>
              <a:rPr sz="2100" spc="55" dirty="0">
                <a:latin typeface="Cambria"/>
                <a:cs typeface="Cambria"/>
              </a:rPr>
              <a:t>public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static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25" dirty="0">
                <a:latin typeface="Cambria"/>
                <a:cs typeface="Cambria"/>
              </a:rPr>
              <a:t>void</a:t>
            </a:r>
            <a:r>
              <a:rPr sz="2100" spc="100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main(</a:t>
            </a:r>
            <a:r>
              <a:rPr sz="2100" spc="120" dirty="0">
                <a:latin typeface="Cambria"/>
                <a:cs typeface="Cambria"/>
              </a:rPr>
              <a:t> String </a:t>
            </a:r>
            <a:r>
              <a:rPr sz="2100" spc="40" dirty="0">
                <a:latin typeface="Cambria"/>
                <a:cs typeface="Cambria"/>
              </a:rPr>
              <a:t>args[]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-105" dirty="0">
                <a:latin typeface="Cambria"/>
                <a:cs typeface="Cambria"/>
              </a:rPr>
              <a:t>)</a:t>
            </a:r>
            <a:endParaRPr sz="21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505"/>
              </a:spcBef>
            </a:pPr>
            <a:r>
              <a:rPr sz="2100" spc="-114" dirty="0">
                <a:latin typeface="Cambria"/>
                <a:cs typeface="Cambria"/>
              </a:rPr>
              <a:t>{</a:t>
            </a:r>
            <a:endParaRPr sz="21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505"/>
              </a:spcBef>
            </a:pPr>
            <a:r>
              <a:rPr sz="2100" spc="80" dirty="0">
                <a:latin typeface="Cambria"/>
                <a:cs typeface="Cambria"/>
              </a:rPr>
              <a:t>System.out.println("Hello</a:t>
            </a:r>
            <a:r>
              <a:rPr sz="2100" spc="100" dirty="0">
                <a:latin typeface="Cambria"/>
                <a:cs typeface="Cambria"/>
              </a:rPr>
              <a:t> </a:t>
            </a:r>
            <a:r>
              <a:rPr sz="2100" spc="20" dirty="0">
                <a:latin typeface="Cambria"/>
                <a:cs typeface="Cambria"/>
              </a:rPr>
              <a:t>World");</a:t>
            </a:r>
            <a:endParaRPr sz="21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505"/>
              </a:spcBef>
            </a:pPr>
            <a:r>
              <a:rPr sz="2100" spc="-114" dirty="0">
                <a:latin typeface="Cambria"/>
                <a:cs typeface="Cambria"/>
              </a:rPr>
              <a:t>}</a:t>
            </a:r>
            <a:endParaRPr sz="2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spc="-135" dirty="0">
                <a:latin typeface="Cambria"/>
                <a:cs typeface="Cambria"/>
              </a:rPr>
              <a:t>}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37210"/>
            <a:ext cx="530352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spc="430" dirty="0"/>
              <a:t>J</a:t>
            </a:r>
            <a:r>
              <a:rPr spc="430" dirty="0"/>
              <a:t>AVA</a:t>
            </a:r>
            <a:r>
              <a:rPr spc="330" dirty="0"/>
              <a:t> </a:t>
            </a:r>
            <a:r>
              <a:rPr sz="3000" spc="409" dirty="0"/>
              <a:t>S</a:t>
            </a:r>
            <a:r>
              <a:rPr spc="409" dirty="0"/>
              <a:t>OURCE</a:t>
            </a:r>
            <a:r>
              <a:rPr spc="295" dirty="0"/>
              <a:t> </a:t>
            </a:r>
            <a:r>
              <a:rPr sz="3000" spc="420" dirty="0"/>
              <a:t>C</a:t>
            </a:r>
            <a:r>
              <a:rPr spc="420" dirty="0"/>
              <a:t>ODE</a:t>
            </a:r>
            <a:r>
              <a:rPr spc="320" dirty="0"/>
              <a:t> </a:t>
            </a:r>
            <a:r>
              <a:rPr sz="3000" spc="345" dirty="0"/>
              <a:t>N</a:t>
            </a:r>
            <a:r>
              <a:rPr spc="345" dirty="0"/>
              <a:t>AMING </a:t>
            </a:r>
            <a:r>
              <a:rPr spc="-515" dirty="0"/>
              <a:t> </a:t>
            </a:r>
            <a:r>
              <a:rPr sz="3000" spc="350" dirty="0"/>
              <a:t>C</a:t>
            </a:r>
            <a:r>
              <a:rPr spc="350" dirty="0"/>
              <a:t>ONVENTIONS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4288"/>
            <a:ext cx="7214870" cy="369824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69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40" dirty="0">
                <a:latin typeface="Cambria"/>
                <a:cs typeface="Cambria"/>
              </a:rPr>
              <a:t>All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java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40" dirty="0">
                <a:latin typeface="Cambria"/>
                <a:cs typeface="Cambria"/>
              </a:rPr>
              <a:t>source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file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should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end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with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.java</a:t>
            </a:r>
            <a:endParaRPr sz="2400">
              <a:latin typeface="Cambria"/>
              <a:cs typeface="Cambria"/>
            </a:endParaRPr>
          </a:p>
          <a:p>
            <a:pPr marL="285115" marR="701040" indent="-273050">
              <a:lnSpc>
                <a:spcPct val="100000"/>
              </a:lnSpc>
              <a:spcBef>
                <a:spcPts val="58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60" dirty="0">
                <a:latin typeface="Cambria"/>
                <a:cs typeface="Cambria"/>
              </a:rPr>
              <a:t>Each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.java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file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can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contain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b="1" spc="145" dirty="0">
                <a:latin typeface="Cambria"/>
                <a:cs typeface="Cambria"/>
              </a:rPr>
              <a:t>only</a:t>
            </a:r>
            <a:r>
              <a:rPr sz="2400" b="1" spc="165" dirty="0">
                <a:latin typeface="Cambria"/>
                <a:cs typeface="Cambria"/>
              </a:rPr>
              <a:t> </a:t>
            </a:r>
            <a:r>
              <a:rPr sz="2400" b="1" spc="130" dirty="0">
                <a:latin typeface="Cambria"/>
                <a:cs typeface="Cambria"/>
              </a:rPr>
              <a:t>one</a:t>
            </a:r>
            <a:r>
              <a:rPr sz="2400" b="1" spc="160" dirty="0">
                <a:latin typeface="Cambria"/>
                <a:cs typeface="Cambria"/>
              </a:rPr>
              <a:t> </a:t>
            </a:r>
            <a:r>
              <a:rPr sz="2400" b="1" spc="150" dirty="0">
                <a:latin typeface="Cambria"/>
                <a:cs typeface="Cambria"/>
              </a:rPr>
              <a:t>public </a:t>
            </a:r>
            <a:r>
              <a:rPr sz="2400" b="1" spc="-509" dirty="0">
                <a:latin typeface="Cambria"/>
                <a:cs typeface="Cambria"/>
              </a:rPr>
              <a:t> </a:t>
            </a:r>
            <a:r>
              <a:rPr sz="2400" b="1" spc="135" dirty="0">
                <a:latin typeface="Cambria"/>
                <a:cs typeface="Cambria"/>
              </a:rPr>
              <a:t>class</a:t>
            </a:r>
            <a:endParaRPr sz="2400">
              <a:latin typeface="Cambria"/>
              <a:cs typeface="Cambria"/>
            </a:endParaRPr>
          </a:p>
          <a:p>
            <a:pPr marL="285115" marR="469265" indent="-273050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14" dirty="0">
                <a:latin typeface="Cambria"/>
                <a:cs typeface="Cambria"/>
              </a:rPr>
              <a:t>The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b="1" spc="160" dirty="0">
                <a:latin typeface="Cambria"/>
                <a:cs typeface="Cambria"/>
              </a:rPr>
              <a:t>name</a:t>
            </a:r>
            <a:r>
              <a:rPr sz="2400" b="1" spc="155" dirty="0">
                <a:latin typeface="Cambria"/>
                <a:cs typeface="Cambria"/>
              </a:rPr>
              <a:t> </a:t>
            </a:r>
            <a:r>
              <a:rPr sz="2400" b="1" spc="125" dirty="0">
                <a:latin typeface="Cambria"/>
                <a:cs typeface="Cambria"/>
              </a:rPr>
              <a:t>of</a:t>
            </a:r>
            <a:r>
              <a:rPr sz="2400" b="1" spc="160" dirty="0">
                <a:latin typeface="Cambria"/>
                <a:cs typeface="Cambria"/>
              </a:rPr>
              <a:t> </a:t>
            </a:r>
            <a:r>
              <a:rPr sz="2400" b="1" spc="150" dirty="0">
                <a:latin typeface="Cambria"/>
                <a:cs typeface="Cambria"/>
              </a:rPr>
              <a:t>the</a:t>
            </a:r>
            <a:r>
              <a:rPr sz="2400" b="1" spc="155" dirty="0">
                <a:latin typeface="Cambria"/>
                <a:cs typeface="Cambria"/>
              </a:rPr>
              <a:t> </a:t>
            </a:r>
            <a:r>
              <a:rPr sz="2400" b="1" spc="114" dirty="0">
                <a:latin typeface="Cambria"/>
                <a:cs typeface="Cambria"/>
              </a:rPr>
              <a:t>file</a:t>
            </a:r>
            <a:r>
              <a:rPr sz="2400" b="1" spc="14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should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be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b="1" spc="150" dirty="0">
                <a:latin typeface="Cambria"/>
                <a:cs typeface="Cambria"/>
              </a:rPr>
              <a:t>the</a:t>
            </a:r>
            <a:r>
              <a:rPr sz="2400" b="1" spc="155" dirty="0">
                <a:latin typeface="Cambria"/>
                <a:cs typeface="Cambria"/>
              </a:rPr>
              <a:t> </a:t>
            </a:r>
            <a:r>
              <a:rPr sz="2400" b="1" spc="160" dirty="0">
                <a:latin typeface="Cambria"/>
                <a:cs typeface="Cambria"/>
              </a:rPr>
              <a:t>name</a:t>
            </a:r>
            <a:r>
              <a:rPr sz="2400" b="1" spc="165" dirty="0">
                <a:latin typeface="Cambria"/>
                <a:cs typeface="Cambria"/>
              </a:rPr>
              <a:t> </a:t>
            </a:r>
            <a:r>
              <a:rPr sz="2400" b="1" spc="120" dirty="0">
                <a:latin typeface="Cambria"/>
                <a:cs typeface="Cambria"/>
              </a:rPr>
              <a:t>of </a:t>
            </a:r>
            <a:r>
              <a:rPr sz="2400" b="1" spc="-515" dirty="0">
                <a:latin typeface="Cambria"/>
                <a:cs typeface="Cambria"/>
              </a:rPr>
              <a:t> </a:t>
            </a:r>
            <a:r>
              <a:rPr sz="2400" b="1" spc="150" dirty="0">
                <a:latin typeface="Cambria"/>
                <a:cs typeface="Cambria"/>
              </a:rPr>
              <a:t>the</a:t>
            </a:r>
            <a:r>
              <a:rPr sz="2400" b="1" spc="155" dirty="0">
                <a:latin typeface="Cambria"/>
                <a:cs typeface="Cambria"/>
              </a:rPr>
              <a:t> public</a:t>
            </a:r>
            <a:r>
              <a:rPr sz="2400" b="1" spc="150" dirty="0">
                <a:latin typeface="Cambria"/>
                <a:cs typeface="Cambria"/>
              </a:rPr>
              <a:t> </a:t>
            </a:r>
            <a:r>
              <a:rPr sz="2400" b="1" spc="130" dirty="0">
                <a:latin typeface="Cambria"/>
                <a:cs typeface="Cambria"/>
              </a:rPr>
              <a:t>class</a:t>
            </a:r>
            <a:r>
              <a:rPr sz="2400" b="1" spc="15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plus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".java"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1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00" dirty="0">
                <a:latin typeface="Cambria"/>
                <a:cs typeface="Cambria"/>
              </a:rPr>
              <a:t>Do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not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use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abbreviations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in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name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of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class</a:t>
            </a:r>
            <a:endParaRPr sz="2400">
              <a:latin typeface="Cambria"/>
              <a:cs typeface="Cambria"/>
            </a:endParaRPr>
          </a:p>
          <a:p>
            <a:pPr marL="285115" marR="43180" indent="-273050">
              <a:lnSpc>
                <a:spcPct val="100200"/>
              </a:lnSpc>
              <a:spcBef>
                <a:spcPts val="58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30" dirty="0">
                <a:latin typeface="Cambria"/>
                <a:cs typeface="Cambria"/>
              </a:rPr>
              <a:t>If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the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class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name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contains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b="1" spc="140" dirty="0">
                <a:latin typeface="Cambria"/>
                <a:cs typeface="Cambria"/>
              </a:rPr>
              <a:t>multiple</a:t>
            </a:r>
            <a:r>
              <a:rPr sz="2400" b="1" spc="175" dirty="0">
                <a:latin typeface="Cambria"/>
                <a:cs typeface="Cambria"/>
              </a:rPr>
              <a:t> </a:t>
            </a:r>
            <a:r>
              <a:rPr sz="2400" b="1" spc="140" dirty="0">
                <a:latin typeface="Cambria"/>
                <a:cs typeface="Cambria"/>
              </a:rPr>
              <a:t>words</a:t>
            </a:r>
            <a:r>
              <a:rPr sz="2400" b="1" spc="14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then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b="1" spc="140" dirty="0">
                <a:latin typeface="Cambria"/>
                <a:cs typeface="Cambria"/>
              </a:rPr>
              <a:t>capitalize</a:t>
            </a:r>
            <a:r>
              <a:rPr sz="2400" b="1" spc="170" dirty="0">
                <a:latin typeface="Cambria"/>
                <a:cs typeface="Cambria"/>
              </a:rPr>
              <a:t> </a:t>
            </a:r>
            <a:r>
              <a:rPr sz="2400" b="1" spc="150" dirty="0">
                <a:latin typeface="Cambria"/>
                <a:cs typeface="Cambria"/>
              </a:rPr>
              <a:t>the</a:t>
            </a:r>
            <a:r>
              <a:rPr sz="2400" b="1" spc="160" dirty="0">
                <a:latin typeface="Cambria"/>
                <a:cs typeface="Cambria"/>
              </a:rPr>
              <a:t> </a:t>
            </a:r>
            <a:r>
              <a:rPr sz="2400" b="1" spc="130" dirty="0">
                <a:latin typeface="Cambria"/>
                <a:cs typeface="Cambria"/>
              </a:rPr>
              <a:t>first</a:t>
            </a:r>
            <a:r>
              <a:rPr sz="2400" b="1" spc="160" dirty="0">
                <a:latin typeface="Cambria"/>
                <a:cs typeface="Cambria"/>
              </a:rPr>
              <a:t> </a:t>
            </a:r>
            <a:r>
              <a:rPr sz="2400" b="1" spc="114" dirty="0">
                <a:latin typeface="Cambria"/>
                <a:cs typeface="Cambria"/>
              </a:rPr>
              <a:t>letter</a:t>
            </a:r>
            <a:r>
              <a:rPr sz="2400" b="1" spc="165" dirty="0">
                <a:latin typeface="Cambria"/>
                <a:cs typeface="Cambria"/>
              </a:rPr>
              <a:t> </a:t>
            </a:r>
            <a:r>
              <a:rPr sz="2400" b="1" spc="125" dirty="0">
                <a:latin typeface="Cambria"/>
                <a:cs typeface="Cambria"/>
              </a:rPr>
              <a:t>of</a:t>
            </a:r>
            <a:r>
              <a:rPr sz="2400" b="1" spc="165" dirty="0">
                <a:latin typeface="Cambria"/>
                <a:cs typeface="Cambria"/>
              </a:rPr>
              <a:t> </a:t>
            </a:r>
            <a:r>
              <a:rPr sz="2400" b="1" spc="170" dirty="0">
                <a:latin typeface="Cambria"/>
                <a:cs typeface="Cambria"/>
              </a:rPr>
              <a:t>each</a:t>
            </a:r>
            <a:r>
              <a:rPr sz="2400" b="1" spc="155" dirty="0">
                <a:latin typeface="Cambria"/>
                <a:cs typeface="Cambria"/>
              </a:rPr>
              <a:t> </a:t>
            </a:r>
            <a:r>
              <a:rPr sz="2400" b="1" spc="150" dirty="0">
                <a:latin typeface="Cambria"/>
                <a:cs typeface="Cambria"/>
              </a:rPr>
              <a:t>word</a:t>
            </a:r>
            <a:r>
              <a:rPr sz="2400" b="1" spc="16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ex. 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HelloWorld.java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8207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305" dirty="0">
                <a:latin typeface="Cambria"/>
                <a:cs typeface="Cambria"/>
              </a:rPr>
              <a:t>N</a:t>
            </a:r>
            <a:r>
              <a:rPr b="0" spc="305" dirty="0">
                <a:latin typeface="Cambria"/>
                <a:cs typeface="Cambria"/>
              </a:rPr>
              <a:t>AMING</a:t>
            </a:r>
            <a:r>
              <a:rPr b="0" spc="260" dirty="0">
                <a:latin typeface="Cambria"/>
                <a:cs typeface="Cambria"/>
              </a:rPr>
              <a:t> </a:t>
            </a:r>
            <a:r>
              <a:rPr sz="3000" b="0" spc="300" dirty="0">
                <a:latin typeface="Cambria"/>
                <a:cs typeface="Cambria"/>
              </a:rPr>
              <a:t>C</a:t>
            </a:r>
            <a:r>
              <a:rPr b="0" spc="300" dirty="0">
                <a:latin typeface="Cambria"/>
                <a:cs typeface="Cambria"/>
              </a:rPr>
              <a:t>ONVENTION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52555"/>
            <a:ext cx="7219950" cy="429768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69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i="1" spc="195" dirty="0">
                <a:latin typeface="Cambria"/>
                <a:cs typeface="Cambria"/>
              </a:rPr>
              <a:t>Class</a:t>
            </a:r>
            <a:r>
              <a:rPr sz="2400" i="1" spc="80" dirty="0">
                <a:latin typeface="Cambria"/>
                <a:cs typeface="Cambria"/>
              </a:rPr>
              <a:t> </a:t>
            </a:r>
            <a:r>
              <a:rPr sz="2400" i="1" spc="175" dirty="0">
                <a:latin typeface="Cambria"/>
                <a:cs typeface="Cambria"/>
              </a:rPr>
              <a:t>Naming</a:t>
            </a:r>
            <a:endParaRPr sz="24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1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i="1" spc="155" dirty="0">
                <a:latin typeface="Cambria"/>
                <a:cs typeface="Cambria"/>
              </a:rPr>
              <a:t>Uses</a:t>
            </a:r>
            <a:r>
              <a:rPr sz="2100" i="1" spc="120" dirty="0">
                <a:latin typeface="Cambria"/>
                <a:cs typeface="Cambria"/>
              </a:rPr>
              <a:t> </a:t>
            </a:r>
            <a:r>
              <a:rPr sz="2100" i="1" spc="110" dirty="0">
                <a:latin typeface="Cambria"/>
                <a:cs typeface="Cambria"/>
              </a:rPr>
              <a:t>Capitalized</a:t>
            </a:r>
            <a:r>
              <a:rPr sz="2100" i="1" spc="135" dirty="0">
                <a:latin typeface="Cambria"/>
                <a:cs typeface="Cambria"/>
              </a:rPr>
              <a:t> </a:t>
            </a:r>
            <a:r>
              <a:rPr sz="2100" i="1" spc="45" dirty="0">
                <a:latin typeface="Cambria"/>
                <a:cs typeface="Cambria"/>
              </a:rPr>
              <a:t>word(s)</a:t>
            </a:r>
            <a:r>
              <a:rPr sz="2100" i="1" spc="125" dirty="0">
                <a:latin typeface="Cambria"/>
                <a:cs typeface="Cambria"/>
              </a:rPr>
              <a:t> </a:t>
            </a:r>
            <a:r>
              <a:rPr sz="2100" i="1" spc="105" dirty="0">
                <a:latin typeface="Cambria"/>
                <a:cs typeface="Cambria"/>
              </a:rPr>
              <a:t>i.e.</a:t>
            </a:r>
            <a:r>
              <a:rPr sz="2100" i="1" spc="140" dirty="0">
                <a:latin typeface="Cambria"/>
                <a:cs typeface="Cambria"/>
              </a:rPr>
              <a:t> </a:t>
            </a:r>
            <a:r>
              <a:rPr sz="2100" i="1" spc="90" dirty="0">
                <a:latin typeface="Cambria"/>
                <a:cs typeface="Cambria"/>
              </a:rPr>
              <a:t>Title</a:t>
            </a:r>
            <a:r>
              <a:rPr sz="2100" i="1" spc="120" dirty="0">
                <a:latin typeface="Cambria"/>
                <a:cs typeface="Cambria"/>
              </a:rPr>
              <a:t> </a:t>
            </a:r>
            <a:r>
              <a:rPr sz="2100" i="1" spc="55" dirty="0">
                <a:latin typeface="Cambria"/>
                <a:cs typeface="Cambria"/>
              </a:rPr>
              <a:t>case</a:t>
            </a:r>
            <a:endParaRPr sz="21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90" dirty="0">
                <a:latin typeface="Cambria"/>
                <a:cs typeface="Cambria"/>
              </a:rPr>
              <a:t>Examples:-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HelloWorld,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145" dirty="0">
                <a:latin typeface="Cambria"/>
                <a:cs typeface="Cambria"/>
              </a:rPr>
              <a:t>MyList,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125" dirty="0">
                <a:latin typeface="Cambria"/>
                <a:cs typeface="Cambria"/>
              </a:rPr>
              <a:t>StudentMark</a:t>
            </a:r>
            <a:endParaRPr sz="21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59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i="1" spc="120" dirty="0">
                <a:latin typeface="Cambria"/>
                <a:cs typeface="Cambria"/>
              </a:rPr>
              <a:t>Variable</a:t>
            </a:r>
            <a:r>
              <a:rPr sz="2400" i="1" spc="95" dirty="0">
                <a:latin typeface="Cambria"/>
                <a:cs typeface="Cambria"/>
              </a:rPr>
              <a:t> </a:t>
            </a:r>
            <a:r>
              <a:rPr sz="2400" i="1" spc="165" dirty="0">
                <a:latin typeface="Cambria"/>
                <a:cs typeface="Cambria"/>
              </a:rPr>
              <a:t>and</a:t>
            </a:r>
            <a:r>
              <a:rPr sz="2400" i="1" spc="100" dirty="0">
                <a:latin typeface="Cambria"/>
                <a:cs typeface="Cambria"/>
              </a:rPr>
              <a:t> </a:t>
            </a:r>
            <a:r>
              <a:rPr sz="2400" i="1" spc="90" dirty="0">
                <a:latin typeface="Cambria"/>
                <a:cs typeface="Cambria"/>
              </a:rPr>
              <a:t>method</a:t>
            </a:r>
            <a:r>
              <a:rPr sz="2400" i="1" spc="120" dirty="0">
                <a:latin typeface="Cambria"/>
                <a:cs typeface="Cambria"/>
              </a:rPr>
              <a:t> </a:t>
            </a:r>
            <a:r>
              <a:rPr sz="2400" i="1" spc="125" dirty="0">
                <a:latin typeface="Cambria"/>
                <a:cs typeface="Cambria"/>
              </a:rPr>
              <a:t>names</a:t>
            </a:r>
            <a:endParaRPr sz="2400">
              <a:latin typeface="Cambria"/>
              <a:cs typeface="Cambria"/>
            </a:endParaRPr>
          </a:p>
          <a:p>
            <a:pPr marL="652780" marR="5080" lvl="1" indent="-273685">
              <a:lnSpc>
                <a:spcPct val="100000"/>
              </a:lnSpc>
              <a:spcBef>
                <a:spcPts val="51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90" dirty="0">
                <a:latin typeface="Cambria"/>
                <a:cs typeface="Cambria"/>
              </a:rPr>
              <a:t>starts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with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140" dirty="0">
                <a:latin typeface="Cambria"/>
                <a:cs typeface="Cambria"/>
              </a:rPr>
              <a:t>a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40" dirty="0">
                <a:latin typeface="Cambria"/>
                <a:cs typeface="Cambria"/>
              </a:rPr>
              <a:t>lowercase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letter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and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after</a:t>
            </a:r>
            <a:r>
              <a:rPr sz="2100" spc="114" dirty="0">
                <a:latin typeface="Cambria"/>
                <a:cs typeface="Cambria"/>
              </a:rPr>
              <a:t> that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use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Title </a:t>
            </a:r>
            <a:r>
              <a:rPr sz="2100" spc="-450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case</a:t>
            </a:r>
            <a:endParaRPr sz="2100">
              <a:latin typeface="Cambria"/>
              <a:cs typeface="Cambria"/>
            </a:endParaRPr>
          </a:p>
          <a:p>
            <a:pPr marL="652780" marR="77851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90" dirty="0">
                <a:latin typeface="Cambria"/>
                <a:cs typeface="Cambria"/>
              </a:rPr>
              <a:t>Examples:- </a:t>
            </a:r>
            <a:r>
              <a:rPr sz="2100" spc="95" dirty="0">
                <a:latin typeface="Cambria"/>
                <a:cs typeface="Cambria"/>
              </a:rPr>
              <a:t>variableAndMethodNames, </a:t>
            </a:r>
            <a:r>
              <a:rPr sz="2100" spc="114" dirty="0">
                <a:latin typeface="Cambria"/>
                <a:cs typeface="Cambria"/>
              </a:rPr>
              <a:t>aFloat, </a:t>
            </a:r>
            <a:r>
              <a:rPr sz="2100" spc="-450" dirty="0">
                <a:latin typeface="Cambria"/>
                <a:cs typeface="Cambria"/>
              </a:rPr>
              <a:t> </a:t>
            </a:r>
            <a:r>
              <a:rPr sz="2100" spc="100" dirty="0">
                <a:latin typeface="Cambria"/>
                <a:cs typeface="Cambria"/>
              </a:rPr>
              <a:t>studentName</a:t>
            </a:r>
            <a:endParaRPr sz="21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59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i="1" spc="155" dirty="0">
                <a:latin typeface="Cambria"/>
                <a:cs typeface="Cambria"/>
              </a:rPr>
              <a:t>Names</a:t>
            </a:r>
            <a:r>
              <a:rPr sz="2400" i="1" spc="90" dirty="0">
                <a:latin typeface="Cambria"/>
                <a:cs typeface="Cambria"/>
              </a:rPr>
              <a:t> </a:t>
            </a:r>
            <a:r>
              <a:rPr sz="2400" i="1" spc="40" dirty="0">
                <a:latin typeface="Cambria"/>
                <a:cs typeface="Cambria"/>
              </a:rPr>
              <a:t>of</a:t>
            </a:r>
            <a:r>
              <a:rPr sz="2400" i="1" spc="120" dirty="0">
                <a:latin typeface="Cambria"/>
                <a:cs typeface="Cambria"/>
              </a:rPr>
              <a:t> </a:t>
            </a:r>
            <a:r>
              <a:rPr sz="2400" i="1" spc="85" dirty="0">
                <a:latin typeface="Cambria"/>
                <a:cs typeface="Cambria"/>
              </a:rPr>
              <a:t>constants</a:t>
            </a:r>
            <a:endParaRPr sz="24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20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25" dirty="0">
                <a:latin typeface="Cambria"/>
                <a:cs typeface="Cambria"/>
              </a:rPr>
              <a:t>All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are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capital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letters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and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separated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40" dirty="0">
                <a:latin typeface="Cambria"/>
                <a:cs typeface="Cambria"/>
              </a:rPr>
              <a:t>by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underscore.</a:t>
            </a:r>
            <a:endParaRPr sz="21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05" dirty="0">
                <a:latin typeface="Cambria"/>
                <a:cs typeface="Cambria"/>
              </a:rPr>
              <a:t>Example:</a:t>
            </a:r>
            <a:r>
              <a:rPr sz="2100" spc="90" dirty="0">
                <a:latin typeface="Cambria"/>
                <a:cs typeface="Cambria"/>
              </a:rPr>
              <a:t> </a:t>
            </a:r>
            <a:r>
              <a:rPr sz="2100" spc="254" dirty="0">
                <a:latin typeface="Cambria"/>
                <a:cs typeface="Cambria"/>
              </a:rPr>
              <a:t>NAMES_OF_CONSTANTS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3986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370" dirty="0">
                <a:latin typeface="Cambria"/>
                <a:cs typeface="Cambria"/>
              </a:rPr>
              <a:t>J</a:t>
            </a:r>
            <a:r>
              <a:rPr b="0" spc="370" dirty="0">
                <a:latin typeface="Cambria"/>
                <a:cs typeface="Cambria"/>
              </a:rPr>
              <a:t>AVA</a:t>
            </a:r>
            <a:r>
              <a:rPr b="0" spc="290" dirty="0">
                <a:latin typeface="Cambria"/>
                <a:cs typeface="Cambria"/>
              </a:rPr>
              <a:t> </a:t>
            </a:r>
            <a:r>
              <a:rPr sz="3000" b="0" spc="270" dirty="0">
                <a:latin typeface="Cambria"/>
                <a:cs typeface="Cambria"/>
              </a:rPr>
              <a:t>I</a:t>
            </a:r>
            <a:r>
              <a:rPr b="0" spc="270" dirty="0">
                <a:latin typeface="Cambria"/>
                <a:cs typeface="Cambria"/>
              </a:rPr>
              <a:t>DENTIFIERS</a:t>
            </a:r>
            <a:r>
              <a:rPr b="0" spc="295" dirty="0">
                <a:latin typeface="Cambria"/>
                <a:cs typeface="Cambria"/>
              </a:rPr>
              <a:t> </a:t>
            </a:r>
            <a:r>
              <a:rPr sz="3000" b="0" spc="335" dirty="0">
                <a:latin typeface="Cambria"/>
                <a:cs typeface="Cambria"/>
              </a:rPr>
              <a:t>R</a:t>
            </a:r>
            <a:r>
              <a:rPr b="0" spc="335" dirty="0">
                <a:latin typeface="Cambria"/>
                <a:cs typeface="Cambria"/>
              </a:rPr>
              <a:t>ULES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205980" cy="41036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80" dirty="0">
                <a:latin typeface="Cambria"/>
                <a:cs typeface="Cambria"/>
              </a:rPr>
              <a:t>Identifier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is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name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given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variable,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class,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or</a:t>
            </a:r>
          </a:p>
          <a:p>
            <a:pPr marL="285115">
              <a:lnSpc>
                <a:spcPct val="100000"/>
              </a:lnSpc>
            </a:pPr>
            <a:r>
              <a:rPr sz="2400" spc="75" dirty="0">
                <a:latin typeface="Cambria"/>
                <a:cs typeface="Cambria"/>
              </a:rPr>
              <a:t>method.</a:t>
            </a:r>
            <a:endParaRPr sz="2400" dirty="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245" dirty="0">
                <a:latin typeface="Cambria"/>
                <a:cs typeface="Cambria"/>
              </a:rPr>
              <a:t>Java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identifier</a:t>
            </a:r>
            <a:endParaRPr sz="2400" dirty="0">
              <a:latin typeface="Cambria"/>
              <a:cs typeface="Cambria"/>
            </a:endParaRPr>
          </a:p>
          <a:p>
            <a:pPr marL="652780" marR="9652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90" dirty="0">
                <a:latin typeface="Cambria"/>
                <a:cs typeface="Cambria"/>
              </a:rPr>
              <a:t>Can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contain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letter,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number,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45" dirty="0">
                <a:latin typeface="Cambria"/>
                <a:cs typeface="Cambria"/>
              </a:rPr>
              <a:t>underscore</a:t>
            </a:r>
            <a:r>
              <a:rPr sz="2100" spc="160" dirty="0">
                <a:latin typeface="Cambria"/>
                <a:cs typeface="Cambria"/>
              </a:rPr>
              <a:t> </a:t>
            </a:r>
            <a:r>
              <a:rPr sz="2100" spc="50" dirty="0">
                <a:latin typeface="Cambria"/>
                <a:cs typeface="Cambria"/>
              </a:rPr>
              <a:t>(_),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-5" dirty="0">
                <a:latin typeface="Cambria"/>
                <a:cs typeface="Cambria"/>
              </a:rPr>
              <a:t>or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dollar </a:t>
            </a:r>
            <a:r>
              <a:rPr sz="2100" spc="-445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sign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10" dirty="0">
                <a:latin typeface="Cambria"/>
                <a:cs typeface="Cambria"/>
              </a:rPr>
              <a:t>($).</a:t>
            </a:r>
            <a:endParaRPr sz="2100" dirty="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20" dirty="0">
                <a:latin typeface="Cambria"/>
                <a:cs typeface="Cambria"/>
              </a:rPr>
              <a:t>Cannot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95" dirty="0">
                <a:latin typeface="Cambria"/>
                <a:cs typeface="Cambria"/>
              </a:rPr>
              <a:t>start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with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number.</a:t>
            </a:r>
            <a:endParaRPr sz="2100" dirty="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70" dirty="0">
                <a:latin typeface="Cambria"/>
                <a:cs typeface="Cambria"/>
              </a:rPr>
              <a:t>Identifiers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are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case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sensitive</a:t>
            </a:r>
            <a:r>
              <a:rPr lang="en-GB" sz="2100" spc="70" dirty="0">
                <a:latin typeface="Cambria"/>
                <a:cs typeface="Cambria"/>
              </a:rPr>
              <a:t>(var and Var both can be declared in a program)</a:t>
            </a:r>
            <a:endParaRPr sz="2100" dirty="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85" dirty="0">
                <a:latin typeface="Cambria"/>
                <a:cs typeface="Cambria"/>
              </a:rPr>
              <a:t>have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20" dirty="0">
                <a:latin typeface="Cambria"/>
                <a:cs typeface="Cambria"/>
              </a:rPr>
              <a:t>no</a:t>
            </a:r>
            <a:r>
              <a:rPr sz="2100" spc="110" dirty="0">
                <a:latin typeface="Cambria"/>
                <a:cs typeface="Cambria"/>
              </a:rPr>
              <a:t> maximum</a:t>
            </a:r>
            <a:r>
              <a:rPr sz="2100" spc="95" dirty="0">
                <a:latin typeface="Cambria"/>
                <a:cs typeface="Cambria"/>
              </a:rPr>
              <a:t> </a:t>
            </a:r>
            <a:r>
              <a:rPr sz="2100" spc="100" dirty="0">
                <a:latin typeface="Cambria"/>
                <a:cs typeface="Cambria"/>
              </a:rPr>
              <a:t>length.</a:t>
            </a:r>
            <a:endParaRPr sz="2100" dirty="0">
              <a:latin typeface="Cambria"/>
              <a:cs typeface="Cambria"/>
            </a:endParaRPr>
          </a:p>
          <a:p>
            <a:pPr marL="652780" marR="50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65" dirty="0">
                <a:latin typeface="Cambria"/>
                <a:cs typeface="Cambria"/>
              </a:rPr>
              <a:t>cannot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be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140" dirty="0">
                <a:latin typeface="Cambria"/>
                <a:cs typeface="Cambria"/>
              </a:rPr>
              <a:t>a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50" dirty="0">
                <a:latin typeface="Cambria"/>
                <a:cs typeface="Cambria"/>
              </a:rPr>
              <a:t>keyword,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but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it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can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contain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140" dirty="0">
                <a:latin typeface="Cambria"/>
                <a:cs typeface="Cambria"/>
              </a:rPr>
              <a:t>a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40" dirty="0">
                <a:latin typeface="Cambria"/>
                <a:cs typeface="Cambria"/>
              </a:rPr>
              <a:t>keyword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100" dirty="0">
                <a:latin typeface="Cambria"/>
                <a:cs typeface="Cambria"/>
              </a:rPr>
              <a:t>as </a:t>
            </a:r>
            <a:r>
              <a:rPr sz="2100" spc="-45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part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-5" dirty="0">
                <a:latin typeface="Cambria"/>
                <a:cs typeface="Cambria"/>
              </a:rPr>
              <a:t>of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its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110" dirty="0">
                <a:latin typeface="Cambria"/>
                <a:cs typeface="Cambria"/>
              </a:rPr>
              <a:t>name.</a:t>
            </a:r>
            <a:endParaRPr sz="21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09600" y="685800"/>
            <a:ext cx="7160260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Arial" panose="020B0604020202020204" pitchFamily="34" charset="0"/>
              <a:buChar char="•"/>
              <a:tabLst>
                <a:tab pos="285750" algn="l"/>
              </a:tabLst>
            </a:pPr>
            <a:r>
              <a:rPr lang="en-GB" sz="2800" dirty="0">
                <a:latin typeface="Cambria"/>
                <a:cs typeface="Cambria"/>
              </a:rPr>
              <a:t>Write down whether the following identifiers are valid or not</a:t>
            </a: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5A7EDA04-25EA-CE3A-FBCB-D0BCBD4DA4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441181"/>
              </p:ext>
            </p:extLst>
          </p:nvPr>
        </p:nvGraphicFramePr>
        <p:xfrm>
          <a:off x="457200" y="2057400"/>
          <a:ext cx="8227059" cy="3337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4280185142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339502185"/>
                    </a:ext>
                  </a:extLst>
                </a:gridCol>
                <a:gridCol w="4264659">
                  <a:extLst>
                    <a:ext uri="{9D8B030D-6E8A-4147-A177-3AD203B41FA5}">
                      <a16:colId xmlns:a16="http://schemas.microsoft.com/office/drawing/2014/main" val="34428333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Name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Valid/invalid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comment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1866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myVar</a:t>
                      </a:r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#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9733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myVar</a:t>
                      </a:r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$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342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$</a:t>
                      </a:r>
                      <a:r>
                        <a:rPr lang="en-GB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myVar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4932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final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7491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static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3340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finalVar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3017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1num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96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main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71389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17799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09600" y="685800"/>
            <a:ext cx="7160260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Arial" panose="020B0604020202020204" pitchFamily="34" charset="0"/>
              <a:buChar char="•"/>
              <a:tabLst>
                <a:tab pos="285750" algn="l"/>
              </a:tabLst>
            </a:pPr>
            <a:r>
              <a:rPr lang="en-GB" sz="2800" dirty="0">
                <a:latin typeface="Cambria"/>
                <a:cs typeface="Cambria"/>
              </a:rPr>
              <a:t>Write down whether the following identifiers are valid or not</a:t>
            </a: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5A7EDA04-25EA-CE3A-FBCB-D0BCBD4DA40A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057400"/>
          <a:ext cx="8227059" cy="3337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4280185142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339502185"/>
                    </a:ext>
                  </a:extLst>
                </a:gridCol>
                <a:gridCol w="4264659">
                  <a:extLst>
                    <a:ext uri="{9D8B030D-6E8A-4147-A177-3AD203B41FA5}">
                      <a16:colId xmlns:a16="http://schemas.microsoft.com/office/drawing/2014/main" val="34428333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Name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Valid/invalid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comment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1866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myVar</a:t>
                      </a:r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#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invalid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# is not allowed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9733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myVar</a:t>
                      </a:r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$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valid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342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$</a:t>
                      </a:r>
                      <a:r>
                        <a:rPr lang="en-GB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myVar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valid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4932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final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invalid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keyword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7491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static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invalid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keyword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3340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finalVar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valid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Can contain keyword as a part of name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3017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1num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invalid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Cannot starts with number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96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main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valid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Not a keyword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71389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56955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7817E-B382-A354-05C8-1DB8C9549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415" y="3048000"/>
            <a:ext cx="6805168" cy="492443"/>
          </a:xfrm>
        </p:spPr>
        <p:txBody>
          <a:bodyPr/>
          <a:lstStyle/>
          <a:p>
            <a:pPr algn="ctr"/>
            <a:r>
              <a:rPr lang="en-US" sz="32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96135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Words>950</Words>
  <Application>Microsoft Office PowerPoint</Application>
  <PresentationFormat>On-screen Show (4:3)</PresentationFormat>
  <Paragraphs>164</Paragraphs>
  <Slides>19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Cambria</vt:lpstr>
      <vt:lpstr>Segoe UI Symbol</vt:lpstr>
      <vt:lpstr>Wingdings</vt:lpstr>
      <vt:lpstr>Office Theme</vt:lpstr>
      <vt:lpstr>INTRODUCTION TO OOP USING JAVA  </vt:lpstr>
      <vt:lpstr>WHAT IS PROGRAMMING</vt:lpstr>
      <vt:lpstr>CLASSIFICATION/EVOLUTION OF  PROGRAMMING</vt:lpstr>
      <vt:lpstr>CLASSIFICATION/EVOLUTION OF  PROGRAMMING</vt:lpstr>
      <vt:lpstr>OUR GOAL</vt:lpstr>
      <vt:lpstr>PROGRAMMING LANGUAGE</vt:lpstr>
      <vt:lpstr>JAVA’S LINEAGE</vt:lpstr>
      <vt:lpstr>JAVA - CHARACTERISTICS</vt:lpstr>
      <vt:lpstr>JAVA – THE PLATFORM</vt:lpstr>
      <vt:lpstr>WHY JAVA</vt:lpstr>
      <vt:lpstr>JAVA IDE</vt:lpstr>
      <vt:lpstr>JAVA IDE</vt:lpstr>
      <vt:lpstr>AN EXAMPLE HELLOWORLD</vt:lpstr>
      <vt:lpstr>JAVA SOURCE CODE NAMING  CONVENTIONS</vt:lpstr>
      <vt:lpstr>NAMING CONVENTION</vt:lpstr>
      <vt:lpstr>JAVA IDENTIFIERS RULES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OOP Java</dc:title>
  <dc:creator>user</dc:creator>
  <cp:lastModifiedBy>Shafqat Rakin</cp:lastModifiedBy>
  <cp:revision>8</cp:revision>
  <dcterms:created xsi:type="dcterms:W3CDTF">2023-09-19T16:30:07Z</dcterms:created>
  <dcterms:modified xsi:type="dcterms:W3CDTF">2024-05-29T19:42:43Z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2017-10-08T00:00:00Z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2023-09-19T00:00:00Z</vt:filetime>
  </property>
</Properties>
</file>