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96" roundtripDataSignature="AMtx7mgJD5NptUn0UD2ug+byIj1QcOkD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146E5E-1B44-4AFF-8A2A-C4D30410B6D5}">
  <a:tblStyle styleId="{E6146E5E-1B44-4AFF-8A2A-C4D30410B6D5}"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88" Type="http://schemas.openxmlformats.org/officeDocument/2006/relationships/slide" Target="slides/slide82.xml"/><Relationship Id="rId43" Type="http://schemas.openxmlformats.org/officeDocument/2006/relationships/slide" Target="slides/slide37.xml"/><Relationship Id="rId87" Type="http://schemas.openxmlformats.org/officeDocument/2006/relationships/slide" Target="slides/slide81.xml"/><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95" Type="http://schemas.openxmlformats.org/officeDocument/2006/relationships/slide" Target="slides/slide89.xml"/><Relationship Id="rId50" Type="http://schemas.openxmlformats.org/officeDocument/2006/relationships/slide" Target="slides/slide44.xml"/><Relationship Id="rId94" Type="http://schemas.openxmlformats.org/officeDocument/2006/relationships/slide" Target="slides/slide88.xml"/><Relationship Id="rId53" Type="http://schemas.openxmlformats.org/officeDocument/2006/relationships/slide" Target="slides/slide47.xml"/><Relationship Id="rId52" Type="http://schemas.openxmlformats.org/officeDocument/2006/relationships/slide" Target="slides/slide46.xml"/><Relationship Id="rId96" Type="http://customschemas.google.com/relationships/presentationmetadata" Target="metadata"/><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5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5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5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5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5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6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6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6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6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6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6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6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6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6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6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6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6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7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7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7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7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7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7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7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7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7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7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7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7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7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7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7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8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8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8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8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8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8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8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8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8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8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8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8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8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8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8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8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8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8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8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8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6" name="Shape 16"/>
        <p:cNvGrpSpPr/>
        <p:nvPr/>
      </p:nvGrpSpPr>
      <p:grpSpPr>
        <a:xfrm>
          <a:off x="0" y="0"/>
          <a:ext cx="0" cy="0"/>
          <a:chOff x="0" y="0"/>
          <a:chExt cx="0" cy="0"/>
        </a:xfrm>
      </p:grpSpPr>
      <p:sp>
        <p:nvSpPr>
          <p:cNvPr id="17" name="Google Shape;17;p91"/>
          <p:cNvSpPr/>
          <p:nvPr/>
        </p:nvSpPr>
        <p:spPr>
          <a:xfrm>
            <a:off x="381000" y="0"/>
            <a:ext cx="444500" cy="6858000"/>
          </a:xfrm>
          <a:custGeom>
            <a:rect b="b" l="l" r="r" t="t"/>
            <a:pathLst>
              <a:path extrusionOk="0" h="6858000" w="444500">
                <a:moveTo>
                  <a:pt x="0" y="6858000"/>
                </a:moveTo>
                <a:lnTo>
                  <a:pt x="444500" y="6858000"/>
                </a:lnTo>
                <a:lnTo>
                  <a:pt x="444500" y="0"/>
                </a:lnTo>
                <a:lnTo>
                  <a:pt x="0" y="0"/>
                </a:lnTo>
                <a:lnTo>
                  <a:pt x="0" y="6858000"/>
                </a:lnTo>
                <a:close/>
              </a:path>
            </a:pathLst>
          </a:custGeom>
          <a:solidFill>
            <a:srgbClr val="FDC3AD">
              <a:alpha val="53725"/>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91"/>
          <p:cNvSpPr/>
          <p:nvPr/>
        </p:nvSpPr>
        <p:spPr>
          <a:xfrm>
            <a:off x="882650" y="0"/>
            <a:ext cx="3175" cy="6858000"/>
          </a:xfrm>
          <a:custGeom>
            <a:rect b="b" l="l" r="r" t="t"/>
            <a:pathLst>
              <a:path extrusionOk="0" h="6858000" w="3175">
                <a:moveTo>
                  <a:pt x="0" y="6858000"/>
                </a:moveTo>
                <a:lnTo>
                  <a:pt x="3175" y="6858000"/>
                </a:lnTo>
                <a:lnTo>
                  <a:pt x="3175" y="0"/>
                </a:lnTo>
                <a:lnTo>
                  <a:pt x="0" y="0"/>
                </a:lnTo>
                <a:lnTo>
                  <a:pt x="0" y="6858000"/>
                </a:lnTo>
                <a:close/>
              </a:path>
            </a:pathLst>
          </a:custGeom>
          <a:solidFill>
            <a:srgbClr val="FDC3AD">
              <a:alpha val="53725"/>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91"/>
          <p:cNvSpPr/>
          <p:nvPr/>
        </p:nvSpPr>
        <p:spPr>
          <a:xfrm>
            <a:off x="942975" y="0"/>
            <a:ext cx="47625" cy="6858000"/>
          </a:xfrm>
          <a:custGeom>
            <a:rect b="b" l="l" r="r" t="t"/>
            <a:pathLst>
              <a:path extrusionOk="0" h="6858000" w="47625">
                <a:moveTo>
                  <a:pt x="0" y="6858000"/>
                </a:moveTo>
                <a:lnTo>
                  <a:pt x="47625" y="6858000"/>
                </a:lnTo>
                <a:lnTo>
                  <a:pt x="47625" y="0"/>
                </a:lnTo>
                <a:lnTo>
                  <a:pt x="0" y="0"/>
                </a:lnTo>
                <a:lnTo>
                  <a:pt x="0" y="6858000"/>
                </a:lnTo>
                <a:close/>
              </a:path>
            </a:pathLst>
          </a:custGeom>
          <a:solidFill>
            <a:srgbClr val="FDC3AD">
              <a:alpha val="53725"/>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91"/>
          <p:cNvSpPr/>
          <p:nvPr/>
        </p:nvSpPr>
        <p:spPr>
          <a:xfrm>
            <a:off x="276225" y="0"/>
            <a:ext cx="104775" cy="6858000"/>
          </a:xfrm>
          <a:custGeom>
            <a:rect b="b" l="l" r="r" t="t"/>
            <a:pathLst>
              <a:path extrusionOk="0" h="6858000" w="104775">
                <a:moveTo>
                  <a:pt x="104775" y="0"/>
                </a:moveTo>
                <a:lnTo>
                  <a:pt x="0" y="0"/>
                </a:lnTo>
                <a:lnTo>
                  <a:pt x="0" y="6858000"/>
                </a:lnTo>
                <a:lnTo>
                  <a:pt x="104775" y="6858000"/>
                </a:lnTo>
                <a:lnTo>
                  <a:pt x="104775" y="0"/>
                </a:lnTo>
                <a:close/>
              </a:path>
            </a:pathLst>
          </a:custGeom>
          <a:solidFill>
            <a:srgbClr val="FFD9CE">
              <a:alpha val="3568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91"/>
          <p:cNvSpPr/>
          <p:nvPr/>
        </p:nvSpPr>
        <p:spPr>
          <a:xfrm>
            <a:off x="990600" y="0"/>
            <a:ext cx="182880" cy="6858000"/>
          </a:xfrm>
          <a:custGeom>
            <a:rect b="b" l="l" r="r" t="t"/>
            <a:pathLst>
              <a:path extrusionOk="0" h="6858000" w="182880">
                <a:moveTo>
                  <a:pt x="182562" y="0"/>
                </a:moveTo>
                <a:lnTo>
                  <a:pt x="0" y="0"/>
                </a:lnTo>
                <a:lnTo>
                  <a:pt x="0" y="6858000"/>
                </a:lnTo>
                <a:lnTo>
                  <a:pt x="182562" y="6858000"/>
                </a:lnTo>
                <a:lnTo>
                  <a:pt x="182562" y="0"/>
                </a:lnTo>
                <a:close/>
              </a:path>
            </a:pathLst>
          </a:custGeom>
          <a:solidFill>
            <a:srgbClr val="FFD9CE">
              <a:alpha val="6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91"/>
          <p:cNvSpPr/>
          <p:nvPr/>
        </p:nvSpPr>
        <p:spPr>
          <a:xfrm>
            <a:off x="1141412" y="0"/>
            <a:ext cx="230504" cy="6858000"/>
          </a:xfrm>
          <a:custGeom>
            <a:rect b="b" l="l" r="r" t="t"/>
            <a:pathLst>
              <a:path extrusionOk="0" h="6858000" w="230505">
                <a:moveTo>
                  <a:pt x="230187" y="0"/>
                </a:moveTo>
                <a:lnTo>
                  <a:pt x="0" y="0"/>
                </a:lnTo>
                <a:lnTo>
                  <a:pt x="0" y="6858000"/>
                </a:lnTo>
                <a:lnTo>
                  <a:pt x="230187" y="6858000"/>
                </a:lnTo>
                <a:lnTo>
                  <a:pt x="230187" y="0"/>
                </a:lnTo>
                <a:close/>
              </a:path>
            </a:pathLst>
          </a:custGeom>
          <a:solidFill>
            <a:srgbClr val="FFECE8">
              <a:alpha val="70588"/>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91"/>
          <p:cNvSpPr/>
          <p:nvPr/>
        </p:nvSpPr>
        <p:spPr>
          <a:xfrm>
            <a:off x="106362" y="0"/>
            <a:ext cx="0" cy="6858000"/>
          </a:xfrm>
          <a:custGeom>
            <a:rect b="b" l="l" r="r" t="t"/>
            <a:pathLst>
              <a:path extrusionOk="0" h="6858000" w="120000">
                <a:moveTo>
                  <a:pt x="0" y="0"/>
                </a:moveTo>
                <a:lnTo>
                  <a:pt x="0" y="6857999"/>
                </a:lnTo>
              </a:path>
            </a:pathLst>
          </a:custGeom>
          <a:noFill/>
          <a:ln cap="flat" cmpd="sng" w="57150">
            <a:solidFill>
              <a:srgbClr val="FDC3A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91"/>
          <p:cNvSpPr/>
          <p:nvPr/>
        </p:nvSpPr>
        <p:spPr>
          <a:xfrm>
            <a:off x="914400" y="0"/>
            <a:ext cx="0" cy="6858000"/>
          </a:xfrm>
          <a:custGeom>
            <a:rect b="b" l="l" r="r" t="t"/>
            <a:pathLst>
              <a:path extrusionOk="0" h="6858000" w="120000">
                <a:moveTo>
                  <a:pt x="0" y="0"/>
                </a:moveTo>
                <a:lnTo>
                  <a:pt x="0" y="6857999"/>
                </a:lnTo>
              </a:path>
            </a:pathLst>
          </a:custGeom>
          <a:noFill/>
          <a:ln cap="flat" cmpd="sng" w="57150">
            <a:solidFill>
              <a:srgbClr val="FFECE8"/>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91"/>
          <p:cNvSpPr/>
          <p:nvPr/>
        </p:nvSpPr>
        <p:spPr>
          <a:xfrm>
            <a:off x="854075" y="0"/>
            <a:ext cx="0" cy="6858000"/>
          </a:xfrm>
          <a:custGeom>
            <a:rect b="b" l="l" r="r" t="t"/>
            <a:pathLst>
              <a:path extrusionOk="0" h="6858000" w="120000">
                <a:moveTo>
                  <a:pt x="0" y="0"/>
                </a:moveTo>
                <a:lnTo>
                  <a:pt x="0" y="6857999"/>
                </a:lnTo>
              </a:path>
            </a:pathLst>
          </a:custGeom>
          <a:noFill/>
          <a:ln cap="flat" cmpd="sng" w="57150">
            <a:solidFill>
              <a:srgbClr val="FDC3A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91"/>
          <p:cNvSpPr/>
          <p:nvPr/>
        </p:nvSpPr>
        <p:spPr>
          <a:xfrm>
            <a:off x="1727200" y="0"/>
            <a:ext cx="0" cy="6858000"/>
          </a:xfrm>
          <a:custGeom>
            <a:rect b="b" l="l" r="r" t="t"/>
            <a:pathLst>
              <a:path extrusionOk="0" h="6858000" w="120000">
                <a:moveTo>
                  <a:pt x="0" y="0"/>
                </a:moveTo>
                <a:lnTo>
                  <a:pt x="0" y="6857999"/>
                </a:lnTo>
              </a:path>
            </a:pathLst>
          </a:custGeom>
          <a:noFill/>
          <a:ln cap="flat" cmpd="sng" w="28575">
            <a:solidFill>
              <a:srgbClr val="FDC3A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91"/>
          <p:cNvSpPr/>
          <p:nvPr/>
        </p:nvSpPr>
        <p:spPr>
          <a:xfrm>
            <a:off x="1066800" y="0"/>
            <a:ext cx="0" cy="6858000"/>
          </a:xfrm>
          <a:custGeom>
            <a:rect b="b" l="l" r="r" t="t"/>
            <a:pathLst>
              <a:path extrusionOk="0" h="6858000" w="120000">
                <a:moveTo>
                  <a:pt x="0" y="0"/>
                </a:moveTo>
                <a:lnTo>
                  <a:pt x="0" y="6857999"/>
                </a:lnTo>
              </a:path>
            </a:pathLst>
          </a:custGeom>
          <a:noFill/>
          <a:ln cap="flat" cmpd="sng" w="9525">
            <a:solidFill>
              <a:srgbClr val="FDC3A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91"/>
          <p:cNvSpPr/>
          <p:nvPr/>
        </p:nvSpPr>
        <p:spPr>
          <a:xfrm>
            <a:off x="9085199" y="0"/>
            <a:ext cx="57150" cy="6858000"/>
          </a:xfrm>
          <a:custGeom>
            <a:rect b="b" l="l" r="r" t="t"/>
            <a:pathLst>
              <a:path extrusionOk="0" h="6858000" w="57150">
                <a:moveTo>
                  <a:pt x="11430" y="0"/>
                </a:moveTo>
                <a:lnTo>
                  <a:pt x="0" y="0"/>
                </a:lnTo>
                <a:lnTo>
                  <a:pt x="0" y="6858000"/>
                </a:lnTo>
                <a:lnTo>
                  <a:pt x="11430" y="6858000"/>
                </a:lnTo>
                <a:lnTo>
                  <a:pt x="11430" y="0"/>
                </a:lnTo>
                <a:close/>
              </a:path>
              <a:path extrusionOk="0" h="6858000" w="57150">
                <a:moveTo>
                  <a:pt x="57150" y="0"/>
                </a:moveTo>
                <a:lnTo>
                  <a:pt x="22860" y="0"/>
                </a:lnTo>
                <a:lnTo>
                  <a:pt x="22860" y="6858000"/>
                </a:lnTo>
                <a:lnTo>
                  <a:pt x="57150" y="6858000"/>
                </a:lnTo>
                <a:lnTo>
                  <a:pt x="57150" y="0"/>
                </a:lnTo>
                <a:close/>
              </a:path>
            </a:pathLst>
          </a:custGeom>
          <a:solidFill>
            <a:srgbClr val="FDC3A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91"/>
          <p:cNvSpPr/>
          <p:nvPr/>
        </p:nvSpPr>
        <p:spPr>
          <a:xfrm>
            <a:off x="1219200" y="0"/>
            <a:ext cx="76200" cy="6858000"/>
          </a:xfrm>
          <a:custGeom>
            <a:rect b="b" l="l" r="r" t="t"/>
            <a:pathLst>
              <a:path extrusionOk="0" h="6858000" w="76200">
                <a:moveTo>
                  <a:pt x="76200" y="0"/>
                </a:moveTo>
                <a:lnTo>
                  <a:pt x="0" y="0"/>
                </a:lnTo>
                <a:lnTo>
                  <a:pt x="0" y="6858000"/>
                </a:lnTo>
                <a:lnTo>
                  <a:pt x="76200" y="6858000"/>
                </a:lnTo>
                <a:lnTo>
                  <a:pt x="76200" y="0"/>
                </a:lnTo>
                <a:close/>
              </a:path>
            </a:pathLst>
          </a:custGeom>
          <a:solidFill>
            <a:srgbClr val="FDC3AD">
              <a:alpha val="50588"/>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91"/>
          <p:cNvSpPr/>
          <p:nvPr/>
        </p:nvSpPr>
        <p:spPr>
          <a:xfrm>
            <a:off x="609600" y="3428999"/>
            <a:ext cx="1341755" cy="2079625"/>
          </a:xfrm>
          <a:custGeom>
            <a:rect b="b" l="l" r="r" t="t"/>
            <a:pathLst>
              <a:path extrusionOk="0" h="2079625" w="1341755">
                <a:moveTo>
                  <a:pt x="1295400" y="647700"/>
                </a:moveTo>
                <a:lnTo>
                  <a:pt x="1293622" y="599363"/>
                </a:lnTo>
                <a:lnTo>
                  <a:pt x="1288376" y="551980"/>
                </a:lnTo>
                <a:lnTo>
                  <a:pt x="1279779" y="505701"/>
                </a:lnTo>
                <a:lnTo>
                  <a:pt x="1267968" y="460629"/>
                </a:lnTo>
                <a:lnTo>
                  <a:pt x="1253070" y="416890"/>
                </a:lnTo>
                <a:lnTo>
                  <a:pt x="1235202" y="374637"/>
                </a:lnTo>
                <a:lnTo>
                  <a:pt x="1214488" y="333959"/>
                </a:lnTo>
                <a:lnTo>
                  <a:pt x="1191056" y="295008"/>
                </a:lnTo>
                <a:lnTo>
                  <a:pt x="1165034" y="257898"/>
                </a:lnTo>
                <a:lnTo>
                  <a:pt x="1136535" y="222745"/>
                </a:lnTo>
                <a:lnTo>
                  <a:pt x="1105700" y="189699"/>
                </a:lnTo>
                <a:lnTo>
                  <a:pt x="1072654" y="158864"/>
                </a:lnTo>
                <a:lnTo>
                  <a:pt x="1037501" y="130365"/>
                </a:lnTo>
                <a:lnTo>
                  <a:pt x="1000391" y="104343"/>
                </a:lnTo>
                <a:lnTo>
                  <a:pt x="961440" y="80911"/>
                </a:lnTo>
                <a:lnTo>
                  <a:pt x="920762" y="60198"/>
                </a:lnTo>
                <a:lnTo>
                  <a:pt x="878509" y="42329"/>
                </a:lnTo>
                <a:lnTo>
                  <a:pt x="834771" y="27432"/>
                </a:lnTo>
                <a:lnTo>
                  <a:pt x="789698" y="15621"/>
                </a:lnTo>
                <a:lnTo>
                  <a:pt x="743419" y="7023"/>
                </a:lnTo>
                <a:lnTo>
                  <a:pt x="696036" y="1778"/>
                </a:lnTo>
                <a:lnTo>
                  <a:pt x="647700" y="0"/>
                </a:lnTo>
                <a:lnTo>
                  <a:pt x="599351" y="1778"/>
                </a:lnTo>
                <a:lnTo>
                  <a:pt x="551980" y="7023"/>
                </a:lnTo>
                <a:lnTo>
                  <a:pt x="505701" y="15621"/>
                </a:lnTo>
                <a:lnTo>
                  <a:pt x="460629" y="27432"/>
                </a:lnTo>
                <a:lnTo>
                  <a:pt x="416902" y="42329"/>
                </a:lnTo>
                <a:lnTo>
                  <a:pt x="374637" y="60198"/>
                </a:lnTo>
                <a:lnTo>
                  <a:pt x="333971" y="80911"/>
                </a:lnTo>
                <a:lnTo>
                  <a:pt x="295008" y="104343"/>
                </a:lnTo>
                <a:lnTo>
                  <a:pt x="257898" y="130365"/>
                </a:lnTo>
                <a:lnTo>
                  <a:pt x="222758" y="158864"/>
                </a:lnTo>
                <a:lnTo>
                  <a:pt x="189699" y="189699"/>
                </a:lnTo>
                <a:lnTo>
                  <a:pt x="158864" y="222745"/>
                </a:lnTo>
                <a:lnTo>
                  <a:pt x="130365" y="257898"/>
                </a:lnTo>
                <a:lnTo>
                  <a:pt x="104343" y="295008"/>
                </a:lnTo>
                <a:lnTo>
                  <a:pt x="80911" y="333959"/>
                </a:lnTo>
                <a:lnTo>
                  <a:pt x="60185" y="374637"/>
                </a:lnTo>
                <a:lnTo>
                  <a:pt x="42316" y="416890"/>
                </a:lnTo>
                <a:lnTo>
                  <a:pt x="27419" y="460629"/>
                </a:lnTo>
                <a:lnTo>
                  <a:pt x="15608" y="505701"/>
                </a:lnTo>
                <a:lnTo>
                  <a:pt x="7010" y="551980"/>
                </a:lnTo>
                <a:lnTo>
                  <a:pt x="1765" y="599363"/>
                </a:lnTo>
                <a:lnTo>
                  <a:pt x="0" y="647700"/>
                </a:lnTo>
                <a:lnTo>
                  <a:pt x="1765" y="696048"/>
                </a:lnTo>
                <a:lnTo>
                  <a:pt x="7010" y="743432"/>
                </a:lnTo>
                <a:lnTo>
                  <a:pt x="15608" y="789711"/>
                </a:lnTo>
                <a:lnTo>
                  <a:pt x="27419" y="834783"/>
                </a:lnTo>
                <a:lnTo>
                  <a:pt x="42316" y="878522"/>
                </a:lnTo>
                <a:lnTo>
                  <a:pt x="60185" y="920775"/>
                </a:lnTo>
                <a:lnTo>
                  <a:pt x="80911" y="961453"/>
                </a:lnTo>
                <a:lnTo>
                  <a:pt x="104343" y="1000404"/>
                </a:lnTo>
                <a:lnTo>
                  <a:pt x="130365" y="1037513"/>
                </a:lnTo>
                <a:lnTo>
                  <a:pt x="158864" y="1072667"/>
                </a:lnTo>
                <a:lnTo>
                  <a:pt x="189699" y="1105712"/>
                </a:lnTo>
                <a:lnTo>
                  <a:pt x="222758" y="1136548"/>
                </a:lnTo>
                <a:lnTo>
                  <a:pt x="257898" y="1165047"/>
                </a:lnTo>
                <a:lnTo>
                  <a:pt x="295008" y="1191069"/>
                </a:lnTo>
                <a:lnTo>
                  <a:pt x="333971" y="1214501"/>
                </a:lnTo>
                <a:lnTo>
                  <a:pt x="374637" y="1235214"/>
                </a:lnTo>
                <a:lnTo>
                  <a:pt x="416902" y="1253083"/>
                </a:lnTo>
                <a:lnTo>
                  <a:pt x="460629" y="1267980"/>
                </a:lnTo>
                <a:lnTo>
                  <a:pt x="505701" y="1279791"/>
                </a:lnTo>
                <a:lnTo>
                  <a:pt x="551980" y="1288389"/>
                </a:lnTo>
                <a:lnTo>
                  <a:pt x="599351" y="1293634"/>
                </a:lnTo>
                <a:lnTo>
                  <a:pt x="647700" y="1295400"/>
                </a:lnTo>
                <a:lnTo>
                  <a:pt x="696036" y="1293634"/>
                </a:lnTo>
                <a:lnTo>
                  <a:pt x="743419" y="1288389"/>
                </a:lnTo>
                <a:lnTo>
                  <a:pt x="789698" y="1279791"/>
                </a:lnTo>
                <a:lnTo>
                  <a:pt x="834771" y="1267980"/>
                </a:lnTo>
                <a:lnTo>
                  <a:pt x="878509" y="1253083"/>
                </a:lnTo>
                <a:lnTo>
                  <a:pt x="920762" y="1235214"/>
                </a:lnTo>
                <a:lnTo>
                  <a:pt x="961440" y="1214501"/>
                </a:lnTo>
                <a:lnTo>
                  <a:pt x="1000391" y="1191069"/>
                </a:lnTo>
                <a:lnTo>
                  <a:pt x="1037501" y="1165047"/>
                </a:lnTo>
                <a:lnTo>
                  <a:pt x="1072654" y="1136548"/>
                </a:lnTo>
                <a:lnTo>
                  <a:pt x="1105700" y="1105712"/>
                </a:lnTo>
                <a:lnTo>
                  <a:pt x="1136535" y="1072667"/>
                </a:lnTo>
                <a:lnTo>
                  <a:pt x="1165034" y="1037513"/>
                </a:lnTo>
                <a:lnTo>
                  <a:pt x="1191056" y="1000404"/>
                </a:lnTo>
                <a:lnTo>
                  <a:pt x="1214488" y="961453"/>
                </a:lnTo>
                <a:lnTo>
                  <a:pt x="1235202" y="920775"/>
                </a:lnTo>
                <a:lnTo>
                  <a:pt x="1253070" y="878522"/>
                </a:lnTo>
                <a:lnTo>
                  <a:pt x="1267968" y="834783"/>
                </a:lnTo>
                <a:lnTo>
                  <a:pt x="1279779" y="789711"/>
                </a:lnTo>
                <a:lnTo>
                  <a:pt x="1288376" y="743432"/>
                </a:lnTo>
                <a:lnTo>
                  <a:pt x="1293622" y="696048"/>
                </a:lnTo>
                <a:lnTo>
                  <a:pt x="1295400" y="647700"/>
                </a:lnTo>
                <a:close/>
              </a:path>
              <a:path extrusionOk="0" h="2079625" w="1341755">
                <a:moveTo>
                  <a:pt x="1341501" y="1758950"/>
                </a:moveTo>
                <a:lnTo>
                  <a:pt x="1338021" y="1711553"/>
                </a:lnTo>
                <a:lnTo>
                  <a:pt x="1327912" y="1666316"/>
                </a:lnTo>
                <a:lnTo>
                  <a:pt x="1311681" y="1623745"/>
                </a:lnTo>
                <a:lnTo>
                  <a:pt x="1289812" y="1584312"/>
                </a:lnTo>
                <a:lnTo>
                  <a:pt x="1262811" y="1548549"/>
                </a:lnTo>
                <a:lnTo>
                  <a:pt x="1231176" y="1516913"/>
                </a:lnTo>
                <a:lnTo>
                  <a:pt x="1195400" y="1489925"/>
                </a:lnTo>
                <a:lnTo>
                  <a:pt x="1155979" y="1468081"/>
                </a:lnTo>
                <a:lnTo>
                  <a:pt x="1113409" y="1451851"/>
                </a:lnTo>
                <a:lnTo>
                  <a:pt x="1068197" y="1441754"/>
                </a:lnTo>
                <a:lnTo>
                  <a:pt x="1020826" y="1438275"/>
                </a:lnTo>
                <a:lnTo>
                  <a:pt x="973416" y="1441754"/>
                </a:lnTo>
                <a:lnTo>
                  <a:pt x="928179" y="1451851"/>
                </a:lnTo>
                <a:lnTo>
                  <a:pt x="885609" y="1468081"/>
                </a:lnTo>
                <a:lnTo>
                  <a:pt x="846175" y="1489925"/>
                </a:lnTo>
                <a:lnTo>
                  <a:pt x="810412" y="1516913"/>
                </a:lnTo>
                <a:lnTo>
                  <a:pt x="778776" y="1548549"/>
                </a:lnTo>
                <a:lnTo>
                  <a:pt x="751789" y="1584312"/>
                </a:lnTo>
                <a:lnTo>
                  <a:pt x="729945" y="1623745"/>
                </a:lnTo>
                <a:lnTo>
                  <a:pt x="713714" y="1666316"/>
                </a:lnTo>
                <a:lnTo>
                  <a:pt x="703618" y="1711553"/>
                </a:lnTo>
                <a:lnTo>
                  <a:pt x="700151" y="1758950"/>
                </a:lnTo>
                <a:lnTo>
                  <a:pt x="703618" y="1806359"/>
                </a:lnTo>
                <a:lnTo>
                  <a:pt x="713714" y="1851596"/>
                </a:lnTo>
                <a:lnTo>
                  <a:pt x="729945" y="1894166"/>
                </a:lnTo>
                <a:lnTo>
                  <a:pt x="751789" y="1933600"/>
                </a:lnTo>
                <a:lnTo>
                  <a:pt x="778776" y="1969363"/>
                </a:lnTo>
                <a:lnTo>
                  <a:pt x="810412" y="2000999"/>
                </a:lnTo>
                <a:lnTo>
                  <a:pt x="846175" y="2027986"/>
                </a:lnTo>
                <a:lnTo>
                  <a:pt x="885609" y="2049830"/>
                </a:lnTo>
                <a:lnTo>
                  <a:pt x="928179" y="2066061"/>
                </a:lnTo>
                <a:lnTo>
                  <a:pt x="973416" y="2076157"/>
                </a:lnTo>
                <a:lnTo>
                  <a:pt x="1020826" y="2079625"/>
                </a:lnTo>
                <a:lnTo>
                  <a:pt x="1068197" y="2076157"/>
                </a:lnTo>
                <a:lnTo>
                  <a:pt x="1113409" y="2066061"/>
                </a:lnTo>
                <a:lnTo>
                  <a:pt x="1155979" y="2049830"/>
                </a:lnTo>
                <a:lnTo>
                  <a:pt x="1195400" y="2027986"/>
                </a:lnTo>
                <a:lnTo>
                  <a:pt x="1231176" y="2000999"/>
                </a:lnTo>
                <a:lnTo>
                  <a:pt x="1262811" y="1969363"/>
                </a:lnTo>
                <a:lnTo>
                  <a:pt x="1289812" y="1933600"/>
                </a:lnTo>
                <a:lnTo>
                  <a:pt x="1311681" y="1894166"/>
                </a:lnTo>
                <a:lnTo>
                  <a:pt x="1327912" y="1851596"/>
                </a:lnTo>
                <a:lnTo>
                  <a:pt x="1338021" y="1806359"/>
                </a:lnTo>
                <a:lnTo>
                  <a:pt x="1341501" y="175895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1" name="Google Shape;31;p91"/>
          <p:cNvPicPr preferRelativeResize="0"/>
          <p:nvPr/>
        </p:nvPicPr>
        <p:blipFill rotWithShape="1">
          <a:blip r:embed="rId2">
            <a:alphaModFix/>
          </a:blip>
          <a:srcRect b="0" l="0" r="0" t="0"/>
          <a:stretch/>
        </p:blipFill>
        <p:spPr>
          <a:xfrm>
            <a:off x="1090612" y="5500750"/>
            <a:ext cx="138112" cy="136461"/>
          </a:xfrm>
          <a:prstGeom prst="rect">
            <a:avLst/>
          </a:prstGeom>
          <a:noFill/>
          <a:ln>
            <a:noFill/>
          </a:ln>
        </p:spPr>
      </p:pic>
      <p:sp>
        <p:nvSpPr>
          <p:cNvPr id="32" name="Google Shape;32;p91"/>
          <p:cNvSpPr/>
          <p:nvPr/>
        </p:nvSpPr>
        <p:spPr>
          <a:xfrm>
            <a:off x="1663700" y="4495799"/>
            <a:ext cx="606425" cy="1567180"/>
          </a:xfrm>
          <a:custGeom>
            <a:rect b="b" l="l" r="r" t="t"/>
            <a:pathLst>
              <a:path extrusionOk="0" h="1567179" w="606425">
                <a:moveTo>
                  <a:pt x="274701" y="1429537"/>
                </a:moveTo>
                <a:lnTo>
                  <a:pt x="267677" y="1386141"/>
                </a:lnTo>
                <a:lnTo>
                  <a:pt x="248158" y="1348447"/>
                </a:lnTo>
                <a:lnTo>
                  <a:pt x="218401" y="1318729"/>
                </a:lnTo>
                <a:lnTo>
                  <a:pt x="180682" y="1299235"/>
                </a:lnTo>
                <a:lnTo>
                  <a:pt x="137287" y="1292225"/>
                </a:lnTo>
                <a:lnTo>
                  <a:pt x="93891" y="1299235"/>
                </a:lnTo>
                <a:lnTo>
                  <a:pt x="56197" y="1318729"/>
                </a:lnTo>
                <a:lnTo>
                  <a:pt x="26479" y="1348447"/>
                </a:lnTo>
                <a:lnTo>
                  <a:pt x="6997" y="1386141"/>
                </a:lnTo>
                <a:lnTo>
                  <a:pt x="0" y="1429537"/>
                </a:lnTo>
                <a:lnTo>
                  <a:pt x="6997" y="1472946"/>
                </a:lnTo>
                <a:lnTo>
                  <a:pt x="26479" y="1510652"/>
                </a:lnTo>
                <a:lnTo>
                  <a:pt x="56197" y="1540370"/>
                </a:lnTo>
                <a:lnTo>
                  <a:pt x="93891" y="1559864"/>
                </a:lnTo>
                <a:lnTo>
                  <a:pt x="137287" y="1566862"/>
                </a:lnTo>
                <a:lnTo>
                  <a:pt x="180682" y="1559864"/>
                </a:lnTo>
                <a:lnTo>
                  <a:pt x="218401" y="1540370"/>
                </a:lnTo>
                <a:lnTo>
                  <a:pt x="248158" y="1510652"/>
                </a:lnTo>
                <a:lnTo>
                  <a:pt x="267677" y="1472946"/>
                </a:lnTo>
                <a:lnTo>
                  <a:pt x="274701" y="1429537"/>
                </a:lnTo>
                <a:close/>
              </a:path>
              <a:path extrusionOk="0" h="1567179" w="606425">
                <a:moveTo>
                  <a:pt x="606425" y="182499"/>
                </a:moveTo>
                <a:lnTo>
                  <a:pt x="599897" y="134023"/>
                </a:lnTo>
                <a:lnTo>
                  <a:pt x="581482" y="90424"/>
                </a:lnTo>
                <a:lnTo>
                  <a:pt x="552932" y="53492"/>
                </a:lnTo>
                <a:lnTo>
                  <a:pt x="516001" y="24942"/>
                </a:lnTo>
                <a:lnTo>
                  <a:pt x="472401" y="6527"/>
                </a:lnTo>
                <a:lnTo>
                  <a:pt x="423926" y="0"/>
                </a:lnTo>
                <a:lnTo>
                  <a:pt x="375373" y="6527"/>
                </a:lnTo>
                <a:lnTo>
                  <a:pt x="331749" y="24942"/>
                </a:lnTo>
                <a:lnTo>
                  <a:pt x="294792" y="53492"/>
                </a:lnTo>
                <a:lnTo>
                  <a:pt x="266230" y="90424"/>
                </a:lnTo>
                <a:lnTo>
                  <a:pt x="247815" y="134023"/>
                </a:lnTo>
                <a:lnTo>
                  <a:pt x="241300" y="182499"/>
                </a:lnTo>
                <a:lnTo>
                  <a:pt x="247815" y="231051"/>
                </a:lnTo>
                <a:lnTo>
                  <a:pt x="266230" y="274675"/>
                </a:lnTo>
                <a:lnTo>
                  <a:pt x="294792" y="311632"/>
                </a:lnTo>
                <a:lnTo>
                  <a:pt x="331749" y="340194"/>
                </a:lnTo>
                <a:lnTo>
                  <a:pt x="375373" y="358609"/>
                </a:lnTo>
                <a:lnTo>
                  <a:pt x="423926" y="365125"/>
                </a:lnTo>
                <a:lnTo>
                  <a:pt x="472401" y="358609"/>
                </a:lnTo>
                <a:lnTo>
                  <a:pt x="516001" y="340194"/>
                </a:lnTo>
                <a:lnTo>
                  <a:pt x="552932" y="311632"/>
                </a:lnTo>
                <a:lnTo>
                  <a:pt x="581482" y="274675"/>
                </a:lnTo>
                <a:lnTo>
                  <a:pt x="599897" y="231051"/>
                </a:lnTo>
                <a:lnTo>
                  <a:pt x="606425" y="182499"/>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91"/>
          <p:cNvSpPr txBox="1"/>
          <p:nvPr>
            <p:ph type="ctrTitle"/>
          </p:nvPr>
        </p:nvSpPr>
        <p:spPr>
          <a:xfrm>
            <a:off x="1413255" y="3733927"/>
            <a:ext cx="6317488" cy="7912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565F6C"/>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91"/>
          <p:cNvSpPr txBox="1"/>
          <p:nvPr>
            <p:ph idx="1" type="subTitle"/>
          </p:nvPr>
        </p:nvSpPr>
        <p:spPr>
          <a:xfrm>
            <a:off x="1413255" y="3733927"/>
            <a:ext cx="6317488" cy="7912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400">
                <a:solidFill>
                  <a:srgbClr val="565F6C"/>
                </a:solidFill>
                <a:latin typeface="Cambria"/>
                <a:ea typeface="Cambria"/>
                <a:cs typeface="Cambria"/>
                <a:sym typeface="Cambr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8" name="Shape 38"/>
        <p:cNvGrpSpPr/>
        <p:nvPr/>
      </p:nvGrpSpPr>
      <p:grpSpPr>
        <a:xfrm>
          <a:off x="0" y="0"/>
          <a:ext cx="0" cy="0"/>
          <a:chOff x="0" y="0"/>
          <a:chExt cx="0" cy="0"/>
        </a:xfrm>
      </p:grpSpPr>
      <p:sp>
        <p:nvSpPr>
          <p:cNvPr id="39" name="Google Shape;39;p92"/>
          <p:cNvSpPr txBox="1"/>
          <p:nvPr>
            <p:ph type="title"/>
          </p:nvPr>
        </p:nvSpPr>
        <p:spPr>
          <a:xfrm>
            <a:off x="535940" y="928242"/>
            <a:ext cx="7653655"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250">
                <a:solidFill>
                  <a:srgbClr val="565F6C"/>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92"/>
          <p:cNvSpPr txBox="1"/>
          <p:nvPr>
            <p:ph idx="1" type="body"/>
          </p:nvPr>
        </p:nvSpPr>
        <p:spPr>
          <a:xfrm>
            <a:off x="535940" y="1628901"/>
            <a:ext cx="4399280" cy="1948814"/>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1" i="0" sz="1400">
                <a:solidFill>
                  <a:schemeClr val="dk1"/>
                </a:solidFill>
                <a:latin typeface="Cambria"/>
                <a:ea typeface="Cambria"/>
                <a:cs typeface="Cambria"/>
                <a:sym typeface="Cambri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92"/>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92"/>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9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4" name="Shape 44"/>
        <p:cNvGrpSpPr/>
        <p:nvPr/>
      </p:nvGrpSpPr>
      <p:grpSpPr>
        <a:xfrm>
          <a:off x="0" y="0"/>
          <a:ext cx="0" cy="0"/>
          <a:chOff x="0" y="0"/>
          <a:chExt cx="0" cy="0"/>
        </a:xfrm>
      </p:grpSpPr>
      <p:sp>
        <p:nvSpPr>
          <p:cNvPr id="45" name="Google Shape;45;p93"/>
          <p:cNvSpPr txBox="1"/>
          <p:nvPr>
            <p:ph type="title"/>
          </p:nvPr>
        </p:nvSpPr>
        <p:spPr>
          <a:xfrm>
            <a:off x="535940" y="928242"/>
            <a:ext cx="7653655"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250">
                <a:solidFill>
                  <a:srgbClr val="565F6C"/>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93"/>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93"/>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9" name="Shape 49"/>
        <p:cNvGrpSpPr/>
        <p:nvPr/>
      </p:nvGrpSpPr>
      <p:grpSpPr>
        <a:xfrm>
          <a:off x="0" y="0"/>
          <a:ext cx="0" cy="0"/>
          <a:chOff x="0" y="0"/>
          <a:chExt cx="0" cy="0"/>
        </a:xfrm>
      </p:grpSpPr>
      <p:sp>
        <p:nvSpPr>
          <p:cNvPr id="50" name="Google Shape;50;p94"/>
          <p:cNvSpPr txBox="1"/>
          <p:nvPr>
            <p:ph type="title"/>
          </p:nvPr>
        </p:nvSpPr>
        <p:spPr>
          <a:xfrm>
            <a:off x="535940" y="928242"/>
            <a:ext cx="7653655" cy="45211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250">
                <a:solidFill>
                  <a:srgbClr val="565F6C"/>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94"/>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94"/>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94"/>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4"/>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6" name="Shape 56"/>
        <p:cNvGrpSpPr/>
        <p:nvPr/>
      </p:nvGrpSpPr>
      <p:grpSpPr>
        <a:xfrm>
          <a:off x="0" y="0"/>
          <a:ext cx="0" cy="0"/>
          <a:chOff x="0" y="0"/>
          <a:chExt cx="0" cy="0"/>
        </a:xfrm>
      </p:grpSpPr>
      <p:sp>
        <p:nvSpPr>
          <p:cNvPr id="57" name="Google Shape;57;p95"/>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0"/>
          <p:cNvSpPr/>
          <p:nvPr/>
        </p:nvSpPr>
        <p:spPr>
          <a:xfrm>
            <a:off x="8763000" y="0"/>
            <a:ext cx="0" cy="6858000"/>
          </a:xfrm>
          <a:custGeom>
            <a:rect b="b" l="l" r="r" t="t"/>
            <a:pathLst>
              <a:path extrusionOk="0" h="6858000" w="120000">
                <a:moveTo>
                  <a:pt x="0" y="0"/>
                </a:moveTo>
                <a:lnTo>
                  <a:pt x="0" y="6857999"/>
                </a:lnTo>
              </a:path>
            </a:pathLst>
          </a:custGeom>
          <a:noFill/>
          <a:ln cap="flat" cmpd="sng" w="38100">
            <a:solidFill>
              <a:srgbClr val="FDC3A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 name="Google Shape;7;p90"/>
          <p:cNvSpPr/>
          <p:nvPr/>
        </p:nvSpPr>
        <p:spPr>
          <a:xfrm>
            <a:off x="8156575" y="5715000"/>
            <a:ext cx="549275" cy="549275"/>
          </a:xfrm>
          <a:custGeom>
            <a:rect b="b" l="l" r="r" t="t"/>
            <a:pathLst>
              <a:path extrusionOk="0" h="549275" w="549275">
                <a:moveTo>
                  <a:pt x="274700" y="0"/>
                </a:moveTo>
                <a:lnTo>
                  <a:pt x="225309" y="4424"/>
                </a:lnTo>
                <a:lnTo>
                  <a:pt x="178828" y="17182"/>
                </a:lnTo>
                <a:lnTo>
                  <a:pt x="136031" y="37496"/>
                </a:lnTo>
                <a:lnTo>
                  <a:pt x="97693" y="64591"/>
                </a:lnTo>
                <a:lnTo>
                  <a:pt x="64589" y="97692"/>
                </a:lnTo>
                <a:lnTo>
                  <a:pt x="37493" y="136023"/>
                </a:lnTo>
                <a:lnTo>
                  <a:pt x="17180" y="178808"/>
                </a:lnTo>
                <a:lnTo>
                  <a:pt x="4424" y="225271"/>
                </a:lnTo>
                <a:lnTo>
                  <a:pt x="0" y="274637"/>
                </a:lnTo>
                <a:lnTo>
                  <a:pt x="4424" y="324003"/>
                </a:lnTo>
                <a:lnTo>
                  <a:pt x="17180" y="370466"/>
                </a:lnTo>
                <a:lnTo>
                  <a:pt x="37493" y="413251"/>
                </a:lnTo>
                <a:lnTo>
                  <a:pt x="64589" y="451582"/>
                </a:lnTo>
                <a:lnTo>
                  <a:pt x="97693" y="484683"/>
                </a:lnTo>
                <a:lnTo>
                  <a:pt x="136031" y="511778"/>
                </a:lnTo>
                <a:lnTo>
                  <a:pt x="178828" y="532092"/>
                </a:lnTo>
                <a:lnTo>
                  <a:pt x="225309" y="544850"/>
                </a:lnTo>
                <a:lnTo>
                  <a:pt x="274700" y="549275"/>
                </a:lnTo>
                <a:lnTo>
                  <a:pt x="324054" y="544850"/>
                </a:lnTo>
                <a:lnTo>
                  <a:pt x="370506" y="532092"/>
                </a:lnTo>
                <a:lnTo>
                  <a:pt x="413281" y="511778"/>
                </a:lnTo>
                <a:lnTo>
                  <a:pt x="451603" y="484683"/>
                </a:lnTo>
                <a:lnTo>
                  <a:pt x="484696" y="451582"/>
                </a:lnTo>
                <a:lnTo>
                  <a:pt x="511786" y="413251"/>
                </a:lnTo>
                <a:lnTo>
                  <a:pt x="532096" y="370466"/>
                </a:lnTo>
                <a:lnTo>
                  <a:pt x="544851" y="324003"/>
                </a:lnTo>
                <a:lnTo>
                  <a:pt x="549275" y="274637"/>
                </a:lnTo>
                <a:lnTo>
                  <a:pt x="544851" y="225271"/>
                </a:lnTo>
                <a:lnTo>
                  <a:pt x="532096" y="178808"/>
                </a:lnTo>
                <a:lnTo>
                  <a:pt x="511786" y="136023"/>
                </a:lnTo>
                <a:lnTo>
                  <a:pt x="484696" y="97692"/>
                </a:lnTo>
                <a:lnTo>
                  <a:pt x="451603" y="64591"/>
                </a:lnTo>
                <a:lnTo>
                  <a:pt x="413281" y="37496"/>
                </a:lnTo>
                <a:lnTo>
                  <a:pt x="370506" y="17182"/>
                </a:lnTo>
                <a:lnTo>
                  <a:pt x="324054" y="4424"/>
                </a:lnTo>
                <a:lnTo>
                  <a:pt x="274700"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 name="Google Shape;8;p90"/>
          <p:cNvSpPr/>
          <p:nvPr/>
        </p:nvSpPr>
        <p:spPr>
          <a:xfrm>
            <a:off x="47625" y="0"/>
            <a:ext cx="57150" cy="6858000"/>
          </a:xfrm>
          <a:custGeom>
            <a:rect b="b" l="l" r="r" t="t"/>
            <a:pathLst>
              <a:path extrusionOk="0" h="6858000" w="57150">
                <a:moveTo>
                  <a:pt x="11430" y="0"/>
                </a:moveTo>
                <a:lnTo>
                  <a:pt x="0" y="0"/>
                </a:lnTo>
                <a:lnTo>
                  <a:pt x="0" y="6858000"/>
                </a:lnTo>
                <a:lnTo>
                  <a:pt x="11430" y="6858000"/>
                </a:lnTo>
                <a:lnTo>
                  <a:pt x="11430" y="0"/>
                </a:lnTo>
                <a:close/>
              </a:path>
              <a:path extrusionOk="0" h="6858000" w="57150">
                <a:moveTo>
                  <a:pt x="57150" y="0"/>
                </a:moveTo>
                <a:lnTo>
                  <a:pt x="22860" y="0"/>
                </a:lnTo>
                <a:lnTo>
                  <a:pt x="22860" y="6858000"/>
                </a:lnTo>
                <a:lnTo>
                  <a:pt x="57150" y="6858000"/>
                </a:lnTo>
                <a:lnTo>
                  <a:pt x="57150" y="0"/>
                </a:lnTo>
                <a:close/>
              </a:path>
            </a:pathLst>
          </a:custGeom>
          <a:solidFill>
            <a:srgbClr val="FDC3A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 name="Google Shape;9;p90"/>
          <p:cNvSpPr/>
          <p:nvPr/>
        </p:nvSpPr>
        <p:spPr>
          <a:xfrm>
            <a:off x="8839200" y="0"/>
            <a:ext cx="304800" cy="6858000"/>
          </a:xfrm>
          <a:custGeom>
            <a:rect b="b" l="l" r="r" t="t"/>
            <a:pathLst>
              <a:path extrusionOk="0" h="6858000" w="304800">
                <a:moveTo>
                  <a:pt x="304800" y="0"/>
                </a:moveTo>
                <a:lnTo>
                  <a:pt x="0" y="0"/>
                </a:lnTo>
                <a:lnTo>
                  <a:pt x="0" y="6858000"/>
                </a:lnTo>
                <a:lnTo>
                  <a:pt x="304800" y="6858000"/>
                </a:lnTo>
                <a:lnTo>
                  <a:pt x="304800" y="0"/>
                </a:lnTo>
                <a:close/>
              </a:path>
            </a:pathLst>
          </a:custGeom>
          <a:solidFill>
            <a:srgbClr val="FDC3AD">
              <a:alpha val="8666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 name="Google Shape;10;p90"/>
          <p:cNvSpPr/>
          <p:nvPr/>
        </p:nvSpPr>
        <p:spPr>
          <a:xfrm>
            <a:off x="8915400" y="0"/>
            <a:ext cx="0" cy="6858000"/>
          </a:xfrm>
          <a:custGeom>
            <a:rect b="b" l="l" r="r" t="t"/>
            <a:pathLst>
              <a:path extrusionOk="0" h="6858000" w="120000">
                <a:moveTo>
                  <a:pt x="0" y="0"/>
                </a:moveTo>
                <a:lnTo>
                  <a:pt x="0" y="6857999"/>
                </a:lnTo>
              </a:path>
            </a:pathLst>
          </a:custGeom>
          <a:noFill/>
          <a:ln cap="flat" cmpd="sng" w="9525">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 name="Google Shape;11;p90"/>
          <p:cNvSpPr txBox="1"/>
          <p:nvPr>
            <p:ph type="title"/>
          </p:nvPr>
        </p:nvSpPr>
        <p:spPr>
          <a:xfrm>
            <a:off x="535940" y="928242"/>
            <a:ext cx="7653655" cy="45211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250" u="none" cap="none" strike="noStrike">
                <a:solidFill>
                  <a:srgbClr val="565F6C"/>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90"/>
          <p:cNvSpPr txBox="1"/>
          <p:nvPr>
            <p:ph idx="1" type="body"/>
          </p:nvPr>
        </p:nvSpPr>
        <p:spPr>
          <a:xfrm>
            <a:off x="535940" y="1628901"/>
            <a:ext cx="4399280" cy="1948814"/>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1" i="0" sz="1400" u="none" cap="none" strike="noStrike">
                <a:solidFill>
                  <a:schemeClr val="dk1"/>
                </a:solidFill>
                <a:latin typeface="Cambria"/>
                <a:ea typeface="Cambria"/>
                <a:cs typeface="Cambria"/>
                <a:sym typeface="Cambri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3" name="Google Shape;13;p90"/>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90"/>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90"/>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b="0" u="non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shafqat@cse.uiu.ac.b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jpg"/><Relationship Id="rId4" Type="http://schemas.openxmlformats.org/officeDocument/2006/relationships/image" Target="../media/image9.jpg"/><Relationship Id="rId5"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1.png"/><Relationship Id="rId4" Type="http://schemas.openxmlformats.org/officeDocument/2006/relationships/image" Target="../media/image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41.png"/><Relationship Id="rId4" Type="http://schemas.openxmlformats.org/officeDocument/2006/relationships/image" Target="../media/image1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4.png"/><Relationship Id="rId4" Type="http://schemas.openxmlformats.org/officeDocument/2006/relationships/image" Target="../media/image2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3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4.png"/><Relationship Id="rId4" Type="http://schemas.openxmlformats.org/officeDocument/2006/relationships/image" Target="../media/image2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0.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3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3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0.png"/><Relationship Id="rId4" Type="http://schemas.openxmlformats.org/officeDocument/2006/relationships/image" Target="../media/image2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3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4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3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3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35.png"/><Relationship Id="rId4" Type="http://schemas.openxmlformats.org/officeDocument/2006/relationships/image" Target="../media/image3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hyperlink" Target="http://www.javatpoint.com/super-keyword" TargetMode="External"/><Relationship Id="rId4" Type="http://schemas.openxmlformats.org/officeDocument/2006/relationships/hyperlink" Target="https://www.tutorialspoint.com/java/" TargetMode="External"/><Relationship Id="rId5" Type="http://schemas.openxmlformats.org/officeDocument/2006/relationships/hyperlink" Target="https://docs.oracle.com/javase/tutoria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
          <p:cNvSpPr txBox="1"/>
          <p:nvPr>
            <p:ph idx="1" type="subTitle"/>
          </p:nvPr>
        </p:nvSpPr>
        <p:spPr>
          <a:xfrm>
            <a:off x="2057400" y="1676400"/>
            <a:ext cx="6317488" cy="1090042"/>
          </a:xfrm>
          <a:prstGeom prst="rect">
            <a:avLst/>
          </a:prstGeom>
          <a:noFill/>
          <a:ln>
            <a:noFill/>
          </a:ln>
        </p:spPr>
        <p:txBody>
          <a:bodyPr anchorCtr="0" anchor="t" bIns="0" lIns="0" spcFirstLastPara="1" rIns="0" wrap="square" tIns="12700">
            <a:spAutoFit/>
          </a:bodyPr>
          <a:lstStyle/>
          <a:p>
            <a:pPr indent="0" lvl="0" marL="963930" rtl="0" algn="l">
              <a:lnSpc>
                <a:spcPct val="100000"/>
              </a:lnSpc>
              <a:spcBef>
                <a:spcPts val="0"/>
              </a:spcBef>
              <a:spcAft>
                <a:spcPts val="0"/>
              </a:spcAft>
              <a:buNone/>
            </a:pPr>
            <a:r>
              <a:rPr lang="en-US" sz="3000"/>
              <a:t>OOP P</a:t>
            </a:r>
            <a:r>
              <a:rPr lang="en-US"/>
              <a:t>RINCIPLES</a:t>
            </a:r>
            <a:endParaRPr sz="3000"/>
          </a:p>
          <a:p>
            <a:pPr indent="0" lvl="0" marL="963930" rtl="0" algn="l">
              <a:lnSpc>
                <a:spcPct val="100000"/>
              </a:lnSpc>
              <a:spcBef>
                <a:spcPts val="25"/>
              </a:spcBef>
              <a:spcAft>
                <a:spcPts val="0"/>
              </a:spcAft>
              <a:buNone/>
            </a:pPr>
            <a:r>
              <a:rPr lang="en-US" sz="2000"/>
              <a:t>CSE 1115: O</a:t>
            </a:r>
            <a:r>
              <a:rPr lang="en-US" sz="1600"/>
              <a:t>BJECT </a:t>
            </a:r>
            <a:r>
              <a:rPr lang="en-US" sz="2000"/>
              <a:t>O</a:t>
            </a:r>
            <a:r>
              <a:rPr lang="en-US" sz="1600"/>
              <a:t>RIENTED </a:t>
            </a:r>
            <a:r>
              <a:rPr lang="en-US" sz="2000"/>
              <a:t>P</a:t>
            </a:r>
            <a:r>
              <a:rPr lang="en-US" sz="1600"/>
              <a:t>ROGRAMMING</a:t>
            </a:r>
            <a:endParaRPr sz="1600"/>
          </a:p>
        </p:txBody>
      </p:sp>
      <p:sp>
        <p:nvSpPr>
          <p:cNvPr id="65" name="Google Shape;65;p1"/>
          <p:cNvSpPr txBox="1"/>
          <p:nvPr/>
        </p:nvSpPr>
        <p:spPr>
          <a:xfrm>
            <a:off x="1949900" y="5334000"/>
            <a:ext cx="2622100" cy="94704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rgbClr val="000000"/>
                </a:solidFill>
                <a:latin typeface="Cambria"/>
                <a:ea typeface="Cambria"/>
                <a:cs typeface="Cambria"/>
                <a:sym typeface="Cambria"/>
              </a:rPr>
              <a:t>Md. Shafqat Talukder Rakin</a:t>
            </a:r>
            <a:endParaRPr sz="1400">
              <a:solidFill>
                <a:srgbClr val="000000"/>
              </a:solidFill>
              <a:latin typeface="Cambria"/>
              <a:ea typeface="Cambria"/>
              <a:cs typeface="Cambria"/>
              <a:sym typeface="Cambria"/>
            </a:endParaRPr>
          </a:p>
          <a:p>
            <a:pPr indent="0" lvl="0" marL="0" marR="3810" rtl="0" algn="l">
              <a:spcBef>
                <a:spcPts val="0"/>
              </a:spcBef>
              <a:spcAft>
                <a:spcPts val="0"/>
              </a:spcAft>
              <a:buNone/>
            </a:pPr>
            <a:r>
              <a:rPr lang="en-US" sz="1400">
                <a:solidFill>
                  <a:srgbClr val="000000"/>
                </a:solidFill>
                <a:latin typeface="Cambria"/>
                <a:ea typeface="Cambria"/>
                <a:cs typeface="Cambria"/>
                <a:sym typeface="Cambria"/>
              </a:rPr>
              <a:t>Lecturer, Department of CSE,  </a:t>
            </a:r>
            <a:endParaRPr/>
          </a:p>
          <a:p>
            <a:pPr indent="0" lvl="0" marL="0" marR="3810" rtl="0" algn="l">
              <a:spcBef>
                <a:spcPts val="0"/>
              </a:spcBef>
              <a:spcAft>
                <a:spcPts val="0"/>
              </a:spcAft>
              <a:buNone/>
            </a:pPr>
            <a:r>
              <a:rPr lang="en-US" sz="1400">
                <a:solidFill>
                  <a:srgbClr val="000000"/>
                </a:solidFill>
                <a:latin typeface="Cambria"/>
                <a:ea typeface="Cambria"/>
                <a:cs typeface="Cambria"/>
                <a:sym typeface="Cambria"/>
              </a:rPr>
              <a:t>United International University</a:t>
            </a:r>
            <a:endParaRPr/>
          </a:p>
          <a:p>
            <a:pPr indent="0" lvl="0" marL="0" marR="3810" rtl="0" algn="l">
              <a:spcBef>
                <a:spcPts val="0"/>
              </a:spcBef>
              <a:spcAft>
                <a:spcPts val="0"/>
              </a:spcAft>
              <a:buNone/>
            </a:pPr>
            <a:r>
              <a:rPr lang="en-US" sz="1400">
                <a:solidFill>
                  <a:srgbClr val="000000"/>
                </a:solidFill>
                <a:latin typeface="Cambria"/>
                <a:ea typeface="Cambria"/>
                <a:cs typeface="Cambria"/>
                <a:sym typeface="Cambria"/>
              </a:rPr>
              <a:t>Email id : </a:t>
            </a:r>
            <a:r>
              <a:rPr lang="en-US" sz="1400" u="sng">
                <a:solidFill>
                  <a:srgbClr val="000000"/>
                </a:solidFill>
                <a:latin typeface="Cambria"/>
                <a:ea typeface="Cambria"/>
                <a:cs typeface="Cambria"/>
                <a:sym typeface="Cambria"/>
                <a:hlinkClick r:id="rId3">
                  <a:extLst>
                    <a:ext uri="{A12FA001-AC4F-418D-AE19-62706E023703}">
                      <ahyp:hlinkClr val="tx"/>
                    </a:ext>
                  </a:extLst>
                </a:hlinkClick>
              </a:rPr>
              <a:t>shafqat@cse.uiu.ac.bd</a:t>
            </a:r>
            <a:endParaRPr sz="1400">
              <a:solidFill>
                <a:srgbClr val="000000"/>
              </a:solidFill>
              <a:latin typeface="Cambria"/>
              <a:ea typeface="Cambria"/>
              <a:cs typeface="Cambria"/>
              <a:sym typeface="Cambria"/>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1"/>
          <p:cNvSpPr txBox="1"/>
          <p:nvPr/>
        </p:nvSpPr>
        <p:spPr>
          <a:xfrm>
            <a:off x="5181600" y="6400800"/>
            <a:ext cx="5026406" cy="289823"/>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800">
                <a:solidFill>
                  <a:srgbClr val="565F6C"/>
                </a:solidFill>
                <a:latin typeface="Cambria"/>
                <a:ea typeface="Cambria"/>
                <a:cs typeface="Cambria"/>
                <a:sym typeface="Cambria"/>
              </a:rPr>
              <a:t>Acknowledged: Tanjina Helaly</a:t>
            </a:r>
            <a:endParaRPr sz="1800">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type="title"/>
          </p:nvPr>
        </p:nvSpPr>
        <p:spPr>
          <a:xfrm>
            <a:off x="535940" y="896239"/>
            <a:ext cx="234950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3 P</a:t>
            </a:r>
            <a:r>
              <a:rPr lang="en-US" sz="2400"/>
              <a:t>RINCIPLES</a:t>
            </a:r>
            <a:endParaRPr sz="2400"/>
          </a:p>
        </p:txBody>
      </p:sp>
      <p:sp>
        <p:nvSpPr>
          <p:cNvPr id="72" name="Google Shape;72;p2"/>
          <p:cNvSpPr txBox="1"/>
          <p:nvPr/>
        </p:nvSpPr>
        <p:spPr>
          <a:xfrm>
            <a:off x="535940" y="1628978"/>
            <a:ext cx="7276500" cy="2673000"/>
          </a:xfrm>
          <a:prstGeom prst="rect">
            <a:avLst/>
          </a:prstGeom>
          <a:noFill/>
          <a:ln>
            <a:noFill/>
          </a:ln>
        </p:spPr>
        <p:txBody>
          <a:bodyPr anchorCtr="0" anchor="t" bIns="0" lIns="0" spcFirstLastPara="1" rIns="0" wrap="square" tIns="12700">
            <a:spAutoFit/>
          </a:bodyPr>
          <a:lstStyle/>
          <a:p>
            <a:pPr indent="-273050" lvl="0" marL="285115" marR="508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All object-oriented programming languages  provide mechanisms that help you implement the  object-oriented model.</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Inheritance</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Encapsulation</a:t>
            </a:r>
            <a:endParaRPr b="0" i="0" sz="2100" u="none" cap="none" strike="noStrike">
              <a:solidFill>
                <a:schemeClr val="dk1"/>
              </a:solidFill>
              <a:latin typeface="Cambria"/>
              <a:ea typeface="Cambria"/>
              <a:cs typeface="Cambria"/>
              <a:sym typeface="Cambria"/>
            </a:endParaRPr>
          </a:p>
          <a:p>
            <a:pPr indent="-273684"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Polymorphism</a:t>
            </a:r>
            <a:endParaRPr b="0" i="0" sz="2100" u="none" cap="none" strike="noStrike">
              <a:solidFill>
                <a:schemeClr val="dk1"/>
              </a:solidFill>
              <a:latin typeface="Cambria"/>
              <a:ea typeface="Cambria"/>
              <a:cs typeface="Cambria"/>
              <a:sym typeface="Cambria"/>
            </a:endParaRPr>
          </a:p>
          <a:p>
            <a:pPr indent="-302260" lvl="1" marL="652780" marR="0" rtl="0" algn="l">
              <a:lnSpc>
                <a:spcPct val="100000"/>
              </a:lnSpc>
              <a:spcBef>
                <a:spcPts val="505"/>
              </a:spcBef>
              <a:spcAft>
                <a:spcPts val="0"/>
              </a:spcAft>
              <a:buClr>
                <a:schemeClr val="dk1"/>
              </a:buClr>
              <a:buSzPts val="2100"/>
              <a:buFont typeface="Cambria"/>
              <a:buChar char="⚫"/>
            </a:pPr>
            <a:r>
              <a:rPr lang="en-US" sz="2100">
                <a:solidFill>
                  <a:schemeClr val="dk1"/>
                </a:solidFill>
                <a:latin typeface="Cambria"/>
                <a:ea typeface="Cambria"/>
                <a:cs typeface="Cambria"/>
                <a:sym typeface="Cambria"/>
              </a:rPr>
              <a:t>Abstraction</a:t>
            </a:r>
            <a:endParaRPr sz="2100">
              <a:solidFill>
                <a:schemeClr val="dk1"/>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txBox="1"/>
          <p:nvPr>
            <p:ph type="title"/>
          </p:nvPr>
        </p:nvSpPr>
        <p:spPr>
          <a:xfrm>
            <a:off x="3013710" y="3136772"/>
            <a:ext cx="235966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535940" y="896239"/>
            <a:ext cx="235775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a:t>
            </a:r>
            <a:endParaRPr sz="2400"/>
          </a:p>
        </p:txBody>
      </p:sp>
      <p:sp>
        <p:nvSpPr>
          <p:cNvPr id="83" name="Google Shape;83;p4"/>
          <p:cNvSpPr txBox="1"/>
          <p:nvPr/>
        </p:nvSpPr>
        <p:spPr>
          <a:xfrm>
            <a:off x="535940" y="1628978"/>
            <a:ext cx="7265670" cy="273875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Inheritance is the process by which one object</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acquires the properties of another object.</a:t>
            </a:r>
            <a:endParaRPr sz="2400">
              <a:solidFill>
                <a:schemeClr val="dk1"/>
              </a:solidFill>
              <a:latin typeface="Cambria"/>
              <a:ea typeface="Cambria"/>
              <a:cs typeface="Cambria"/>
              <a:sym typeface="Cambria"/>
            </a:endParaRPr>
          </a:p>
          <a:p>
            <a:pPr indent="-273050" lvl="0" marL="285115" marR="508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It	is a way to form new classes using classes that  have already been defined.</a:t>
            </a:r>
            <a:endParaRPr sz="2400">
              <a:solidFill>
                <a:schemeClr val="dk1"/>
              </a:solidFill>
              <a:latin typeface="Cambria"/>
              <a:ea typeface="Cambria"/>
              <a:cs typeface="Cambria"/>
              <a:sym typeface="Cambria"/>
            </a:endParaRPr>
          </a:p>
          <a:p>
            <a:pPr indent="-273050" lvl="0" marL="285115" marR="600075" rtl="0" algn="l">
              <a:lnSpc>
                <a:spcPct val="100000"/>
              </a:lnSpc>
              <a:spcBef>
                <a:spcPts val="60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new classes (child classes), take over (or  inherit) </a:t>
            </a:r>
            <a:r>
              <a:rPr b="1" lang="en-US" sz="2400">
                <a:solidFill>
                  <a:schemeClr val="dk1"/>
                </a:solidFill>
                <a:latin typeface="Cambria"/>
                <a:ea typeface="Cambria"/>
                <a:cs typeface="Cambria"/>
                <a:sym typeface="Cambria"/>
              </a:rPr>
              <a:t>attributes </a:t>
            </a:r>
            <a:r>
              <a:rPr lang="en-US" sz="2400">
                <a:solidFill>
                  <a:schemeClr val="dk1"/>
                </a:solidFill>
                <a:latin typeface="Cambria"/>
                <a:ea typeface="Cambria"/>
                <a:cs typeface="Cambria"/>
                <a:sym typeface="Cambria"/>
              </a:rPr>
              <a:t>and </a:t>
            </a:r>
            <a:r>
              <a:rPr b="1" lang="en-US" sz="2400">
                <a:solidFill>
                  <a:schemeClr val="dk1"/>
                </a:solidFill>
                <a:latin typeface="Cambria"/>
                <a:ea typeface="Cambria"/>
                <a:cs typeface="Cambria"/>
                <a:sym typeface="Cambria"/>
              </a:rPr>
              <a:t>behavior </a:t>
            </a:r>
            <a:r>
              <a:rPr lang="en-US" sz="2400">
                <a:solidFill>
                  <a:schemeClr val="dk1"/>
                </a:solidFill>
                <a:latin typeface="Cambria"/>
                <a:ea typeface="Cambria"/>
                <a:cs typeface="Cambria"/>
                <a:sym typeface="Cambria"/>
              </a:rPr>
              <a:t>of the pre-  existing classes (parent classes).</a:t>
            </a:r>
            <a:endParaRPr sz="2400">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535940" y="896239"/>
            <a:ext cx="235775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a:t>
            </a:r>
            <a:endParaRPr sz="2400"/>
          </a:p>
        </p:txBody>
      </p:sp>
      <p:sp>
        <p:nvSpPr>
          <p:cNvPr id="89" name="Google Shape;89;p5"/>
          <p:cNvSpPr txBox="1"/>
          <p:nvPr/>
        </p:nvSpPr>
        <p:spPr>
          <a:xfrm>
            <a:off x="535940" y="1628978"/>
            <a:ext cx="7289165" cy="4025900"/>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Java uses “extends” keyword to show inheritance</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relationship. Example</a:t>
            </a:r>
            <a:endParaRPr sz="2400">
              <a:solidFill>
                <a:schemeClr val="dk1"/>
              </a:solidFill>
              <a:latin typeface="Cambria"/>
              <a:ea typeface="Cambria"/>
              <a:cs typeface="Cambria"/>
              <a:sym typeface="Cambria"/>
            </a:endParaRPr>
          </a:p>
          <a:p>
            <a:pPr indent="0" lvl="0" marL="285115" marR="0" rtl="0" algn="l">
              <a:lnSpc>
                <a:spcPct val="100000"/>
              </a:lnSpc>
              <a:spcBef>
                <a:spcPts val="600"/>
              </a:spcBef>
              <a:spcAft>
                <a:spcPts val="0"/>
              </a:spcAft>
              <a:buNone/>
            </a:pPr>
            <a:r>
              <a:rPr lang="en-US" sz="2400">
                <a:solidFill>
                  <a:schemeClr val="dk1"/>
                </a:solidFill>
                <a:latin typeface="Cambria"/>
                <a:ea typeface="Cambria"/>
                <a:cs typeface="Cambria"/>
                <a:sym typeface="Cambria"/>
              </a:rPr>
              <a:t>class Child extends Parent{}</a:t>
            </a:r>
            <a:endParaRPr sz="2400">
              <a:solidFill>
                <a:schemeClr val="dk1"/>
              </a:solidFill>
              <a:latin typeface="Cambria"/>
              <a:ea typeface="Cambria"/>
              <a:cs typeface="Cambria"/>
              <a:sym typeface="Cambria"/>
            </a:endParaRPr>
          </a:p>
          <a:p>
            <a:pPr indent="-273050" lvl="0" marL="285115" marR="0" rtl="0" algn="l">
              <a:lnSpc>
                <a:spcPct val="100000"/>
              </a:lnSpc>
              <a:spcBef>
                <a:spcPts val="59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class that is extended is a </a:t>
            </a:r>
            <a:r>
              <a:rPr b="1" lang="en-US" sz="2400">
                <a:solidFill>
                  <a:schemeClr val="dk1"/>
                </a:solidFill>
                <a:latin typeface="Cambria"/>
                <a:ea typeface="Cambria"/>
                <a:cs typeface="Cambria"/>
                <a:sym typeface="Cambria"/>
              </a:rPr>
              <a:t>superclass</a:t>
            </a:r>
            <a:endParaRPr sz="2400">
              <a:solidFill>
                <a:schemeClr val="dk1"/>
              </a:solidFill>
              <a:latin typeface="Cambria"/>
              <a:ea typeface="Cambria"/>
              <a:cs typeface="Cambria"/>
              <a:sym typeface="Cambria"/>
            </a:endParaRPr>
          </a:p>
          <a:p>
            <a:pPr indent="-273685" lvl="1" marL="652780" marR="0" rtl="0" algn="l">
              <a:lnSpc>
                <a:spcPct val="100000"/>
              </a:lnSpc>
              <a:spcBef>
                <a:spcPts val="51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Other terms: parent class, base class, ancestor class</a:t>
            </a:r>
            <a:endParaRPr b="0" i="0" sz="2100" u="none" cap="none" strike="noStrike">
              <a:solidFill>
                <a:schemeClr val="dk1"/>
              </a:solidFill>
              <a:latin typeface="Cambria"/>
              <a:ea typeface="Cambria"/>
              <a:cs typeface="Cambria"/>
              <a:sym typeface="Cambria"/>
            </a:endParaRPr>
          </a:p>
          <a:p>
            <a:pPr indent="-285115" lvl="0" marL="285115" marR="5080" rtl="0" algn="r">
              <a:lnSpc>
                <a:spcPct val="100000"/>
              </a:lnSpc>
              <a:spcBef>
                <a:spcPts val="59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extended class is a </a:t>
            </a:r>
            <a:r>
              <a:rPr b="1" lang="en-US" sz="2400">
                <a:solidFill>
                  <a:schemeClr val="dk1"/>
                </a:solidFill>
                <a:latin typeface="Cambria"/>
                <a:ea typeface="Cambria"/>
                <a:cs typeface="Cambria"/>
                <a:sym typeface="Cambria"/>
              </a:rPr>
              <a:t>subclass </a:t>
            </a:r>
            <a:r>
              <a:rPr lang="en-US" sz="2400">
                <a:solidFill>
                  <a:schemeClr val="dk1"/>
                </a:solidFill>
                <a:latin typeface="Cambria"/>
                <a:ea typeface="Cambria"/>
                <a:cs typeface="Cambria"/>
                <a:sym typeface="Cambria"/>
              </a:rPr>
              <a:t>of its superclass</a:t>
            </a:r>
            <a:endParaRPr sz="2400">
              <a:solidFill>
                <a:schemeClr val="dk1"/>
              </a:solidFill>
              <a:latin typeface="Cambria"/>
              <a:ea typeface="Cambria"/>
              <a:cs typeface="Cambria"/>
              <a:sym typeface="Cambria"/>
            </a:endParaRPr>
          </a:p>
          <a:p>
            <a:pPr indent="-272415" lvl="1" marL="272415" marR="8890" rtl="0" algn="r">
              <a:lnSpc>
                <a:spcPct val="100000"/>
              </a:lnSpc>
              <a:spcBef>
                <a:spcPts val="52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Other terms: child class, extended class, derived class</a:t>
            </a:r>
            <a:endParaRPr b="0" i="0" sz="2100" u="none" cap="none" strike="noStrike">
              <a:solidFill>
                <a:schemeClr val="dk1"/>
              </a:solidFill>
              <a:latin typeface="Cambria"/>
              <a:ea typeface="Cambria"/>
              <a:cs typeface="Cambria"/>
              <a:sym typeface="Cambria"/>
            </a:endParaRPr>
          </a:p>
          <a:p>
            <a:pPr indent="-273050" lvl="0" marL="285115" marR="241300" rtl="0" algn="l">
              <a:lnSpc>
                <a:spcPct val="100200"/>
              </a:lnSpc>
              <a:spcBef>
                <a:spcPts val="58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An object created from the subclass has its </a:t>
            </a:r>
            <a:r>
              <a:rPr b="1" lang="en-US" sz="2400">
                <a:solidFill>
                  <a:schemeClr val="dk1"/>
                </a:solidFill>
                <a:latin typeface="Cambria"/>
                <a:ea typeface="Cambria"/>
                <a:cs typeface="Cambria"/>
                <a:sym typeface="Cambria"/>
              </a:rPr>
              <a:t>own  copy </a:t>
            </a:r>
            <a:r>
              <a:rPr lang="en-US" sz="2400">
                <a:solidFill>
                  <a:schemeClr val="dk1"/>
                </a:solidFill>
                <a:latin typeface="Cambria"/>
                <a:ea typeface="Cambria"/>
                <a:cs typeface="Cambria"/>
                <a:sym typeface="Cambria"/>
              </a:rPr>
              <a:t>of all the </a:t>
            </a:r>
            <a:r>
              <a:rPr b="1" lang="en-US" sz="2400">
                <a:solidFill>
                  <a:schemeClr val="dk1"/>
                </a:solidFill>
                <a:latin typeface="Cambria"/>
                <a:ea typeface="Cambria"/>
                <a:cs typeface="Cambria"/>
                <a:sym typeface="Cambria"/>
              </a:rPr>
              <a:t>nonstatic fields </a:t>
            </a:r>
            <a:r>
              <a:rPr lang="en-US" sz="2400">
                <a:solidFill>
                  <a:schemeClr val="dk1"/>
                </a:solidFill>
                <a:latin typeface="Cambria"/>
                <a:ea typeface="Cambria"/>
                <a:cs typeface="Cambria"/>
                <a:sym typeface="Cambria"/>
              </a:rPr>
              <a:t>defined in its  superclass</a:t>
            </a:r>
            <a:endParaRPr sz="240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txBox="1"/>
          <p:nvPr>
            <p:ph type="title"/>
          </p:nvPr>
        </p:nvSpPr>
        <p:spPr>
          <a:xfrm>
            <a:off x="535940" y="896239"/>
            <a:ext cx="235775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a:t>
            </a:r>
            <a:endParaRPr sz="2400"/>
          </a:p>
        </p:txBody>
      </p:sp>
      <p:sp>
        <p:nvSpPr>
          <p:cNvPr id="95" name="Google Shape;95;p6"/>
          <p:cNvSpPr txBox="1"/>
          <p:nvPr/>
        </p:nvSpPr>
        <p:spPr>
          <a:xfrm>
            <a:off x="535940" y="1628978"/>
            <a:ext cx="7230109" cy="273875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This is important because it supports the concept</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of hierarchical classification.</a:t>
            </a:r>
            <a:endParaRPr sz="2400">
              <a:solidFill>
                <a:schemeClr val="dk1"/>
              </a:solidFill>
              <a:latin typeface="Cambria"/>
              <a:ea typeface="Cambria"/>
              <a:cs typeface="Cambria"/>
              <a:sym typeface="Cambria"/>
            </a:endParaRPr>
          </a:p>
          <a:p>
            <a:pPr indent="-273050" lvl="0" marL="285115" marR="259079"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Inheritance provides a powerful and natural  mechanism for organizing and structuring your  software</a:t>
            </a:r>
            <a:endParaRPr sz="2400">
              <a:solidFill>
                <a:schemeClr val="dk1"/>
              </a:solidFill>
              <a:latin typeface="Cambria"/>
              <a:ea typeface="Cambria"/>
              <a:cs typeface="Cambria"/>
              <a:sym typeface="Cambria"/>
            </a:endParaRPr>
          </a:p>
          <a:p>
            <a:pPr indent="-273050" lvl="0" marL="285115" marR="528955" rtl="0" algn="l">
              <a:lnSpc>
                <a:spcPct val="100000"/>
              </a:lnSpc>
              <a:spcBef>
                <a:spcPts val="60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It is intended to help reuse existing code with  little or no modification.</a:t>
            </a:r>
            <a:endParaRPr sz="2400">
              <a:solidFill>
                <a:schemeClr val="dk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535940" y="896239"/>
            <a:ext cx="432435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 </a:t>
            </a:r>
            <a:r>
              <a:rPr lang="en-US" sz="3000"/>
              <a:t>- E</a:t>
            </a:r>
            <a:r>
              <a:rPr lang="en-US" sz="2400"/>
              <a:t>XAMPLE</a:t>
            </a:r>
            <a:endParaRPr sz="2400"/>
          </a:p>
        </p:txBody>
      </p:sp>
      <p:sp>
        <p:nvSpPr>
          <p:cNvPr id="101" name="Google Shape;101;p7"/>
          <p:cNvSpPr txBox="1"/>
          <p:nvPr/>
        </p:nvSpPr>
        <p:spPr>
          <a:xfrm>
            <a:off x="535940" y="1630426"/>
            <a:ext cx="6783070" cy="345567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class Parent {</a:t>
            </a:r>
            <a:endParaRPr sz="1800">
              <a:solidFill>
                <a:schemeClr val="dk1"/>
              </a:solidFill>
              <a:latin typeface="Cambria"/>
              <a:ea typeface="Cambria"/>
              <a:cs typeface="Cambria"/>
              <a:sym typeface="Cambria"/>
            </a:endParaRPr>
          </a:p>
          <a:p>
            <a:pPr indent="0" lvl="0" marL="379730" marR="3676015" rtl="0" algn="l">
              <a:lnSpc>
                <a:spcPct val="100000"/>
              </a:lnSpc>
              <a:spcBef>
                <a:spcPts val="0"/>
              </a:spcBef>
              <a:spcAft>
                <a:spcPts val="0"/>
              </a:spcAft>
              <a:buNone/>
            </a:pPr>
            <a:r>
              <a:rPr lang="en-US" sz="1500">
                <a:solidFill>
                  <a:schemeClr val="dk1"/>
                </a:solidFill>
                <a:latin typeface="Cambria"/>
                <a:ea typeface="Cambria"/>
                <a:cs typeface="Cambria"/>
                <a:sym typeface="Cambria"/>
              </a:rPr>
              <a:t>public int parentVariable = 10;  public void parentMethod() {</a:t>
            </a:r>
            <a:endParaRPr sz="1500">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1500">
                <a:solidFill>
                  <a:schemeClr val="dk1"/>
                </a:solidFill>
                <a:latin typeface="Cambria"/>
                <a:ea typeface="Cambria"/>
                <a:cs typeface="Cambria"/>
                <a:sym typeface="Cambria"/>
              </a:rPr>
              <a:t>System.out.println( "Parent Method" );</a:t>
            </a:r>
            <a:endParaRPr sz="15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a:t>
            </a:r>
            <a:endParaRPr sz="1800">
              <a:solidFill>
                <a:schemeClr val="dk1"/>
              </a:solidFill>
              <a:latin typeface="Cambria"/>
              <a:ea typeface="Cambria"/>
              <a:cs typeface="Cambria"/>
              <a:sym typeface="Cambria"/>
            </a:endParaRPr>
          </a:p>
          <a:p>
            <a:pPr indent="0" lvl="0" marL="12700" marR="0" rtl="0" algn="l">
              <a:lnSpc>
                <a:spcPct val="100000"/>
              </a:lnSpc>
              <a:spcBef>
                <a:spcPts val="5"/>
              </a:spcBef>
              <a:spcAft>
                <a:spcPts val="0"/>
              </a:spcAft>
              <a:buNone/>
            </a:pPr>
            <a:r>
              <a:rPr lang="en-US" sz="1800">
                <a:solidFill>
                  <a:schemeClr val="dk1"/>
                </a:solidFill>
                <a:latin typeface="Cambria"/>
                <a:ea typeface="Cambria"/>
                <a:cs typeface="Cambria"/>
                <a:sym typeface="Cambria"/>
              </a:rPr>
              <a:t>class Child extends Parent {</a:t>
            </a:r>
            <a:endParaRPr sz="1800">
              <a:solidFill>
                <a:schemeClr val="dk1"/>
              </a:solidFill>
              <a:latin typeface="Cambria"/>
              <a:ea typeface="Cambria"/>
              <a:cs typeface="Cambria"/>
              <a:sym typeface="Cambria"/>
            </a:endParaRPr>
          </a:p>
          <a:p>
            <a:pPr indent="31750" lvl="0" marL="379730" marR="3903979" rtl="0" algn="l">
              <a:lnSpc>
                <a:spcPct val="103299"/>
              </a:lnSpc>
              <a:spcBef>
                <a:spcPts val="240"/>
              </a:spcBef>
              <a:spcAft>
                <a:spcPts val="0"/>
              </a:spcAft>
              <a:buNone/>
            </a:pPr>
            <a:r>
              <a:rPr lang="en-US" sz="1500">
                <a:solidFill>
                  <a:schemeClr val="dk1"/>
                </a:solidFill>
                <a:latin typeface="Cambria"/>
                <a:ea typeface="Cambria"/>
                <a:cs typeface="Cambria"/>
                <a:sym typeface="Cambria"/>
              </a:rPr>
              <a:t>public int childVariable = 5;  public void childMethod() {</a:t>
            </a:r>
            <a:endParaRPr sz="1500">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1500">
                <a:solidFill>
                  <a:schemeClr val="dk1"/>
                </a:solidFill>
                <a:latin typeface="Cambria"/>
                <a:ea typeface="Cambria"/>
                <a:cs typeface="Cambria"/>
                <a:sym typeface="Cambria"/>
              </a:rPr>
              <a:t>parentMethod();</a:t>
            </a:r>
            <a:endParaRPr sz="1500">
              <a:solidFill>
                <a:schemeClr val="dk1"/>
              </a:solidFill>
              <a:latin typeface="Cambria"/>
              <a:ea typeface="Cambria"/>
              <a:cs typeface="Cambria"/>
              <a:sym typeface="Cambria"/>
            </a:endParaRPr>
          </a:p>
          <a:p>
            <a:pPr indent="0" lvl="0" marL="652780" marR="5080" rtl="0" algn="l">
              <a:lnSpc>
                <a:spcPct val="100000"/>
              </a:lnSpc>
              <a:spcBef>
                <a:spcPts val="0"/>
              </a:spcBef>
              <a:spcAft>
                <a:spcPts val="0"/>
              </a:spcAft>
              <a:buNone/>
            </a:pPr>
            <a:r>
              <a:rPr lang="en-US" sz="1500">
                <a:solidFill>
                  <a:schemeClr val="dk1"/>
                </a:solidFill>
                <a:latin typeface="Cambria"/>
                <a:ea typeface="Cambria"/>
                <a:cs typeface="Cambria"/>
                <a:sym typeface="Cambria"/>
              </a:rPr>
              <a:t>System.out.printf( "In Child ParentVariable=%d, ChildVariable=%d“,  parentVariable, childVariable );</a:t>
            </a:r>
            <a:endParaRPr sz="15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a:t>
            </a:r>
            <a:endParaRPr sz="1800">
              <a:solidFill>
                <a:schemeClr val="dk1"/>
              </a:solidFill>
              <a:latin typeface="Cambria"/>
              <a:ea typeface="Cambria"/>
              <a:cs typeface="Cambria"/>
              <a:sym typeface="Cambria"/>
            </a:endParaRPr>
          </a:p>
        </p:txBody>
      </p:sp>
      <p:sp>
        <p:nvSpPr>
          <p:cNvPr id="102" name="Google Shape;102;p7"/>
          <p:cNvSpPr txBox="1"/>
          <p:nvPr/>
        </p:nvSpPr>
        <p:spPr>
          <a:xfrm>
            <a:off x="535940" y="5060441"/>
            <a:ext cx="4016375" cy="1763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class Inheritance {</a:t>
            </a:r>
            <a:endParaRPr sz="1800">
              <a:solidFill>
                <a:schemeClr val="dk1"/>
              </a:solidFill>
              <a:latin typeface="Cambria"/>
              <a:ea typeface="Cambria"/>
              <a:cs typeface="Cambria"/>
              <a:sym typeface="Cambria"/>
            </a:endParaRPr>
          </a:p>
          <a:p>
            <a:pPr indent="-364490" lvl="0" marL="744220" marR="163830" rtl="0" algn="l">
              <a:lnSpc>
                <a:spcPct val="100000"/>
              </a:lnSpc>
              <a:spcBef>
                <a:spcPts val="0"/>
              </a:spcBef>
              <a:spcAft>
                <a:spcPts val="0"/>
              </a:spcAft>
              <a:buNone/>
            </a:pPr>
            <a:r>
              <a:rPr lang="en-US" sz="1500">
                <a:solidFill>
                  <a:schemeClr val="dk1"/>
                </a:solidFill>
                <a:latin typeface="Cambria"/>
                <a:ea typeface="Cambria"/>
                <a:cs typeface="Cambria"/>
                <a:sym typeface="Cambria"/>
              </a:rPr>
              <a:t>public static void main( String args[] ) {  </a:t>
            </a:r>
            <a:r>
              <a:rPr lang="en-US" sz="1200">
                <a:solidFill>
                  <a:schemeClr val="dk1"/>
                </a:solidFill>
                <a:latin typeface="Cambria"/>
                <a:ea typeface="Cambria"/>
                <a:cs typeface="Cambria"/>
                <a:sym typeface="Cambria"/>
              </a:rPr>
              <a:t>Child example = new Child();  example.childMethod();  example.parentMethod();</a:t>
            </a:r>
            <a:endParaRPr sz="12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200">
                <a:solidFill>
                  <a:schemeClr val="dk1"/>
                </a:solidFill>
                <a:latin typeface="Cambria"/>
                <a:ea typeface="Cambria"/>
                <a:cs typeface="Cambria"/>
                <a:sym typeface="Cambria"/>
              </a:rPr>
              <a:t>System.out.println( example.parentVariable );</a:t>
            </a:r>
            <a:endParaRPr sz="12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a:t>
            </a:r>
            <a:endParaRPr sz="1800">
              <a:solidFill>
                <a:schemeClr val="dk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type="title"/>
          </p:nvPr>
        </p:nvSpPr>
        <p:spPr>
          <a:xfrm>
            <a:off x="535940" y="896239"/>
            <a:ext cx="432435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 </a:t>
            </a:r>
            <a:r>
              <a:rPr lang="en-US" sz="3000"/>
              <a:t>- E</a:t>
            </a:r>
            <a:r>
              <a:rPr lang="en-US" sz="2400"/>
              <a:t>XAMPLE</a:t>
            </a:r>
            <a:endParaRPr sz="2400"/>
          </a:p>
        </p:txBody>
      </p:sp>
      <p:sp>
        <p:nvSpPr>
          <p:cNvPr id="108" name="Google Shape;108;p8"/>
          <p:cNvSpPr txBox="1"/>
          <p:nvPr/>
        </p:nvSpPr>
        <p:spPr>
          <a:xfrm>
            <a:off x="535940" y="1630426"/>
            <a:ext cx="6783070" cy="345567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class Parent {</a:t>
            </a:r>
            <a:endParaRPr sz="1800">
              <a:solidFill>
                <a:schemeClr val="dk1"/>
              </a:solidFill>
              <a:latin typeface="Cambria"/>
              <a:ea typeface="Cambria"/>
              <a:cs typeface="Cambria"/>
              <a:sym typeface="Cambria"/>
            </a:endParaRPr>
          </a:p>
          <a:p>
            <a:pPr indent="0" lvl="0" marL="379730" marR="3676015" rtl="0" algn="l">
              <a:lnSpc>
                <a:spcPct val="100000"/>
              </a:lnSpc>
              <a:spcBef>
                <a:spcPts val="0"/>
              </a:spcBef>
              <a:spcAft>
                <a:spcPts val="0"/>
              </a:spcAft>
              <a:buNone/>
            </a:pPr>
            <a:r>
              <a:rPr lang="en-US" sz="1500">
                <a:solidFill>
                  <a:schemeClr val="dk1"/>
                </a:solidFill>
                <a:latin typeface="Cambria"/>
                <a:ea typeface="Cambria"/>
                <a:cs typeface="Cambria"/>
                <a:sym typeface="Cambria"/>
              </a:rPr>
              <a:t>public int parentVariable = 10;  public void parentMethod() {</a:t>
            </a:r>
            <a:endParaRPr sz="1500">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1500">
                <a:solidFill>
                  <a:schemeClr val="dk1"/>
                </a:solidFill>
                <a:latin typeface="Cambria"/>
                <a:ea typeface="Cambria"/>
                <a:cs typeface="Cambria"/>
                <a:sym typeface="Cambria"/>
              </a:rPr>
              <a:t>System.out.println( "Parent Method" );</a:t>
            </a:r>
            <a:endParaRPr sz="15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a:t>
            </a:r>
            <a:endParaRPr sz="1800">
              <a:solidFill>
                <a:schemeClr val="dk1"/>
              </a:solidFill>
              <a:latin typeface="Cambria"/>
              <a:ea typeface="Cambria"/>
              <a:cs typeface="Cambria"/>
              <a:sym typeface="Cambria"/>
            </a:endParaRPr>
          </a:p>
          <a:p>
            <a:pPr indent="0" lvl="0" marL="12700" marR="0" rtl="0" algn="l">
              <a:lnSpc>
                <a:spcPct val="100000"/>
              </a:lnSpc>
              <a:spcBef>
                <a:spcPts val="5"/>
              </a:spcBef>
              <a:spcAft>
                <a:spcPts val="0"/>
              </a:spcAft>
              <a:buNone/>
            </a:pPr>
            <a:r>
              <a:rPr lang="en-US" sz="1800">
                <a:solidFill>
                  <a:schemeClr val="dk1"/>
                </a:solidFill>
                <a:latin typeface="Cambria"/>
                <a:ea typeface="Cambria"/>
                <a:cs typeface="Cambria"/>
                <a:sym typeface="Cambria"/>
              </a:rPr>
              <a:t>class Child extends Parent {</a:t>
            </a:r>
            <a:endParaRPr sz="1800">
              <a:solidFill>
                <a:schemeClr val="dk1"/>
              </a:solidFill>
              <a:latin typeface="Cambria"/>
              <a:ea typeface="Cambria"/>
              <a:cs typeface="Cambria"/>
              <a:sym typeface="Cambria"/>
            </a:endParaRPr>
          </a:p>
          <a:p>
            <a:pPr indent="31750" lvl="0" marL="379730" marR="3903979" rtl="0" algn="l">
              <a:lnSpc>
                <a:spcPct val="103299"/>
              </a:lnSpc>
              <a:spcBef>
                <a:spcPts val="240"/>
              </a:spcBef>
              <a:spcAft>
                <a:spcPts val="0"/>
              </a:spcAft>
              <a:buNone/>
            </a:pPr>
            <a:r>
              <a:rPr lang="en-US" sz="1500">
                <a:solidFill>
                  <a:schemeClr val="dk1"/>
                </a:solidFill>
                <a:latin typeface="Cambria"/>
                <a:ea typeface="Cambria"/>
                <a:cs typeface="Cambria"/>
                <a:sym typeface="Cambria"/>
              </a:rPr>
              <a:t>public int childVariable = 5;  public void childMethod() {</a:t>
            </a:r>
            <a:endParaRPr sz="1500">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1500">
                <a:solidFill>
                  <a:schemeClr val="dk1"/>
                </a:solidFill>
                <a:latin typeface="Cambria"/>
                <a:ea typeface="Cambria"/>
                <a:cs typeface="Cambria"/>
                <a:sym typeface="Cambria"/>
              </a:rPr>
              <a:t>parentMethod();</a:t>
            </a:r>
            <a:endParaRPr sz="1500">
              <a:solidFill>
                <a:schemeClr val="dk1"/>
              </a:solidFill>
              <a:latin typeface="Cambria"/>
              <a:ea typeface="Cambria"/>
              <a:cs typeface="Cambria"/>
              <a:sym typeface="Cambria"/>
            </a:endParaRPr>
          </a:p>
          <a:p>
            <a:pPr indent="0" lvl="0" marL="652780" marR="5080" rtl="0" algn="l">
              <a:lnSpc>
                <a:spcPct val="100000"/>
              </a:lnSpc>
              <a:spcBef>
                <a:spcPts val="0"/>
              </a:spcBef>
              <a:spcAft>
                <a:spcPts val="0"/>
              </a:spcAft>
              <a:buNone/>
            </a:pPr>
            <a:r>
              <a:rPr lang="en-US" sz="1500">
                <a:solidFill>
                  <a:schemeClr val="dk1"/>
                </a:solidFill>
                <a:latin typeface="Cambria"/>
                <a:ea typeface="Cambria"/>
                <a:cs typeface="Cambria"/>
                <a:sym typeface="Cambria"/>
              </a:rPr>
              <a:t>System.out.printf( "In Child ParentVariable=%d, ChildVariable=%d“,  parentVariable, childVariable );</a:t>
            </a:r>
            <a:endParaRPr sz="15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a:t>
            </a:r>
            <a:endParaRPr sz="1800">
              <a:solidFill>
                <a:schemeClr val="dk1"/>
              </a:solidFill>
              <a:latin typeface="Cambria"/>
              <a:ea typeface="Cambria"/>
              <a:cs typeface="Cambria"/>
              <a:sym typeface="Cambria"/>
            </a:endParaRPr>
          </a:p>
        </p:txBody>
      </p:sp>
      <p:sp>
        <p:nvSpPr>
          <p:cNvPr id="109" name="Google Shape;109;p8"/>
          <p:cNvSpPr txBox="1"/>
          <p:nvPr/>
        </p:nvSpPr>
        <p:spPr>
          <a:xfrm>
            <a:off x="535940" y="5060441"/>
            <a:ext cx="4016375" cy="1763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class Inheritance {</a:t>
            </a:r>
            <a:endParaRPr sz="1800">
              <a:solidFill>
                <a:schemeClr val="dk1"/>
              </a:solidFill>
              <a:latin typeface="Cambria"/>
              <a:ea typeface="Cambria"/>
              <a:cs typeface="Cambria"/>
              <a:sym typeface="Cambria"/>
            </a:endParaRPr>
          </a:p>
          <a:p>
            <a:pPr indent="-364490" lvl="0" marL="744220" marR="163830" rtl="0" algn="l">
              <a:lnSpc>
                <a:spcPct val="100000"/>
              </a:lnSpc>
              <a:spcBef>
                <a:spcPts val="0"/>
              </a:spcBef>
              <a:spcAft>
                <a:spcPts val="0"/>
              </a:spcAft>
              <a:buNone/>
            </a:pPr>
            <a:r>
              <a:rPr lang="en-US" sz="1500">
                <a:solidFill>
                  <a:schemeClr val="dk1"/>
                </a:solidFill>
                <a:latin typeface="Cambria"/>
                <a:ea typeface="Cambria"/>
                <a:cs typeface="Cambria"/>
                <a:sym typeface="Cambria"/>
              </a:rPr>
              <a:t>public static void main( String args[] ) {  </a:t>
            </a:r>
            <a:r>
              <a:rPr lang="en-US" sz="1200">
                <a:solidFill>
                  <a:schemeClr val="dk1"/>
                </a:solidFill>
                <a:latin typeface="Cambria"/>
                <a:ea typeface="Cambria"/>
                <a:cs typeface="Cambria"/>
                <a:sym typeface="Cambria"/>
              </a:rPr>
              <a:t>Child example = new Child();  example.childMethod();  example.parentMethod();</a:t>
            </a:r>
            <a:endParaRPr sz="12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200">
                <a:solidFill>
                  <a:schemeClr val="dk1"/>
                </a:solidFill>
                <a:latin typeface="Cambria"/>
                <a:ea typeface="Cambria"/>
                <a:cs typeface="Cambria"/>
                <a:sym typeface="Cambria"/>
              </a:rPr>
              <a:t>System.out.println( example.parentVariable );</a:t>
            </a:r>
            <a:endParaRPr sz="12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800">
                <a:solidFill>
                  <a:schemeClr val="dk1"/>
                </a:solidFill>
                <a:latin typeface="Cambria"/>
                <a:ea typeface="Cambria"/>
                <a:cs typeface="Cambria"/>
                <a:sym typeface="Cambria"/>
              </a:rPr>
              <a:t>}</a:t>
            </a:r>
            <a:endParaRPr sz="1800">
              <a:solidFill>
                <a:schemeClr val="dk1"/>
              </a:solidFill>
              <a:latin typeface="Cambria"/>
              <a:ea typeface="Cambria"/>
              <a:cs typeface="Cambria"/>
              <a:sym typeface="Cambria"/>
            </a:endParaRPr>
          </a:p>
        </p:txBody>
      </p:sp>
      <p:sp>
        <p:nvSpPr>
          <p:cNvPr id="110" name="Google Shape;110;p8"/>
          <p:cNvSpPr txBox="1"/>
          <p:nvPr/>
        </p:nvSpPr>
        <p:spPr>
          <a:xfrm>
            <a:off x="4953000" y="5170487"/>
            <a:ext cx="3733800" cy="1230630"/>
          </a:xfrm>
          <a:prstGeom prst="rect">
            <a:avLst/>
          </a:prstGeom>
          <a:solidFill>
            <a:srgbClr val="BEBEBE"/>
          </a:solidFill>
          <a:ln>
            <a:noFill/>
          </a:ln>
        </p:spPr>
        <p:txBody>
          <a:bodyPr anchorCtr="0" anchor="t" bIns="0" lIns="0" spcFirstLastPara="1" rIns="0" wrap="square" tIns="40625">
            <a:spAutoFit/>
          </a:bodyPr>
          <a:lstStyle/>
          <a:p>
            <a:pPr indent="0" lvl="0" marL="92075" marR="0" rtl="0" algn="l">
              <a:lnSpc>
                <a:spcPct val="100000"/>
              </a:lnSpc>
              <a:spcBef>
                <a:spcPts val="0"/>
              </a:spcBef>
              <a:spcAft>
                <a:spcPts val="0"/>
              </a:spcAft>
              <a:buNone/>
            </a:pPr>
            <a:r>
              <a:rPr b="1"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400">
                <a:solidFill>
                  <a:schemeClr val="dk1"/>
                </a:solidFill>
                <a:latin typeface="Arial"/>
                <a:ea typeface="Arial"/>
                <a:cs typeface="Arial"/>
                <a:sym typeface="Arial"/>
              </a:rPr>
              <a:t>Parent Method</a:t>
            </a:r>
            <a:endParaRPr sz="1400">
              <a:solidFill>
                <a:schemeClr val="dk1"/>
              </a:solidFill>
              <a:latin typeface="Arial"/>
              <a:ea typeface="Arial"/>
              <a:cs typeface="Arial"/>
              <a:sym typeface="Arial"/>
            </a:endParaRPr>
          </a:p>
          <a:p>
            <a:pPr indent="0" lvl="0" marL="92075" marR="175895" rtl="0" algn="l">
              <a:lnSpc>
                <a:spcPct val="100000"/>
              </a:lnSpc>
              <a:spcBef>
                <a:spcPts val="0"/>
              </a:spcBef>
              <a:spcAft>
                <a:spcPts val="0"/>
              </a:spcAft>
              <a:buNone/>
            </a:pPr>
            <a:r>
              <a:rPr lang="en-US" sz="1400">
                <a:solidFill>
                  <a:schemeClr val="dk1"/>
                </a:solidFill>
                <a:latin typeface="Arial"/>
                <a:ea typeface="Arial"/>
                <a:cs typeface="Arial"/>
                <a:sym typeface="Arial"/>
              </a:rPr>
              <a:t>In Child ParentVariable=10, ChildVariable=5  Parent Method</a:t>
            </a:r>
            <a:endParaRPr sz="14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400">
                <a:solidFill>
                  <a:schemeClr val="dk1"/>
                </a:solidFill>
                <a:latin typeface="Arial"/>
                <a:ea typeface="Arial"/>
                <a:cs typeface="Arial"/>
                <a:sym typeface="Arial"/>
              </a:rPr>
              <a:t>10</a:t>
            </a:r>
            <a:endParaRPr sz="1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9"/>
          <p:cNvSpPr txBox="1"/>
          <p:nvPr/>
        </p:nvSpPr>
        <p:spPr>
          <a:xfrm>
            <a:off x="535940" y="3839336"/>
            <a:ext cx="110998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mbria"/>
                <a:ea typeface="Cambria"/>
                <a:cs typeface="Cambria"/>
                <a:sym typeface="Cambria"/>
              </a:rPr>
              <a:t>Act like</a:t>
            </a:r>
            <a:endParaRPr sz="2400">
              <a:solidFill>
                <a:schemeClr val="dk1"/>
              </a:solidFill>
              <a:latin typeface="Cambria"/>
              <a:ea typeface="Cambria"/>
              <a:cs typeface="Cambria"/>
              <a:sym typeface="Cambria"/>
            </a:endParaRPr>
          </a:p>
        </p:txBody>
      </p:sp>
      <p:sp>
        <p:nvSpPr>
          <p:cNvPr id="116" name="Google Shape;116;p9"/>
          <p:cNvSpPr txBox="1"/>
          <p:nvPr>
            <p:ph type="title"/>
          </p:nvPr>
        </p:nvSpPr>
        <p:spPr>
          <a:xfrm>
            <a:off x="535940" y="896239"/>
            <a:ext cx="432435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 </a:t>
            </a:r>
            <a:r>
              <a:rPr lang="en-US" sz="3000"/>
              <a:t>- E</a:t>
            </a:r>
            <a:r>
              <a:rPr lang="en-US" sz="2400"/>
              <a:t>XAMPLE</a:t>
            </a:r>
            <a:endParaRPr sz="2400"/>
          </a:p>
        </p:txBody>
      </p:sp>
      <p:graphicFrame>
        <p:nvGraphicFramePr>
          <p:cNvPr id="117" name="Google Shape;117;p9"/>
          <p:cNvGraphicFramePr/>
          <p:nvPr/>
        </p:nvGraphicFramePr>
        <p:xfrm>
          <a:off x="679450" y="2233676"/>
          <a:ext cx="3000000" cy="3000000"/>
        </p:xfrm>
        <a:graphic>
          <a:graphicData uri="http://schemas.openxmlformats.org/drawingml/2006/table">
            <a:tbl>
              <a:tblPr bandRow="1" firstRow="1">
                <a:noFill/>
                <a:tableStyleId>{E6146E5E-1B44-4AFF-8A2A-C4D30410B6D5}</a:tableStyleId>
              </a:tblPr>
              <a:tblGrid>
                <a:gridCol w="2590800"/>
              </a:tblGrid>
              <a:tr h="370850">
                <a:tc>
                  <a:txBody>
                    <a:bodyPr/>
                    <a:lstStyle/>
                    <a:p>
                      <a:pPr indent="0" lvl="0" marL="91440" marR="0" rtl="0" algn="l">
                        <a:lnSpc>
                          <a:spcPct val="100000"/>
                        </a:lnSpc>
                        <a:spcBef>
                          <a:spcPts val="0"/>
                        </a:spcBef>
                        <a:spcAft>
                          <a:spcPts val="0"/>
                        </a:spcAft>
                        <a:buNone/>
                      </a:pPr>
                      <a:r>
                        <a:rPr b="1" lang="en-US" sz="1800" u="none" cap="none" strike="noStrike">
                          <a:solidFill>
                            <a:srgbClr val="FFFFFF"/>
                          </a:solidFill>
                          <a:latin typeface="Cambria"/>
                          <a:ea typeface="Cambria"/>
                          <a:cs typeface="Cambria"/>
                          <a:sym typeface="Cambria"/>
                        </a:rPr>
                        <a:t>Parent</a:t>
                      </a:r>
                      <a:endParaRPr sz="1800" u="none" cap="none" strike="noStrike">
                        <a:latin typeface="Cambria"/>
                        <a:ea typeface="Cambria"/>
                        <a:cs typeface="Cambria"/>
                        <a:sym typeface="Cambria"/>
                      </a:endParaRPr>
                    </a:p>
                  </a:txBody>
                  <a:tcPr marT="412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D8537"/>
                    </a:solidFill>
                  </a:tcPr>
                </a:tc>
              </a:tr>
              <a:tr h="370975">
                <a:tc>
                  <a:txBody>
                    <a:bodyPr/>
                    <a:lstStyle/>
                    <a:p>
                      <a:pPr indent="0" lvl="0" marL="91440" marR="0" rtl="0" algn="l">
                        <a:lnSpc>
                          <a:spcPct val="100000"/>
                        </a:lnSpc>
                        <a:spcBef>
                          <a:spcPts val="0"/>
                        </a:spcBef>
                        <a:spcAft>
                          <a:spcPts val="0"/>
                        </a:spcAft>
                        <a:buNone/>
                      </a:pPr>
                      <a:r>
                        <a:rPr lang="en-US" sz="1800" u="none" cap="none" strike="noStrike">
                          <a:latin typeface="Cambria"/>
                          <a:ea typeface="Cambria"/>
                          <a:cs typeface="Cambria"/>
                          <a:sym typeface="Cambria"/>
                        </a:rPr>
                        <a:t>parentVariable</a:t>
                      </a:r>
                      <a:endParaRPr sz="1800" u="none" cap="none" strike="noStrike">
                        <a:latin typeface="Cambria"/>
                        <a:ea typeface="Cambria"/>
                        <a:cs typeface="Cambria"/>
                        <a:sym typeface="Cambri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D9CE"/>
                    </a:solidFill>
                  </a:tcPr>
                </a:tc>
              </a:tr>
              <a:tr h="370975">
                <a:tc>
                  <a:txBody>
                    <a:bodyPr/>
                    <a:lstStyle/>
                    <a:p>
                      <a:pPr indent="0" lvl="0" marL="91440" marR="0" rtl="0" algn="l">
                        <a:lnSpc>
                          <a:spcPct val="100000"/>
                        </a:lnSpc>
                        <a:spcBef>
                          <a:spcPts val="0"/>
                        </a:spcBef>
                        <a:spcAft>
                          <a:spcPts val="0"/>
                        </a:spcAft>
                        <a:buNone/>
                      </a:pPr>
                      <a:r>
                        <a:rPr lang="en-US" sz="1800" u="none" cap="none" strike="noStrike">
                          <a:latin typeface="Cambria"/>
                          <a:ea typeface="Cambria"/>
                          <a:cs typeface="Cambria"/>
                          <a:sym typeface="Cambria"/>
                        </a:rPr>
                        <a:t>parentMethod()</a:t>
                      </a:r>
                      <a:endParaRPr sz="1800" u="none" cap="none" strike="noStrike">
                        <a:latin typeface="Cambria"/>
                        <a:ea typeface="Cambria"/>
                        <a:cs typeface="Cambria"/>
                        <a:sym typeface="Cambri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ECE8"/>
                    </a:solidFill>
                  </a:tcPr>
                </a:tc>
              </a:tr>
            </a:tbl>
          </a:graphicData>
        </a:graphic>
      </p:graphicFrame>
      <p:graphicFrame>
        <p:nvGraphicFramePr>
          <p:cNvPr id="118" name="Google Shape;118;p9"/>
          <p:cNvGraphicFramePr/>
          <p:nvPr/>
        </p:nvGraphicFramePr>
        <p:xfrm>
          <a:off x="4184650" y="2233676"/>
          <a:ext cx="3000000" cy="3000000"/>
        </p:xfrm>
        <a:graphic>
          <a:graphicData uri="http://schemas.openxmlformats.org/drawingml/2006/table">
            <a:tbl>
              <a:tblPr bandRow="1" firstRow="1">
                <a:noFill/>
                <a:tableStyleId>{E6146E5E-1B44-4AFF-8A2A-C4D30410B6D5}</a:tableStyleId>
              </a:tblPr>
              <a:tblGrid>
                <a:gridCol w="2590800"/>
              </a:tblGrid>
              <a:tr h="370850">
                <a:tc>
                  <a:txBody>
                    <a:bodyPr/>
                    <a:lstStyle/>
                    <a:p>
                      <a:pPr indent="0" lvl="0" marL="92075" marR="0" rtl="0" algn="l">
                        <a:lnSpc>
                          <a:spcPct val="100000"/>
                        </a:lnSpc>
                        <a:spcBef>
                          <a:spcPts val="0"/>
                        </a:spcBef>
                        <a:spcAft>
                          <a:spcPts val="0"/>
                        </a:spcAft>
                        <a:buNone/>
                      </a:pPr>
                      <a:r>
                        <a:rPr b="1" lang="en-US" sz="1800" u="none" cap="none" strike="noStrike">
                          <a:solidFill>
                            <a:srgbClr val="FFFFFF"/>
                          </a:solidFill>
                          <a:latin typeface="Cambria"/>
                          <a:ea typeface="Cambria"/>
                          <a:cs typeface="Cambria"/>
                          <a:sym typeface="Cambria"/>
                        </a:rPr>
                        <a:t>Child</a:t>
                      </a:r>
                      <a:endParaRPr sz="1800" u="none" cap="none" strike="noStrike">
                        <a:latin typeface="Cambria"/>
                        <a:ea typeface="Cambria"/>
                        <a:cs typeface="Cambria"/>
                        <a:sym typeface="Cambria"/>
                      </a:endParaRPr>
                    </a:p>
                  </a:txBody>
                  <a:tcPr marT="412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D8537"/>
                    </a:solidFill>
                  </a:tcPr>
                </a:tc>
              </a:tr>
              <a:tr h="370975">
                <a:tc>
                  <a:txBody>
                    <a:bodyPr/>
                    <a:lstStyle/>
                    <a:p>
                      <a:pPr indent="0" lvl="0" marL="92075" marR="0" rtl="0" algn="l">
                        <a:lnSpc>
                          <a:spcPct val="100000"/>
                        </a:lnSpc>
                        <a:spcBef>
                          <a:spcPts val="0"/>
                        </a:spcBef>
                        <a:spcAft>
                          <a:spcPts val="0"/>
                        </a:spcAft>
                        <a:buNone/>
                      </a:pPr>
                      <a:r>
                        <a:rPr lang="en-US" sz="1800" u="none" cap="none" strike="noStrike">
                          <a:latin typeface="Cambria"/>
                          <a:ea typeface="Cambria"/>
                          <a:cs typeface="Cambria"/>
                          <a:sym typeface="Cambria"/>
                        </a:rPr>
                        <a:t>childVariable</a:t>
                      </a:r>
                      <a:endParaRPr sz="1800" u="none" cap="none" strike="noStrike">
                        <a:latin typeface="Cambria"/>
                        <a:ea typeface="Cambria"/>
                        <a:cs typeface="Cambria"/>
                        <a:sym typeface="Cambri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D9CE"/>
                    </a:solidFill>
                  </a:tcPr>
                </a:tc>
              </a:tr>
              <a:tr h="370975">
                <a:tc>
                  <a:txBody>
                    <a:bodyPr/>
                    <a:lstStyle/>
                    <a:p>
                      <a:pPr indent="0" lvl="0" marL="92075" marR="0" rtl="0" algn="l">
                        <a:lnSpc>
                          <a:spcPct val="100000"/>
                        </a:lnSpc>
                        <a:spcBef>
                          <a:spcPts val="0"/>
                        </a:spcBef>
                        <a:spcAft>
                          <a:spcPts val="0"/>
                        </a:spcAft>
                        <a:buNone/>
                      </a:pPr>
                      <a:r>
                        <a:rPr lang="en-US" sz="1800" u="none" cap="none" strike="noStrike">
                          <a:latin typeface="Cambria"/>
                          <a:ea typeface="Cambria"/>
                          <a:cs typeface="Cambria"/>
                          <a:sym typeface="Cambria"/>
                        </a:rPr>
                        <a:t>childMethod()</a:t>
                      </a:r>
                      <a:endParaRPr sz="1800" u="none" cap="none" strike="noStrike">
                        <a:latin typeface="Cambria"/>
                        <a:ea typeface="Cambria"/>
                        <a:cs typeface="Cambria"/>
                        <a:sym typeface="Cambria"/>
                      </a:endParaRPr>
                    </a:p>
                  </a:txBody>
                  <a:tcPr marT="431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ECE8"/>
                    </a:solidFill>
                  </a:tcPr>
                </a:tc>
              </a:tr>
            </a:tbl>
          </a:graphicData>
        </a:graphic>
      </p:graphicFrame>
      <p:sp>
        <p:nvSpPr>
          <p:cNvPr id="119" name="Google Shape;119;p9"/>
          <p:cNvSpPr/>
          <p:nvPr/>
        </p:nvSpPr>
        <p:spPr>
          <a:xfrm>
            <a:off x="3276600" y="2386838"/>
            <a:ext cx="838200" cy="103505"/>
          </a:xfrm>
          <a:custGeom>
            <a:rect b="b" l="l" r="r" t="t"/>
            <a:pathLst>
              <a:path extrusionOk="0" h="103505" w="838200">
                <a:moveTo>
                  <a:pt x="88646" y="0"/>
                </a:moveTo>
                <a:lnTo>
                  <a:pt x="85725" y="1777"/>
                </a:lnTo>
                <a:lnTo>
                  <a:pt x="0" y="51562"/>
                </a:lnTo>
                <a:lnTo>
                  <a:pt x="88519" y="103377"/>
                </a:lnTo>
                <a:lnTo>
                  <a:pt x="92455" y="102362"/>
                </a:lnTo>
                <a:lnTo>
                  <a:pt x="94107" y="99440"/>
                </a:lnTo>
                <a:lnTo>
                  <a:pt x="95885" y="96392"/>
                </a:lnTo>
                <a:lnTo>
                  <a:pt x="94869" y="92456"/>
                </a:lnTo>
                <a:lnTo>
                  <a:pt x="91948" y="90677"/>
                </a:lnTo>
                <a:lnTo>
                  <a:pt x="36017" y="57958"/>
                </a:lnTo>
                <a:lnTo>
                  <a:pt x="12573" y="57912"/>
                </a:lnTo>
                <a:lnTo>
                  <a:pt x="12573" y="45212"/>
                </a:lnTo>
                <a:lnTo>
                  <a:pt x="36139" y="45212"/>
                </a:lnTo>
                <a:lnTo>
                  <a:pt x="95123" y="11049"/>
                </a:lnTo>
                <a:lnTo>
                  <a:pt x="96138" y="7112"/>
                </a:lnTo>
                <a:lnTo>
                  <a:pt x="92583" y="1015"/>
                </a:lnTo>
                <a:lnTo>
                  <a:pt x="88646" y="0"/>
                </a:lnTo>
                <a:close/>
              </a:path>
              <a:path extrusionOk="0" h="103505" w="838200">
                <a:moveTo>
                  <a:pt x="36058" y="45258"/>
                </a:moveTo>
                <a:lnTo>
                  <a:pt x="25129" y="51589"/>
                </a:lnTo>
                <a:lnTo>
                  <a:pt x="36017" y="57958"/>
                </a:lnTo>
                <a:lnTo>
                  <a:pt x="838200" y="59562"/>
                </a:lnTo>
                <a:lnTo>
                  <a:pt x="838200" y="46862"/>
                </a:lnTo>
                <a:lnTo>
                  <a:pt x="36058" y="45258"/>
                </a:lnTo>
                <a:close/>
              </a:path>
              <a:path extrusionOk="0" h="103505" w="838200">
                <a:moveTo>
                  <a:pt x="12573" y="45212"/>
                </a:moveTo>
                <a:lnTo>
                  <a:pt x="12573" y="57912"/>
                </a:lnTo>
                <a:lnTo>
                  <a:pt x="36017" y="57958"/>
                </a:lnTo>
                <a:lnTo>
                  <a:pt x="34418" y="57023"/>
                </a:lnTo>
                <a:lnTo>
                  <a:pt x="15748" y="57023"/>
                </a:lnTo>
                <a:lnTo>
                  <a:pt x="15748" y="46100"/>
                </a:lnTo>
                <a:lnTo>
                  <a:pt x="34605" y="46100"/>
                </a:lnTo>
                <a:lnTo>
                  <a:pt x="36058" y="45258"/>
                </a:lnTo>
                <a:lnTo>
                  <a:pt x="12573" y="45212"/>
                </a:lnTo>
                <a:close/>
              </a:path>
              <a:path extrusionOk="0" h="103505" w="838200">
                <a:moveTo>
                  <a:pt x="15748" y="46100"/>
                </a:moveTo>
                <a:lnTo>
                  <a:pt x="15748" y="57023"/>
                </a:lnTo>
                <a:lnTo>
                  <a:pt x="25129" y="51589"/>
                </a:lnTo>
                <a:lnTo>
                  <a:pt x="15748" y="46100"/>
                </a:lnTo>
                <a:close/>
              </a:path>
              <a:path extrusionOk="0" h="103505" w="838200">
                <a:moveTo>
                  <a:pt x="25129" y="51589"/>
                </a:moveTo>
                <a:lnTo>
                  <a:pt x="15748" y="57023"/>
                </a:lnTo>
                <a:lnTo>
                  <a:pt x="34418" y="57023"/>
                </a:lnTo>
                <a:lnTo>
                  <a:pt x="25129" y="51589"/>
                </a:lnTo>
                <a:close/>
              </a:path>
              <a:path extrusionOk="0" h="103505" w="838200">
                <a:moveTo>
                  <a:pt x="34605" y="46100"/>
                </a:moveTo>
                <a:lnTo>
                  <a:pt x="15748" y="46100"/>
                </a:lnTo>
                <a:lnTo>
                  <a:pt x="25129" y="51589"/>
                </a:lnTo>
                <a:lnTo>
                  <a:pt x="34605" y="46100"/>
                </a:lnTo>
                <a:close/>
              </a:path>
              <a:path extrusionOk="0" h="103505" w="838200">
                <a:moveTo>
                  <a:pt x="36139" y="45212"/>
                </a:moveTo>
                <a:lnTo>
                  <a:pt x="12573" y="45212"/>
                </a:lnTo>
                <a:lnTo>
                  <a:pt x="36058" y="45258"/>
                </a:lnTo>
                <a:close/>
              </a:path>
            </a:pathLst>
          </a:custGeom>
          <a:solidFill>
            <a:srgbClr val="FF690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20" name="Google Shape;120;p9"/>
          <p:cNvGraphicFramePr/>
          <p:nvPr/>
        </p:nvGraphicFramePr>
        <p:xfrm>
          <a:off x="755650" y="4367276"/>
          <a:ext cx="3000000" cy="3000000"/>
        </p:xfrm>
        <a:graphic>
          <a:graphicData uri="http://schemas.openxmlformats.org/drawingml/2006/table">
            <a:tbl>
              <a:tblPr bandRow="1" firstRow="1">
                <a:noFill/>
                <a:tableStyleId>{E6146E5E-1B44-4AFF-8A2A-C4D30410B6D5}</a:tableStyleId>
              </a:tblPr>
              <a:tblGrid>
                <a:gridCol w="2590800"/>
              </a:tblGrid>
              <a:tr h="370850">
                <a:tc>
                  <a:txBody>
                    <a:bodyPr/>
                    <a:lstStyle/>
                    <a:p>
                      <a:pPr indent="0" lvl="0" marL="91440" marR="0" rtl="0" algn="l">
                        <a:lnSpc>
                          <a:spcPct val="100000"/>
                        </a:lnSpc>
                        <a:spcBef>
                          <a:spcPts val="0"/>
                        </a:spcBef>
                        <a:spcAft>
                          <a:spcPts val="0"/>
                        </a:spcAft>
                        <a:buNone/>
                      </a:pPr>
                      <a:r>
                        <a:rPr b="1" lang="en-US" sz="1800" u="none" cap="none" strike="noStrike">
                          <a:solidFill>
                            <a:srgbClr val="FFFFFF"/>
                          </a:solidFill>
                          <a:latin typeface="Cambria"/>
                          <a:ea typeface="Cambria"/>
                          <a:cs typeface="Cambria"/>
                          <a:sym typeface="Cambria"/>
                        </a:rPr>
                        <a:t>Parent</a:t>
                      </a:r>
                      <a:endParaRPr sz="1800" u="none" cap="none" strike="noStrike">
                        <a:latin typeface="Cambria"/>
                        <a:ea typeface="Cambria"/>
                        <a:cs typeface="Cambria"/>
                        <a:sym typeface="Cambria"/>
                      </a:endParaRPr>
                    </a:p>
                  </a:txBody>
                  <a:tcPr marT="41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D8537"/>
                    </a:solidFill>
                  </a:tcPr>
                </a:tc>
              </a:tr>
              <a:tr h="370975">
                <a:tc>
                  <a:txBody>
                    <a:bodyPr/>
                    <a:lstStyle/>
                    <a:p>
                      <a:pPr indent="0" lvl="0" marL="91440" marR="0" rtl="0" algn="l">
                        <a:lnSpc>
                          <a:spcPct val="100000"/>
                        </a:lnSpc>
                        <a:spcBef>
                          <a:spcPts val="0"/>
                        </a:spcBef>
                        <a:spcAft>
                          <a:spcPts val="0"/>
                        </a:spcAft>
                        <a:buNone/>
                      </a:pPr>
                      <a:r>
                        <a:rPr lang="en-US" sz="1800" u="none" cap="none" strike="noStrike">
                          <a:latin typeface="Cambria"/>
                          <a:ea typeface="Cambria"/>
                          <a:cs typeface="Cambria"/>
                          <a:sym typeface="Cambria"/>
                        </a:rPr>
                        <a:t>parentVariable</a:t>
                      </a:r>
                      <a:endParaRPr sz="1800" u="none" cap="none" strike="noStrike">
                        <a:latin typeface="Cambria"/>
                        <a:ea typeface="Cambria"/>
                        <a:cs typeface="Cambria"/>
                        <a:sym typeface="Cambria"/>
                      </a:endParaRPr>
                    </a:p>
                  </a:txBody>
                  <a:tcPr marT="43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D9CE"/>
                    </a:solidFill>
                  </a:tcPr>
                </a:tc>
              </a:tr>
              <a:tr h="370975">
                <a:tc>
                  <a:txBody>
                    <a:bodyPr/>
                    <a:lstStyle/>
                    <a:p>
                      <a:pPr indent="0" lvl="0" marL="91440" marR="0" rtl="0" algn="l">
                        <a:lnSpc>
                          <a:spcPct val="100000"/>
                        </a:lnSpc>
                        <a:spcBef>
                          <a:spcPts val="0"/>
                        </a:spcBef>
                        <a:spcAft>
                          <a:spcPts val="0"/>
                        </a:spcAft>
                        <a:buNone/>
                      </a:pPr>
                      <a:r>
                        <a:rPr lang="en-US" sz="1800" u="none" cap="none" strike="noStrike">
                          <a:latin typeface="Cambria"/>
                          <a:ea typeface="Cambria"/>
                          <a:cs typeface="Cambria"/>
                          <a:sym typeface="Cambria"/>
                        </a:rPr>
                        <a:t>parentMethod()</a:t>
                      </a:r>
                      <a:endParaRPr sz="1800" u="none" cap="none" strike="noStrike">
                        <a:latin typeface="Cambria"/>
                        <a:ea typeface="Cambria"/>
                        <a:cs typeface="Cambria"/>
                        <a:sym typeface="Cambria"/>
                      </a:endParaRPr>
                    </a:p>
                  </a:txBody>
                  <a:tcPr marT="43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ECE8"/>
                    </a:solidFill>
                  </a:tcPr>
                </a:tc>
              </a:tr>
            </a:tbl>
          </a:graphicData>
        </a:graphic>
      </p:graphicFrame>
      <p:graphicFrame>
        <p:nvGraphicFramePr>
          <p:cNvPr id="121" name="Google Shape;121;p9"/>
          <p:cNvGraphicFramePr/>
          <p:nvPr/>
        </p:nvGraphicFramePr>
        <p:xfrm>
          <a:off x="4337050" y="4286250"/>
          <a:ext cx="3000000" cy="3000000"/>
        </p:xfrm>
        <a:graphic>
          <a:graphicData uri="http://schemas.openxmlformats.org/drawingml/2006/table">
            <a:tbl>
              <a:tblPr bandRow="1" firstRow="1">
                <a:noFill/>
                <a:tableStyleId>{E6146E5E-1B44-4AFF-8A2A-C4D30410B6D5}</a:tableStyleId>
              </a:tblPr>
              <a:tblGrid>
                <a:gridCol w="2590800"/>
              </a:tblGrid>
              <a:tr h="370850">
                <a:tc>
                  <a:txBody>
                    <a:bodyPr/>
                    <a:lstStyle/>
                    <a:p>
                      <a:pPr indent="0" lvl="0" marL="92075" marR="0" rtl="0" algn="l">
                        <a:lnSpc>
                          <a:spcPct val="100000"/>
                        </a:lnSpc>
                        <a:spcBef>
                          <a:spcPts val="0"/>
                        </a:spcBef>
                        <a:spcAft>
                          <a:spcPts val="0"/>
                        </a:spcAft>
                        <a:buNone/>
                      </a:pPr>
                      <a:r>
                        <a:rPr b="1" lang="en-US" sz="1800" u="none" cap="none" strike="noStrike">
                          <a:solidFill>
                            <a:srgbClr val="FFFFFF"/>
                          </a:solidFill>
                          <a:latin typeface="Cambria"/>
                          <a:ea typeface="Cambria"/>
                          <a:cs typeface="Cambria"/>
                          <a:sym typeface="Cambria"/>
                        </a:rPr>
                        <a:t>Child</a:t>
                      </a:r>
                      <a:endParaRPr sz="1800" u="none" cap="none" strike="noStrike">
                        <a:latin typeface="Cambria"/>
                        <a:ea typeface="Cambria"/>
                        <a:cs typeface="Cambria"/>
                        <a:sym typeface="Cambria"/>
                      </a:endParaRPr>
                    </a:p>
                  </a:txBody>
                  <a:tcPr marT="4190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FD8537"/>
                    </a:solidFill>
                  </a:tcPr>
                </a:tc>
              </a:tr>
              <a:tr h="640075">
                <a:tc>
                  <a:txBody>
                    <a:bodyPr/>
                    <a:lstStyle/>
                    <a:p>
                      <a:pPr indent="0" lvl="0" marL="92075" marR="884555" rtl="0" algn="l">
                        <a:lnSpc>
                          <a:spcPct val="100000"/>
                        </a:lnSpc>
                        <a:spcBef>
                          <a:spcPts val="0"/>
                        </a:spcBef>
                        <a:spcAft>
                          <a:spcPts val="0"/>
                        </a:spcAft>
                        <a:buNone/>
                      </a:pPr>
                      <a:r>
                        <a:rPr lang="en-US" sz="1800" u="none" cap="none" strike="noStrike">
                          <a:latin typeface="Cambria"/>
                          <a:ea typeface="Cambria"/>
                          <a:cs typeface="Cambria"/>
                          <a:sym typeface="Cambria"/>
                        </a:rPr>
                        <a:t>parentVariable  childVariable</a:t>
                      </a:r>
                      <a:endParaRPr sz="1800" u="none" cap="none" strike="noStrike">
                        <a:latin typeface="Cambria"/>
                        <a:ea typeface="Cambria"/>
                        <a:cs typeface="Cambria"/>
                        <a:sym typeface="Cambria"/>
                      </a:endParaRPr>
                    </a:p>
                  </a:txBody>
                  <a:tcPr marT="43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D9CE"/>
                    </a:solidFill>
                  </a:tcPr>
                </a:tc>
              </a:tr>
              <a:tr h="640075">
                <a:tc>
                  <a:txBody>
                    <a:bodyPr/>
                    <a:lstStyle/>
                    <a:p>
                      <a:pPr indent="0" lvl="0" marL="92075" marR="831214" rtl="0" algn="l">
                        <a:lnSpc>
                          <a:spcPct val="100000"/>
                        </a:lnSpc>
                        <a:spcBef>
                          <a:spcPts val="0"/>
                        </a:spcBef>
                        <a:spcAft>
                          <a:spcPts val="0"/>
                        </a:spcAft>
                        <a:buNone/>
                      </a:pPr>
                      <a:r>
                        <a:rPr lang="en-US" sz="1800" u="none" cap="none" strike="noStrike">
                          <a:latin typeface="Cambria"/>
                          <a:ea typeface="Cambria"/>
                          <a:cs typeface="Cambria"/>
                          <a:sym typeface="Cambria"/>
                        </a:rPr>
                        <a:t>parentMethod()  childMethod()</a:t>
                      </a:r>
                      <a:endParaRPr sz="1800" u="none" cap="none" strike="noStrike">
                        <a:latin typeface="Cambria"/>
                        <a:ea typeface="Cambria"/>
                        <a:cs typeface="Cambria"/>
                        <a:sym typeface="Cambria"/>
                      </a:endParaRPr>
                    </a:p>
                  </a:txBody>
                  <a:tcPr marT="438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ECE8"/>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0"/>
          <p:cNvPicPr preferRelativeResize="0"/>
          <p:nvPr/>
        </p:nvPicPr>
        <p:blipFill rotWithShape="1">
          <a:blip r:embed="rId3">
            <a:alphaModFix/>
          </a:blip>
          <a:srcRect b="0" l="0" r="0" t="0"/>
          <a:stretch/>
        </p:blipFill>
        <p:spPr>
          <a:xfrm>
            <a:off x="4705350" y="5029200"/>
            <a:ext cx="1685925" cy="990600"/>
          </a:xfrm>
          <a:prstGeom prst="rect">
            <a:avLst/>
          </a:prstGeom>
          <a:noFill/>
          <a:ln>
            <a:noFill/>
          </a:ln>
        </p:spPr>
      </p:pic>
      <p:sp>
        <p:nvSpPr>
          <p:cNvPr id="127" name="Google Shape;127;p10"/>
          <p:cNvSpPr txBox="1"/>
          <p:nvPr>
            <p:ph type="title"/>
          </p:nvPr>
        </p:nvSpPr>
        <p:spPr>
          <a:xfrm>
            <a:off x="535940" y="896239"/>
            <a:ext cx="409511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T</a:t>
            </a:r>
            <a:r>
              <a:rPr lang="en-US" sz="2400"/>
              <a:t>YPES OF </a:t>
            </a:r>
            <a:r>
              <a:rPr lang="en-US" sz="3000"/>
              <a:t>I</a:t>
            </a:r>
            <a:r>
              <a:rPr lang="en-US" sz="2400"/>
              <a:t>NHERITANCE</a:t>
            </a:r>
            <a:endParaRPr sz="2400"/>
          </a:p>
        </p:txBody>
      </p:sp>
      <p:sp>
        <p:nvSpPr>
          <p:cNvPr id="128" name="Google Shape;128;p10"/>
          <p:cNvSpPr txBox="1"/>
          <p:nvPr/>
        </p:nvSpPr>
        <p:spPr>
          <a:xfrm>
            <a:off x="535940" y="1568616"/>
            <a:ext cx="6842759" cy="3653790"/>
          </a:xfrm>
          <a:prstGeom prst="rect">
            <a:avLst/>
          </a:prstGeom>
          <a:noFill/>
          <a:ln>
            <a:noFill/>
          </a:ln>
        </p:spPr>
        <p:txBody>
          <a:bodyPr anchorCtr="0" anchor="t" bIns="0" lIns="0" spcFirstLastPara="1" rIns="0" wrap="square" tIns="73650">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Single inheritance</a:t>
            </a:r>
            <a:endParaRPr sz="2000">
              <a:solidFill>
                <a:schemeClr val="dk1"/>
              </a:solidFill>
              <a:latin typeface="Cambria"/>
              <a:ea typeface="Cambria"/>
              <a:cs typeface="Cambria"/>
              <a:sym typeface="Cambria"/>
            </a:endParaRPr>
          </a:p>
          <a:p>
            <a:pPr indent="-273685" lvl="1" marL="652780" marR="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One parent-&gt; One child</a:t>
            </a:r>
            <a:endParaRPr b="0" i="0" sz="2000" u="none" cap="none" strike="noStrike">
              <a:solidFill>
                <a:schemeClr val="dk1"/>
              </a:solidFill>
              <a:latin typeface="Cambria"/>
              <a:ea typeface="Cambria"/>
              <a:cs typeface="Cambria"/>
              <a:sym typeface="Cambria"/>
            </a:endParaRPr>
          </a:p>
          <a:p>
            <a:pPr indent="0" lvl="1" marL="457200" marR="0" rtl="0" algn="l">
              <a:lnSpc>
                <a:spcPct val="100000"/>
              </a:lnSpc>
              <a:spcBef>
                <a:spcPts val="20"/>
              </a:spcBef>
              <a:spcAft>
                <a:spcPts val="0"/>
              </a:spcAft>
              <a:buClr>
                <a:srgbClr val="FD8537"/>
              </a:buClr>
              <a:buSzPts val="2950"/>
              <a:buFont typeface="Quattrocento Sans"/>
              <a:buNone/>
            </a:pPr>
            <a:r>
              <a:t/>
            </a:r>
            <a:endParaRPr b="0" i="0" sz="2950" u="none" cap="none" strike="noStrike">
              <a:solidFill>
                <a:schemeClr val="dk1"/>
              </a:solidFill>
              <a:latin typeface="Cambria"/>
              <a:ea typeface="Cambria"/>
              <a:cs typeface="Cambria"/>
              <a:sym typeface="Cambria"/>
            </a:endParaRPr>
          </a:p>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Multi level inheritance</a:t>
            </a:r>
            <a:endParaRPr sz="2000">
              <a:solidFill>
                <a:schemeClr val="dk1"/>
              </a:solidFill>
              <a:latin typeface="Cambria"/>
              <a:ea typeface="Cambria"/>
              <a:cs typeface="Cambria"/>
              <a:sym typeface="Cambria"/>
            </a:endParaRPr>
          </a:p>
          <a:p>
            <a:pPr indent="-273685" lvl="1" marL="652780" marR="5080" rtl="0" algn="l">
              <a:lnSpc>
                <a:spcPct val="100000"/>
              </a:lnSpc>
              <a:spcBef>
                <a:spcPts val="484"/>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one can inherit from a derived class, thereby making  this derived class the base class for the new class.</a:t>
            </a:r>
            <a:endParaRPr b="0" i="0" sz="2000" u="none" cap="none" strike="noStrike">
              <a:solidFill>
                <a:schemeClr val="dk1"/>
              </a:solidFill>
              <a:latin typeface="Cambria"/>
              <a:ea typeface="Cambria"/>
              <a:cs typeface="Cambria"/>
              <a:sym typeface="Cambria"/>
            </a:endParaRPr>
          </a:p>
          <a:p>
            <a:pPr indent="0" lvl="1" marL="457200" marR="0" rtl="0" algn="l">
              <a:lnSpc>
                <a:spcPct val="100000"/>
              </a:lnSpc>
              <a:spcBef>
                <a:spcPts val="0"/>
              </a:spcBef>
              <a:spcAft>
                <a:spcPts val="0"/>
              </a:spcAft>
              <a:buClr>
                <a:srgbClr val="FD8537"/>
              </a:buClr>
              <a:buSzPts val="2400"/>
              <a:buFont typeface="Quattrocento Sans"/>
              <a:buNone/>
            </a:pPr>
            <a:r>
              <a:t/>
            </a:r>
            <a:endParaRPr b="0" i="0" sz="2400" u="none" cap="none" strike="noStrike">
              <a:solidFill>
                <a:schemeClr val="dk1"/>
              </a:solidFill>
              <a:latin typeface="Cambria"/>
              <a:ea typeface="Cambria"/>
              <a:cs typeface="Cambria"/>
              <a:sym typeface="Cambria"/>
            </a:endParaRPr>
          </a:p>
          <a:p>
            <a:pPr indent="0" lvl="1" marL="457200" marR="0" rtl="0" algn="l">
              <a:lnSpc>
                <a:spcPct val="100000"/>
              </a:lnSpc>
              <a:spcBef>
                <a:spcPts val="30"/>
              </a:spcBef>
              <a:spcAft>
                <a:spcPts val="0"/>
              </a:spcAft>
              <a:buClr>
                <a:srgbClr val="FD8537"/>
              </a:buClr>
              <a:buSzPts val="3000"/>
              <a:buFont typeface="Quattrocento Sans"/>
              <a:buNone/>
            </a:pPr>
            <a:r>
              <a:t/>
            </a:r>
            <a:endParaRPr b="0" i="0" sz="3000" u="none" cap="none" strike="noStrike">
              <a:solidFill>
                <a:schemeClr val="dk1"/>
              </a:solidFill>
              <a:latin typeface="Cambria"/>
              <a:ea typeface="Cambria"/>
              <a:cs typeface="Cambria"/>
              <a:sym typeface="Cambria"/>
            </a:endParaRPr>
          </a:p>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Hierarchical inheritance</a:t>
            </a:r>
            <a:endParaRPr sz="2000">
              <a:solidFill>
                <a:schemeClr val="dk1"/>
              </a:solidFill>
              <a:latin typeface="Cambria"/>
              <a:ea typeface="Cambria"/>
              <a:cs typeface="Cambria"/>
              <a:sym typeface="Cambria"/>
            </a:endParaRPr>
          </a:p>
          <a:p>
            <a:pPr indent="-273685" lvl="1" marL="652780" marR="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One parent – multiple children</a:t>
            </a:r>
            <a:endParaRPr b="0" i="0" sz="2000" u="none" cap="none" strike="noStrike">
              <a:solidFill>
                <a:schemeClr val="dk1"/>
              </a:solidFill>
              <a:latin typeface="Cambria"/>
              <a:ea typeface="Cambria"/>
              <a:cs typeface="Cambria"/>
              <a:sym typeface="Cambria"/>
            </a:endParaRPr>
          </a:p>
        </p:txBody>
      </p:sp>
      <p:pic>
        <p:nvPicPr>
          <p:cNvPr id="129" name="Google Shape;129;p10"/>
          <p:cNvPicPr preferRelativeResize="0"/>
          <p:nvPr/>
        </p:nvPicPr>
        <p:blipFill rotWithShape="1">
          <a:blip r:embed="rId4">
            <a:alphaModFix/>
          </a:blip>
          <a:srcRect b="0" l="0" r="0" t="0"/>
          <a:stretch/>
        </p:blipFill>
        <p:spPr>
          <a:xfrm>
            <a:off x="4267200" y="1600200"/>
            <a:ext cx="466725" cy="666750"/>
          </a:xfrm>
          <a:prstGeom prst="rect">
            <a:avLst/>
          </a:prstGeom>
          <a:noFill/>
          <a:ln>
            <a:noFill/>
          </a:ln>
        </p:spPr>
      </p:pic>
      <p:pic>
        <p:nvPicPr>
          <p:cNvPr id="130" name="Google Shape;130;p10"/>
          <p:cNvPicPr preferRelativeResize="0"/>
          <p:nvPr/>
        </p:nvPicPr>
        <p:blipFill rotWithShape="1">
          <a:blip r:embed="rId5">
            <a:alphaModFix/>
          </a:blip>
          <a:srcRect b="0" l="0" r="0" t="0"/>
          <a:stretch/>
        </p:blipFill>
        <p:spPr>
          <a:xfrm>
            <a:off x="7477125" y="2790825"/>
            <a:ext cx="638175" cy="1428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txBox="1"/>
          <p:nvPr>
            <p:ph type="title"/>
          </p:nvPr>
        </p:nvSpPr>
        <p:spPr>
          <a:xfrm>
            <a:off x="535940" y="896239"/>
            <a:ext cx="409511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T</a:t>
            </a:r>
            <a:r>
              <a:rPr lang="en-US" sz="2400"/>
              <a:t>YPES OF </a:t>
            </a:r>
            <a:r>
              <a:rPr lang="en-US" sz="3000"/>
              <a:t>I</a:t>
            </a:r>
            <a:r>
              <a:rPr lang="en-US" sz="2400"/>
              <a:t>NHERITANCE</a:t>
            </a:r>
            <a:endParaRPr sz="2400"/>
          </a:p>
        </p:txBody>
      </p:sp>
      <p:sp>
        <p:nvSpPr>
          <p:cNvPr id="136" name="Google Shape;136;p11"/>
          <p:cNvSpPr txBox="1"/>
          <p:nvPr/>
        </p:nvSpPr>
        <p:spPr>
          <a:xfrm>
            <a:off x="535940" y="1568616"/>
            <a:ext cx="6703695" cy="1870075"/>
          </a:xfrm>
          <a:prstGeom prst="rect">
            <a:avLst/>
          </a:prstGeom>
          <a:noFill/>
          <a:ln>
            <a:noFill/>
          </a:ln>
        </p:spPr>
        <p:txBody>
          <a:bodyPr anchorCtr="0" anchor="t" bIns="0" lIns="0" spcFirstLastPara="1" rIns="0" wrap="square" tIns="73650">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Multiple inheritance</a:t>
            </a:r>
            <a:endParaRPr sz="2000">
              <a:solidFill>
                <a:schemeClr val="dk1"/>
              </a:solidFill>
              <a:latin typeface="Cambria"/>
              <a:ea typeface="Cambria"/>
              <a:cs typeface="Cambria"/>
              <a:sym typeface="Cambria"/>
            </a:endParaRPr>
          </a:p>
          <a:p>
            <a:pPr indent="-273685" lvl="1" marL="652780" marR="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Multiple parents -&gt; one child</a:t>
            </a:r>
            <a:endParaRPr b="0" i="0" sz="2000" u="none" cap="none" strike="noStrike">
              <a:solidFill>
                <a:schemeClr val="dk1"/>
              </a:solidFill>
              <a:latin typeface="Cambria"/>
              <a:ea typeface="Cambria"/>
              <a:cs typeface="Cambria"/>
              <a:sym typeface="Cambria"/>
            </a:endParaRPr>
          </a:p>
          <a:p>
            <a:pPr indent="0" lvl="1" marL="457200" marR="0" rtl="0" algn="l">
              <a:lnSpc>
                <a:spcPct val="100000"/>
              </a:lnSpc>
              <a:spcBef>
                <a:spcPts val="20"/>
              </a:spcBef>
              <a:spcAft>
                <a:spcPts val="0"/>
              </a:spcAft>
              <a:buClr>
                <a:srgbClr val="FD8537"/>
              </a:buClr>
              <a:buSzPts val="2950"/>
              <a:buFont typeface="Quattrocento Sans"/>
              <a:buNone/>
            </a:pPr>
            <a:r>
              <a:t/>
            </a:r>
            <a:endParaRPr b="0" i="0" sz="2950" u="none" cap="none" strike="noStrike">
              <a:solidFill>
                <a:schemeClr val="dk1"/>
              </a:solidFill>
              <a:latin typeface="Cambria"/>
              <a:ea typeface="Cambria"/>
              <a:cs typeface="Cambria"/>
              <a:sym typeface="Cambria"/>
            </a:endParaRPr>
          </a:p>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Hybrid inheritance</a:t>
            </a:r>
            <a:endParaRPr sz="2000">
              <a:solidFill>
                <a:schemeClr val="dk1"/>
              </a:solidFill>
              <a:latin typeface="Cambria"/>
              <a:ea typeface="Cambria"/>
              <a:cs typeface="Cambria"/>
              <a:sym typeface="Cambria"/>
            </a:endParaRPr>
          </a:p>
          <a:p>
            <a:pPr indent="-273685" lvl="1" marL="652780" marR="0" rtl="0" algn="l">
              <a:lnSpc>
                <a:spcPct val="100000"/>
              </a:lnSpc>
              <a:spcBef>
                <a:spcPts val="484"/>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Is a combination of Single and Multiple inheritance</a:t>
            </a:r>
            <a:endParaRPr b="0" i="0" sz="2000" u="none" cap="none" strike="noStrike">
              <a:solidFill>
                <a:schemeClr val="dk1"/>
              </a:solidFill>
              <a:latin typeface="Cambria"/>
              <a:ea typeface="Cambria"/>
              <a:cs typeface="Cambria"/>
              <a:sym typeface="Cambria"/>
            </a:endParaRPr>
          </a:p>
        </p:txBody>
      </p:sp>
      <p:sp>
        <p:nvSpPr>
          <p:cNvPr id="137" name="Google Shape;137;p11"/>
          <p:cNvSpPr txBox="1"/>
          <p:nvPr/>
        </p:nvSpPr>
        <p:spPr>
          <a:xfrm>
            <a:off x="535940" y="5348732"/>
            <a:ext cx="5348605" cy="33083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rgbClr val="FF0000"/>
                </a:solidFill>
                <a:latin typeface="Cambria"/>
                <a:ea typeface="Cambria"/>
                <a:cs typeface="Cambria"/>
                <a:sym typeface="Cambria"/>
              </a:rPr>
              <a:t>Java does not support multiple inheritance</a:t>
            </a:r>
            <a:endParaRPr sz="2000">
              <a:solidFill>
                <a:schemeClr val="dk1"/>
              </a:solidFill>
              <a:latin typeface="Cambria"/>
              <a:ea typeface="Cambria"/>
              <a:cs typeface="Cambria"/>
              <a:sym typeface="Cambria"/>
            </a:endParaRPr>
          </a:p>
        </p:txBody>
      </p:sp>
      <p:pic>
        <p:nvPicPr>
          <p:cNvPr id="138" name="Google Shape;138;p11"/>
          <p:cNvPicPr preferRelativeResize="0"/>
          <p:nvPr/>
        </p:nvPicPr>
        <p:blipFill rotWithShape="1">
          <a:blip r:embed="rId3">
            <a:alphaModFix/>
          </a:blip>
          <a:srcRect b="0" l="0" r="0" t="0"/>
          <a:stretch/>
        </p:blipFill>
        <p:spPr>
          <a:xfrm>
            <a:off x="4933950" y="1714500"/>
            <a:ext cx="1619250" cy="952500"/>
          </a:xfrm>
          <a:prstGeom prst="rect">
            <a:avLst/>
          </a:prstGeom>
          <a:noFill/>
          <a:ln>
            <a:noFill/>
          </a:ln>
        </p:spPr>
      </p:pic>
      <p:pic>
        <p:nvPicPr>
          <p:cNvPr id="139" name="Google Shape;139;p11"/>
          <p:cNvPicPr preferRelativeResize="0"/>
          <p:nvPr/>
        </p:nvPicPr>
        <p:blipFill rotWithShape="1">
          <a:blip r:embed="rId4">
            <a:alphaModFix/>
          </a:blip>
          <a:srcRect b="0" l="0" r="0" t="0"/>
          <a:stretch/>
        </p:blipFill>
        <p:spPr>
          <a:xfrm>
            <a:off x="2390775" y="3429000"/>
            <a:ext cx="1990725" cy="1447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2"/>
          <p:cNvSpPr txBox="1"/>
          <p:nvPr>
            <p:ph type="title"/>
          </p:nvPr>
        </p:nvSpPr>
        <p:spPr>
          <a:xfrm>
            <a:off x="535940" y="896239"/>
            <a:ext cx="564197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I</a:t>
            </a:r>
            <a:r>
              <a:rPr lang="en-US" sz="2400"/>
              <a:t>NHERITANCE </a:t>
            </a:r>
            <a:r>
              <a:rPr lang="en-US" sz="3000"/>
              <a:t>– </a:t>
            </a:r>
            <a:r>
              <a:rPr lang="en-US" sz="2400"/>
              <a:t>SUPER KEYWORD</a:t>
            </a:r>
            <a:endParaRPr sz="2400"/>
          </a:p>
        </p:txBody>
      </p:sp>
      <p:sp>
        <p:nvSpPr>
          <p:cNvPr id="145" name="Google Shape;145;p12"/>
          <p:cNvSpPr txBox="1"/>
          <p:nvPr/>
        </p:nvSpPr>
        <p:spPr>
          <a:xfrm>
            <a:off x="535940" y="1628978"/>
            <a:ext cx="6998970" cy="3349625"/>
          </a:xfrm>
          <a:prstGeom prst="rect">
            <a:avLst/>
          </a:prstGeom>
          <a:noFill/>
          <a:ln>
            <a:noFill/>
          </a:ln>
        </p:spPr>
        <p:txBody>
          <a:bodyPr anchorCtr="0" anchor="t" bIns="0" lIns="0" spcFirstLastPara="1" rIns="0" wrap="square" tIns="13325">
            <a:spAutoFit/>
          </a:bodyPr>
          <a:lstStyle/>
          <a:p>
            <a:pPr indent="-273050" lvl="0" marL="285115" marR="0" rtl="0" algn="just">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The </a:t>
            </a:r>
            <a:r>
              <a:rPr b="1" lang="en-US" sz="2000">
                <a:solidFill>
                  <a:schemeClr val="dk1"/>
                </a:solidFill>
                <a:latin typeface="Cambria"/>
                <a:ea typeface="Cambria"/>
                <a:cs typeface="Cambria"/>
                <a:sym typeface="Cambria"/>
              </a:rPr>
              <a:t>super </a:t>
            </a:r>
            <a:r>
              <a:rPr lang="en-US" sz="2000">
                <a:solidFill>
                  <a:schemeClr val="dk1"/>
                </a:solidFill>
                <a:latin typeface="Cambria"/>
                <a:ea typeface="Cambria"/>
                <a:cs typeface="Cambria"/>
                <a:sym typeface="Cambria"/>
              </a:rPr>
              <a:t>keyword in java is a reference variable that is</a:t>
            </a:r>
            <a:endParaRPr sz="2000">
              <a:solidFill>
                <a:schemeClr val="dk1"/>
              </a:solidFill>
              <a:latin typeface="Cambria"/>
              <a:ea typeface="Cambria"/>
              <a:cs typeface="Cambria"/>
              <a:sym typeface="Cambria"/>
            </a:endParaRPr>
          </a:p>
          <a:p>
            <a:pPr indent="0" lvl="0" marL="285115" marR="0" rtl="0" algn="just">
              <a:lnSpc>
                <a:spcPct val="100000"/>
              </a:lnSpc>
              <a:spcBef>
                <a:spcPts val="0"/>
              </a:spcBef>
              <a:spcAft>
                <a:spcPts val="0"/>
              </a:spcAft>
              <a:buNone/>
            </a:pPr>
            <a:r>
              <a:rPr lang="en-US" sz="2000">
                <a:solidFill>
                  <a:schemeClr val="dk1"/>
                </a:solidFill>
                <a:latin typeface="Cambria"/>
                <a:ea typeface="Cambria"/>
                <a:cs typeface="Cambria"/>
                <a:sym typeface="Cambria"/>
              </a:rPr>
              <a:t>used to refer immediate parent class object.</a:t>
            </a:r>
            <a:endParaRPr sz="2000">
              <a:solidFill>
                <a:schemeClr val="dk1"/>
              </a:solidFill>
              <a:latin typeface="Cambria"/>
              <a:ea typeface="Cambria"/>
              <a:cs typeface="Cambria"/>
              <a:sym typeface="Cambria"/>
            </a:endParaRPr>
          </a:p>
          <a:p>
            <a:pPr indent="-273050" lvl="0" marL="285115" marR="449580" rtl="0" algn="just">
              <a:lnSpc>
                <a:spcPct val="100000"/>
              </a:lnSpc>
              <a:spcBef>
                <a:spcPts val="60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Whenever you </a:t>
            </a:r>
            <a:r>
              <a:rPr b="1" lang="en-US" sz="2000">
                <a:solidFill>
                  <a:schemeClr val="dk1"/>
                </a:solidFill>
                <a:latin typeface="Cambria"/>
                <a:ea typeface="Cambria"/>
                <a:cs typeface="Cambria"/>
                <a:sym typeface="Cambria"/>
              </a:rPr>
              <a:t>create the instance of subclass, an  instance of parent class is created implicitly </a:t>
            </a:r>
            <a:r>
              <a:rPr lang="en-US" sz="2000">
                <a:solidFill>
                  <a:schemeClr val="dk1"/>
                </a:solidFill>
                <a:latin typeface="Cambria"/>
                <a:ea typeface="Cambria"/>
                <a:cs typeface="Cambria"/>
                <a:sym typeface="Cambria"/>
              </a:rPr>
              <a:t>i.e.  referred by super reference variable.</a:t>
            </a:r>
            <a:endParaRPr sz="2000">
              <a:solidFill>
                <a:schemeClr val="dk1"/>
              </a:solidFill>
              <a:latin typeface="Cambria"/>
              <a:ea typeface="Cambria"/>
              <a:cs typeface="Cambria"/>
              <a:sym typeface="Cambria"/>
            </a:endParaRPr>
          </a:p>
          <a:p>
            <a:pPr indent="-273050" lvl="0" marL="285115" marR="0" rtl="0" algn="just">
              <a:lnSpc>
                <a:spcPct val="100000"/>
              </a:lnSpc>
              <a:spcBef>
                <a:spcPts val="60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Usage of java super Keyword</a:t>
            </a:r>
            <a:endParaRPr sz="2000">
              <a:solidFill>
                <a:schemeClr val="dk1"/>
              </a:solidFill>
              <a:latin typeface="Cambria"/>
              <a:ea typeface="Cambria"/>
              <a:cs typeface="Cambria"/>
              <a:sym typeface="Cambria"/>
            </a:endParaRPr>
          </a:p>
          <a:p>
            <a:pPr indent="-273685" lvl="1" marL="652780" marR="1057275"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super is used to refer immediate parent class  member(instance variable &amp; method).</a:t>
            </a:r>
            <a:endParaRPr b="0" i="0" sz="2000" u="none" cap="none" strike="noStrike">
              <a:solidFill>
                <a:schemeClr val="dk1"/>
              </a:solidFill>
              <a:latin typeface="Cambria"/>
              <a:ea typeface="Cambria"/>
              <a:cs typeface="Cambria"/>
              <a:sym typeface="Cambria"/>
            </a:endParaRPr>
          </a:p>
          <a:p>
            <a:pPr indent="-273685" lvl="1" marL="652780" marR="676910" rtl="0" algn="l">
              <a:lnSpc>
                <a:spcPct val="100000"/>
              </a:lnSpc>
              <a:spcBef>
                <a:spcPts val="484"/>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super() is used to invoke immediate parent class  constructor.</a:t>
            </a:r>
            <a:endParaRPr b="0" i="0" sz="2000" u="none" cap="none" strike="noStrike">
              <a:solidFill>
                <a:schemeClr val="dk1"/>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3"/>
          <p:cNvSpPr txBox="1"/>
          <p:nvPr>
            <p:ph type="title"/>
          </p:nvPr>
        </p:nvSpPr>
        <p:spPr>
          <a:xfrm>
            <a:off x="535940" y="928242"/>
            <a:ext cx="765365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SUPER </a:t>
            </a:r>
            <a:r>
              <a:rPr lang="en-US" sz="2800"/>
              <a:t>– </a:t>
            </a:r>
            <a:r>
              <a:rPr lang="en-US"/>
              <a:t>PARENT</a:t>
            </a:r>
            <a:r>
              <a:rPr lang="en-US" sz="2800"/>
              <a:t>’</a:t>
            </a:r>
            <a:r>
              <a:rPr lang="en-US"/>
              <a:t>S INSTANCE VARIABLE</a:t>
            </a:r>
            <a:r>
              <a:rPr lang="en-US" sz="2800"/>
              <a:t>/</a:t>
            </a:r>
            <a:r>
              <a:rPr lang="en-US"/>
              <a:t>METHOD</a:t>
            </a:r>
            <a:endParaRPr sz="2800"/>
          </a:p>
        </p:txBody>
      </p:sp>
      <p:sp>
        <p:nvSpPr>
          <p:cNvPr id="151" name="Google Shape;151;p13"/>
          <p:cNvSpPr txBox="1"/>
          <p:nvPr/>
        </p:nvSpPr>
        <p:spPr>
          <a:xfrm>
            <a:off x="535940" y="1476502"/>
            <a:ext cx="7217409" cy="167195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super keyword can also be used to</a:t>
            </a:r>
            <a:endParaRPr sz="2400">
              <a:solidFill>
                <a:schemeClr val="dk1"/>
              </a:solidFill>
              <a:latin typeface="Cambria"/>
              <a:ea typeface="Cambria"/>
              <a:cs typeface="Cambria"/>
              <a:sym typeface="Cambria"/>
            </a:endParaRPr>
          </a:p>
          <a:p>
            <a:pPr indent="-273050" lvl="1" marL="469900" marR="170815" rtl="0" algn="l">
              <a:lnSpc>
                <a:spcPct val="100000"/>
              </a:lnSpc>
              <a:spcBef>
                <a:spcPts val="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Access parent class’s instance variable if child has an  instance variable with same name.</a:t>
            </a:r>
            <a:endParaRPr b="0" i="0" sz="2100" u="none" cap="none" strike="noStrike">
              <a:solidFill>
                <a:schemeClr val="dk1"/>
              </a:solidFill>
              <a:latin typeface="Cambria"/>
              <a:ea typeface="Cambria"/>
              <a:cs typeface="Cambria"/>
              <a:sym typeface="Cambria"/>
            </a:endParaRPr>
          </a:p>
          <a:p>
            <a:pPr indent="-273050" lvl="1" marL="469900" marR="5080" rtl="0" algn="l">
              <a:lnSpc>
                <a:spcPct val="100000"/>
              </a:lnSpc>
              <a:spcBef>
                <a:spcPts val="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invoke parent class’s method. It should be used in case  subclass contains the same method as parent class.</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type="title"/>
          </p:nvPr>
        </p:nvSpPr>
        <p:spPr>
          <a:xfrm>
            <a:off x="535940" y="928242"/>
            <a:ext cx="7653655" cy="452119"/>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SUPER </a:t>
            </a:r>
            <a:r>
              <a:rPr lang="en-US" sz="2800"/>
              <a:t>– </a:t>
            </a:r>
            <a:r>
              <a:rPr lang="en-US"/>
              <a:t>PARENT</a:t>
            </a:r>
            <a:r>
              <a:rPr lang="en-US" sz="2800"/>
              <a:t>’</a:t>
            </a:r>
            <a:r>
              <a:rPr lang="en-US"/>
              <a:t>S INSTANCE VARIABLE</a:t>
            </a:r>
            <a:r>
              <a:rPr lang="en-US" sz="2800"/>
              <a:t>/</a:t>
            </a:r>
            <a:r>
              <a:rPr lang="en-US"/>
              <a:t>METHOD</a:t>
            </a:r>
            <a:endParaRPr sz="2800"/>
          </a:p>
        </p:txBody>
      </p:sp>
      <p:sp>
        <p:nvSpPr>
          <p:cNvPr id="157" name="Google Shape;157;p14"/>
          <p:cNvSpPr txBox="1"/>
          <p:nvPr/>
        </p:nvSpPr>
        <p:spPr>
          <a:xfrm>
            <a:off x="535940" y="1325626"/>
            <a:ext cx="7925434" cy="5520690"/>
          </a:xfrm>
          <a:prstGeom prst="rect">
            <a:avLst/>
          </a:prstGeom>
          <a:noFill/>
          <a:ln>
            <a:noFill/>
          </a:ln>
        </p:spPr>
        <p:txBody>
          <a:bodyPr anchorCtr="0" anchor="t" bIns="0" lIns="0" spcFirstLastPara="1" rIns="0" wrap="square" tIns="12700">
            <a:spAutoFit/>
          </a:bodyPr>
          <a:lstStyle/>
          <a:p>
            <a:pPr indent="-184785" lvl="0" marL="196850" marR="6363970" rtl="0" algn="l">
              <a:lnSpc>
                <a:spcPct val="100000"/>
              </a:lnSpc>
              <a:spcBef>
                <a:spcPts val="0"/>
              </a:spcBef>
              <a:spcAft>
                <a:spcPts val="0"/>
              </a:spcAft>
              <a:buNone/>
            </a:pPr>
            <a:r>
              <a:rPr lang="en-US" sz="1500">
                <a:solidFill>
                  <a:schemeClr val="dk1"/>
                </a:solidFill>
                <a:latin typeface="Cambria"/>
                <a:ea typeface="Cambria"/>
                <a:cs typeface="Cambria"/>
                <a:sym typeface="Cambria"/>
              </a:rPr>
              <a:t>class Parent {  String name;  void message(){</a:t>
            </a:r>
            <a:endParaRPr sz="1500">
              <a:solidFill>
                <a:schemeClr val="dk1"/>
              </a:solidFill>
              <a:latin typeface="Cambria"/>
              <a:ea typeface="Cambria"/>
              <a:cs typeface="Cambria"/>
              <a:sym typeface="Cambria"/>
            </a:endParaRPr>
          </a:p>
          <a:p>
            <a:pPr indent="0" lvl="0" marL="469900" marR="0" rtl="0" algn="l">
              <a:lnSpc>
                <a:spcPct val="100000"/>
              </a:lnSpc>
              <a:spcBef>
                <a:spcPts val="0"/>
              </a:spcBef>
              <a:spcAft>
                <a:spcPts val="0"/>
              </a:spcAft>
              <a:buNone/>
            </a:pPr>
            <a:r>
              <a:rPr lang="en-US" sz="1500">
                <a:solidFill>
                  <a:schemeClr val="dk1"/>
                </a:solidFill>
                <a:latin typeface="Cambria"/>
                <a:ea typeface="Cambria"/>
                <a:cs typeface="Cambria"/>
                <a:sym typeface="Cambria"/>
              </a:rPr>
              <a:t>System.</a:t>
            </a:r>
            <a:r>
              <a:rPr i="1" lang="en-US" sz="1500">
                <a:solidFill>
                  <a:schemeClr val="dk1"/>
                </a:solidFill>
                <a:latin typeface="Cambria"/>
                <a:ea typeface="Cambria"/>
                <a:cs typeface="Cambria"/>
                <a:sym typeface="Cambria"/>
              </a:rPr>
              <a:t>out.println("Welcome to Parent class."); </a:t>
            </a: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3849370" rtl="0" algn="l">
              <a:lnSpc>
                <a:spcPct val="100000"/>
              </a:lnSpc>
              <a:spcBef>
                <a:spcPts val="0"/>
              </a:spcBef>
              <a:spcAft>
                <a:spcPts val="0"/>
              </a:spcAft>
              <a:buNone/>
            </a:pPr>
            <a:r>
              <a:rPr lang="en-US" sz="1500">
                <a:solidFill>
                  <a:schemeClr val="dk1"/>
                </a:solidFill>
                <a:latin typeface="Cambria"/>
                <a:ea typeface="Cambria"/>
                <a:cs typeface="Cambria"/>
                <a:sym typeface="Cambria"/>
              </a:rPr>
              <a:t>// Create a subclass by extending class parent.  class Child extends Parent {</a:t>
            </a:r>
            <a:endParaRPr sz="1500">
              <a:solidFill>
                <a:schemeClr val="dk1"/>
              </a:solidFill>
              <a:latin typeface="Cambria"/>
              <a:ea typeface="Cambria"/>
              <a:cs typeface="Cambria"/>
              <a:sym typeface="Cambria"/>
            </a:endParaRPr>
          </a:p>
          <a:p>
            <a:pPr indent="0" lvl="0" marL="196850" marR="0" rtl="0" algn="l">
              <a:lnSpc>
                <a:spcPct val="100000"/>
              </a:lnSpc>
              <a:spcBef>
                <a:spcPts val="5"/>
              </a:spcBef>
              <a:spcAft>
                <a:spcPts val="0"/>
              </a:spcAft>
              <a:buNone/>
            </a:pPr>
            <a:r>
              <a:rPr lang="en-US" sz="1500">
                <a:solidFill>
                  <a:schemeClr val="dk1"/>
                </a:solidFill>
                <a:latin typeface="Cambria"/>
                <a:ea typeface="Cambria"/>
                <a:cs typeface="Cambria"/>
                <a:sym typeface="Cambria"/>
              </a:rPr>
              <a:t>String name; // this name hides the name in Parent</a:t>
            </a:r>
            <a:endParaRPr sz="1500">
              <a:solidFill>
                <a:schemeClr val="dk1"/>
              </a:solidFill>
              <a:latin typeface="Cambria"/>
              <a:ea typeface="Cambria"/>
              <a:cs typeface="Cambria"/>
              <a:sym typeface="Cambria"/>
            </a:endParaRPr>
          </a:p>
          <a:p>
            <a:pPr indent="-365125" lvl="0" marL="561340" marR="4828540" rtl="0" algn="just">
              <a:lnSpc>
                <a:spcPct val="100000"/>
              </a:lnSpc>
              <a:spcBef>
                <a:spcPts val="1200"/>
              </a:spcBef>
              <a:spcAft>
                <a:spcPts val="0"/>
              </a:spcAft>
              <a:buNone/>
            </a:pPr>
            <a:r>
              <a:rPr lang="en-US" sz="1500">
                <a:solidFill>
                  <a:schemeClr val="dk1"/>
                </a:solidFill>
                <a:latin typeface="Cambria"/>
                <a:ea typeface="Cambria"/>
                <a:cs typeface="Cambria"/>
                <a:sym typeface="Cambria"/>
              </a:rPr>
              <a:t>public Child(String a, String b) {  super.name = a; // name in A  name = b; // name in B</a:t>
            </a:r>
            <a:endParaRPr sz="1500">
              <a:solidFill>
                <a:schemeClr val="dk1"/>
              </a:solidFill>
              <a:latin typeface="Cambria"/>
              <a:ea typeface="Cambria"/>
              <a:cs typeface="Cambria"/>
              <a:sym typeface="Cambria"/>
            </a:endParaRPr>
          </a:p>
          <a:p>
            <a:pPr indent="0" lvl="0" marL="19685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96850" marR="0" rtl="0" algn="l">
              <a:lnSpc>
                <a:spcPct val="100000"/>
              </a:lnSpc>
              <a:spcBef>
                <a:spcPts val="0"/>
              </a:spcBef>
              <a:spcAft>
                <a:spcPts val="0"/>
              </a:spcAft>
              <a:buNone/>
            </a:pPr>
            <a:r>
              <a:rPr lang="en-US" sz="1500">
                <a:solidFill>
                  <a:schemeClr val="dk1"/>
                </a:solidFill>
                <a:latin typeface="Cambria"/>
                <a:ea typeface="Cambria"/>
                <a:cs typeface="Cambria"/>
                <a:sym typeface="Cambria"/>
              </a:rPr>
              <a:t>void show() {</a:t>
            </a:r>
            <a:endParaRPr sz="1500">
              <a:solidFill>
                <a:schemeClr val="dk1"/>
              </a:solidFill>
              <a:latin typeface="Cambria"/>
              <a:ea typeface="Cambria"/>
              <a:cs typeface="Cambria"/>
              <a:sym typeface="Cambria"/>
            </a:endParaRPr>
          </a:p>
          <a:p>
            <a:pPr indent="0" lvl="0" marL="196850" marR="0" rtl="0" algn="l">
              <a:lnSpc>
                <a:spcPct val="100000"/>
              </a:lnSpc>
              <a:spcBef>
                <a:spcPts val="0"/>
              </a:spcBef>
              <a:spcAft>
                <a:spcPts val="0"/>
              </a:spcAft>
              <a:buNone/>
            </a:pPr>
            <a:r>
              <a:rPr lang="en-US" sz="1500">
                <a:solidFill>
                  <a:schemeClr val="dk1"/>
                </a:solidFill>
                <a:latin typeface="Cambria"/>
                <a:ea typeface="Cambria"/>
                <a:cs typeface="Cambria"/>
                <a:sym typeface="Cambria"/>
              </a:rPr>
              <a:t>System.</a:t>
            </a:r>
            <a:r>
              <a:rPr i="1" lang="en-US" sz="1500">
                <a:solidFill>
                  <a:schemeClr val="dk1"/>
                </a:solidFill>
                <a:latin typeface="Cambria"/>
                <a:ea typeface="Cambria"/>
                <a:cs typeface="Cambria"/>
                <a:sym typeface="Cambria"/>
              </a:rPr>
              <a:t>out.println("superclass’s name: " + super.name + "; subclass’s name: " + name);  </a:t>
            </a: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96850" marR="5995670" rtl="0" algn="l">
              <a:lnSpc>
                <a:spcPct val="100000"/>
              </a:lnSpc>
              <a:spcBef>
                <a:spcPts val="1260"/>
              </a:spcBef>
              <a:spcAft>
                <a:spcPts val="0"/>
              </a:spcAft>
              <a:buNone/>
            </a:pPr>
            <a:r>
              <a:rPr lang="en-US" sz="1500">
                <a:solidFill>
                  <a:schemeClr val="dk1"/>
                </a:solidFill>
                <a:latin typeface="Cambria"/>
                <a:ea typeface="Cambria"/>
                <a:cs typeface="Cambria"/>
                <a:sym typeface="Cambria"/>
              </a:rPr>
              <a:t>//method overriding  void message(){</a:t>
            </a:r>
            <a:endParaRPr sz="1500">
              <a:solidFill>
                <a:schemeClr val="dk1"/>
              </a:solidFill>
              <a:latin typeface="Cambria"/>
              <a:ea typeface="Cambria"/>
              <a:cs typeface="Cambria"/>
              <a:sym typeface="Cambria"/>
            </a:endParaRPr>
          </a:p>
          <a:p>
            <a:pPr indent="0" lvl="0" marL="469900" marR="0" rtl="0" algn="l">
              <a:lnSpc>
                <a:spcPct val="100000"/>
              </a:lnSpc>
              <a:spcBef>
                <a:spcPts val="0"/>
              </a:spcBef>
              <a:spcAft>
                <a:spcPts val="0"/>
              </a:spcAft>
              <a:buNone/>
            </a:pPr>
            <a:r>
              <a:rPr lang="en-US" sz="1500">
                <a:solidFill>
                  <a:schemeClr val="dk1"/>
                </a:solidFill>
                <a:latin typeface="Cambria"/>
                <a:ea typeface="Cambria"/>
                <a:cs typeface="Cambria"/>
                <a:sym typeface="Cambria"/>
              </a:rPr>
              <a:t>System.</a:t>
            </a:r>
            <a:r>
              <a:rPr i="1" lang="en-US" sz="1500">
                <a:solidFill>
                  <a:schemeClr val="dk1"/>
                </a:solidFill>
                <a:latin typeface="Cambria"/>
                <a:ea typeface="Cambria"/>
                <a:cs typeface="Cambria"/>
                <a:sym typeface="Cambria"/>
              </a:rPr>
              <a:t>out.println("Welcome to Child class."); </a:t>
            </a: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96850" marR="0" rtl="0" algn="l">
              <a:lnSpc>
                <a:spcPct val="100000"/>
              </a:lnSpc>
              <a:spcBef>
                <a:spcPts val="1205"/>
              </a:spcBef>
              <a:spcAft>
                <a:spcPts val="0"/>
              </a:spcAft>
              <a:buNone/>
            </a:pPr>
            <a:r>
              <a:rPr lang="en-US" sz="1500">
                <a:solidFill>
                  <a:schemeClr val="dk1"/>
                </a:solidFill>
                <a:latin typeface="Cambria"/>
                <a:ea typeface="Cambria"/>
                <a:cs typeface="Cambria"/>
                <a:sym typeface="Cambria"/>
              </a:rPr>
              <a:t>void display(){</a:t>
            </a:r>
            <a:endParaRPr sz="1500">
              <a:solidFill>
                <a:schemeClr val="dk1"/>
              </a:solidFill>
              <a:latin typeface="Cambria"/>
              <a:ea typeface="Cambria"/>
              <a:cs typeface="Cambria"/>
              <a:sym typeface="Cambria"/>
            </a:endParaRPr>
          </a:p>
          <a:p>
            <a:pPr indent="0" lvl="0" marL="561340" marR="2058035" rtl="0" algn="l">
              <a:lnSpc>
                <a:spcPct val="100000"/>
              </a:lnSpc>
              <a:spcBef>
                <a:spcPts val="0"/>
              </a:spcBef>
              <a:spcAft>
                <a:spcPts val="0"/>
              </a:spcAft>
              <a:buNone/>
            </a:pPr>
            <a:r>
              <a:rPr lang="en-US" sz="1500">
                <a:solidFill>
                  <a:schemeClr val="dk1"/>
                </a:solidFill>
                <a:latin typeface="Cambria"/>
                <a:ea typeface="Cambria"/>
                <a:cs typeface="Cambria"/>
                <a:sym typeface="Cambria"/>
              </a:rPr>
              <a:t>message();//will invoke current class message() method  super.message();//will invoke parent class message() method</a:t>
            </a:r>
            <a:endParaRPr sz="1500">
              <a:solidFill>
                <a:schemeClr val="dk1"/>
              </a:solidFill>
              <a:latin typeface="Cambria"/>
              <a:ea typeface="Cambria"/>
              <a:cs typeface="Cambria"/>
              <a:sym typeface="Cambria"/>
            </a:endParaRPr>
          </a:p>
          <a:p>
            <a:pPr indent="0" lvl="0" marL="19685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5"/>
          <p:cNvSpPr txBox="1"/>
          <p:nvPr/>
        </p:nvSpPr>
        <p:spPr>
          <a:xfrm>
            <a:off x="535940" y="1584477"/>
            <a:ext cx="4712970" cy="3412490"/>
          </a:xfrm>
          <a:prstGeom prst="rect">
            <a:avLst/>
          </a:prstGeom>
          <a:noFill/>
          <a:ln>
            <a:noFill/>
          </a:ln>
        </p:spPr>
        <p:txBody>
          <a:bodyPr anchorCtr="0" anchor="t" bIns="0" lIns="0" spcFirstLastPara="1" rIns="0" wrap="square" tIns="61575">
            <a:spAutoFit/>
          </a:bodyPr>
          <a:lstStyle/>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public class TestSuper {</a:t>
            </a:r>
            <a:endParaRPr sz="1600">
              <a:solidFill>
                <a:schemeClr val="dk1"/>
              </a:solidFill>
              <a:latin typeface="Cambria"/>
              <a:ea typeface="Cambria"/>
              <a:cs typeface="Cambria"/>
              <a:sym typeface="Cambria"/>
            </a:endParaRPr>
          </a:p>
          <a:p>
            <a:pPr indent="-364490" lvl="0" marL="744220" marR="436244" rtl="0" algn="l">
              <a:lnSpc>
                <a:spcPct val="144375"/>
              </a:lnSpc>
              <a:spcBef>
                <a:spcPts val="135"/>
              </a:spcBef>
              <a:spcAft>
                <a:spcPts val="0"/>
              </a:spcAft>
              <a:buNone/>
            </a:pPr>
            <a:r>
              <a:rPr lang="en-US" sz="1600">
                <a:solidFill>
                  <a:schemeClr val="dk1"/>
                </a:solidFill>
                <a:latin typeface="Cambria"/>
                <a:ea typeface="Cambria"/>
                <a:cs typeface="Cambria"/>
                <a:sym typeface="Cambria"/>
              </a:rPr>
              <a:t>public static void main(String[] args) {  Child s=new Child("Parent", "Child");  s.show();</a:t>
            </a:r>
            <a:endParaRPr sz="1600">
              <a:solidFill>
                <a:schemeClr val="dk1"/>
              </a:solidFill>
              <a:latin typeface="Cambria"/>
              <a:ea typeface="Cambria"/>
              <a:cs typeface="Cambria"/>
              <a:sym typeface="Cambria"/>
            </a:endParaRPr>
          </a:p>
          <a:p>
            <a:pPr indent="0" lvl="0" marL="744220" marR="0" rtl="0" algn="l">
              <a:lnSpc>
                <a:spcPct val="100000"/>
              </a:lnSpc>
              <a:spcBef>
                <a:spcPts val="229"/>
              </a:spcBef>
              <a:spcAft>
                <a:spcPts val="0"/>
              </a:spcAft>
              <a:buNone/>
            </a:pPr>
            <a:r>
              <a:rPr lang="en-US" sz="1600">
                <a:solidFill>
                  <a:schemeClr val="dk1"/>
                </a:solidFill>
                <a:latin typeface="Cambria"/>
                <a:ea typeface="Cambria"/>
                <a:cs typeface="Cambria"/>
                <a:sym typeface="Cambria"/>
              </a:rPr>
              <a:t>s.display();</a:t>
            </a:r>
            <a:endParaRPr sz="1600">
              <a:solidFill>
                <a:schemeClr val="dk1"/>
              </a:solidFill>
              <a:latin typeface="Cambria"/>
              <a:ea typeface="Cambria"/>
              <a:cs typeface="Cambria"/>
              <a:sym typeface="Cambria"/>
            </a:endParaRPr>
          </a:p>
          <a:p>
            <a:pPr indent="0" lvl="0" marL="379730" marR="0" rtl="0" algn="l">
              <a:lnSpc>
                <a:spcPct val="100000"/>
              </a:lnSpc>
              <a:spcBef>
                <a:spcPts val="38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12700" marR="0" rtl="0" algn="l">
              <a:lnSpc>
                <a:spcPct val="100000"/>
              </a:lnSpc>
              <a:spcBef>
                <a:spcPts val="60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273050" lvl="0" marL="285115" marR="0" rtl="0" algn="l">
              <a:lnSpc>
                <a:spcPct val="100000"/>
              </a:lnSpc>
              <a:spcBef>
                <a:spcPts val="605"/>
              </a:spcBef>
              <a:spcAft>
                <a:spcPts val="0"/>
              </a:spcAft>
              <a:buClr>
                <a:srgbClr val="FD8537"/>
              </a:buClr>
              <a:buSzPts val="1250"/>
              <a:buFont typeface="Noto Sans Symbols"/>
              <a:buChar char="🞆"/>
            </a:pPr>
            <a:r>
              <a:rPr lang="en-US" sz="1800">
                <a:solidFill>
                  <a:schemeClr val="dk1"/>
                </a:solidFill>
                <a:latin typeface="Cambria"/>
                <a:ea typeface="Cambria"/>
                <a:cs typeface="Cambria"/>
                <a:sym typeface="Cambria"/>
              </a:rPr>
              <a:t>Output:</a:t>
            </a:r>
            <a:endParaRPr sz="1800">
              <a:solidFill>
                <a:schemeClr val="dk1"/>
              </a:solidFill>
              <a:latin typeface="Cambria"/>
              <a:ea typeface="Cambria"/>
              <a:cs typeface="Cambria"/>
              <a:sym typeface="Cambria"/>
            </a:endParaRPr>
          </a:p>
          <a:p>
            <a:pPr indent="0" lvl="0" marL="12700" marR="5080" rtl="0" algn="l">
              <a:lnSpc>
                <a:spcPct val="157500"/>
              </a:lnSpc>
              <a:spcBef>
                <a:spcPts val="180"/>
              </a:spcBef>
              <a:spcAft>
                <a:spcPts val="0"/>
              </a:spcAft>
              <a:buNone/>
            </a:pPr>
            <a:r>
              <a:rPr lang="en-US" sz="1600">
                <a:solidFill>
                  <a:schemeClr val="dk1"/>
                </a:solidFill>
                <a:latin typeface="Cambria"/>
                <a:ea typeface="Cambria"/>
                <a:cs typeface="Cambria"/>
                <a:sym typeface="Cambria"/>
              </a:rPr>
              <a:t>superclass's name: Parent; subclass's name: Child  Welcome to Child class.</a:t>
            </a:r>
            <a:endParaRPr sz="1600">
              <a:solidFill>
                <a:schemeClr val="dk1"/>
              </a:solidFill>
              <a:latin typeface="Cambria"/>
              <a:ea typeface="Cambria"/>
              <a:cs typeface="Cambria"/>
              <a:sym typeface="Cambria"/>
            </a:endParaRPr>
          </a:p>
          <a:p>
            <a:pPr indent="0" lvl="0" marL="12700" marR="0" rtl="0" algn="l">
              <a:lnSpc>
                <a:spcPct val="100000"/>
              </a:lnSpc>
              <a:spcBef>
                <a:spcPts val="420"/>
              </a:spcBef>
              <a:spcAft>
                <a:spcPts val="0"/>
              </a:spcAft>
              <a:buNone/>
            </a:pPr>
            <a:r>
              <a:rPr lang="en-US" sz="1600">
                <a:solidFill>
                  <a:schemeClr val="dk1"/>
                </a:solidFill>
                <a:latin typeface="Cambria"/>
                <a:ea typeface="Cambria"/>
                <a:cs typeface="Cambria"/>
                <a:sym typeface="Cambria"/>
              </a:rPr>
              <a:t>Welcome to Parent class.</a:t>
            </a:r>
            <a:endParaRPr sz="1600">
              <a:solidFill>
                <a:schemeClr val="dk1"/>
              </a:solidFill>
              <a:latin typeface="Cambria"/>
              <a:ea typeface="Cambria"/>
              <a:cs typeface="Cambria"/>
              <a:sym typeface="Cambria"/>
            </a:endParaRPr>
          </a:p>
        </p:txBody>
      </p:sp>
      <p:sp>
        <p:nvSpPr>
          <p:cNvPr id="163" name="Google Shape;163;p15"/>
          <p:cNvSpPr txBox="1"/>
          <p:nvPr>
            <p:ph type="title"/>
          </p:nvPr>
        </p:nvSpPr>
        <p:spPr>
          <a:xfrm>
            <a:off x="535940" y="928242"/>
            <a:ext cx="7653655"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SUPER </a:t>
            </a:r>
            <a:r>
              <a:rPr lang="en-US" sz="2800"/>
              <a:t>– </a:t>
            </a:r>
            <a:r>
              <a:rPr lang="en-US"/>
              <a:t>PARENT</a:t>
            </a:r>
            <a:r>
              <a:rPr lang="en-US" sz="2800"/>
              <a:t>’</a:t>
            </a:r>
            <a:r>
              <a:rPr lang="en-US"/>
              <a:t>S INSTANCE VARIABLE</a:t>
            </a:r>
            <a:r>
              <a:rPr lang="en-US" sz="2800"/>
              <a:t>/</a:t>
            </a:r>
            <a:r>
              <a:rPr lang="en-US"/>
              <a:t>METHOD</a:t>
            </a:r>
            <a:endParaRPr sz="2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type="title"/>
          </p:nvPr>
        </p:nvSpPr>
        <p:spPr>
          <a:xfrm>
            <a:off x="535940" y="896239"/>
            <a:ext cx="720280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SUPER</a:t>
            </a:r>
            <a:r>
              <a:rPr lang="en-US" sz="3000"/>
              <a:t>-T</a:t>
            </a:r>
            <a:r>
              <a:rPr lang="en-US" sz="2400"/>
              <a:t>O INVOKE PARENT CONSTRUCTOR</a:t>
            </a:r>
            <a:r>
              <a:rPr lang="en-US" sz="3000"/>
              <a:t>.</a:t>
            </a:r>
            <a:endParaRPr sz="3000"/>
          </a:p>
        </p:txBody>
      </p:sp>
      <p:sp>
        <p:nvSpPr>
          <p:cNvPr id="169" name="Google Shape;169;p16"/>
          <p:cNvSpPr txBox="1"/>
          <p:nvPr/>
        </p:nvSpPr>
        <p:spPr>
          <a:xfrm>
            <a:off x="535940" y="1628978"/>
            <a:ext cx="7267575" cy="75755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super keyword can also be used to invoke the</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parent class constructor as given below:</a:t>
            </a:r>
            <a:endParaRPr sz="2400">
              <a:solidFill>
                <a:schemeClr val="dk1"/>
              </a:solidFill>
              <a:latin typeface="Cambria"/>
              <a:ea typeface="Cambria"/>
              <a:cs typeface="Cambria"/>
              <a:sym typeface="Cambria"/>
            </a:endParaRPr>
          </a:p>
        </p:txBody>
      </p:sp>
      <p:sp>
        <p:nvSpPr>
          <p:cNvPr id="170" name="Google Shape;170;p16"/>
          <p:cNvSpPr txBox="1"/>
          <p:nvPr/>
        </p:nvSpPr>
        <p:spPr>
          <a:xfrm>
            <a:off x="903224" y="2804286"/>
            <a:ext cx="4761230" cy="1244600"/>
          </a:xfrm>
          <a:prstGeom prst="rect">
            <a:avLst/>
          </a:prstGeom>
          <a:noFill/>
          <a:ln>
            <a:noFill/>
          </a:ln>
        </p:spPr>
        <p:txBody>
          <a:bodyPr anchorCtr="0" anchor="t" bIns="0" lIns="0" spcFirstLastPara="1" rIns="0" wrap="square" tIns="12050">
            <a:spAutoFit/>
          </a:bodyPr>
          <a:lstStyle/>
          <a:p>
            <a:pPr indent="0" lvl="0" marL="0" marR="3295650" rtl="0" algn="ctr">
              <a:lnSpc>
                <a:spcPct val="100000"/>
              </a:lnSpc>
              <a:spcBef>
                <a:spcPts val="0"/>
              </a:spcBef>
              <a:spcAft>
                <a:spcPts val="0"/>
              </a:spcAft>
              <a:buNone/>
            </a:pPr>
            <a:r>
              <a:rPr b="1" lang="en-US" sz="1600">
                <a:solidFill>
                  <a:schemeClr val="dk1"/>
                </a:solidFill>
                <a:latin typeface="Cambria"/>
                <a:ea typeface="Cambria"/>
                <a:cs typeface="Cambria"/>
                <a:sym typeface="Cambria"/>
              </a:rPr>
              <a:t>class Vehicle{</a:t>
            </a:r>
            <a:endParaRPr sz="1600">
              <a:solidFill>
                <a:schemeClr val="dk1"/>
              </a:solidFill>
              <a:latin typeface="Cambria"/>
              <a:ea typeface="Cambria"/>
              <a:cs typeface="Cambria"/>
              <a:sym typeface="Cambria"/>
            </a:endParaRPr>
          </a:p>
          <a:p>
            <a:pPr indent="0" lvl="0" marL="0" marR="3284854" rtl="0" algn="ctr">
              <a:lnSpc>
                <a:spcPct val="100000"/>
              </a:lnSpc>
              <a:spcBef>
                <a:spcPts val="0"/>
              </a:spcBef>
              <a:spcAft>
                <a:spcPts val="0"/>
              </a:spcAft>
              <a:buNone/>
            </a:pPr>
            <a:r>
              <a:rPr lang="en-US" sz="1600">
                <a:solidFill>
                  <a:schemeClr val="dk1"/>
                </a:solidFill>
                <a:latin typeface="Cambria"/>
                <a:ea typeface="Cambria"/>
                <a:cs typeface="Cambria"/>
                <a:sym typeface="Cambria"/>
              </a:rPr>
              <a:t>Vehicle(){</a:t>
            </a:r>
            <a:endParaRPr sz="1600">
              <a:solidFill>
                <a:schemeClr val="dk1"/>
              </a:solidFill>
              <a:latin typeface="Cambria"/>
              <a:ea typeface="Cambria"/>
              <a:cs typeface="Cambria"/>
              <a:sym typeface="Cambria"/>
            </a:endParaRPr>
          </a:p>
          <a:p>
            <a:pPr indent="0" lvl="0" marL="546735" marR="0" rtl="0" algn="ctr">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out.println("Vehicle is created.");</a:t>
            </a:r>
            <a:endParaRPr sz="1600">
              <a:solidFill>
                <a:schemeClr val="dk1"/>
              </a:solidFill>
              <a:latin typeface="Cambria"/>
              <a:ea typeface="Cambria"/>
              <a:cs typeface="Cambria"/>
              <a:sym typeface="Cambria"/>
            </a:endParaRPr>
          </a:p>
          <a:p>
            <a:pPr indent="0" lvl="0" marL="0" marR="4110990" rtl="0" algn="ctr">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4660265" rtl="0" algn="ctr">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
        <p:nvSpPr>
          <p:cNvPr id="171" name="Google Shape;171;p16"/>
          <p:cNvSpPr txBox="1"/>
          <p:nvPr/>
        </p:nvSpPr>
        <p:spPr>
          <a:xfrm>
            <a:off x="903224" y="4267657"/>
            <a:ext cx="5533390" cy="22199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class Bike extends Vehicle{</a:t>
            </a:r>
            <a:endParaRPr sz="1600">
              <a:solidFill>
                <a:schemeClr val="dk1"/>
              </a:solidFill>
              <a:latin typeface="Cambria"/>
              <a:ea typeface="Cambria"/>
              <a:cs typeface="Cambria"/>
              <a:sym typeface="Cambria"/>
            </a:endParaRPr>
          </a:p>
          <a:p>
            <a:pPr indent="0" lvl="0" marL="28702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a:t>
            </a:r>
            <a:endParaRPr sz="1600">
              <a:solidFill>
                <a:schemeClr val="dk1"/>
              </a:solidFill>
              <a:latin typeface="Cambria"/>
              <a:ea typeface="Cambria"/>
              <a:cs typeface="Cambria"/>
              <a:sym typeface="Cambria"/>
            </a:endParaRPr>
          </a:p>
          <a:p>
            <a:pPr indent="0" lvl="0" marL="559435" marR="0" rtl="0" algn="l">
              <a:lnSpc>
                <a:spcPct val="100000"/>
              </a:lnSpc>
              <a:spcBef>
                <a:spcPts val="0"/>
              </a:spcBef>
              <a:spcAft>
                <a:spcPts val="0"/>
              </a:spcAft>
              <a:buNone/>
            </a:pPr>
            <a:r>
              <a:rPr b="1" lang="en-US" sz="1600">
                <a:solidFill>
                  <a:schemeClr val="dk1"/>
                </a:solidFill>
                <a:latin typeface="Cambria"/>
                <a:ea typeface="Cambria"/>
                <a:cs typeface="Cambria"/>
                <a:sym typeface="Cambria"/>
              </a:rPr>
              <a:t>super(); //will invoke Parent class's constructor</a:t>
            </a:r>
            <a:endParaRPr sz="1600">
              <a:solidFill>
                <a:schemeClr val="dk1"/>
              </a:solidFill>
              <a:latin typeface="Cambria"/>
              <a:ea typeface="Cambria"/>
              <a:cs typeface="Cambria"/>
              <a:sym typeface="Cambria"/>
            </a:endParaRPr>
          </a:p>
          <a:p>
            <a:pPr indent="0" lvl="0" marL="559435"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out.println("Bike is created.");</a:t>
            </a:r>
            <a:endParaRPr sz="1600">
              <a:solidFill>
                <a:schemeClr val="dk1"/>
              </a:solidFill>
              <a:latin typeface="Cambria"/>
              <a:ea typeface="Cambria"/>
              <a:cs typeface="Cambria"/>
              <a:sym typeface="Cambria"/>
            </a:endParaRPr>
          </a:p>
          <a:p>
            <a:pPr indent="0" lvl="0" marL="28702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287020" marR="0" rtl="0" algn="l">
              <a:lnSpc>
                <a:spcPct val="100000"/>
              </a:lnSpc>
              <a:spcBef>
                <a:spcPts val="5"/>
              </a:spcBef>
              <a:spcAft>
                <a:spcPts val="0"/>
              </a:spcAft>
              <a:buNone/>
            </a:pPr>
            <a:r>
              <a:rPr b="1" lang="en-US" sz="1600">
                <a:solidFill>
                  <a:schemeClr val="dk1"/>
                </a:solidFill>
                <a:latin typeface="Cambria"/>
                <a:ea typeface="Cambria"/>
                <a:cs typeface="Cambria"/>
                <a:sym typeface="Cambria"/>
              </a:rPr>
              <a:t>public static void main(String[] args){</a:t>
            </a:r>
            <a:endParaRPr sz="1600">
              <a:solidFill>
                <a:schemeClr val="dk1"/>
              </a:solidFill>
              <a:latin typeface="Cambria"/>
              <a:ea typeface="Cambria"/>
              <a:cs typeface="Cambria"/>
              <a:sym typeface="Cambria"/>
            </a:endParaRPr>
          </a:p>
          <a:p>
            <a:pPr indent="0" lvl="0" marL="559435"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 b = </a:t>
            </a:r>
            <a:r>
              <a:rPr b="1" lang="en-US" sz="1600">
                <a:solidFill>
                  <a:schemeClr val="dk1"/>
                </a:solidFill>
                <a:latin typeface="Cambria"/>
                <a:ea typeface="Cambria"/>
                <a:cs typeface="Cambria"/>
                <a:sym typeface="Cambria"/>
              </a:rPr>
              <a:t>new Bike();</a:t>
            </a:r>
            <a:endParaRPr sz="1600">
              <a:solidFill>
                <a:schemeClr val="dk1"/>
              </a:solidFill>
              <a:latin typeface="Cambria"/>
              <a:ea typeface="Cambria"/>
              <a:cs typeface="Cambria"/>
              <a:sym typeface="Cambria"/>
            </a:endParaRPr>
          </a:p>
          <a:p>
            <a:pPr indent="0" lvl="0" marL="28702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
        <p:nvSpPr>
          <p:cNvPr id="172" name="Google Shape;172;p16"/>
          <p:cNvSpPr txBox="1"/>
          <p:nvPr/>
        </p:nvSpPr>
        <p:spPr>
          <a:xfrm>
            <a:off x="6629400" y="3146425"/>
            <a:ext cx="1847850" cy="892175"/>
          </a:xfrm>
          <a:prstGeom prst="rect">
            <a:avLst/>
          </a:prstGeom>
          <a:solidFill>
            <a:srgbClr val="FDB686"/>
          </a:solidFill>
          <a:ln>
            <a:noFill/>
          </a:ln>
        </p:spPr>
        <p:txBody>
          <a:bodyPr anchorCtr="0" anchor="t" bIns="0" lIns="0" spcFirstLastPara="1" rIns="0" wrap="square" tIns="39350">
            <a:spAutoFit/>
          </a:bodyPr>
          <a:lstStyle/>
          <a:p>
            <a:pPr indent="0" lvl="0" marL="92075" marR="0" rtl="0" algn="l">
              <a:lnSpc>
                <a:spcPct val="100000"/>
              </a:lnSpc>
              <a:spcBef>
                <a:spcPts val="0"/>
              </a:spcBef>
              <a:spcAft>
                <a:spcPts val="0"/>
              </a:spcAft>
              <a:buNone/>
            </a:pPr>
            <a:r>
              <a:rPr lang="en-US" sz="2000">
                <a:solidFill>
                  <a:schemeClr val="dk1"/>
                </a:solidFill>
                <a:latin typeface="Arial"/>
                <a:ea typeface="Arial"/>
                <a:cs typeface="Arial"/>
                <a:sym typeface="Arial"/>
              </a:rPr>
              <a:t>Output</a:t>
            </a: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0" lvl="0" marL="92075" marR="158750" rtl="0" algn="l">
              <a:lnSpc>
                <a:spcPct val="100000"/>
              </a:lnSpc>
              <a:spcBef>
                <a:spcPts val="15"/>
              </a:spcBef>
              <a:spcAft>
                <a:spcPts val="0"/>
              </a:spcAft>
              <a:buNone/>
            </a:pPr>
            <a:r>
              <a:rPr lang="en-US" sz="1600">
                <a:solidFill>
                  <a:schemeClr val="dk1"/>
                </a:solidFill>
                <a:latin typeface="Arial"/>
                <a:ea typeface="Arial"/>
                <a:cs typeface="Arial"/>
                <a:sym typeface="Arial"/>
              </a:rPr>
              <a:t>Vehicle is created  Bike is created</a:t>
            </a:r>
            <a:endParaRPr sz="16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7"/>
          <p:cNvSpPr txBox="1"/>
          <p:nvPr>
            <p:ph type="title"/>
          </p:nvPr>
        </p:nvSpPr>
        <p:spPr>
          <a:xfrm>
            <a:off x="535940" y="896239"/>
            <a:ext cx="720280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SUPER</a:t>
            </a:r>
            <a:r>
              <a:rPr lang="en-US" sz="3000"/>
              <a:t>-T</a:t>
            </a:r>
            <a:r>
              <a:rPr lang="en-US" sz="2400"/>
              <a:t>O INVOKE PARENT CONSTRUCTOR</a:t>
            </a:r>
            <a:r>
              <a:rPr lang="en-US" sz="3000"/>
              <a:t>.</a:t>
            </a:r>
            <a:endParaRPr sz="3000"/>
          </a:p>
        </p:txBody>
      </p:sp>
      <p:sp>
        <p:nvSpPr>
          <p:cNvPr id="178" name="Google Shape;178;p17"/>
          <p:cNvSpPr txBox="1"/>
          <p:nvPr/>
        </p:nvSpPr>
        <p:spPr>
          <a:xfrm>
            <a:off x="535940" y="1628978"/>
            <a:ext cx="5975350" cy="4036060"/>
          </a:xfrm>
          <a:prstGeom prst="rect">
            <a:avLst/>
          </a:prstGeom>
          <a:noFill/>
          <a:ln>
            <a:noFill/>
          </a:ln>
        </p:spPr>
        <p:txBody>
          <a:bodyPr anchorCtr="0" anchor="t" bIns="0" lIns="0" spcFirstLastPara="1" rIns="0" wrap="square" tIns="13325">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What would be the output of the program below:</a:t>
            </a:r>
            <a:endParaRPr sz="2000">
              <a:solidFill>
                <a:schemeClr val="dk1"/>
              </a:solidFill>
              <a:latin typeface="Cambria"/>
              <a:ea typeface="Cambria"/>
              <a:cs typeface="Cambria"/>
              <a:sym typeface="Cambria"/>
            </a:endParaRPr>
          </a:p>
          <a:p>
            <a:pPr indent="0" lvl="0" marL="0" marR="0" rtl="0" algn="l">
              <a:lnSpc>
                <a:spcPct val="100000"/>
              </a:lnSpc>
              <a:spcBef>
                <a:spcPts val="55"/>
              </a:spcBef>
              <a:spcAft>
                <a:spcPts val="0"/>
              </a:spcAft>
              <a:buNone/>
            </a:pPr>
            <a:r>
              <a:t/>
            </a:r>
            <a:endParaRPr sz="1900">
              <a:solidFill>
                <a:schemeClr val="dk1"/>
              </a:solidFill>
              <a:latin typeface="Cambria"/>
              <a:ea typeface="Cambria"/>
              <a:cs typeface="Cambria"/>
              <a:sym typeface="Cambria"/>
            </a:endParaRPr>
          </a:p>
          <a:p>
            <a:pPr indent="0" lvl="0" marL="0" marR="3775075" rtl="0" algn="ctr">
              <a:lnSpc>
                <a:spcPct val="100000"/>
              </a:lnSpc>
              <a:spcBef>
                <a:spcPts val="0"/>
              </a:spcBef>
              <a:spcAft>
                <a:spcPts val="0"/>
              </a:spcAft>
              <a:buNone/>
            </a:pPr>
            <a:r>
              <a:rPr b="1" lang="en-US" sz="1600">
                <a:solidFill>
                  <a:schemeClr val="dk1"/>
                </a:solidFill>
                <a:latin typeface="Cambria"/>
                <a:ea typeface="Cambria"/>
                <a:cs typeface="Cambria"/>
                <a:sym typeface="Cambria"/>
              </a:rPr>
              <a:t>class Vehicle{</a:t>
            </a:r>
            <a:endParaRPr sz="1600">
              <a:solidFill>
                <a:schemeClr val="dk1"/>
              </a:solidFill>
              <a:latin typeface="Cambria"/>
              <a:ea typeface="Cambria"/>
              <a:cs typeface="Cambria"/>
              <a:sym typeface="Cambria"/>
            </a:endParaRPr>
          </a:p>
          <a:p>
            <a:pPr indent="0" lvl="0" marL="0" marR="3763645" rtl="0" algn="ctr">
              <a:lnSpc>
                <a:spcPct val="100000"/>
              </a:lnSpc>
              <a:spcBef>
                <a:spcPts val="0"/>
              </a:spcBef>
              <a:spcAft>
                <a:spcPts val="0"/>
              </a:spcAft>
              <a:buNone/>
            </a:pPr>
            <a:r>
              <a:rPr lang="en-US" sz="1600">
                <a:solidFill>
                  <a:schemeClr val="dk1"/>
                </a:solidFill>
                <a:latin typeface="Cambria"/>
                <a:ea typeface="Cambria"/>
                <a:cs typeface="Cambria"/>
                <a:sym typeface="Cambria"/>
              </a:rPr>
              <a:t>Vehicle(){</a:t>
            </a:r>
            <a:endParaRPr sz="1600">
              <a:solidFill>
                <a:schemeClr val="dk1"/>
              </a:solidFill>
              <a:latin typeface="Cambria"/>
              <a:ea typeface="Cambria"/>
              <a:cs typeface="Cambria"/>
              <a:sym typeface="Cambria"/>
            </a:endParaRPr>
          </a:p>
          <a:p>
            <a:pPr indent="0" lvl="0" marL="67945" marR="0" rtl="0" algn="ctr">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out.println("Vehicle is created.");</a:t>
            </a:r>
            <a:endParaRPr sz="1600">
              <a:solidFill>
                <a:schemeClr val="dk1"/>
              </a:solidFill>
              <a:latin typeface="Cambria"/>
              <a:ea typeface="Cambria"/>
              <a:cs typeface="Cambria"/>
              <a:sym typeface="Cambria"/>
            </a:endParaRPr>
          </a:p>
          <a:p>
            <a:pPr indent="0" lvl="0" marL="0" marR="4589780" rtl="0" algn="ctr">
              <a:lnSpc>
                <a:spcPct val="100000"/>
              </a:lnSpc>
              <a:spcBef>
                <a:spcPts val="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5139690" rtl="0" algn="ctr">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0" rtl="0" algn="l">
              <a:lnSpc>
                <a:spcPct val="100000"/>
              </a:lnSpc>
              <a:spcBef>
                <a:spcPts val="40"/>
              </a:spcBef>
              <a:spcAft>
                <a:spcPts val="0"/>
              </a:spcAft>
              <a:buNone/>
            </a:pPr>
            <a:r>
              <a:t/>
            </a:r>
            <a:endParaRPr sz="1600">
              <a:solidFill>
                <a:schemeClr val="dk1"/>
              </a:solidFill>
              <a:latin typeface="Cambria"/>
              <a:ea typeface="Cambria"/>
              <a:cs typeface="Cambria"/>
              <a:sym typeface="Cambria"/>
            </a:endParaRPr>
          </a:p>
          <a:p>
            <a:pPr indent="0" lvl="0" marL="379730" marR="0" rtl="0" algn="l">
              <a:lnSpc>
                <a:spcPct val="100000"/>
              </a:lnSpc>
              <a:spcBef>
                <a:spcPts val="5"/>
              </a:spcBef>
              <a:spcAft>
                <a:spcPts val="0"/>
              </a:spcAft>
              <a:buNone/>
            </a:pPr>
            <a:r>
              <a:rPr b="1" lang="en-US" sz="1600">
                <a:solidFill>
                  <a:schemeClr val="dk1"/>
                </a:solidFill>
                <a:latin typeface="Cambria"/>
                <a:ea typeface="Cambria"/>
                <a:cs typeface="Cambria"/>
                <a:sym typeface="Cambria"/>
              </a:rPr>
              <a:t>class Bike extends Vehicle{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out.println("Bike is created.");</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public static void main(String[] args){</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 b = </a:t>
            </a:r>
            <a:r>
              <a:rPr b="1" lang="en-US" sz="1600">
                <a:solidFill>
                  <a:schemeClr val="dk1"/>
                </a:solidFill>
                <a:latin typeface="Cambria"/>
                <a:ea typeface="Cambria"/>
                <a:cs typeface="Cambria"/>
                <a:sym typeface="Cambria"/>
              </a:rPr>
              <a:t>new Bike();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379730" marR="0" rtl="0" algn="l">
              <a:lnSpc>
                <a:spcPct val="100000"/>
              </a:lnSpc>
              <a:spcBef>
                <a:spcPts val="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txBox="1"/>
          <p:nvPr>
            <p:ph type="title"/>
          </p:nvPr>
        </p:nvSpPr>
        <p:spPr>
          <a:xfrm>
            <a:off x="535940" y="896239"/>
            <a:ext cx="720280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SUPER</a:t>
            </a:r>
            <a:r>
              <a:rPr lang="en-US" sz="3000"/>
              <a:t>-T</a:t>
            </a:r>
            <a:r>
              <a:rPr lang="en-US" sz="2400"/>
              <a:t>O INVOKE PARENT CONSTRUCTOR</a:t>
            </a:r>
            <a:r>
              <a:rPr lang="en-US" sz="3000"/>
              <a:t>.</a:t>
            </a:r>
            <a:endParaRPr sz="3000"/>
          </a:p>
        </p:txBody>
      </p:sp>
      <p:sp>
        <p:nvSpPr>
          <p:cNvPr id="184" name="Google Shape;184;p18"/>
          <p:cNvSpPr txBox="1"/>
          <p:nvPr/>
        </p:nvSpPr>
        <p:spPr>
          <a:xfrm>
            <a:off x="535940" y="1628978"/>
            <a:ext cx="5975350" cy="331470"/>
          </a:xfrm>
          <a:prstGeom prst="rect">
            <a:avLst/>
          </a:prstGeom>
          <a:noFill/>
          <a:ln>
            <a:noFill/>
          </a:ln>
        </p:spPr>
        <p:txBody>
          <a:bodyPr anchorCtr="0" anchor="t" bIns="0" lIns="0" spcFirstLastPara="1" rIns="0" wrap="square" tIns="13325">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What would be the output of the program below:</a:t>
            </a:r>
            <a:endParaRPr sz="2000">
              <a:solidFill>
                <a:schemeClr val="dk1"/>
              </a:solidFill>
              <a:latin typeface="Cambria"/>
              <a:ea typeface="Cambria"/>
              <a:cs typeface="Cambria"/>
              <a:sym typeface="Cambria"/>
            </a:endParaRPr>
          </a:p>
        </p:txBody>
      </p:sp>
      <p:sp>
        <p:nvSpPr>
          <p:cNvPr id="185" name="Google Shape;185;p18"/>
          <p:cNvSpPr txBox="1"/>
          <p:nvPr/>
        </p:nvSpPr>
        <p:spPr>
          <a:xfrm>
            <a:off x="903224" y="2225167"/>
            <a:ext cx="4761230" cy="1244600"/>
          </a:xfrm>
          <a:prstGeom prst="rect">
            <a:avLst/>
          </a:prstGeom>
          <a:noFill/>
          <a:ln>
            <a:noFill/>
          </a:ln>
        </p:spPr>
        <p:txBody>
          <a:bodyPr anchorCtr="0" anchor="t" bIns="0" lIns="0" spcFirstLastPara="1" rIns="0" wrap="square" tIns="12050">
            <a:spAutoFit/>
          </a:bodyPr>
          <a:lstStyle/>
          <a:p>
            <a:pPr indent="0" lvl="0" marL="0" marR="3295650" rtl="0" algn="ctr">
              <a:lnSpc>
                <a:spcPct val="100000"/>
              </a:lnSpc>
              <a:spcBef>
                <a:spcPts val="0"/>
              </a:spcBef>
              <a:spcAft>
                <a:spcPts val="0"/>
              </a:spcAft>
              <a:buNone/>
            </a:pPr>
            <a:r>
              <a:rPr b="1" lang="en-US" sz="1600">
                <a:solidFill>
                  <a:schemeClr val="dk1"/>
                </a:solidFill>
                <a:latin typeface="Cambria"/>
                <a:ea typeface="Cambria"/>
                <a:cs typeface="Cambria"/>
                <a:sym typeface="Cambria"/>
              </a:rPr>
              <a:t>class Vehicle{</a:t>
            </a:r>
            <a:endParaRPr sz="1600">
              <a:solidFill>
                <a:schemeClr val="dk1"/>
              </a:solidFill>
              <a:latin typeface="Cambria"/>
              <a:ea typeface="Cambria"/>
              <a:cs typeface="Cambria"/>
              <a:sym typeface="Cambria"/>
            </a:endParaRPr>
          </a:p>
          <a:p>
            <a:pPr indent="0" lvl="0" marL="0" marR="3284854" rtl="0" algn="ctr">
              <a:lnSpc>
                <a:spcPct val="100000"/>
              </a:lnSpc>
              <a:spcBef>
                <a:spcPts val="0"/>
              </a:spcBef>
              <a:spcAft>
                <a:spcPts val="0"/>
              </a:spcAft>
              <a:buNone/>
            </a:pPr>
            <a:r>
              <a:rPr lang="en-US" sz="1600">
                <a:solidFill>
                  <a:schemeClr val="dk1"/>
                </a:solidFill>
                <a:latin typeface="Cambria"/>
                <a:ea typeface="Cambria"/>
                <a:cs typeface="Cambria"/>
                <a:sym typeface="Cambria"/>
              </a:rPr>
              <a:t>Vehicle(){</a:t>
            </a:r>
            <a:endParaRPr sz="1600">
              <a:solidFill>
                <a:schemeClr val="dk1"/>
              </a:solidFill>
              <a:latin typeface="Cambria"/>
              <a:ea typeface="Cambria"/>
              <a:cs typeface="Cambria"/>
              <a:sym typeface="Cambria"/>
            </a:endParaRPr>
          </a:p>
          <a:p>
            <a:pPr indent="0" lvl="0" marL="546735" marR="0" rtl="0" algn="ctr">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out.println("Vehicle is created.");</a:t>
            </a:r>
            <a:endParaRPr sz="1600">
              <a:solidFill>
                <a:schemeClr val="dk1"/>
              </a:solidFill>
              <a:latin typeface="Cambria"/>
              <a:ea typeface="Cambria"/>
              <a:cs typeface="Cambria"/>
              <a:sym typeface="Cambria"/>
            </a:endParaRPr>
          </a:p>
          <a:p>
            <a:pPr indent="0" lvl="0" marL="0" marR="4110990" rtl="0" algn="ctr">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4660265" rtl="0" algn="ctr">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
        <p:nvSpPr>
          <p:cNvPr id="186" name="Google Shape;186;p18"/>
          <p:cNvSpPr txBox="1"/>
          <p:nvPr/>
        </p:nvSpPr>
        <p:spPr>
          <a:xfrm>
            <a:off x="903224" y="3688460"/>
            <a:ext cx="4464050" cy="197675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class Bike extends Vehicle{</a:t>
            </a:r>
            <a:endParaRPr sz="1600">
              <a:solidFill>
                <a:schemeClr val="dk1"/>
              </a:solidFill>
              <a:latin typeface="Cambria"/>
              <a:ea typeface="Cambria"/>
              <a:cs typeface="Cambria"/>
              <a:sym typeface="Cambria"/>
            </a:endParaRPr>
          </a:p>
          <a:p>
            <a:pPr indent="0" lvl="0" marL="28702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a:t>
            </a:r>
            <a:endParaRPr sz="1600">
              <a:solidFill>
                <a:schemeClr val="dk1"/>
              </a:solidFill>
              <a:latin typeface="Cambria"/>
              <a:ea typeface="Cambria"/>
              <a:cs typeface="Cambria"/>
              <a:sym typeface="Cambria"/>
            </a:endParaRPr>
          </a:p>
          <a:p>
            <a:pPr indent="0" lvl="0" marL="559435" marR="0" rtl="0" algn="l">
              <a:lnSpc>
                <a:spcPct val="100000"/>
              </a:lnSpc>
              <a:spcBef>
                <a:spcPts val="5"/>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out.println("Bike is created.");</a:t>
            </a:r>
            <a:endParaRPr sz="1600">
              <a:solidFill>
                <a:schemeClr val="dk1"/>
              </a:solidFill>
              <a:latin typeface="Cambria"/>
              <a:ea typeface="Cambria"/>
              <a:cs typeface="Cambria"/>
              <a:sym typeface="Cambria"/>
            </a:endParaRPr>
          </a:p>
          <a:p>
            <a:pPr indent="0" lvl="0" marL="28702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28702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public static void main(String[] args){</a:t>
            </a:r>
            <a:endParaRPr sz="1600">
              <a:solidFill>
                <a:schemeClr val="dk1"/>
              </a:solidFill>
              <a:latin typeface="Cambria"/>
              <a:ea typeface="Cambria"/>
              <a:cs typeface="Cambria"/>
              <a:sym typeface="Cambria"/>
            </a:endParaRPr>
          </a:p>
          <a:p>
            <a:pPr indent="0" lvl="0" marL="559435"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 b = </a:t>
            </a:r>
            <a:r>
              <a:rPr b="1" lang="en-US" sz="1600">
                <a:solidFill>
                  <a:schemeClr val="dk1"/>
                </a:solidFill>
                <a:latin typeface="Cambria"/>
                <a:ea typeface="Cambria"/>
                <a:cs typeface="Cambria"/>
                <a:sym typeface="Cambria"/>
              </a:rPr>
              <a:t>new Bike();</a:t>
            </a:r>
            <a:endParaRPr sz="1600">
              <a:solidFill>
                <a:schemeClr val="dk1"/>
              </a:solidFill>
              <a:latin typeface="Cambria"/>
              <a:ea typeface="Cambria"/>
              <a:cs typeface="Cambria"/>
              <a:sym typeface="Cambria"/>
            </a:endParaRPr>
          </a:p>
          <a:p>
            <a:pPr indent="0" lvl="0" marL="28702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
        <p:nvSpPr>
          <p:cNvPr id="187" name="Google Shape;187;p18"/>
          <p:cNvSpPr txBox="1"/>
          <p:nvPr/>
        </p:nvSpPr>
        <p:spPr>
          <a:xfrm>
            <a:off x="903224" y="5883655"/>
            <a:ext cx="6466840"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FF0000"/>
                </a:solidFill>
                <a:latin typeface="Cambria"/>
                <a:ea typeface="Cambria"/>
                <a:cs typeface="Cambria"/>
                <a:sym typeface="Cambria"/>
              </a:rPr>
              <a:t>If the constructor doesn’t have super(), compiler will provide  super() as the first statement of the constructor.</a:t>
            </a:r>
            <a:endParaRPr sz="1600">
              <a:solidFill>
                <a:schemeClr val="dk1"/>
              </a:solidFill>
              <a:latin typeface="Cambria"/>
              <a:ea typeface="Cambria"/>
              <a:cs typeface="Cambria"/>
              <a:sym typeface="Cambria"/>
            </a:endParaRPr>
          </a:p>
        </p:txBody>
      </p:sp>
      <p:sp>
        <p:nvSpPr>
          <p:cNvPr id="188" name="Google Shape;188;p18"/>
          <p:cNvSpPr txBox="1"/>
          <p:nvPr/>
        </p:nvSpPr>
        <p:spPr>
          <a:xfrm>
            <a:off x="6629400" y="3146425"/>
            <a:ext cx="1847850" cy="892175"/>
          </a:xfrm>
          <a:prstGeom prst="rect">
            <a:avLst/>
          </a:prstGeom>
          <a:solidFill>
            <a:srgbClr val="FDB686"/>
          </a:solidFill>
          <a:ln>
            <a:noFill/>
          </a:ln>
        </p:spPr>
        <p:txBody>
          <a:bodyPr anchorCtr="0" anchor="t" bIns="0" lIns="0" spcFirstLastPara="1" rIns="0" wrap="square" tIns="39350">
            <a:spAutoFit/>
          </a:bodyPr>
          <a:lstStyle/>
          <a:p>
            <a:pPr indent="0" lvl="0" marL="92075" marR="0" rtl="0" algn="l">
              <a:lnSpc>
                <a:spcPct val="100000"/>
              </a:lnSpc>
              <a:spcBef>
                <a:spcPts val="0"/>
              </a:spcBef>
              <a:spcAft>
                <a:spcPts val="0"/>
              </a:spcAft>
              <a:buNone/>
            </a:pPr>
            <a:r>
              <a:rPr lang="en-US" sz="2000">
                <a:solidFill>
                  <a:schemeClr val="dk1"/>
                </a:solidFill>
                <a:latin typeface="Arial"/>
                <a:ea typeface="Arial"/>
                <a:cs typeface="Arial"/>
                <a:sym typeface="Arial"/>
              </a:rPr>
              <a:t>Output</a:t>
            </a: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0" lvl="0" marL="92075" marR="158750" rtl="0" algn="l">
              <a:lnSpc>
                <a:spcPct val="100000"/>
              </a:lnSpc>
              <a:spcBef>
                <a:spcPts val="15"/>
              </a:spcBef>
              <a:spcAft>
                <a:spcPts val="0"/>
              </a:spcAft>
              <a:buNone/>
            </a:pPr>
            <a:r>
              <a:rPr lang="en-US" sz="1600">
                <a:solidFill>
                  <a:schemeClr val="dk1"/>
                </a:solidFill>
                <a:latin typeface="Arial"/>
                <a:ea typeface="Arial"/>
                <a:cs typeface="Arial"/>
                <a:sym typeface="Arial"/>
              </a:rPr>
              <a:t>Vehicle is created  Bike is created</a:t>
            </a:r>
            <a:endParaRPr sz="16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type="title"/>
          </p:nvPr>
        </p:nvSpPr>
        <p:spPr>
          <a:xfrm>
            <a:off x="535940" y="896239"/>
            <a:ext cx="720280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SUPER</a:t>
            </a:r>
            <a:r>
              <a:rPr lang="en-US" sz="3000"/>
              <a:t>-T</a:t>
            </a:r>
            <a:r>
              <a:rPr lang="en-US" sz="2400"/>
              <a:t>O INVOKE PARENT CONSTRUCTOR</a:t>
            </a:r>
            <a:r>
              <a:rPr lang="en-US" sz="3000"/>
              <a:t>.</a:t>
            </a:r>
            <a:endParaRPr sz="3000"/>
          </a:p>
        </p:txBody>
      </p:sp>
      <p:sp>
        <p:nvSpPr>
          <p:cNvPr id="194" name="Google Shape;194;p19"/>
          <p:cNvSpPr txBox="1"/>
          <p:nvPr/>
        </p:nvSpPr>
        <p:spPr>
          <a:xfrm>
            <a:off x="535940" y="1549713"/>
            <a:ext cx="7035165" cy="3477260"/>
          </a:xfrm>
          <a:prstGeom prst="rect">
            <a:avLst/>
          </a:prstGeom>
          <a:noFill/>
          <a:ln>
            <a:noFill/>
          </a:ln>
        </p:spPr>
        <p:txBody>
          <a:bodyPr anchorCtr="0" anchor="t" bIns="0" lIns="0" spcFirstLastPara="1" rIns="0" wrap="square" tIns="90800">
            <a:spAutoFit/>
          </a:bodyPr>
          <a:lstStyle/>
          <a:p>
            <a:pPr indent="-273050" lvl="0" marL="285115" marR="0" rtl="0" algn="just">
              <a:lnSpc>
                <a:spcPct val="100000"/>
              </a:lnSpc>
              <a:spcBef>
                <a:spcPts val="0"/>
              </a:spcBef>
              <a:spcAft>
                <a:spcPts val="0"/>
              </a:spcAft>
              <a:buClr>
                <a:srgbClr val="FD8537"/>
              </a:buClr>
              <a:buSzPts val="1650"/>
              <a:buFont typeface="Noto Sans Symbols"/>
              <a:buChar char="🞆"/>
            </a:pPr>
            <a:r>
              <a:rPr b="1" lang="en-US" sz="2400">
                <a:solidFill>
                  <a:schemeClr val="dk1"/>
                </a:solidFill>
                <a:latin typeface="Cambria"/>
                <a:ea typeface="Cambria"/>
                <a:cs typeface="Cambria"/>
                <a:sym typeface="Cambria"/>
              </a:rPr>
              <a:t>Note:</a:t>
            </a:r>
            <a:endParaRPr sz="2400">
              <a:solidFill>
                <a:schemeClr val="dk1"/>
              </a:solidFill>
              <a:latin typeface="Cambria"/>
              <a:ea typeface="Cambria"/>
              <a:cs typeface="Cambria"/>
              <a:sym typeface="Cambria"/>
            </a:endParaRPr>
          </a:p>
          <a:p>
            <a:pPr indent="-273050" lvl="0" marL="285115" marR="534670" rtl="0" algn="just">
              <a:lnSpc>
                <a:spcPct val="100000"/>
              </a:lnSpc>
              <a:spcBef>
                <a:spcPts val="61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super() should be the first statement of your  constructor</a:t>
            </a:r>
            <a:endParaRPr sz="2400">
              <a:solidFill>
                <a:schemeClr val="dk1"/>
              </a:solidFill>
              <a:latin typeface="Cambria"/>
              <a:ea typeface="Cambria"/>
              <a:cs typeface="Cambria"/>
              <a:sym typeface="Cambria"/>
            </a:endParaRPr>
          </a:p>
          <a:p>
            <a:pPr indent="-273050" lvl="0" marL="285115" marR="5080" rtl="0" algn="just">
              <a:lnSpc>
                <a:spcPct val="100000"/>
              </a:lnSpc>
              <a:spcBef>
                <a:spcPts val="59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If the constructor doesn’t have super()</a:t>
            </a:r>
            <a:r>
              <a:rPr b="1" lang="en-US" sz="2400">
                <a:solidFill>
                  <a:schemeClr val="dk1"/>
                </a:solidFill>
                <a:latin typeface="Cambria"/>
                <a:ea typeface="Cambria"/>
                <a:cs typeface="Cambria"/>
                <a:sym typeface="Cambria"/>
              </a:rPr>
              <a:t>, </a:t>
            </a:r>
            <a:r>
              <a:rPr lang="en-US" sz="2400">
                <a:solidFill>
                  <a:schemeClr val="dk1"/>
                </a:solidFill>
                <a:latin typeface="Cambria"/>
                <a:ea typeface="Cambria"/>
                <a:cs typeface="Cambria"/>
                <a:sym typeface="Cambria"/>
              </a:rPr>
              <a:t>compiler  will provide super() as the first statement of the  constructor.</a:t>
            </a:r>
            <a:endParaRPr sz="2400">
              <a:solidFill>
                <a:schemeClr val="dk1"/>
              </a:solidFill>
              <a:latin typeface="Cambria"/>
              <a:ea typeface="Cambria"/>
              <a:cs typeface="Cambria"/>
              <a:sym typeface="Cambria"/>
            </a:endParaRPr>
          </a:p>
          <a:p>
            <a:pPr indent="-273685" lvl="1" marL="652780" marR="233045" rtl="0" algn="l">
              <a:lnSpc>
                <a:spcPct val="100000"/>
              </a:lnSpc>
              <a:spcBef>
                <a:spcPts val="520"/>
              </a:spcBef>
              <a:spcAft>
                <a:spcPts val="0"/>
              </a:spcAft>
              <a:buClr>
                <a:srgbClr val="FD8537"/>
              </a:buClr>
              <a:buSzPts val="1650"/>
              <a:buFont typeface="Quattrocento Sans"/>
              <a:buChar char="⚫"/>
            </a:pPr>
            <a:r>
              <a:rPr b="1" i="0" lang="en-US" sz="2100" u="none" cap="none" strike="noStrike">
                <a:solidFill>
                  <a:schemeClr val="dk1"/>
                </a:solidFill>
                <a:latin typeface="Cambria"/>
                <a:ea typeface="Cambria"/>
                <a:cs typeface="Cambria"/>
                <a:sym typeface="Cambria"/>
              </a:rPr>
              <a:t>It will only work when Parent has no  constructor or a parameter less constructor.  See the next example.</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535940" y="896239"/>
            <a:ext cx="720280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SUPER</a:t>
            </a:r>
            <a:r>
              <a:rPr lang="en-US" sz="3000"/>
              <a:t>-T</a:t>
            </a:r>
            <a:r>
              <a:rPr lang="en-US" sz="2400"/>
              <a:t>O INVOKE PARENT CONSTRUCTOR</a:t>
            </a:r>
            <a:r>
              <a:rPr lang="en-US" sz="3000"/>
              <a:t>.</a:t>
            </a:r>
            <a:endParaRPr sz="3000"/>
          </a:p>
        </p:txBody>
      </p:sp>
      <p:sp>
        <p:nvSpPr>
          <p:cNvPr id="200" name="Google Shape;200;p20"/>
          <p:cNvSpPr txBox="1"/>
          <p:nvPr/>
        </p:nvSpPr>
        <p:spPr>
          <a:xfrm>
            <a:off x="535940" y="1628978"/>
            <a:ext cx="6282690" cy="4203700"/>
          </a:xfrm>
          <a:prstGeom prst="rect">
            <a:avLst/>
          </a:prstGeom>
          <a:noFill/>
          <a:ln>
            <a:noFill/>
          </a:ln>
        </p:spPr>
        <p:txBody>
          <a:bodyPr anchorCtr="0" anchor="t" bIns="0" lIns="0" spcFirstLastPara="1" rIns="0" wrap="square" tIns="13325">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What would be the output of the program below:</a:t>
            </a:r>
            <a:endParaRPr sz="2000">
              <a:solidFill>
                <a:schemeClr val="dk1"/>
              </a:solidFill>
              <a:latin typeface="Cambria"/>
              <a:ea typeface="Cambria"/>
              <a:cs typeface="Cambria"/>
              <a:sym typeface="Cambria"/>
            </a:endParaRPr>
          </a:p>
          <a:p>
            <a:pPr indent="0" lvl="0" marL="379730" marR="0" rtl="0" algn="l">
              <a:lnSpc>
                <a:spcPct val="100000"/>
              </a:lnSpc>
              <a:spcBef>
                <a:spcPts val="1685"/>
              </a:spcBef>
              <a:spcAft>
                <a:spcPts val="0"/>
              </a:spcAft>
              <a:buNone/>
            </a:pPr>
            <a:r>
              <a:rPr b="1" lang="en-US" sz="1600">
                <a:solidFill>
                  <a:schemeClr val="dk1"/>
                </a:solidFill>
                <a:latin typeface="Cambria"/>
                <a:ea typeface="Cambria"/>
                <a:cs typeface="Cambria"/>
                <a:sym typeface="Cambria"/>
              </a:rPr>
              <a:t>class Vehicle{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Vehicle(String name){</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out.printf("Vehicle %s is created.\n", name);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0" rtl="0" algn="l">
              <a:lnSpc>
                <a:spcPct val="100000"/>
              </a:lnSpc>
              <a:spcBef>
                <a:spcPts val="45"/>
              </a:spcBef>
              <a:spcAft>
                <a:spcPts val="0"/>
              </a:spcAft>
              <a:buNone/>
            </a:pPr>
            <a:r>
              <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class Bike extends Vehicle{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out.println("Bike is created.");</a:t>
            </a:r>
            <a:endParaRPr sz="1600">
              <a:solidFill>
                <a:schemeClr val="dk1"/>
              </a:solidFill>
              <a:latin typeface="Cambria"/>
              <a:ea typeface="Cambria"/>
              <a:cs typeface="Cambria"/>
              <a:sym typeface="Cambria"/>
            </a:endParaRPr>
          </a:p>
          <a:p>
            <a:pPr indent="0" lvl="0" marL="654050" marR="0" rtl="0" algn="l">
              <a:lnSpc>
                <a:spcPct val="100000"/>
              </a:lnSpc>
              <a:spcBef>
                <a:spcPts val="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0" rtl="0" algn="l">
              <a:lnSpc>
                <a:spcPct val="100000"/>
              </a:lnSpc>
              <a:spcBef>
                <a:spcPts val="40"/>
              </a:spcBef>
              <a:spcAft>
                <a:spcPts val="0"/>
              </a:spcAft>
              <a:buNone/>
            </a:pPr>
            <a:r>
              <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public static void main(String[] args){</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 b = </a:t>
            </a:r>
            <a:r>
              <a:rPr b="1" lang="en-US" sz="1600">
                <a:solidFill>
                  <a:schemeClr val="dk1"/>
                </a:solidFill>
                <a:latin typeface="Cambria"/>
                <a:ea typeface="Cambria"/>
                <a:cs typeface="Cambria"/>
                <a:sym typeface="Cambria"/>
              </a:rPr>
              <a:t>new Bike();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379730" marR="0" rtl="0" algn="l">
              <a:lnSpc>
                <a:spcPct val="100000"/>
              </a:lnSpc>
              <a:spcBef>
                <a:spcPts val="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ph type="title"/>
          </p:nvPr>
        </p:nvSpPr>
        <p:spPr>
          <a:xfrm>
            <a:off x="535940" y="896239"/>
            <a:ext cx="720280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SUPER</a:t>
            </a:r>
            <a:r>
              <a:rPr lang="en-US" sz="3000"/>
              <a:t>-T</a:t>
            </a:r>
            <a:r>
              <a:rPr lang="en-US" sz="2400"/>
              <a:t>O INVOKE PARENT CONSTRUCTOR</a:t>
            </a:r>
            <a:r>
              <a:rPr lang="en-US" sz="3000"/>
              <a:t>.</a:t>
            </a:r>
            <a:endParaRPr sz="3000"/>
          </a:p>
        </p:txBody>
      </p:sp>
      <p:sp>
        <p:nvSpPr>
          <p:cNvPr id="206" name="Google Shape;206;p21"/>
          <p:cNvSpPr txBox="1"/>
          <p:nvPr/>
        </p:nvSpPr>
        <p:spPr>
          <a:xfrm>
            <a:off x="535940" y="1628978"/>
            <a:ext cx="6831965" cy="4417060"/>
          </a:xfrm>
          <a:prstGeom prst="rect">
            <a:avLst/>
          </a:prstGeom>
          <a:noFill/>
          <a:ln>
            <a:noFill/>
          </a:ln>
        </p:spPr>
        <p:txBody>
          <a:bodyPr anchorCtr="0" anchor="t" bIns="0" lIns="0" spcFirstLastPara="1" rIns="0" wrap="square" tIns="13325">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What would be the output of the program below:</a:t>
            </a:r>
            <a:endParaRPr sz="2000">
              <a:solidFill>
                <a:schemeClr val="dk1"/>
              </a:solidFill>
              <a:latin typeface="Cambria"/>
              <a:ea typeface="Cambria"/>
              <a:cs typeface="Cambria"/>
              <a:sym typeface="Cambria"/>
            </a:endParaRPr>
          </a:p>
          <a:p>
            <a:pPr indent="0" lvl="0" marL="379730" marR="0" rtl="0" algn="l">
              <a:lnSpc>
                <a:spcPct val="100000"/>
              </a:lnSpc>
              <a:spcBef>
                <a:spcPts val="1685"/>
              </a:spcBef>
              <a:spcAft>
                <a:spcPts val="0"/>
              </a:spcAft>
              <a:buNone/>
            </a:pPr>
            <a:r>
              <a:rPr b="1" lang="en-US" sz="1600">
                <a:solidFill>
                  <a:schemeClr val="dk1"/>
                </a:solidFill>
                <a:latin typeface="Cambria"/>
                <a:ea typeface="Cambria"/>
                <a:cs typeface="Cambria"/>
                <a:sym typeface="Cambria"/>
              </a:rPr>
              <a:t>class Vehicle{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Vehicle(String name){</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out.printf("Vehicle %s is created.\n", name);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0" rtl="0" algn="l">
              <a:lnSpc>
                <a:spcPct val="100000"/>
              </a:lnSpc>
              <a:spcBef>
                <a:spcPts val="45"/>
              </a:spcBef>
              <a:spcAft>
                <a:spcPts val="0"/>
              </a:spcAft>
              <a:buNone/>
            </a:pPr>
            <a:r>
              <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class Bike extends Vehicle{</a:t>
            </a:r>
            <a:endParaRPr sz="1600">
              <a:solidFill>
                <a:schemeClr val="dk1"/>
              </a:solidFill>
              <a:latin typeface="Cambria"/>
              <a:ea typeface="Cambria"/>
              <a:cs typeface="Cambria"/>
              <a:sym typeface="Cambria"/>
            </a:endParaRPr>
          </a:p>
          <a:p>
            <a:pPr indent="0" lvl="0" marL="654050" marR="5080" rtl="0" algn="l">
              <a:lnSpc>
                <a:spcPct val="100000"/>
              </a:lnSpc>
              <a:spcBef>
                <a:spcPts val="0"/>
              </a:spcBef>
              <a:spcAft>
                <a:spcPts val="0"/>
              </a:spcAft>
              <a:buNone/>
            </a:pPr>
            <a:r>
              <a:rPr lang="en-US" sz="1600" u="sng">
                <a:solidFill>
                  <a:schemeClr val="dk1"/>
                </a:solidFill>
                <a:latin typeface="Cambria"/>
                <a:ea typeface="Cambria"/>
                <a:cs typeface="Cambria"/>
                <a:sym typeface="Cambria"/>
              </a:rPr>
              <a:t>Bike(){</a:t>
            </a:r>
            <a:r>
              <a:rPr lang="en-US" sz="1600">
                <a:solidFill>
                  <a:schemeClr val="dk1"/>
                </a:solidFill>
                <a:latin typeface="Cambria"/>
                <a:ea typeface="Cambria"/>
                <a:cs typeface="Cambria"/>
                <a:sym typeface="Cambria"/>
              </a:rPr>
              <a:t> // </a:t>
            </a:r>
            <a:r>
              <a:rPr lang="en-US" sz="1400">
                <a:solidFill>
                  <a:schemeClr val="dk1"/>
                </a:solidFill>
                <a:latin typeface="Cambria"/>
                <a:ea typeface="Cambria"/>
                <a:cs typeface="Cambria"/>
                <a:sym typeface="Cambria"/>
              </a:rPr>
              <a:t>Implicit super constructor Vehicle() is undefined. Must explicitly  invoke another constructor</a:t>
            </a:r>
            <a:endParaRPr sz="1400">
              <a:solidFill>
                <a:schemeClr val="dk1"/>
              </a:solidFill>
              <a:latin typeface="Cambria"/>
              <a:ea typeface="Cambria"/>
              <a:cs typeface="Cambria"/>
              <a:sym typeface="Cambria"/>
            </a:endParaRPr>
          </a:p>
          <a:p>
            <a:pPr indent="0" lvl="0" marL="927100" marR="0" rtl="0" algn="l">
              <a:lnSpc>
                <a:spcPct val="100000"/>
              </a:lnSpc>
              <a:spcBef>
                <a:spcPts val="5"/>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out.println("Bike is created.");</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0" rtl="0" algn="l">
              <a:lnSpc>
                <a:spcPct val="100000"/>
              </a:lnSpc>
              <a:spcBef>
                <a:spcPts val="40"/>
              </a:spcBef>
              <a:spcAft>
                <a:spcPts val="0"/>
              </a:spcAft>
              <a:buNone/>
            </a:pPr>
            <a:r>
              <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public static void main(String[] args){</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 </a:t>
            </a:r>
            <a:r>
              <a:rPr lang="en-US" sz="1600" u="sng">
                <a:solidFill>
                  <a:schemeClr val="dk1"/>
                </a:solidFill>
                <a:latin typeface="Cambria"/>
                <a:ea typeface="Cambria"/>
                <a:cs typeface="Cambria"/>
                <a:sym typeface="Cambria"/>
              </a:rPr>
              <a:t>b = </a:t>
            </a:r>
            <a:r>
              <a:rPr b="1" lang="en-US" sz="1600" u="sng">
                <a:solidFill>
                  <a:schemeClr val="dk1"/>
                </a:solidFill>
                <a:latin typeface="Cambria"/>
                <a:ea typeface="Cambria"/>
                <a:cs typeface="Cambria"/>
                <a:sym typeface="Cambria"/>
              </a:rPr>
              <a:t>new Bike();</a:t>
            </a:r>
            <a:endParaRPr sz="1600">
              <a:solidFill>
                <a:schemeClr val="dk1"/>
              </a:solidFill>
              <a:latin typeface="Cambria"/>
              <a:ea typeface="Cambria"/>
              <a:cs typeface="Cambria"/>
              <a:sym typeface="Cambria"/>
            </a:endParaRPr>
          </a:p>
          <a:p>
            <a:pPr indent="0" lvl="0" marL="654050" marR="0" rtl="0" algn="l">
              <a:lnSpc>
                <a:spcPct val="100000"/>
              </a:lnSpc>
              <a:spcBef>
                <a:spcPts val="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535940" y="896239"/>
            <a:ext cx="720280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t>SUPER</a:t>
            </a:r>
            <a:r>
              <a:rPr lang="en-US" sz="3000"/>
              <a:t>-T</a:t>
            </a:r>
            <a:r>
              <a:rPr lang="en-US" sz="2400"/>
              <a:t>O INVOKE PARENT CONSTRUCTOR</a:t>
            </a:r>
            <a:r>
              <a:rPr lang="en-US" sz="3000"/>
              <a:t>.</a:t>
            </a:r>
            <a:endParaRPr sz="3000"/>
          </a:p>
        </p:txBody>
      </p:sp>
      <p:sp>
        <p:nvSpPr>
          <p:cNvPr id="212" name="Google Shape;212;p22"/>
          <p:cNvSpPr txBox="1"/>
          <p:nvPr/>
        </p:nvSpPr>
        <p:spPr>
          <a:xfrm>
            <a:off x="535940" y="1628978"/>
            <a:ext cx="6282690" cy="4447540"/>
          </a:xfrm>
          <a:prstGeom prst="rect">
            <a:avLst/>
          </a:prstGeom>
          <a:noFill/>
          <a:ln>
            <a:noFill/>
          </a:ln>
        </p:spPr>
        <p:txBody>
          <a:bodyPr anchorCtr="0" anchor="t" bIns="0" lIns="0" spcFirstLastPara="1" rIns="0" wrap="square" tIns="13325">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So the fix is:</a:t>
            </a:r>
            <a:endParaRPr sz="2000">
              <a:solidFill>
                <a:schemeClr val="dk1"/>
              </a:solidFill>
              <a:latin typeface="Cambria"/>
              <a:ea typeface="Cambria"/>
              <a:cs typeface="Cambria"/>
              <a:sym typeface="Cambria"/>
            </a:endParaRPr>
          </a:p>
          <a:p>
            <a:pPr indent="0" lvl="0" marL="379730" marR="0" rtl="0" algn="l">
              <a:lnSpc>
                <a:spcPct val="100000"/>
              </a:lnSpc>
              <a:spcBef>
                <a:spcPts val="1685"/>
              </a:spcBef>
              <a:spcAft>
                <a:spcPts val="0"/>
              </a:spcAft>
              <a:buNone/>
            </a:pPr>
            <a:r>
              <a:rPr b="1" lang="en-US" sz="1600">
                <a:solidFill>
                  <a:schemeClr val="dk1"/>
                </a:solidFill>
                <a:latin typeface="Cambria"/>
                <a:ea typeface="Cambria"/>
                <a:cs typeface="Cambria"/>
                <a:sym typeface="Cambria"/>
              </a:rPr>
              <a:t>class Vehicle{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Vehicle(String name){</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out.printf("Vehicle %s is created.\n", name);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0" rtl="0" algn="l">
              <a:lnSpc>
                <a:spcPct val="100000"/>
              </a:lnSpc>
              <a:spcBef>
                <a:spcPts val="45"/>
              </a:spcBef>
              <a:spcAft>
                <a:spcPts val="0"/>
              </a:spcAft>
              <a:buNone/>
            </a:pPr>
            <a:r>
              <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class Bike extends Vehicle{</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super("Bike");</a:t>
            </a:r>
            <a:endParaRPr sz="1600">
              <a:solidFill>
                <a:schemeClr val="dk1"/>
              </a:solidFill>
              <a:latin typeface="Cambria"/>
              <a:ea typeface="Cambria"/>
              <a:cs typeface="Cambria"/>
              <a:sym typeface="Cambria"/>
            </a:endParaRPr>
          </a:p>
          <a:p>
            <a:pPr indent="0" lvl="0" marL="927100" marR="0" rtl="0" algn="l">
              <a:lnSpc>
                <a:spcPct val="100000"/>
              </a:lnSpc>
              <a:spcBef>
                <a:spcPts val="5"/>
              </a:spcBef>
              <a:spcAft>
                <a:spcPts val="0"/>
              </a:spcAft>
              <a:buNone/>
            </a:pPr>
            <a:r>
              <a:rPr lang="en-US" sz="1600">
                <a:solidFill>
                  <a:schemeClr val="dk1"/>
                </a:solidFill>
                <a:latin typeface="Cambria"/>
                <a:ea typeface="Cambria"/>
                <a:cs typeface="Cambria"/>
                <a:sym typeface="Cambria"/>
              </a:rPr>
              <a:t>System.</a:t>
            </a:r>
            <a:r>
              <a:rPr b="1" i="1" lang="en-US" sz="1600">
                <a:solidFill>
                  <a:schemeClr val="dk1"/>
                </a:solidFill>
                <a:latin typeface="Cambria"/>
                <a:ea typeface="Cambria"/>
                <a:cs typeface="Cambria"/>
                <a:sym typeface="Cambria"/>
              </a:rPr>
              <a:t>out.println("Bike is created.");</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0" marR="0" rtl="0" algn="l">
              <a:lnSpc>
                <a:spcPct val="100000"/>
              </a:lnSpc>
              <a:spcBef>
                <a:spcPts val="40"/>
              </a:spcBef>
              <a:spcAft>
                <a:spcPts val="0"/>
              </a:spcAft>
              <a:buNone/>
            </a:pPr>
            <a:r>
              <a:t/>
            </a:r>
            <a:endParaRPr sz="1600">
              <a:solidFill>
                <a:schemeClr val="dk1"/>
              </a:solidFill>
              <a:latin typeface="Cambria"/>
              <a:ea typeface="Cambria"/>
              <a:cs typeface="Cambria"/>
              <a:sym typeface="Cambria"/>
            </a:endParaRPr>
          </a:p>
          <a:p>
            <a:pPr indent="0" lvl="0" marL="654050" marR="0" rtl="0" algn="l">
              <a:lnSpc>
                <a:spcPct val="100000"/>
              </a:lnSpc>
              <a:spcBef>
                <a:spcPts val="0"/>
              </a:spcBef>
              <a:spcAft>
                <a:spcPts val="0"/>
              </a:spcAft>
              <a:buNone/>
            </a:pPr>
            <a:r>
              <a:rPr b="1" lang="en-US" sz="1600">
                <a:solidFill>
                  <a:schemeClr val="dk1"/>
                </a:solidFill>
                <a:latin typeface="Cambria"/>
                <a:ea typeface="Cambria"/>
                <a:cs typeface="Cambria"/>
                <a:sym typeface="Cambria"/>
              </a:rPr>
              <a:t>public static void main(String[] args){</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Bike b = </a:t>
            </a:r>
            <a:r>
              <a:rPr b="1" lang="en-US" sz="1600">
                <a:solidFill>
                  <a:schemeClr val="dk1"/>
                </a:solidFill>
                <a:latin typeface="Cambria"/>
                <a:ea typeface="Cambria"/>
                <a:cs typeface="Cambria"/>
                <a:sym typeface="Cambria"/>
              </a:rPr>
              <a:t>new Bike();</a:t>
            </a:r>
            <a:endParaRPr sz="1600">
              <a:solidFill>
                <a:schemeClr val="dk1"/>
              </a:solidFill>
              <a:latin typeface="Cambria"/>
              <a:ea typeface="Cambria"/>
              <a:cs typeface="Cambria"/>
              <a:sym typeface="Cambria"/>
            </a:endParaRPr>
          </a:p>
          <a:p>
            <a:pPr indent="0" lvl="0" marL="654050" marR="0" rtl="0" algn="l">
              <a:lnSpc>
                <a:spcPct val="100000"/>
              </a:lnSpc>
              <a:spcBef>
                <a:spcPts val="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535940" y="896239"/>
            <a:ext cx="6690359"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W</a:t>
            </a:r>
            <a:r>
              <a:rPr lang="en-US" sz="2400"/>
              <a:t>HEN </a:t>
            </a:r>
            <a:r>
              <a:rPr lang="en-US" sz="3000"/>
              <a:t>C</a:t>
            </a:r>
            <a:r>
              <a:rPr lang="en-US" sz="2400"/>
              <a:t>ONSTRUCTORS </a:t>
            </a:r>
            <a:r>
              <a:rPr lang="en-US" sz="3000"/>
              <a:t>A</a:t>
            </a:r>
            <a:r>
              <a:rPr lang="en-US" sz="2400"/>
              <a:t>RE </a:t>
            </a:r>
            <a:r>
              <a:rPr lang="en-US" sz="3000"/>
              <a:t>E</a:t>
            </a:r>
            <a:r>
              <a:rPr lang="en-US" sz="2400"/>
              <a:t>XECUTED</a:t>
            </a:r>
            <a:endParaRPr sz="2400"/>
          </a:p>
        </p:txBody>
      </p:sp>
      <p:sp>
        <p:nvSpPr>
          <p:cNvPr id="218" name="Google Shape;218;p23"/>
          <p:cNvSpPr txBox="1"/>
          <p:nvPr/>
        </p:nvSpPr>
        <p:spPr>
          <a:xfrm>
            <a:off x="535940" y="1628978"/>
            <a:ext cx="7251700" cy="2372995"/>
          </a:xfrm>
          <a:prstGeom prst="rect">
            <a:avLst/>
          </a:prstGeom>
          <a:noFill/>
          <a:ln>
            <a:noFill/>
          </a:ln>
        </p:spPr>
        <p:txBody>
          <a:bodyPr anchorCtr="0" anchor="t" bIns="0" lIns="0" spcFirstLastPara="1" rIns="0" wrap="square" tIns="12700">
            <a:spAutoFit/>
          </a:bodyPr>
          <a:lstStyle/>
          <a:p>
            <a:pPr indent="-273050" lvl="0" marL="285115" marR="742315"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When a class hierarchy is created, the  constructors are executed in the order of the  hierarchy.</a:t>
            </a:r>
            <a:endParaRPr sz="2400">
              <a:solidFill>
                <a:schemeClr val="dk1"/>
              </a:solidFill>
              <a:latin typeface="Cambria"/>
              <a:ea typeface="Cambria"/>
              <a:cs typeface="Cambria"/>
              <a:sym typeface="Cambria"/>
            </a:endParaRPr>
          </a:p>
          <a:p>
            <a:pPr indent="0" lvl="0" marL="0" marR="0" rtl="0" algn="l">
              <a:lnSpc>
                <a:spcPct val="100000"/>
              </a:lnSpc>
              <a:spcBef>
                <a:spcPts val="35"/>
              </a:spcBef>
              <a:spcAft>
                <a:spcPts val="0"/>
              </a:spcAft>
              <a:buClr>
                <a:srgbClr val="FD8537"/>
              </a:buClr>
              <a:buSzPts val="3450"/>
              <a:buFont typeface="Noto Sans Symbols"/>
              <a:buNone/>
            </a:pPr>
            <a:r>
              <a:t/>
            </a:r>
            <a:endParaRPr sz="3450">
              <a:solidFill>
                <a:schemeClr val="dk1"/>
              </a:solidFill>
              <a:latin typeface="Cambria"/>
              <a:ea typeface="Cambria"/>
              <a:cs typeface="Cambria"/>
              <a:sym typeface="Cambria"/>
            </a:endParaRPr>
          </a:p>
          <a:p>
            <a:pPr indent="-273050" lvl="0" marL="285115" marR="5080" rtl="0" algn="l">
              <a:lnSpc>
                <a:spcPct val="100000"/>
              </a:lnSpc>
              <a:spcBef>
                <a:spcPts val="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For example: for the hierarchy above, constructor  of A will be executed first, then B and then C.</a:t>
            </a:r>
            <a:endParaRPr sz="2400">
              <a:solidFill>
                <a:schemeClr val="dk1"/>
              </a:solidFill>
              <a:latin typeface="Cambria"/>
              <a:ea typeface="Cambria"/>
              <a:cs typeface="Cambria"/>
              <a:sym typeface="Cambria"/>
            </a:endParaRPr>
          </a:p>
        </p:txBody>
      </p:sp>
      <p:pic>
        <p:nvPicPr>
          <p:cNvPr id="219" name="Google Shape;219;p23"/>
          <p:cNvPicPr preferRelativeResize="0"/>
          <p:nvPr/>
        </p:nvPicPr>
        <p:blipFill rotWithShape="1">
          <a:blip r:embed="rId3">
            <a:alphaModFix/>
          </a:blip>
          <a:srcRect b="0" l="0" r="0" t="0"/>
          <a:stretch/>
        </p:blipFill>
        <p:spPr>
          <a:xfrm>
            <a:off x="7477125" y="1676400"/>
            <a:ext cx="638175" cy="1428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535940" y="896239"/>
            <a:ext cx="6690359"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W</a:t>
            </a:r>
            <a:r>
              <a:rPr lang="en-US" sz="2400"/>
              <a:t>HEN </a:t>
            </a:r>
            <a:r>
              <a:rPr lang="en-US" sz="3000"/>
              <a:t>C</a:t>
            </a:r>
            <a:r>
              <a:rPr lang="en-US" sz="2400"/>
              <a:t>ONSTRUCTORS </a:t>
            </a:r>
            <a:r>
              <a:rPr lang="en-US" sz="3000"/>
              <a:t>A</a:t>
            </a:r>
            <a:r>
              <a:rPr lang="en-US" sz="2400"/>
              <a:t>RE </a:t>
            </a:r>
            <a:r>
              <a:rPr lang="en-US" sz="3000"/>
              <a:t>E</a:t>
            </a:r>
            <a:r>
              <a:rPr lang="en-US" sz="2400"/>
              <a:t>XECUTED</a:t>
            </a:r>
            <a:endParaRPr sz="2400"/>
          </a:p>
        </p:txBody>
      </p:sp>
      <p:sp>
        <p:nvSpPr>
          <p:cNvPr id="225" name="Google Shape;225;p24"/>
          <p:cNvSpPr txBox="1"/>
          <p:nvPr/>
        </p:nvSpPr>
        <p:spPr>
          <a:xfrm>
            <a:off x="535940" y="1630425"/>
            <a:ext cx="4744085" cy="2220595"/>
          </a:xfrm>
          <a:prstGeom prst="rect">
            <a:avLst/>
          </a:prstGeom>
          <a:noFill/>
          <a:ln>
            <a:noFill/>
          </a:ln>
        </p:spPr>
        <p:txBody>
          <a:bodyPr anchorCtr="0" anchor="t" bIns="0" lIns="0" spcFirstLastPara="1" rIns="0" wrap="square" tIns="12050">
            <a:spAutoFit/>
          </a:bodyPr>
          <a:lstStyle/>
          <a:p>
            <a:pPr indent="0" lvl="0" marL="12700" marR="2599055" rtl="0" algn="l">
              <a:lnSpc>
                <a:spcPct val="100000"/>
              </a:lnSpc>
              <a:spcBef>
                <a:spcPts val="0"/>
              </a:spcBef>
              <a:spcAft>
                <a:spcPts val="0"/>
              </a:spcAft>
              <a:buNone/>
            </a:pPr>
            <a:r>
              <a:rPr lang="en-US" sz="1600">
                <a:solidFill>
                  <a:schemeClr val="dk1"/>
                </a:solidFill>
                <a:latin typeface="Cambria"/>
                <a:ea typeface="Cambria"/>
                <a:cs typeface="Cambria"/>
                <a:sym typeface="Cambria"/>
              </a:rPr>
              <a:t>// Create a super class.  class A {</a:t>
            </a:r>
            <a:endParaRPr sz="1600">
              <a:solidFill>
                <a:schemeClr val="dk1"/>
              </a:solidFill>
              <a:latin typeface="Cambria"/>
              <a:ea typeface="Cambria"/>
              <a:cs typeface="Cambria"/>
              <a:sym typeface="Cambria"/>
            </a:endParaRPr>
          </a:p>
          <a:p>
            <a:pPr indent="0" lvl="0" marL="106679" marR="0" rtl="0" algn="l">
              <a:lnSpc>
                <a:spcPct val="100000"/>
              </a:lnSpc>
              <a:spcBef>
                <a:spcPts val="0"/>
              </a:spcBef>
              <a:spcAft>
                <a:spcPts val="0"/>
              </a:spcAft>
              <a:buNone/>
            </a:pPr>
            <a:r>
              <a:rPr lang="en-US" sz="1600">
                <a:solidFill>
                  <a:schemeClr val="dk1"/>
                </a:solidFill>
                <a:latin typeface="Cambria"/>
                <a:ea typeface="Cambria"/>
                <a:cs typeface="Cambria"/>
                <a:sym typeface="Cambria"/>
              </a:rPr>
              <a:t>A() {</a:t>
            </a:r>
            <a:endParaRPr sz="1600">
              <a:solidFill>
                <a:schemeClr val="dk1"/>
              </a:solidFill>
              <a:latin typeface="Cambria"/>
              <a:ea typeface="Cambria"/>
              <a:cs typeface="Cambria"/>
              <a:sym typeface="Cambria"/>
            </a:endParaRPr>
          </a:p>
          <a:p>
            <a:pPr indent="0" lvl="0" marL="379730" marR="0" rtl="0" algn="l">
              <a:lnSpc>
                <a:spcPct val="100000"/>
              </a:lnSpc>
              <a:spcBef>
                <a:spcPts val="5"/>
              </a:spcBef>
              <a:spcAft>
                <a:spcPts val="0"/>
              </a:spcAft>
              <a:buNone/>
            </a:pPr>
            <a:r>
              <a:rPr lang="en-US" sz="1600">
                <a:solidFill>
                  <a:schemeClr val="dk1"/>
                </a:solidFill>
                <a:latin typeface="Cambria"/>
                <a:ea typeface="Cambria"/>
                <a:cs typeface="Cambria"/>
                <a:sym typeface="Cambria"/>
              </a:rPr>
              <a:t>System.out.println("Inside A's constructor."); }</a:t>
            </a:r>
            <a:endParaRPr sz="16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12700" marR="872489" rtl="0" algn="l">
              <a:lnSpc>
                <a:spcPct val="100000"/>
              </a:lnSpc>
              <a:spcBef>
                <a:spcPts val="0"/>
              </a:spcBef>
              <a:spcAft>
                <a:spcPts val="0"/>
              </a:spcAft>
              <a:buNone/>
            </a:pPr>
            <a:r>
              <a:rPr lang="en-US" sz="1600">
                <a:solidFill>
                  <a:schemeClr val="dk1"/>
                </a:solidFill>
                <a:latin typeface="Cambria"/>
                <a:ea typeface="Cambria"/>
                <a:cs typeface="Cambria"/>
                <a:sym typeface="Cambria"/>
              </a:rPr>
              <a:t>// Create a subclass by extending class A.  class B extends A {</a:t>
            </a:r>
            <a:endParaRPr sz="1600">
              <a:solidFill>
                <a:schemeClr val="dk1"/>
              </a:solidFill>
              <a:latin typeface="Cambria"/>
              <a:ea typeface="Cambria"/>
              <a:cs typeface="Cambria"/>
              <a:sym typeface="Cambria"/>
            </a:endParaRPr>
          </a:p>
          <a:p>
            <a:pPr indent="0" lvl="0" marL="106679" marR="0" rtl="0" algn="l">
              <a:lnSpc>
                <a:spcPct val="100000"/>
              </a:lnSpc>
              <a:spcBef>
                <a:spcPts val="0"/>
              </a:spcBef>
              <a:spcAft>
                <a:spcPts val="0"/>
              </a:spcAft>
              <a:buNone/>
            </a:pPr>
            <a:r>
              <a:rPr lang="en-US" sz="1600">
                <a:solidFill>
                  <a:schemeClr val="dk1"/>
                </a:solidFill>
                <a:latin typeface="Cambria"/>
                <a:ea typeface="Cambria"/>
                <a:cs typeface="Cambria"/>
                <a:sym typeface="Cambria"/>
              </a:rPr>
              <a:t>B() {</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System.out.println("Inside B's constructor."); }</a:t>
            </a:r>
            <a:endParaRPr sz="1600">
              <a:solidFill>
                <a:schemeClr val="dk1"/>
              </a:solidFill>
              <a:latin typeface="Cambria"/>
              <a:ea typeface="Cambria"/>
              <a:cs typeface="Cambria"/>
              <a:sym typeface="Cambria"/>
            </a:endParaRPr>
          </a:p>
        </p:txBody>
      </p:sp>
      <p:sp>
        <p:nvSpPr>
          <p:cNvPr id="226" name="Google Shape;226;p24"/>
          <p:cNvSpPr txBox="1"/>
          <p:nvPr/>
        </p:nvSpPr>
        <p:spPr>
          <a:xfrm>
            <a:off x="535940" y="3825621"/>
            <a:ext cx="4744085" cy="270827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12700" marR="762635" rtl="0" algn="l">
              <a:lnSpc>
                <a:spcPct val="100000"/>
              </a:lnSpc>
              <a:spcBef>
                <a:spcPts val="0"/>
              </a:spcBef>
              <a:spcAft>
                <a:spcPts val="0"/>
              </a:spcAft>
              <a:buNone/>
            </a:pPr>
            <a:r>
              <a:rPr lang="en-US" sz="1600">
                <a:solidFill>
                  <a:schemeClr val="dk1"/>
                </a:solidFill>
                <a:latin typeface="Cambria"/>
                <a:ea typeface="Cambria"/>
                <a:cs typeface="Cambria"/>
                <a:sym typeface="Cambria"/>
              </a:rPr>
              <a:t>// Create another subclass by extending B.  class C extends B {</a:t>
            </a:r>
            <a:endParaRPr sz="1600">
              <a:solidFill>
                <a:schemeClr val="dk1"/>
              </a:solidFill>
              <a:latin typeface="Cambria"/>
              <a:ea typeface="Cambria"/>
              <a:cs typeface="Cambria"/>
              <a:sym typeface="Cambria"/>
            </a:endParaRPr>
          </a:p>
          <a:p>
            <a:pPr indent="0" lvl="0" marL="106679" marR="0" rtl="0" algn="l">
              <a:lnSpc>
                <a:spcPct val="100000"/>
              </a:lnSpc>
              <a:spcBef>
                <a:spcPts val="5"/>
              </a:spcBef>
              <a:spcAft>
                <a:spcPts val="0"/>
              </a:spcAft>
              <a:buNone/>
            </a:pPr>
            <a:r>
              <a:rPr lang="en-US" sz="1600">
                <a:solidFill>
                  <a:schemeClr val="dk1"/>
                </a:solidFill>
                <a:latin typeface="Cambria"/>
                <a:ea typeface="Cambria"/>
                <a:cs typeface="Cambria"/>
                <a:sym typeface="Cambria"/>
              </a:rPr>
              <a:t>C() {</a:t>
            </a:r>
            <a:endParaRPr sz="16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600">
                <a:solidFill>
                  <a:schemeClr val="dk1"/>
                </a:solidFill>
                <a:latin typeface="Cambria"/>
                <a:ea typeface="Cambria"/>
                <a:cs typeface="Cambria"/>
                <a:sym typeface="Cambria"/>
              </a:rPr>
              <a:t>System.out.println("Inside C's constructor."); }</a:t>
            </a:r>
            <a:endParaRPr sz="16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class CallingCons {</a:t>
            </a:r>
            <a:endParaRPr sz="1600">
              <a:solidFill>
                <a:schemeClr val="dk1"/>
              </a:solidFill>
              <a:latin typeface="Cambria"/>
              <a:ea typeface="Cambria"/>
              <a:cs typeface="Cambria"/>
              <a:sym typeface="Cambria"/>
            </a:endParaRPr>
          </a:p>
          <a:p>
            <a:pPr indent="-273050" lvl="0" marL="379730" marR="1035685" rtl="0" algn="l">
              <a:lnSpc>
                <a:spcPct val="100000"/>
              </a:lnSpc>
              <a:spcBef>
                <a:spcPts val="0"/>
              </a:spcBef>
              <a:spcAft>
                <a:spcPts val="0"/>
              </a:spcAft>
              <a:buNone/>
            </a:pPr>
            <a:r>
              <a:rPr lang="en-US" sz="1600">
                <a:solidFill>
                  <a:schemeClr val="dk1"/>
                </a:solidFill>
                <a:latin typeface="Cambria"/>
                <a:ea typeface="Cambria"/>
                <a:cs typeface="Cambria"/>
                <a:sym typeface="Cambria"/>
              </a:rPr>
              <a:t>public static void main(String args[]) {  C c = new C();</a:t>
            </a:r>
            <a:endParaRPr sz="1600">
              <a:solidFill>
                <a:schemeClr val="dk1"/>
              </a:solidFill>
              <a:latin typeface="Cambria"/>
              <a:ea typeface="Cambria"/>
              <a:cs typeface="Cambria"/>
              <a:sym typeface="Cambria"/>
            </a:endParaRPr>
          </a:p>
          <a:p>
            <a:pPr indent="0" lvl="0" marL="106679"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
        <p:nvSpPr>
          <p:cNvPr id="227" name="Google Shape;227;p24"/>
          <p:cNvSpPr txBox="1"/>
          <p:nvPr/>
        </p:nvSpPr>
        <p:spPr>
          <a:xfrm>
            <a:off x="6019800" y="3962400"/>
            <a:ext cx="2151380" cy="1384300"/>
          </a:xfrm>
          <a:prstGeom prst="rect">
            <a:avLst/>
          </a:prstGeom>
          <a:solidFill>
            <a:srgbClr val="FD8537"/>
          </a:solidFill>
          <a:ln>
            <a:noFill/>
          </a:ln>
        </p:spPr>
        <p:txBody>
          <a:bodyPr anchorCtr="0" anchor="t" bIns="0" lIns="0" spcFirstLastPara="1" rIns="0" wrap="square" tIns="40625">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105410" rtl="0" algn="just">
              <a:lnSpc>
                <a:spcPct val="100000"/>
              </a:lnSpc>
              <a:spcBef>
                <a:spcPts val="10"/>
              </a:spcBef>
              <a:spcAft>
                <a:spcPts val="0"/>
              </a:spcAft>
              <a:buNone/>
            </a:pPr>
            <a:r>
              <a:rPr lang="en-US" sz="1600">
                <a:solidFill>
                  <a:schemeClr val="dk1"/>
                </a:solidFill>
                <a:latin typeface="Arial"/>
                <a:ea typeface="Arial"/>
                <a:cs typeface="Arial"/>
                <a:sym typeface="Arial"/>
              </a:rPr>
              <a:t>Inside A's constructor  Inside B's constructor  Inside C's constructor</a:t>
            </a:r>
            <a:endParaRPr sz="16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535940" y="896239"/>
            <a:ext cx="254698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O</a:t>
            </a:r>
            <a:r>
              <a:rPr lang="en-US" sz="2400"/>
              <a:t>BJECT </a:t>
            </a:r>
            <a:r>
              <a:rPr lang="en-US" sz="3000"/>
              <a:t>C</a:t>
            </a:r>
            <a:r>
              <a:rPr lang="en-US" sz="2400"/>
              <a:t>LASS</a:t>
            </a:r>
            <a:endParaRPr sz="2400"/>
          </a:p>
        </p:txBody>
      </p:sp>
      <p:sp>
        <p:nvSpPr>
          <p:cNvPr id="233" name="Google Shape;233;p25"/>
          <p:cNvSpPr txBox="1"/>
          <p:nvPr/>
        </p:nvSpPr>
        <p:spPr>
          <a:xfrm>
            <a:off x="535940" y="1628978"/>
            <a:ext cx="6730365" cy="4923155"/>
          </a:xfrm>
          <a:prstGeom prst="rect">
            <a:avLst/>
          </a:prstGeom>
          <a:noFill/>
          <a:ln>
            <a:noFill/>
          </a:ln>
        </p:spPr>
        <p:txBody>
          <a:bodyPr anchorCtr="0" anchor="t" bIns="0" lIns="0" spcFirstLastPara="1" rIns="0" wrap="square" tIns="13325">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All classes inherit directly or indirectly from</a:t>
            </a:r>
            <a:endParaRPr sz="20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000">
                <a:solidFill>
                  <a:schemeClr val="dk1"/>
                </a:solidFill>
                <a:latin typeface="Cambria"/>
                <a:ea typeface="Cambria"/>
                <a:cs typeface="Cambria"/>
                <a:sym typeface="Cambria"/>
              </a:rPr>
              <a:t>java.lang.Object</a:t>
            </a:r>
            <a:endParaRPr sz="2000">
              <a:solidFill>
                <a:schemeClr val="dk1"/>
              </a:solidFill>
              <a:latin typeface="Cambria"/>
              <a:ea typeface="Cambria"/>
              <a:cs typeface="Cambria"/>
              <a:sym typeface="Cambria"/>
            </a:endParaRPr>
          </a:p>
          <a:p>
            <a:pPr indent="-273685" lvl="1" marL="652780" marR="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class Parent { int size; }</a:t>
            </a:r>
            <a:endParaRPr b="0" i="0" sz="2000" u="none" cap="none" strike="noStrike">
              <a:solidFill>
                <a:schemeClr val="dk1"/>
              </a:solidFill>
              <a:latin typeface="Cambria"/>
              <a:ea typeface="Cambria"/>
              <a:cs typeface="Cambria"/>
              <a:sym typeface="Cambria"/>
            </a:endParaRPr>
          </a:p>
          <a:p>
            <a:pPr indent="-273685" lvl="1" marL="652780" marR="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class Parent extends Object { int size; }</a:t>
            </a:r>
            <a:endParaRPr b="0" i="0" sz="2000" u="none" cap="none" strike="noStrike">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The child class below is a grandchild of Object</a:t>
            </a:r>
            <a:endParaRPr sz="2000">
              <a:solidFill>
                <a:schemeClr val="dk1"/>
              </a:solidFill>
              <a:latin typeface="Cambria"/>
              <a:ea typeface="Cambria"/>
              <a:cs typeface="Cambria"/>
              <a:sym typeface="Cambria"/>
            </a:endParaRPr>
          </a:p>
          <a:p>
            <a:pPr indent="-273685" lvl="1" marL="652780" marR="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class Child extends Parent{ }</a:t>
            </a:r>
            <a:endParaRPr b="0" i="0" sz="2000" u="none" cap="none" strike="noStrike">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Having a common ancestor class allows java to provide</a:t>
            </a:r>
            <a:endParaRPr sz="2000">
              <a:solidFill>
                <a:schemeClr val="dk1"/>
              </a:solidFill>
              <a:latin typeface="Cambria"/>
              <a:ea typeface="Cambria"/>
              <a:cs typeface="Cambria"/>
              <a:sym typeface="Cambria"/>
            </a:endParaRPr>
          </a:p>
          <a:p>
            <a:pPr indent="0" lvl="0" marL="285115" marR="0" rtl="0" algn="l">
              <a:lnSpc>
                <a:spcPct val="100000"/>
              </a:lnSpc>
              <a:spcBef>
                <a:spcPts val="5"/>
              </a:spcBef>
              <a:spcAft>
                <a:spcPts val="0"/>
              </a:spcAft>
              <a:buNone/>
            </a:pPr>
            <a:r>
              <a:rPr lang="en-US" sz="2000">
                <a:solidFill>
                  <a:schemeClr val="dk1"/>
                </a:solidFill>
                <a:latin typeface="Cambria"/>
                <a:ea typeface="Cambria"/>
                <a:cs typeface="Cambria"/>
                <a:sym typeface="Cambria"/>
              </a:rPr>
              <a:t>standard members on all objects, like toString()</a:t>
            </a:r>
            <a:endParaRPr sz="2000">
              <a:solidFill>
                <a:schemeClr val="dk1"/>
              </a:solidFill>
              <a:latin typeface="Cambria"/>
              <a:ea typeface="Cambria"/>
              <a:cs typeface="Cambria"/>
              <a:sym typeface="Cambria"/>
            </a:endParaRPr>
          </a:p>
          <a:p>
            <a:pPr indent="0" lvl="0" marL="379730" marR="0" rtl="0" algn="l">
              <a:lnSpc>
                <a:spcPct val="100000"/>
              </a:lnSpc>
              <a:spcBef>
                <a:spcPts val="390"/>
              </a:spcBef>
              <a:spcAft>
                <a:spcPts val="0"/>
              </a:spcAft>
              <a:buNone/>
            </a:pPr>
            <a:r>
              <a:rPr lang="en-US" sz="1600">
                <a:solidFill>
                  <a:schemeClr val="dk1"/>
                </a:solidFill>
                <a:latin typeface="Cambria"/>
                <a:ea typeface="Cambria"/>
                <a:cs typeface="Cambria"/>
                <a:sym typeface="Cambria"/>
              </a:rPr>
              <a:t>class TestObject {</a:t>
            </a:r>
            <a:endParaRPr sz="1600">
              <a:solidFill>
                <a:schemeClr val="dk1"/>
              </a:solidFill>
              <a:latin typeface="Cambria"/>
              <a:ea typeface="Cambria"/>
              <a:cs typeface="Cambria"/>
              <a:sym typeface="Cambria"/>
            </a:endParaRPr>
          </a:p>
          <a:p>
            <a:pPr indent="-273050" lvl="0" marL="1017269" marR="2642235" rtl="0" algn="l">
              <a:lnSpc>
                <a:spcPct val="120000"/>
              </a:lnSpc>
              <a:spcBef>
                <a:spcPts val="5"/>
              </a:spcBef>
              <a:spcAft>
                <a:spcPts val="0"/>
              </a:spcAft>
              <a:buNone/>
            </a:pPr>
            <a:r>
              <a:rPr lang="en-US" sz="1400">
                <a:solidFill>
                  <a:schemeClr val="dk1"/>
                </a:solidFill>
                <a:latin typeface="Cambria"/>
                <a:ea typeface="Cambria"/>
                <a:cs typeface="Cambria"/>
                <a:sym typeface="Cambria"/>
              </a:rPr>
              <a:t>public static void main( String args[] ) {  Parent watchThis = new Parent();  int myHash = watchThis.hashCode();  System.out.println( myHash );</a:t>
            </a:r>
            <a:endParaRPr sz="1400">
              <a:solidFill>
                <a:schemeClr val="dk1"/>
              </a:solidFill>
              <a:latin typeface="Cambria"/>
              <a:ea typeface="Cambria"/>
              <a:cs typeface="Cambria"/>
              <a:sym typeface="Cambria"/>
            </a:endParaRPr>
          </a:p>
          <a:p>
            <a:pPr indent="0" lvl="0" marL="1017269" marR="0" rtl="0" algn="l">
              <a:lnSpc>
                <a:spcPct val="100000"/>
              </a:lnSpc>
              <a:spcBef>
                <a:spcPts val="335"/>
              </a:spcBef>
              <a:spcAft>
                <a:spcPts val="0"/>
              </a:spcAft>
              <a:buNone/>
            </a:pPr>
            <a:r>
              <a:rPr lang="en-US" sz="1400">
                <a:solidFill>
                  <a:schemeClr val="dk1"/>
                </a:solidFill>
                <a:latin typeface="Cambria"/>
                <a:ea typeface="Cambria"/>
                <a:cs typeface="Cambria"/>
                <a:sym typeface="Cambria"/>
              </a:rPr>
              <a:t>// Where does hashCode come from?</a:t>
            </a:r>
            <a:endParaRPr sz="1400">
              <a:solidFill>
                <a:schemeClr val="dk1"/>
              </a:solidFill>
              <a:latin typeface="Cambria"/>
              <a:ea typeface="Cambria"/>
              <a:cs typeface="Cambria"/>
              <a:sym typeface="Cambria"/>
            </a:endParaRPr>
          </a:p>
          <a:p>
            <a:pPr indent="0" lvl="0" marL="744220" marR="0" rtl="0" algn="l">
              <a:lnSpc>
                <a:spcPct val="100000"/>
              </a:lnSpc>
              <a:spcBef>
                <a:spcPts val="34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379730" marR="0" rtl="0" algn="l">
              <a:lnSpc>
                <a:spcPct val="100000"/>
              </a:lnSpc>
              <a:spcBef>
                <a:spcPts val="375"/>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7" name="Shape 237"/>
        <p:cNvGrpSpPr/>
        <p:nvPr/>
      </p:nvGrpSpPr>
      <p:grpSpPr>
        <a:xfrm>
          <a:off x="0" y="0"/>
          <a:ext cx="0" cy="0"/>
          <a:chOff x="0" y="0"/>
          <a:chExt cx="0" cy="0"/>
        </a:xfrm>
      </p:grpSpPr>
      <p:sp>
        <p:nvSpPr>
          <p:cNvPr id="238" name="Google Shape;238;p26"/>
          <p:cNvSpPr/>
          <p:nvPr/>
        </p:nvSpPr>
        <p:spPr>
          <a:xfrm>
            <a:off x="825500" y="2511425"/>
            <a:ext cx="1231900" cy="304800"/>
          </a:xfrm>
          <a:custGeom>
            <a:rect b="b" l="l" r="r" t="t"/>
            <a:pathLst>
              <a:path extrusionOk="0" h="304800" w="1231900">
                <a:moveTo>
                  <a:pt x="1231900" y="0"/>
                </a:moveTo>
                <a:lnTo>
                  <a:pt x="0" y="0"/>
                </a:lnTo>
                <a:lnTo>
                  <a:pt x="0" y="304800"/>
                </a:lnTo>
                <a:lnTo>
                  <a:pt x="1231900" y="304800"/>
                </a:lnTo>
                <a:lnTo>
                  <a:pt x="1231900" y="0"/>
                </a:lnTo>
                <a:close/>
              </a:path>
            </a:pathLst>
          </a:custGeom>
          <a:solidFill>
            <a:srgbClr val="FFEF6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26"/>
          <p:cNvSpPr/>
          <p:nvPr/>
        </p:nvSpPr>
        <p:spPr>
          <a:xfrm>
            <a:off x="546100" y="2143125"/>
            <a:ext cx="6261100" cy="304800"/>
          </a:xfrm>
          <a:custGeom>
            <a:rect b="b" l="l" r="r" t="t"/>
            <a:pathLst>
              <a:path extrusionOk="0" h="304800" w="6261100">
                <a:moveTo>
                  <a:pt x="6261100" y="0"/>
                </a:moveTo>
                <a:lnTo>
                  <a:pt x="0" y="0"/>
                </a:lnTo>
                <a:lnTo>
                  <a:pt x="0" y="304800"/>
                </a:lnTo>
                <a:lnTo>
                  <a:pt x="6261100" y="304800"/>
                </a:lnTo>
                <a:lnTo>
                  <a:pt x="6261100" y="0"/>
                </a:lnTo>
                <a:close/>
              </a:path>
            </a:pathLst>
          </a:custGeom>
          <a:solidFill>
            <a:srgbClr val="FFEF6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26"/>
          <p:cNvSpPr/>
          <p:nvPr/>
        </p:nvSpPr>
        <p:spPr>
          <a:xfrm>
            <a:off x="825500" y="1698625"/>
            <a:ext cx="5207000" cy="304800"/>
          </a:xfrm>
          <a:custGeom>
            <a:rect b="b" l="l" r="r" t="t"/>
            <a:pathLst>
              <a:path extrusionOk="0" h="304800" w="5207000">
                <a:moveTo>
                  <a:pt x="5207000" y="0"/>
                </a:moveTo>
                <a:lnTo>
                  <a:pt x="0" y="0"/>
                </a:lnTo>
                <a:lnTo>
                  <a:pt x="0" y="304800"/>
                </a:lnTo>
                <a:lnTo>
                  <a:pt x="5207000" y="304800"/>
                </a:lnTo>
                <a:lnTo>
                  <a:pt x="5207000" y="0"/>
                </a:lnTo>
                <a:close/>
              </a:path>
            </a:pathLst>
          </a:custGeom>
          <a:solidFill>
            <a:srgbClr val="FFEF6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26"/>
          <p:cNvSpPr/>
          <p:nvPr/>
        </p:nvSpPr>
        <p:spPr>
          <a:xfrm>
            <a:off x="8763000" y="0"/>
            <a:ext cx="0" cy="6858000"/>
          </a:xfrm>
          <a:custGeom>
            <a:rect b="b" l="l" r="r" t="t"/>
            <a:pathLst>
              <a:path extrusionOk="0" h="6858000" w="120000">
                <a:moveTo>
                  <a:pt x="0" y="0"/>
                </a:moveTo>
                <a:lnTo>
                  <a:pt x="0" y="6857999"/>
                </a:lnTo>
              </a:path>
            </a:pathLst>
          </a:custGeom>
          <a:noFill/>
          <a:ln cap="flat" cmpd="sng" w="38100">
            <a:solidFill>
              <a:srgbClr val="FDC3A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26"/>
          <p:cNvSpPr/>
          <p:nvPr/>
        </p:nvSpPr>
        <p:spPr>
          <a:xfrm>
            <a:off x="47625" y="0"/>
            <a:ext cx="57150" cy="6858000"/>
          </a:xfrm>
          <a:custGeom>
            <a:rect b="b" l="l" r="r" t="t"/>
            <a:pathLst>
              <a:path extrusionOk="0" h="6858000" w="57150">
                <a:moveTo>
                  <a:pt x="11430" y="0"/>
                </a:moveTo>
                <a:lnTo>
                  <a:pt x="0" y="0"/>
                </a:lnTo>
                <a:lnTo>
                  <a:pt x="0" y="6858000"/>
                </a:lnTo>
                <a:lnTo>
                  <a:pt x="11430" y="6858000"/>
                </a:lnTo>
                <a:lnTo>
                  <a:pt x="11430" y="0"/>
                </a:lnTo>
                <a:close/>
              </a:path>
              <a:path extrusionOk="0" h="6858000" w="57150">
                <a:moveTo>
                  <a:pt x="57150" y="0"/>
                </a:moveTo>
                <a:lnTo>
                  <a:pt x="22860" y="0"/>
                </a:lnTo>
                <a:lnTo>
                  <a:pt x="22860" y="6858000"/>
                </a:lnTo>
                <a:lnTo>
                  <a:pt x="57150" y="6858000"/>
                </a:lnTo>
                <a:lnTo>
                  <a:pt x="57150" y="0"/>
                </a:lnTo>
                <a:close/>
              </a:path>
            </a:pathLst>
          </a:custGeom>
          <a:solidFill>
            <a:srgbClr val="FDC3A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3" name="Google Shape;243;p26"/>
          <p:cNvGrpSpPr/>
          <p:nvPr/>
        </p:nvGrpSpPr>
        <p:grpSpPr>
          <a:xfrm>
            <a:off x="8839200" y="0"/>
            <a:ext cx="304800" cy="6858000"/>
            <a:chOff x="8839200" y="0"/>
            <a:chExt cx="304800" cy="6858000"/>
          </a:xfrm>
        </p:grpSpPr>
        <p:sp>
          <p:nvSpPr>
            <p:cNvPr id="244" name="Google Shape;244;p26"/>
            <p:cNvSpPr/>
            <p:nvPr/>
          </p:nvSpPr>
          <p:spPr>
            <a:xfrm>
              <a:off x="8839200" y="0"/>
              <a:ext cx="304800" cy="6858000"/>
            </a:xfrm>
            <a:custGeom>
              <a:rect b="b" l="l" r="r" t="t"/>
              <a:pathLst>
                <a:path extrusionOk="0" h="6858000" w="304800">
                  <a:moveTo>
                    <a:pt x="304800" y="0"/>
                  </a:moveTo>
                  <a:lnTo>
                    <a:pt x="0" y="0"/>
                  </a:lnTo>
                  <a:lnTo>
                    <a:pt x="0" y="6858000"/>
                  </a:lnTo>
                  <a:lnTo>
                    <a:pt x="304800" y="6858000"/>
                  </a:lnTo>
                  <a:lnTo>
                    <a:pt x="304800" y="0"/>
                  </a:lnTo>
                  <a:close/>
                </a:path>
              </a:pathLst>
            </a:custGeom>
            <a:solidFill>
              <a:srgbClr val="FDC3AD">
                <a:alpha val="86666"/>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26"/>
            <p:cNvSpPr/>
            <p:nvPr/>
          </p:nvSpPr>
          <p:spPr>
            <a:xfrm>
              <a:off x="8915400" y="0"/>
              <a:ext cx="0" cy="6858000"/>
            </a:xfrm>
            <a:custGeom>
              <a:rect b="b" l="l" r="r" t="t"/>
              <a:pathLst>
                <a:path extrusionOk="0" h="6858000" w="120000">
                  <a:moveTo>
                    <a:pt x="0" y="0"/>
                  </a:moveTo>
                  <a:lnTo>
                    <a:pt x="0" y="6857999"/>
                  </a:lnTo>
                </a:path>
              </a:pathLst>
            </a:custGeom>
            <a:noFill/>
            <a:ln cap="flat" cmpd="sng" w="9525">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6" name="Google Shape;246;p26"/>
          <p:cNvSpPr/>
          <p:nvPr/>
        </p:nvSpPr>
        <p:spPr>
          <a:xfrm>
            <a:off x="8156575" y="5715000"/>
            <a:ext cx="549275" cy="549275"/>
          </a:xfrm>
          <a:custGeom>
            <a:rect b="b" l="l" r="r" t="t"/>
            <a:pathLst>
              <a:path extrusionOk="0" h="549275" w="549275">
                <a:moveTo>
                  <a:pt x="274700" y="0"/>
                </a:moveTo>
                <a:lnTo>
                  <a:pt x="225309" y="4424"/>
                </a:lnTo>
                <a:lnTo>
                  <a:pt x="178828" y="17182"/>
                </a:lnTo>
                <a:lnTo>
                  <a:pt x="136031" y="37496"/>
                </a:lnTo>
                <a:lnTo>
                  <a:pt x="97693" y="64591"/>
                </a:lnTo>
                <a:lnTo>
                  <a:pt x="64589" y="97692"/>
                </a:lnTo>
                <a:lnTo>
                  <a:pt x="37493" y="136023"/>
                </a:lnTo>
                <a:lnTo>
                  <a:pt x="17180" y="178808"/>
                </a:lnTo>
                <a:lnTo>
                  <a:pt x="4424" y="225271"/>
                </a:lnTo>
                <a:lnTo>
                  <a:pt x="0" y="274637"/>
                </a:lnTo>
                <a:lnTo>
                  <a:pt x="4424" y="324003"/>
                </a:lnTo>
                <a:lnTo>
                  <a:pt x="17180" y="370466"/>
                </a:lnTo>
                <a:lnTo>
                  <a:pt x="37493" y="413251"/>
                </a:lnTo>
                <a:lnTo>
                  <a:pt x="64589" y="451582"/>
                </a:lnTo>
                <a:lnTo>
                  <a:pt x="97693" y="484683"/>
                </a:lnTo>
                <a:lnTo>
                  <a:pt x="136031" y="511778"/>
                </a:lnTo>
                <a:lnTo>
                  <a:pt x="178828" y="532092"/>
                </a:lnTo>
                <a:lnTo>
                  <a:pt x="225309" y="544850"/>
                </a:lnTo>
                <a:lnTo>
                  <a:pt x="274700" y="549275"/>
                </a:lnTo>
                <a:lnTo>
                  <a:pt x="324054" y="544850"/>
                </a:lnTo>
                <a:lnTo>
                  <a:pt x="370506" y="532092"/>
                </a:lnTo>
                <a:lnTo>
                  <a:pt x="413281" y="511778"/>
                </a:lnTo>
                <a:lnTo>
                  <a:pt x="451603" y="484683"/>
                </a:lnTo>
                <a:lnTo>
                  <a:pt x="484696" y="451582"/>
                </a:lnTo>
                <a:lnTo>
                  <a:pt x="511786" y="413251"/>
                </a:lnTo>
                <a:lnTo>
                  <a:pt x="532096" y="370466"/>
                </a:lnTo>
                <a:lnTo>
                  <a:pt x="544851" y="324003"/>
                </a:lnTo>
                <a:lnTo>
                  <a:pt x="549275" y="274637"/>
                </a:lnTo>
                <a:lnTo>
                  <a:pt x="544851" y="225271"/>
                </a:lnTo>
                <a:lnTo>
                  <a:pt x="532096" y="178808"/>
                </a:lnTo>
                <a:lnTo>
                  <a:pt x="511786" y="136023"/>
                </a:lnTo>
                <a:lnTo>
                  <a:pt x="484696" y="97692"/>
                </a:lnTo>
                <a:lnTo>
                  <a:pt x="451603" y="64591"/>
                </a:lnTo>
                <a:lnTo>
                  <a:pt x="413281" y="37496"/>
                </a:lnTo>
                <a:lnTo>
                  <a:pt x="370506" y="17182"/>
                </a:lnTo>
                <a:lnTo>
                  <a:pt x="324054" y="4424"/>
                </a:lnTo>
                <a:lnTo>
                  <a:pt x="274700"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26"/>
          <p:cNvSpPr txBox="1"/>
          <p:nvPr>
            <p:ph type="title"/>
          </p:nvPr>
        </p:nvSpPr>
        <p:spPr>
          <a:xfrm>
            <a:off x="535940" y="896239"/>
            <a:ext cx="451802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O</a:t>
            </a:r>
            <a:r>
              <a:rPr lang="en-US" sz="2400"/>
              <a:t>BJECT </a:t>
            </a:r>
            <a:r>
              <a:rPr lang="en-US" sz="3000"/>
              <a:t>C</a:t>
            </a:r>
            <a:r>
              <a:rPr lang="en-US" sz="2400"/>
              <a:t>LASS </a:t>
            </a:r>
            <a:r>
              <a:rPr lang="en-US" sz="3000"/>
              <a:t>- </a:t>
            </a:r>
            <a:r>
              <a:rPr lang="en-US" sz="2400"/>
              <a:t>METHODS</a:t>
            </a:r>
            <a:endParaRPr sz="2400"/>
          </a:p>
        </p:txBody>
      </p:sp>
      <p:sp>
        <p:nvSpPr>
          <p:cNvPr id="248" name="Google Shape;248;p26"/>
          <p:cNvSpPr txBox="1"/>
          <p:nvPr/>
        </p:nvSpPr>
        <p:spPr>
          <a:xfrm>
            <a:off x="535940" y="1552763"/>
            <a:ext cx="7094855" cy="3492500"/>
          </a:xfrm>
          <a:prstGeom prst="rect">
            <a:avLst/>
          </a:prstGeom>
          <a:noFill/>
          <a:ln>
            <a:noFill/>
          </a:ln>
        </p:spPr>
        <p:txBody>
          <a:bodyPr anchorCtr="0" anchor="t" bIns="0" lIns="0" spcFirstLastPara="1" rIns="0" wrap="square" tIns="889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clone() - Creates a clone of the object.</a:t>
            </a:r>
            <a:endParaRPr sz="2400">
              <a:solidFill>
                <a:schemeClr val="dk1"/>
              </a:solidFill>
              <a:latin typeface="Cambria"/>
              <a:ea typeface="Cambria"/>
              <a:cs typeface="Cambria"/>
              <a:sym typeface="Cambria"/>
            </a:endParaRPr>
          </a:p>
          <a:p>
            <a:pPr indent="-273050" lvl="0" marL="285115" marR="897255"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equals(Object) - Compares two Objects for  equality.</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Uses "==" to test for equality</a:t>
            </a:r>
            <a:endParaRPr b="0" i="0" sz="2100" u="none" cap="none" strike="noStrike">
              <a:solidFill>
                <a:schemeClr val="dk1"/>
              </a:solidFill>
              <a:latin typeface="Cambria"/>
              <a:ea typeface="Cambria"/>
              <a:cs typeface="Cambria"/>
              <a:sym typeface="Cambria"/>
            </a:endParaRPr>
          </a:p>
          <a:p>
            <a:pPr indent="-273685" lvl="1" marL="652780" marR="160655"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Note: If a class needs an implementation of equals,  which differs from the default "equals", the class  should override the method.</a:t>
            </a:r>
            <a:endParaRPr b="0" i="0" sz="2100" u="none" cap="none" strike="noStrike">
              <a:solidFill>
                <a:schemeClr val="dk1"/>
              </a:solidFill>
              <a:latin typeface="Cambria"/>
              <a:ea typeface="Cambria"/>
              <a:cs typeface="Cambria"/>
              <a:sym typeface="Cambria"/>
            </a:endParaRPr>
          </a:p>
          <a:p>
            <a:pPr indent="-273050" lvl="0" marL="285115" marR="0" rtl="0" algn="l">
              <a:lnSpc>
                <a:spcPct val="100000"/>
              </a:lnSpc>
              <a:spcBef>
                <a:spcPts val="60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toString() - Returns a String that represents the</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value of this Object.</a:t>
            </a:r>
            <a:endParaRPr sz="2400">
              <a:solidFill>
                <a:schemeClr val="dk1"/>
              </a:solidFill>
              <a:latin typeface="Cambria"/>
              <a:ea typeface="Cambria"/>
              <a:cs typeface="Cambria"/>
              <a:sym typeface="Cambr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7"/>
          <p:cNvSpPr txBox="1"/>
          <p:nvPr>
            <p:ph type="title"/>
          </p:nvPr>
        </p:nvSpPr>
        <p:spPr>
          <a:xfrm>
            <a:off x="381000" y="762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Spring 2024 Question 1</a:t>
            </a:r>
            <a:endParaRPr/>
          </a:p>
        </p:txBody>
      </p:sp>
      <p:pic>
        <p:nvPicPr>
          <p:cNvPr id="254" name="Google Shape;254;p27"/>
          <p:cNvPicPr preferRelativeResize="0"/>
          <p:nvPr/>
        </p:nvPicPr>
        <p:blipFill rotWithShape="1">
          <a:blip r:embed="rId3">
            <a:alphaModFix/>
          </a:blip>
          <a:srcRect b="0" l="0" r="0" t="0"/>
          <a:stretch/>
        </p:blipFill>
        <p:spPr>
          <a:xfrm>
            <a:off x="990600" y="618872"/>
            <a:ext cx="6690944" cy="616292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8"/>
          <p:cNvSpPr txBox="1"/>
          <p:nvPr>
            <p:ph type="title"/>
          </p:nvPr>
        </p:nvSpPr>
        <p:spPr>
          <a:xfrm>
            <a:off x="381000" y="762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Spring 2024 Question 1</a:t>
            </a:r>
            <a:endParaRPr/>
          </a:p>
        </p:txBody>
      </p:sp>
      <p:pic>
        <p:nvPicPr>
          <p:cNvPr id="260" name="Google Shape;260;p28"/>
          <p:cNvPicPr preferRelativeResize="0"/>
          <p:nvPr/>
        </p:nvPicPr>
        <p:blipFill rotWithShape="1">
          <a:blip r:embed="rId3">
            <a:alphaModFix/>
          </a:blip>
          <a:srcRect b="0" l="0" r="0" t="0"/>
          <a:stretch/>
        </p:blipFill>
        <p:spPr>
          <a:xfrm>
            <a:off x="914400" y="1219200"/>
            <a:ext cx="6576968" cy="5334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p29"/>
          <p:cNvPicPr preferRelativeResize="0"/>
          <p:nvPr/>
        </p:nvPicPr>
        <p:blipFill rotWithShape="1">
          <a:blip r:embed="rId3">
            <a:alphaModFix/>
          </a:blip>
          <a:srcRect b="0" l="0" r="0" t="0"/>
          <a:stretch/>
        </p:blipFill>
        <p:spPr>
          <a:xfrm>
            <a:off x="1219200" y="645897"/>
            <a:ext cx="6084806" cy="6212103"/>
          </a:xfrm>
          <a:prstGeom prst="rect">
            <a:avLst/>
          </a:prstGeom>
          <a:noFill/>
          <a:ln>
            <a:noFill/>
          </a:ln>
        </p:spPr>
      </p:pic>
      <p:sp>
        <p:nvSpPr>
          <p:cNvPr id="266" name="Google Shape;266;p29"/>
          <p:cNvSpPr txBox="1"/>
          <p:nvPr>
            <p:ph type="title"/>
          </p:nvPr>
        </p:nvSpPr>
        <p:spPr>
          <a:xfrm>
            <a:off x="381000" y="762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Summer 2023 Question 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nvSpPr>
        <p:spPr>
          <a:xfrm>
            <a:off x="381000" y="76200"/>
            <a:ext cx="7653655" cy="34624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250">
                <a:solidFill>
                  <a:srgbClr val="565F6C"/>
                </a:solidFill>
                <a:latin typeface="Cambria"/>
                <a:ea typeface="Cambria"/>
                <a:cs typeface="Cambria"/>
                <a:sym typeface="Cambria"/>
              </a:rPr>
              <a:t>Summer 2023 Question 1</a:t>
            </a:r>
            <a:endParaRPr b="0" i="0" sz="2250">
              <a:solidFill>
                <a:srgbClr val="565F6C"/>
              </a:solidFill>
              <a:latin typeface="Cambria"/>
              <a:ea typeface="Cambria"/>
              <a:cs typeface="Cambria"/>
              <a:sym typeface="Cambria"/>
            </a:endParaRPr>
          </a:p>
        </p:txBody>
      </p:sp>
      <p:pic>
        <p:nvPicPr>
          <p:cNvPr id="272" name="Google Shape;272;p30"/>
          <p:cNvPicPr preferRelativeResize="0"/>
          <p:nvPr/>
        </p:nvPicPr>
        <p:blipFill rotWithShape="1">
          <a:blip r:embed="rId3">
            <a:alphaModFix/>
          </a:blip>
          <a:srcRect b="0" l="0" r="0" t="0"/>
          <a:stretch/>
        </p:blipFill>
        <p:spPr>
          <a:xfrm>
            <a:off x="2631398" y="392597"/>
            <a:ext cx="3881203" cy="3962400"/>
          </a:xfrm>
          <a:prstGeom prst="rect">
            <a:avLst/>
          </a:prstGeom>
          <a:noFill/>
          <a:ln>
            <a:noFill/>
          </a:ln>
        </p:spPr>
      </p:pic>
      <p:pic>
        <p:nvPicPr>
          <p:cNvPr id="273" name="Google Shape;273;p30"/>
          <p:cNvPicPr preferRelativeResize="0"/>
          <p:nvPr/>
        </p:nvPicPr>
        <p:blipFill rotWithShape="1">
          <a:blip r:embed="rId4">
            <a:alphaModFix/>
          </a:blip>
          <a:srcRect b="0" l="0" r="0" t="0"/>
          <a:stretch/>
        </p:blipFill>
        <p:spPr>
          <a:xfrm>
            <a:off x="1676400" y="4204846"/>
            <a:ext cx="5943600" cy="2543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Summer 2023 Question 2</a:t>
            </a:r>
            <a:endParaRPr/>
          </a:p>
        </p:txBody>
      </p:sp>
      <p:pic>
        <p:nvPicPr>
          <p:cNvPr id="279" name="Google Shape;279;p31"/>
          <p:cNvPicPr preferRelativeResize="0"/>
          <p:nvPr/>
        </p:nvPicPr>
        <p:blipFill rotWithShape="1">
          <a:blip r:embed="rId3">
            <a:alphaModFix/>
          </a:blip>
          <a:srcRect b="0" l="0" r="0" t="0"/>
          <a:stretch/>
        </p:blipFill>
        <p:spPr>
          <a:xfrm>
            <a:off x="609600" y="1459059"/>
            <a:ext cx="8016935" cy="393988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304800" y="3810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Summer 2023 Question 2</a:t>
            </a:r>
            <a:endParaRPr/>
          </a:p>
        </p:txBody>
      </p:sp>
      <p:pic>
        <p:nvPicPr>
          <p:cNvPr id="285" name="Google Shape;285;p32"/>
          <p:cNvPicPr preferRelativeResize="0"/>
          <p:nvPr/>
        </p:nvPicPr>
        <p:blipFill rotWithShape="1">
          <a:blip r:embed="rId3">
            <a:alphaModFix/>
          </a:blip>
          <a:srcRect b="0" l="0" r="0" t="0"/>
          <a:stretch/>
        </p:blipFill>
        <p:spPr>
          <a:xfrm>
            <a:off x="304800" y="1287594"/>
            <a:ext cx="8253175" cy="428281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3"/>
          <p:cNvSpPr txBox="1"/>
          <p:nvPr>
            <p:ph type="title"/>
          </p:nvPr>
        </p:nvSpPr>
        <p:spPr>
          <a:xfrm>
            <a:off x="304800" y="3810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Summer 2023 Question 2</a:t>
            </a:r>
            <a:endParaRPr/>
          </a:p>
        </p:txBody>
      </p:sp>
      <p:pic>
        <p:nvPicPr>
          <p:cNvPr id="291" name="Google Shape;291;p33"/>
          <p:cNvPicPr preferRelativeResize="0"/>
          <p:nvPr/>
        </p:nvPicPr>
        <p:blipFill rotWithShape="1">
          <a:blip r:embed="rId3">
            <a:alphaModFix/>
          </a:blip>
          <a:srcRect b="0" l="0" r="0" t="0"/>
          <a:stretch/>
        </p:blipFill>
        <p:spPr>
          <a:xfrm>
            <a:off x="304800" y="1315039"/>
            <a:ext cx="8354828" cy="5181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txBox="1"/>
          <p:nvPr>
            <p:ph type="title"/>
          </p:nvPr>
        </p:nvSpPr>
        <p:spPr>
          <a:xfrm>
            <a:off x="304800" y="3810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Summer 2023 Question 2</a:t>
            </a:r>
            <a:endParaRPr/>
          </a:p>
        </p:txBody>
      </p:sp>
      <p:pic>
        <p:nvPicPr>
          <p:cNvPr id="297" name="Google Shape;297;p34"/>
          <p:cNvPicPr preferRelativeResize="0"/>
          <p:nvPr/>
        </p:nvPicPr>
        <p:blipFill rotWithShape="1">
          <a:blip r:embed="rId3">
            <a:alphaModFix/>
          </a:blip>
          <a:srcRect b="0" l="0" r="0" t="0"/>
          <a:stretch/>
        </p:blipFill>
        <p:spPr>
          <a:xfrm>
            <a:off x="152400" y="1905000"/>
            <a:ext cx="8518988" cy="364514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5"/>
          <p:cNvSpPr txBox="1"/>
          <p:nvPr>
            <p:ph type="title"/>
          </p:nvPr>
        </p:nvSpPr>
        <p:spPr>
          <a:xfrm>
            <a:off x="2757677" y="3136772"/>
            <a:ext cx="286702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E</a:t>
            </a:r>
            <a:r>
              <a:rPr lang="en-US" sz="2400"/>
              <a:t>NCAPSULATION</a:t>
            </a:r>
            <a:endParaRPr sz="24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txBox="1"/>
          <p:nvPr>
            <p:ph type="title"/>
          </p:nvPr>
        </p:nvSpPr>
        <p:spPr>
          <a:xfrm>
            <a:off x="535940" y="896239"/>
            <a:ext cx="286639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E</a:t>
            </a:r>
            <a:r>
              <a:rPr lang="en-US" sz="2400"/>
              <a:t>NCAPSULATION</a:t>
            </a:r>
            <a:endParaRPr sz="2400"/>
          </a:p>
        </p:txBody>
      </p:sp>
      <p:sp>
        <p:nvSpPr>
          <p:cNvPr id="308" name="Google Shape;308;p36"/>
          <p:cNvSpPr txBox="1"/>
          <p:nvPr/>
        </p:nvSpPr>
        <p:spPr>
          <a:xfrm>
            <a:off x="535940" y="1627454"/>
            <a:ext cx="7221220" cy="4149090"/>
          </a:xfrm>
          <a:prstGeom prst="rect">
            <a:avLst/>
          </a:prstGeom>
          <a:noFill/>
          <a:ln>
            <a:noFill/>
          </a:ln>
        </p:spPr>
        <p:txBody>
          <a:bodyPr anchorCtr="0" anchor="t" bIns="0" lIns="0" spcFirstLastPara="1" rIns="0" wrap="square" tIns="12700">
            <a:spAutoFit/>
          </a:bodyPr>
          <a:lstStyle/>
          <a:p>
            <a:pPr indent="-273050" lvl="0" marL="285115" marR="420369" rtl="0" algn="l">
              <a:lnSpc>
                <a:spcPct val="100099"/>
              </a:lnSpc>
              <a:spcBef>
                <a:spcPts val="0"/>
              </a:spcBef>
              <a:spcAft>
                <a:spcPts val="0"/>
              </a:spcAft>
              <a:buClr>
                <a:srgbClr val="FD8537"/>
              </a:buClr>
              <a:buSzPts val="1650"/>
              <a:buFont typeface="Noto Sans Symbols"/>
              <a:buChar char="🞆"/>
            </a:pPr>
            <a:r>
              <a:rPr i="1" lang="en-US" sz="2400">
                <a:solidFill>
                  <a:schemeClr val="dk1"/>
                </a:solidFill>
                <a:latin typeface="Cambria"/>
                <a:ea typeface="Cambria"/>
                <a:cs typeface="Cambria"/>
                <a:sym typeface="Cambria"/>
              </a:rPr>
              <a:t>Encapsulation </a:t>
            </a:r>
            <a:r>
              <a:rPr lang="en-US" sz="2400">
                <a:solidFill>
                  <a:schemeClr val="dk1"/>
                </a:solidFill>
                <a:latin typeface="Cambria"/>
                <a:ea typeface="Cambria"/>
                <a:cs typeface="Cambria"/>
                <a:sym typeface="Cambria"/>
              </a:rPr>
              <a:t>is the mechanism that binds  together code and the data it manipulates and  keeps both safe from outside interference and  misuse.</a:t>
            </a:r>
            <a:endParaRPr sz="2400">
              <a:solidFill>
                <a:schemeClr val="dk1"/>
              </a:solidFill>
              <a:latin typeface="Cambria"/>
              <a:ea typeface="Cambria"/>
              <a:cs typeface="Cambria"/>
              <a:sym typeface="Cambria"/>
            </a:endParaRPr>
          </a:p>
          <a:p>
            <a:pPr indent="-273050" lvl="0" marL="285115" marR="59563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One way to think about encapsulation is as a  protective wrapper</a:t>
            </a:r>
            <a:endParaRPr sz="2400">
              <a:solidFill>
                <a:schemeClr val="dk1"/>
              </a:solidFill>
              <a:latin typeface="Cambria"/>
              <a:ea typeface="Cambria"/>
              <a:cs typeface="Cambria"/>
              <a:sym typeface="Cambria"/>
            </a:endParaRPr>
          </a:p>
          <a:p>
            <a:pPr indent="-273685" lvl="1" marL="652780" marR="508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that prevents the code and data from being  arbitrarily accessed by other code defined outside the  wrapper.</a:t>
            </a:r>
            <a:endParaRPr b="0" i="0" sz="2100" u="none" cap="none" strike="noStrike">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basis of encapsulation is the class.</a:t>
            </a:r>
            <a:endParaRPr sz="2400">
              <a:solidFill>
                <a:schemeClr val="dk1"/>
              </a:solidFill>
              <a:latin typeface="Cambria"/>
              <a:ea typeface="Cambria"/>
              <a:cs typeface="Cambria"/>
              <a:sym typeface="Cambria"/>
            </a:endParaRPr>
          </a:p>
          <a:p>
            <a:pPr indent="-273685" lvl="1" marL="652780" marR="0" rtl="0" algn="l">
              <a:lnSpc>
                <a:spcPct val="100000"/>
              </a:lnSpc>
              <a:spcBef>
                <a:spcPts val="509"/>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Use access modifier to provide encapsulation</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7"/>
          <p:cNvSpPr txBox="1"/>
          <p:nvPr>
            <p:ph type="title"/>
          </p:nvPr>
        </p:nvSpPr>
        <p:spPr>
          <a:xfrm>
            <a:off x="535940" y="896239"/>
            <a:ext cx="286639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E</a:t>
            </a:r>
            <a:r>
              <a:rPr lang="en-US" sz="2400"/>
              <a:t>NCAPSULATION</a:t>
            </a:r>
            <a:endParaRPr sz="2400"/>
          </a:p>
        </p:txBody>
      </p:sp>
      <p:sp>
        <p:nvSpPr>
          <p:cNvPr id="314" name="Google Shape;314;p37"/>
          <p:cNvSpPr txBox="1"/>
          <p:nvPr/>
        </p:nvSpPr>
        <p:spPr>
          <a:xfrm>
            <a:off x="535940" y="1627454"/>
            <a:ext cx="7054215" cy="3219450"/>
          </a:xfrm>
          <a:prstGeom prst="rect">
            <a:avLst/>
          </a:prstGeom>
          <a:noFill/>
          <a:ln>
            <a:noFill/>
          </a:ln>
        </p:spPr>
        <p:txBody>
          <a:bodyPr anchorCtr="0" anchor="t" bIns="0" lIns="0" spcFirstLastPara="1" rIns="0" wrap="square" tIns="12700">
            <a:spAutoFit/>
          </a:bodyPr>
          <a:lstStyle/>
          <a:p>
            <a:pPr indent="-273050" lvl="0" marL="285115" marR="5080" rtl="0" algn="l">
              <a:lnSpc>
                <a:spcPct val="100099"/>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Since the </a:t>
            </a:r>
            <a:r>
              <a:rPr b="1" lang="en-US" sz="2400">
                <a:solidFill>
                  <a:schemeClr val="dk1"/>
                </a:solidFill>
                <a:latin typeface="Cambria"/>
                <a:ea typeface="Cambria"/>
                <a:cs typeface="Cambria"/>
                <a:sym typeface="Cambria"/>
              </a:rPr>
              <a:t>purpose </a:t>
            </a:r>
            <a:r>
              <a:rPr lang="en-US" sz="2400">
                <a:solidFill>
                  <a:schemeClr val="dk1"/>
                </a:solidFill>
                <a:latin typeface="Cambria"/>
                <a:ea typeface="Cambria"/>
                <a:cs typeface="Cambria"/>
                <a:sym typeface="Cambria"/>
              </a:rPr>
              <a:t>of a class/encapsulation is to  encapsulate complexity, there are mechanisms  for hiding the complexity of the implementation  inside the class.</a:t>
            </a:r>
            <a:endParaRPr sz="2400">
              <a:solidFill>
                <a:schemeClr val="dk1"/>
              </a:solidFill>
              <a:latin typeface="Cambria"/>
              <a:ea typeface="Cambria"/>
              <a:cs typeface="Cambria"/>
              <a:sym typeface="Cambria"/>
            </a:endParaRPr>
          </a:p>
          <a:p>
            <a:pPr indent="-273685" lvl="1" marL="652780" marR="448309"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Use </a:t>
            </a:r>
            <a:r>
              <a:rPr b="1" i="0" lang="en-US" sz="2100" u="none" cap="none" strike="noStrike">
                <a:solidFill>
                  <a:schemeClr val="dk1"/>
                </a:solidFill>
                <a:latin typeface="Cambria"/>
                <a:ea typeface="Cambria"/>
                <a:cs typeface="Cambria"/>
                <a:sym typeface="Cambria"/>
              </a:rPr>
              <a:t>access modifier </a:t>
            </a:r>
            <a:r>
              <a:rPr b="0" i="0" lang="en-US" sz="2100" u="none" cap="none" strike="noStrike">
                <a:solidFill>
                  <a:schemeClr val="dk1"/>
                </a:solidFill>
                <a:latin typeface="Cambria"/>
                <a:ea typeface="Cambria"/>
                <a:cs typeface="Cambria"/>
                <a:sym typeface="Cambria"/>
              </a:rPr>
              <a:t>to specify which members  should/ shouldn’t be accessed by outside world.</a:t>
            </a:r>
            <a:endParaRPr b="0" i="0" sz="2100" u="none" cap="none" strike="noStrike">
              <a:solidFill>
                <a:schemeClr val="dk1"/>
              </a:solidFill>
              <a:latin typeface="Cambria"/>
              <a:ea typeface="Cambria"/>
              <a:cs typeface="Cambria"/>
              <a:sym typeface="Cambria"/>
            </a:endParaRPr>
          </a:p>
          <a:p>
            <a:pPr indent="-273685" lvl="1" marL="652780" marR="145415"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a:t>
            </a:r>
            <a:r>
              <a:rPr b="1" i="0" lang="en-US" sz="2100" u="none" cap="none" strike="noStrike">
                <a:solidFill>
                  <a:schemeClr val="dk1"/>
                </a:solidFill>
                <a:latin typeface="Cambria"/>
                <a:ea typeface="Cambria"/>
                <a:cs typeface="Cambria"/>
                <a:sym typeface="Cambria"/>
              </a:rPr>
              <a:t>public interface </a:t>
            </a:r>
            <a:r>
              <a:rPr b="0" i="0" lang="en-US" sz="2100" u="none" cap="none" strike="noStrike">
                <a:solidFill>
                  <a:schemeClr val="dk1"/>
                </a:solidFill>
                <a:latin typeface="Cambria"/>
                <a:ea typeface="Cambria"/>
                <a:cs typeface="Cambria"/>
                <a:sym typeface="Cambria"/>
              </a:rPr>
              <a:t>should be carefully designed  not to expose too much of the inner workings of a  class</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8"/>
          <p:cNvSpPr txBox="1"/>
          <p:nvPr>
            <p:ph type="title"/>
          </p:nvPr>
        </p:nvSpPr>
        <p:spPr>
          <a:xfrm>
            <a:off x="535940" y="896239"/>
            <a:ext cx="442341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G</a:t>
            </a:r>
            <a:r>
              <a:rPr lang="en-US" sz="2400"/>
              <a:t>ETTER</a:t>
            </a:r>
            <a:r>
              <a:rPr lang="en-US" sz="3000"/>
              <a:t>/S</a:t>
            </a:r>
            <a:r>
              <a:rPr lang="en-US" sz="2400"/>
              <a:t>ETTER </a:t>
            </a:r>
            <a:r>
              <a:rPr lang="en-US" sz="3000"/>
              <a:t>M</a:t>
            </a:r>
            <a:r>
              <a:rPr lang="en-US" sz="2400"/>
              <a:t>ETHOD</a:t>
            </a:r>
            <a:endParaRPr sz="2400"/>
          </a:p>
        </p:txBody>
      </p:sp>
      <p:sp>
        <p:nvSpPr>
          <p:cNvPr id="320" name="Google Shape;320;p38"/>
          <p:cNvSpPr txBox="1"/>
          <p:nvPr/>
        </p:nvSpPr>
        <p:spPr>
          <a:xfrm>
            <a:off x="535940" y="1628978"/>
            <a:ext cx="7122159" cy="5060315"/>
          </a:xfrm>
          <a:prstGeom prst="rect">
            <a:avLst/>
          </a:prstGeom>
          <a:noFill/>
          <a:ln>
            <a:noFill/>
          </a:ln>
        </p:spPr>
        <p:txBody>
          <a:bodyPr anchorCtr="0" anchor="t" bIns="0" lIns="0" spcFirstLastPara="1" rIns="0" wrap="square" tIns="12700">
            <a:spAutoFit/>
          </a:bodyPr>
          <a:lstStyle/>
          <a:p>
            <a:pPr indent="-273050" lvl="0" marL="285115" marR="99695"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In encapsulation, the variables of a class will be  hidden from other classes, and can be accessed  only through the methods of their current class.</a:t>
            </a:r>
            <a:endParaRPr sz="24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To achieve that in Java −</a:t>
            </a:r>
            <a:endParaRPr sz="2400">
              <a:solidFill>
                <a:schemeClr val="dk1"/>
              </a:solidFill>
              <a:latin typeface="Cambria"/>
              <a:ea typeface="Cambria"/>
              <a:cs typeface="Cambria"/>
              <a:sym typeface="Cambria"/>
            </a:endParaRPr>
          </a:p>
          <a:p>
            <a:pPr indent="-273685" lvl="1" marL="652780" marR="0" rtl="0" algn="l">
              <a:lnSpc>
                <a:spcPct val="100000"/>
              </a:lnSpc>
              <a:spcBef>
                <a:spcPts val="484"/>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Declare the variables of a class as private.</a:t>
            </a:r>
            <a:endParaRPr b="0" i="0" sz="2000" u="none" cap="none" strike="noStrike">
              <a:solidFill>
                <a:schemeClr val="dk1"/>
              </a:solidFill>
              <a:latin typeface="Cambria"/>
              <a:ea typeface="Cambria"/>
              <a:cs typeface="Cambria"/>
              <a:sym typeface="Cambria"/>
            </a:endParaRPr>
          </a:p>
          <a:p>
            <a:pPr indent="-273685" lvl="1" marL="652780" marR="508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Provide public setter and getter methods to modify and  view the variables values.</a:t>
            </a:r>
            <a:endParaRPr b="0" i="0" sz="2000" u="none" cap="none" strike="noStrike">
              <a:solidFill>
                <a:schemeClr val="dk1"/>
              </a:solidFill>
              <a:latin typeface="Cambria"/>
              <a:ea typeface="Cambria"/>
              <a:cs typeface="Cambria"/>
              <a:sym typeface="Cambria"/>
            </a:endParaRPr>
          </a:p>
          <a:p>
            <a:pPr indent="-273685" lvl="1" marL="652780" marR="0" rtl="0" algn="l">
              <a:lnSpc>
                <a:spcPct val="100000"/>
              </a:lnSpc>
              <a:spcBef>
                <a:spcPts val="484"/>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Example:</a:t>
            </a:r>
            <a:endParaRPr b="0" i="0" sz="2000" u="none" cap="none" strike="noStrike">
              <a:solidFill>
                <a:schemeClr val="dk1"/>
              </a:solidFill>
              <a:latin typeface="Cambria"/>
              <a:ea typeface="Cambria"/>
              <a:cs typeface="Cambria"/>
              <a:sym typeface="Cambria"/>
            </a:endParaRPr>
          </a:p>
          <a:p>
            <a:pPr indent="0" lvl="0" marL="0" marR="0" rtl="0" algn="l">
              <a:lnSpc>
                <a:spcPct val="100000"/>
              </a:lnSpc>
              <a:spcBef>
                <a:spcPts val="35"/>
              </a:spcBef>
              <a:spcAft>
                <a:spcPts val="0"/>
              </a:spcAft>
              <a:buNone/>
            </a:pPr>
            <a:r>
              <a:t/>
            </a:r>
            <a:endParaRPr sz="2550">
              <a:solidFill>
                <a:schemeClr val="dk1"/>
              </a:solidFill>
              <a:latin typeface="Cambria"/>
              <a:ea typeface="Cambria"/>
              <a:cs typeface="Cambria"/>
              <a:sym typeface="Cambria"/>
            </a:endParaRPr>
          </a:p>
          <a:p>
            <a:pPr indent="0" lvl="0" marL="376555" marR="0" rtl="0" algn="l">
              <a:lnSpc>
                <a:spcPct val="100000"/>
              </a:lnSpc>
              <a:spcBef>
                <a:spcPts val="5"/>
              </a:spcBef>
              <a:spcAft>
                <a:spcPts val="0"/>
              </a:spcAft>
              <a:buNone/>
            </a:pPr>
            <a:r>
              <a:rPr b="1" lang="en-US" sz="1600">
                <a:solidFill>
                  <a:schemeClr val="dk1"/>
                </a:solidFill>
                <a:latin typeface="Cambria"/>
                <a:ea typeface="Cambria"/>
                <a:cs typeface="Cambria"/>
                <a:sym typeface="Cambria"/>
              </a:rPr>
              <a:t>private </a:t>
            </a:r>
            <a:r>
              <a:rPr lang="en-US" sz="1600">
                <a:solidFill>
                  <a:schemeClr val="dk1"/>
                </a:solidFill>
                <a:latin typeface="Cambria"/>
                <a:ea typeface="Cambria"/>
                <a:cs typeface="Cambria"/>
                <a:sym typeface="Cambria"/>
              </a:rPr>
              <a:t>double balance;</a:t>
            </a:r>
            <a:endParaRPr sz="1600">
              <a:solidFill>
                <a:schemeClr val="dk1"/>
              </a:solidFill>
              <a:latin typeface="Cambria"/>
              <a:ea typeface="Cambria"/>
              <a:cs typeface="Cambria"/>
              <a:sym typeface="Cambria"/>
            </a:endParaRPr>
          </a:p>
          <a:p>
            <a:pPr indent="0" lvl="0" marL="376555" marR="0" rtl="0" algn="l">
              <a:lnSpc>
                <a:spcPct val="100000"/>
              </a:lnSpc>
              <a:spcBef>
                <a:spcPts val="0"/>
              </a:spcBef>
              <a:spcAft>
                <a:spcPts val="0"/>
              </a:spcAft>
              <a:buNone/>
            </a:pPr>
            <a:r>
              <a:rPr lang="en-US" sz="1600">
                <a:solidFill>
                  <a:schemeClr val="dk1"/>
                </a:solidFill>
                <a:latin typeface="Cambria"/>
                <a:ea typeface="Cambria"/>
                <a:cs typeface="Cambria"/>
                <a:sym typeface="Cambria"/>
              </a:rPr>
              <a:t>public void setBalance(double b) {</a:t>
            </a:r>
            <a:endParaRPr sz="1600">
              <a:solidFill>
                <a:schemeClr val="dk1"/>
              </a:solidFill>
              <a:latin typeface="Cambria"/>
              <a:ea typeface="Cambria"/>
              <a:cs typeface="Cambria"/>
              <a:sym typeface="Cambria"/>
            </a:endParaRPr>
          </a:p>
          <a:p>
            <a:pPr indent="0" lvl="0" marL="927100" marR="0" rtl="0" algn="l">
              <a:lnSpc>
                <a:spcPct val="100000"/>
              </a:lnSpc>
              <a:spcBef>
                <a:spcPts val="0"/>
              </a:spcBef>
              <a:spcAft>
                <a:spcPts val="0"/>
              </a:spcAft>
              <a:buNone/>
            </a:pPr>
            <a:r>
              <a:rPr lang="en-US" sz="1600">
                <a:solidFill>
                  <a:schemeClr val="dk1"/>
                </a:solidFill>
                <a:latin typeface="Cambria"/>
                <a:ea typeface="Cambria"/>
                <a:cs typeface="Cambria"/>
                <a:sym typeface="Cambria"/>
              </a:rPr>
              <a:t>balance = b;</a:t>
            </a:r>
            <a:endParaRPr sz="1600">
              <a:solidFill>
                <a:schemeClr val="dk1"/>
              </a:solidFill>
              <a:latin typeface="Cambria"/>
              <a:ea typeface="Cambria"/>
              <a:cs typeface="Cambria"/>
              <a:sym typeface="Cambria"/>
            </a:endParaRPr>
          </a:p>
          <a:p>
            <a:pPr indent="0" lvl="0" marL="376555"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a:p>
            <a:pPr indent="-550545" lvl="0" marL="927100" marR="4129404" rtl="0" algn="l">
              <a:lnSpc>
                <a:spcPct val="100000"/>
              </a:lnSpc>
              <a:spcBef>
                <a:spcPts val="0"/>
              </a:spcBef>
              <a:spcAft>
                <a:spcPts val="0"/>
              </a:spcAft>
              <a:buNone/>
            </a:pPr>
            <a:r>
              <a:rPr lang="en-US" sz="1600">
                <a:solidFill>
                  <a:schemeClr val="dk1"/>
                </a:solidFill>
                <a:latin typeface="Cambria"/>
                <a:ea typeface="Cambria"/>
                <a:cs typeface="Cambria"/>
                <a:sym typeface="Cambria"/>
              </a:rPr>
              <a:t>public double getBalance() {  return balance;</a:t>
            </a:r>
            <a:endParaRPr sz="1600">
              <a:solidFill>
                <a:schemeClr val="dk1"/>
              </a:solidFill>
              <a:latin typeface="Cambria"/>
              <a:ea typeface="Cambria"/>
              <a:cs typeface="Cambria"/>
              <a:sym typeface="Cambria"/>
            </a:endParaRPr>
          </a:p>
          <a:p>
            <a:pPr indent="0" lvl="0" marL="376555" marR="0" rtl="0" algn="l">
              <a:lnSpc>
                <a:spcPct val="100000"/>
              </a:lnSpc>
              <a:spcBef>
                <a:spcPts val="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9"/>
          <p:cNvSpPr txBox="1"/>
          <p:nvPr>
            <p:ph type="title"/>
          </p:nvPr>
        </p:nvSpPr>
        <p:spPr>
          <a:xfrm>
            <a:off x="535940" y="896239"/>
            <a:ext cx="501205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B</a:t>
            </a:r>
            <a:r>
              <a:rPr lang="en-US" sz="2400"/>
              <a:t>ENEFIT OF </a:t>
            </a:r>
            <a:r>
              <a:rPr lang="en-US" sz="3000"/>
              <a:t>E</a:t>
            </a:r>
            <a:r>
              <a:rPr lang="en-US" sz="2400"/>
              <a:t>NCAPSULATION</a:t>
            </a:r>
            <a:endParaRPr sz="2400"/>
          </a:p>
        </p:txBody>
      </p:sp>
      <p:sp>
        <p:nvSpPr>
          <p:cNvPr id="326" name="Google Shape;326;p39"/>
          <p:cNvSpPr txBox="1"/>
          <p:nvPr/>
        </p:nvSpPr>
        <p:spPr>
          <a:xfrm>
            <a:off x="535940" y="1906651"/>
            <a:ext cx="5327650" cy="2000885"/>
          </a:xfrm>
          <a:prstGeom prst="rect">
            <a:avLst/>
          </a:prstGeom>
          <a:noFill/>
          <a:ln>
            <a:noFill/>
          </a:ln>
        </p:spPr>
        <p:txBody>
          <a:bodyPr anchorCtr="0" anchor="t" bIns="0" lIns="0" spcFirstLastPara="1" rIns="0" wrap="square" tIns="85725">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Benefit</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Hide complexity from user.</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Implement logic while updating field</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9"/>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Easy to maintain</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Make variable read-only or write only</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0"/>
          <p:cNvSpPr txBox="1"/>
          <p:nvPr>
            <p:ph type="title"/>
          </p:nvPr>
        </p:nvSpPr>
        <p:spPr>
          <a:xfrm>
            <a:off x="2820161" y="3136772"/>
            <a:ext cx="274320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OLYMORPHISM</a:t>
            </a: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1"/>
          <p:cNvSpPr txBox="1"/>
          <p:nvPr>
            <p:ph type="title"/>
          </p:nvPr>
        </p:nvSpPr>
        <p:spPr>
          <a:xfrm>
            <a:off x="535940" y="896239"/>
            <a:ext cx="274066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OLYMORPHISM</a:t>
            </a:r>
            <a:endParaRPr sz="2400"/>
          </a:p>
        </p:txBody>
      </p:sp>
      <p:sp>
        <p:nvSpPr>
          <p:cNvPr id="337" name="Google Shape;337;p41"/>
          <p:cNvSpPr txBox="1"/>
          <p:nvPr/>
        </p:nvSpPr>
        <p:spPr>
          <a:xfrm>
            <a:off x="535940" y="1627454"/>
            <a:ext cx="6941820" cy="4722495"/>
          </a:xfrm>
          <a:prstGeom prst="rect">
            <a:avLst/>
          </a:prstGeom>
          <a:noFill/>
          <a:ln>
            <a:noFill/>
          </a:ln>
        </p:spPr>
        <p:txBody>
          <a:bodyPr anchorCtr="0" anchor="t" bIns="0" lIns="0" spcFirstLastPara="1" rIns="0" wrap="square" tIns="12700">
            <a:spAutoFit/>
          </a:bodyPr>
          <a:lstStyle/>
          <a:p>
            <a:pPr indent="-273050" lvl="0" marL="285115" marR="53339" rtl="0" algn="l">
              <a:lnSpc>
                <a:spcPct val="100099"/>
              </a:lnSpc>
              <a:spcBef>
                <a:spcPts val="0"/>
              </a:spcBef>
              <a:spcAft>
                <a:spcPts val="0"/>
              </a:spcAft>
              <a:buClr>
                <a:srgbClr val="FD8537"/>
              </a:buClr>
              <a:buSzPts val="1650"/>
              <a:buFont typeface="Noto Sans Symbols"/>
              <a:buChar char="🞆"/>
            </a:pPr>
            <a:r>
              <a:rPr b="1" lang="en-US" sz="2400">
                <a:solidFill>
                  <a:schemeClr val="dk1"/>
                </a:solidFill>
                <a:latin typeface="Cambria"/>
                <a:ea typeface="Cambria"/>
                <a:cs typeface="Cambria"/>
                <a:sym typeface="Cambria"/>
              </a:rPr>
              <a:t>Poly </a:t>
            </a:r>
            <a:r>
              <a:rPr lang="en-US" sz="2400">
                <a:solidFill>
                  <a:schemeClr val="dk1"/>
                </a:solidFill>
                <a:latin typeface="Cambria"/>
                <a:ea typeface="Cambria"/>
                <a:cs typeface="Cambria"/>
                <a:sym typeface="Cambria"/>
              </a:rPr>
              <a:t>means </a:t>
            </a:r>
            <a:r>
              <a:rPr b="1" lang="en-US" sz="2400">
                <a:solidFill>
                  <a:schemeClr val="dk1"/>
                </a:solidFill>
                <a:latin typeface="Cambria"/>
                <a:ea typeface="Cambria"/>
                <a:cs typeface="Cambria"/>
                <a:sym typeface="Cambria"/>
              </a:rPr>
              <a:t>many </a:t>
            </a:r>
            <a:r>
              <a:rPr lang="en-US" sz="2400">
                <a:solidFill>
                  <a:schemeClr val="dk1"/>
                </a:solidFill>
                <a:latin typeface="Cambria"/>
                <a:ea typeface="Cambria"/>
                <a:cs typeface="Cambria"/>
                <a:sym typeface="Cambria"/>
              </a:rPr>
              <a:t>and </a:t>
            </a:r>
            <a:r>
              <a:rPr b="1" lang="en-US" sz="2400">
                <a:solidFill>
                  <a:schemeClr val="dk1"/>
                </a:solidFill>
                <a:latin typeface="Cambria"/>
                <a:ea typeface="Cambria"/>
                <a:cs typeface="Cambria"/>
                <a:sym typeface="Cambria"/>
              </a:rPr>
              <a:t>morph </a:t>
            </a:r>
            <a:r>
              <a:rPr lang="en-US" sz="2400">
                <a:solidFill>
                  <a:schemeClr val="dk1"/>
                </a:solidFill>
                <a:latin typeface="Cambria"/>
                <a:ea typeface="Cambria"/>
                <a:cs typeface="Cambria"/>
                <a:sym typeface="Cambria"/>
              </a:rPr>
              <a:t>means </a:t>
            </a:r>
            <a:r>
              <a:rPr b="1" lang="en-US" sz="2400">
                <a:solidFill>
                  <a:schemeClr val="dk1"/>
                </a:solidFill>
                <a:latin typeface="Cambria"/>
                <a:ea typeface="Cambria"/>
                <a:cs typeface="Cambria"/>
                <a:sym typeface="Cambria"/>
              </a:rPr>
              <a:t>form</a:t>
            </a:r>
            <a:r>
              <a:rPr lang="en-US" sz="2400">
                <a:solidFill>
                  <a:schemeClr val="dk1"/>
                </a:solidFill>
                <a:latin typeface="Cambria"/>
                <a:ea typeface="Cambria"/>
                <a:cs typeface="Cambria"/>
                <a:sym typeface="Cambria"/>
              </a:rPr>
              <a:t>.  Thus, polymorphism refers to being able to use  many forms of a type without regard to the  details.</a:t>
            </a:r>
            <a:endParaRPr sz="2400">
              <a:solidFill>
                <a:schemeClr val="dk1"/>
              </a:solidFill>
              <a:latin typeface="Cambria"/>
              <a:ea typeface="Cambria"/>
              <a:cs typeface="Cambria"/>
              <a:sym typeface="Cambria"/>
            </a:endParaRPr>
          </a:p>
          <a:p>
            <a:pPr indent="0" lvl="0" marL="0" marR="0" rtl="0" algn="l">
              <a:lnSpc>
                <a:spcPct val="100000"/>
              </a:lnSpc>
              <a:spcBef>
                <a:spcPts val="35"/>
              </a:spcBef>
              <a:spcAft>
                <a:spcPts val="0"/>
              </a:spcAft>
              <a:buClr>
                <a:srgbClr val="FD8537"/>
              </a:buClr>
              <a:buSzPts val="3450"/>
              <a:buFont typeface="Noto Sans Symbols"/>
              <a:buNone/>
            </a:pPr>
            <a:r>
              <a:t/>
            </a:r>
            <a:endParaRPr sz="3450">
              <a:solidFill>
                <a:schemeClr val="dk1"/>
              </a:solidFill>
              <a:latin typeface="Cambria"/>
              <a:ea typeface="Cambria"/>
              <a:cs typeface="Cambria"/>
              <a:sym typeface="Cambria"/>
            </a:endParaRPr>
          </a:p>
          <a:p>
            <a:pPr indent="-273050" lvl="0" marL="285115" marR="508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More generally, the concept of polymorphism is  often expressed by the phrase “one interface,  multiple methods.”</a:t>
            </a:r>
            <a:endParaRPr sz="2400">
              <a:solidFill>
                <a:schemeClr val="dk1"/>
              </a:solidFill>
              <a:latin typeface="Cambria"/>
              <a:ea typeface="Cambria"/>
              <a:cs typeface="Cambria"/>
              <a:sym typeface="Cambria"/>
            </a:endParaRPr>
          </a:p>
          <a:p>
            <a:pPr indent="0" lvl="0" marL="0" marR="0" rtl="0" algn="l">
              <a:lnSpc>
                <a:spcPct val="100000"/>
              </a:lnSpc>
              <a:spcBef>
                <a:spcPts val="20"/>
              </a:spcBef>
              <a:spcAft>
                <a:spcPts val="0"/>
              </a:spcAft>
              <a:buClr>
                <a:srgbClr val="FD8537"/>
              </a:buClr>
              <a:buSzPts val="3450"/>
              <a:buFont typeface="Noto Sans Symbols"/>
              <a:buNone/>
            </a:pPr>
            <a:r>
              <a:t/>
            </a:r>
            <a:endParaRPr sz="3450">
              <a:solidFill>
                <a:schemeClr val="dk1"/>
              </a:solidFill>
              <a:latin typeface="Cambria"/>
              <a:ea typeface="Cambria"/>
              <a:cs typeface="Cambria"/>
              <a:sym typeface="Cambria"/>
            </a:endParaRPr>
          </a:p>
          <a:p>
            <a:pPr indent="-273050" lvl="0" marL="285115" marR="88265" rtl="0" algn="l">
              <a:lnSpc>
                <a:spcPct val="100200"/>
              </a:lnSpc>
              <a:spcBef>
                <a:spcPts val="0"/>
              </a:spcBef>
              <a:spcAft>
                <a:spcPts val="0"/>
              </a:spcAft>
              <a:buClr>
                <a:srgbClr val="FD8537"/>
              </a:buClr>
              <a:buSzPts val="1650"/>
              <a:buFont typeface="Noto Sans Symbols"/>
              <a:buChar char="🞆"/>
            </a:pPr>
            <a:r>
              <a:rPr i="1" lang="en-US" sz="2400">
                <a:solidFill>
                  <a:schemeClr val="dk1"/>
                </a:solidFill>
                <a:latin typeface="Cambria"/>
                <a:ea typeface="Cambria"/>
                <a:cs typeface="Cambria"/>
                <a:sym typeface="Cambria"/>
              </a:rPr>
              <a:t>polymorphism </a:t>
            </a:r>
            <a:r>
              <a:rPr lang="en-US" sz="2400">
                <a:solidFill>
                  <a:schemeClr val="dk1"/>
                </a:solidFill>
                <a:latin typeface="Cambria"/>
                <a:ea typeface="Cambria"/>
                <a:cs typeface="Cambria"/>
                <a:sym typeface="Cambria"/>
              </a:rPr>
              <a:t>refers to a programming  language's ability to process objects differently  depending on their data type or class.</a:t>
            </a:r>
            <a:endParaRPr sz="2400">
              <a:solidFill>
                <a:schemeClr val="dk1"/>
              </a:solidFill>
              <a:latin typeface="Cambria"/>
              <a:ea typeface="Cambria"/>
              <a:cs typeface="Cambria"/>
              <a:sym typeface="Cambria"/>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2"/>
          <p:cNvSpPr txBox="1"/>
          <p:nvPr>
            <p:ph type="title"/>
          </p:nvPr>
        </p:nvSpPr>
        <p:spPr>
          <a:xfrm>
            <a:off x="535940" y="896239"/>
            <a:ext cx="274066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OLYMORPHISM</a:t>
            </a:r>
            <a:endParaRPr sz="2400"/>
          </a:p>
        </p:txBody>
      </p:sp>
      <p:sp>
        <p:nvSpPr>
          <p:cNvPr id="343" name="Google Shape;343;p42"/>
          <p:cNvSpPr txBox="1"/>
          <p:nvPr/>
        </p:nvSpPr>
        <p:spPr>
          <a:xfrm>
            <a:off x="535940" y="1555822"/>
            <a:ext cx="3582670" cy="1617345"/>
          </a:xfrm>
          <a:prstGeom prst="rect">
            <a:avLst/>
          </a:prstGeom>
          <a:noFill/>
          <a:ln>
            <a:noFill/>
          </a:ln>
        </p:spPr>
        <p:txBody>
          <a:bodyPr anchorCtr="0" anchor="t" bIns="0" lIns="0" spcFirstLastPara="1" rIns="0" wrap="square" tIns="85725">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3 types</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Method overriding</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Method overloading</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Subclass polymorphism</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3"/>
          <p:cNvSpPr txBox="1"/>
          <p:nvPr>
            <p:ph type="title"/>
          </p:nvPr>
        </p:nvSpPr>
        <p:spPr>
          <a:xfrm>
            <a:off x="535940" y="896239"/>
            <a:ext cx="3729354"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M</a:t>
            </a:r>
            <a:r>
              <a:rPr lang="en-US" sz="2400"/>
              <a:t>ETHOD OVERRIDING</a:t>
            </a:r>
            <a:endParaRPr sz="2400"/>
          </a:p>
        </p:txBody>
      </p:sp>
      <p:sp>
        <p:nvSpPr>
          <p:cNvPr id="349" name="Google Shape;349;p43"/>
          <p:cNvSpPr txBox="1"/>
          <p:nvPr/>
        </p:nvSpPr>
        <p:spPr>
          <a:xfrm>
            <a:off x="535940" y="1627454"/>
            <a:ext cx="7255509" cy="3097530"/>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Means a </a:t>
            </a:r>
            <a:r>
              <a:rPr b="1" lang="en-US" sz="2400">
                <a:solidFill>
                  <a:schemeClr val="dk1"/>
                </a:solidFill>
                <a:latin typeface="Cambria"/>
                <a:ea typeface="Cambria"/>
                <a:cs typeface="Cambria"/>
                <a:sym typeface="Cambria"/>
              </a:rPr>
              <a:t>child class </a:t>
            </a:r>
            <a:r>
              <a:rPr lang="en-US" sz="2400">
                <a:solidFill>
                  <a:schemeClr val="dk1"/>
                </a:solidFill>
                <a:latin typeface="Cambria"/>
                <a:ea typeface="Cambria"/>
                <a:cs typeface="Cambria"/>
                <a:sym typeface="Cambria"/>
              </a:rPr>
              <a:t>is </a:t>
            </a:r>
            <a:r>
              <a:rPr b="1" lang="en-US" sz="2400">
                <a:solidFill>
                  <a:schemeClr val="dk1"/>
                </a:solidFill>
                <a:latin typeface="Cambria"/>
                <a:ea typeface="Cambria"/>
                <a:cs typeface="Cambria"/>
                <a:sym typeface="Cambria"/>
              </a:rPr>
              <a:t>re-implementing </a:t>
            </a:r>
            <a:r>
              <a:rPr lang="en-US" sz="2400">
                <a:solidFill>
                  <a:schemeClr val="dk1"/>
                </a:solidFill>
                <a:latin typeface="Cambria"/>
                <a:ea typeface="Cambria"/>
                <a:cs typeface="Cambria"/>
                <a:sym typeface="Cambria"/>
              </a:rPr>
              <a:t>a</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b="1" lang="en-US" sz="2400">
                <a:solidFill>
                  <a:schemeClr val="dk1"/>
                </a:solidFill>
                <a:latin typeface="Cambria"/>
                <a:ea typeface="Cambria"/>
                <a:cs typeface="Cambria"/>
                <a:sym typeface="Cambria"/>
              </a:rPr>
              <a:t>method of its super class</a:t>
            </a:r>
            <a:r>
              <a:rPr lang="en-US" sz="2400">
                <a:solidFill>
                  <a:schemeClr val="dk1"/>
                </a:solidFill>
                <a:latin typeface="Cambria"/>
                <a:ea typeface="Cambria"/>
                <a:cs typeface="Cambria"/>
                <a:sym typeface="Cambria"/>
              </a:rPr>
              <a:t>. Or</a:t>
            </a:r>
            <a:endParaRPr sz="2400">
              <a:solidFill>
                <a:schemeClr val="dk1"/>
              </a:solidFill>
              <a:latin typeface="Cambria"/>
              <a:ea typeface="Cambria"/>
              <a:cs typeface="Cambria"/>
              <a:sym typeface="Cambria"/>
            </a:endParaRPr>
          </a:p>
          <a:p>
            <a:pPr indent="-273050" lvl="0" marL="285115" marR="5080" rtl="0" algn="l">
              <a:lnSpc>
                <a:spcPct val="100000"/>
              </a:lnSpc>
              <a:spcBef>
                <a:spcPts val="61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 class replacing an ancestor's implementation of  a method with an implementation of it own.</a:t>
            </a:r>
            <a:endParaRPr sz="24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When overriding a method in child class</a:t>
            </a:r>
            <a:endParaRPr sz="2400">
              <a:solidFill>
                <a:schemeClr val="dk1"/>
              </a:solidFill>
              <a:latin typeface="Cambria"/>
              <a:ea typeface="Cambria"/>
              <a:cs typeface="Cambria"/>
              <a:sym typeface="Cambria"/>
            </a:endParaRPr>
          </a:p>
          <a:p>
            <a:pPr indent="-273685" lvl="1" marL="652780" marR="15240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Method Signature(name and argument list) and  return type must be the same as the parent method.</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Child method could be equal or more accessible.</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4"/>
          <p:cNvSpPr txBox="1"/>
          <p:nvPr>
            <p:ph type="title"/>
          </p:nvPr>
        </p:nvSpPr>
        <p:spPr>
          <a:xfrm>
            <a:off x="535940" y="896239"/>
            <a:ext cx="3729354"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M</a:t>
            </a:r>
            <a:r>
              <a:rPr lang="en-US" sz="2400"/>
              <a:t>ETHOD OVERRIDING</a:t>
            </a:r>
            <a:endParaRPr sz="2400"/>
          </a:p>
        </p:txBody>
      </p:sp>
      <p:sp>
        <p:nvSpPr>
          <p:cNvPr id="355" name="Google Shape;355;p44"/>
          <p:cNvSpPr txBox="1"/>
          <p:nvPr/>
        </p:nvSpPr>
        <p:spPr>
          <a:xfrm>
            <a:off x="535940" y="1627454"/>
            <a:ext cx="7066915" cy="3886835"/>
          </a:xfrm>
          <a:prstGeom prst="rect">
            <a:avLst/>
          </a:prstGeom>
          <a:noFill/>
          <a:ln>
            <a:noFill/>
          </a:ln>
        </p:spPr>
        <p:txBody>
          <a:bodyPr anchorCtr="0" anchor="t" bIns="0" lIns="0" spcFirstLastPara="1" rIns="0" wrap="square" tIns="12700">
            <a:spAutoFit/>
          </a:bodyPr>
          <a:lstStyle/>
          <a:p>
            <a:pPr indent="-273050" lvl="0" marL="285115" marR="24130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When an </a:t>
            </a:r>
            <a:r>
              <a:rPr b="1" lang="en-US" sz="2400">
                <a:solidFill>
                  <a:schemeClr val="dk1"/>
                </a:solidFill>
                <a:latin typeface="Cambria"/>
                <a:ea typeface="Cambria"/>
                <a:cs typeface="Cambria"/>
                <a:sym typeface="Cambria"/>
              </a:rPr>
              <a:t>overridden method is called </a:t>
            </a:r>
            <a:r>
              <a:rPr lang="en-US" sz="2400">
                <a:solidFill>
                  <a:schemeClr val="dk1"/>
                </a:solidFill>
                <a:latin typeface="Cambria"/>
                <a:ea typeface="Cambria"/>
                <a:cs typeface="Cambria"/>
                <a:sym typeface="Cambria"/>
              </a:rPr>
              <a:t>from  within its </a:t>
            </a:r>
            <a:r>
              <a:rPr b="1" lang="en-US" sz="2400">
                <a:solidFill>
                  <a:schemeClr val="dk1"/>
                </a:solidFill>
                <a:latin typeface="Cambria"/>
                <a:ea typeface="Cambria"/>
                <a:cs typeface="Cambria"/>
                <a:sym typeface="Cambria"/>
              </a:rPr>
              <a:t>subclass</a:t>
            </a:r>
            <a:r>
              <a:rPr lang="en-US" sz="2400">
                <a:solidFill>
                  <a:schemeClr val="dk1"/>
                </a:solidFill>
                <a:latin typeface="Cambria"/>
                <a:ea typeface="Cambria"/>
                <a:cs typeface="Cambria"/>
                <a:sym typeface="Cambria"/>
              </a:rPr>
              <a:t>, it will always refer to the  version of </a:t>
            </a:r>
            <a:r>
              <a:rPr b="1" lang="en-US" sz="2400">
                <a:solidFill>
                  <a:schemeClr val="dk1"/>
                </a:solidFill>
                <a:latin typeface="Cambria"/>
                <a:ea typeface="Cambria"/>
                <a:cs typeface="Cambria"/>
                <a:sym typeface="Cambria"/>
              </a:rPr>
              <a:t>that method defined by the  subclass</a:t>
            </a:r>
            <a:r>
              <a:rPr lang="en-US" sz="2400">
                <a:solidFill>
                  <a:schemeClr val="dk1"/>
                </a:solidFill>
                <a:latin typeface="Cambria"/>
                <a:ea typeface="Cambria"/>
                <a:cs typeface="Cambria"/>
                <a:sym typeface="Cambria"/>
              </a:rPr>
              <a:t>.</a:t>
            </a:r>
            <a:endParaRPr sz="2400">
              <a:solidFill>
                <a:schemeClr val="dk1"/>
              </a:solidFill>
              <a:latin typeface="Cambria"/>
              <a:ea typeface="Cambria"/>
              <a:cs typeface="Cambria"/>
              <a:sym typeface="Cambria"/>
            </a:endParaRPr>
          </a:p>
          <a:p>
            <a:pPr indent="-273685" lvl="1" marL="652780" marR="5080" rtl="0" algn="l">
              <a:lnSpc>
                <a:spcPct val="100000"/>
              </a:lnSpc>
              <a:spcBef>
                <a:spcPts val="52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version of the method defined by the superclass  will be hidden.</a:t>
            </a:r>
            <a:endParaRPr b="0" i="0" sz="2100" u="none" cap="none" strike="noStrike">
              <a:solidFill>
                <a:schemeClr val="dk1"/>
              </a:solidFill>
              <a:latin typeface="Cambria"/>
              <a:ea typeface="Cambria"/>
              <a:cs typeface="Cambria"/>
              <a:sym typeface="Cambria"/>
            </a:endParaRPr>
          </a:p>
          <a:p>
            <a:pPr indent="-273050" lvl="0" marL="285115" marR="151765"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To invoke parent method in child class, need to  use “</a:t>
            </a:r>
            <a:r>
              <a:rPr b="1" lang="en-US" sz="2400">
                <a:solidFill>
                  <a:schemeClr val="dk1"/>
                </a:solidFill>
                <a:latin typeface="Cambria"/>
                <a:ea typeface="Cambria"/>
                <a:cs typeface="Cambria"/>
                <a:sym typeface="Cambria"/>
              </a:rPr>
              <a:t>super</a:t>
            </a:r>
            <a:r>
              <a:rPr lang="en-US" sz="2400">
                <a:solidFill>
                  <a:schemeClr val="dk1"/>
                </a:solidFill>
                <a:latin typeface="Cambria"/>
                <a:ea typeface="Cambria"/>
                <a:cs typeface="Cambria"/>
                <a:sym typeface="Cambria"/>
              </a:rPr>
              <a:t>” keyword.</a:t>
            </a:r>
            <a:endParaRPr sz="24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Static methods can not be overridden</a:t>
            </a:r>
            <a:endParaRPr sz="24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Dynamic binding</a:t>
            </a:r>
            <a:endParaRPr sz="2400">
              <a:solidFill>
                <a:schemeClr val="dk1"/>
              </a:solidFill>
              <a:latin typeface="Cambria"/>
              <a:ea typeface="Cambria"/>
              <a:cs typeface="Cambria"/>
              <a:sym typeface="Cambria"/>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5"/>
          <p:cNvSpPr txBox="1"/>
          <p:nvPr>
            <p:ph type="title"/>
          </p:nvPr>
        </p:nvSpPr>
        <p:spPr>
          <a:xfrm>
            <a:off x="535940" y="896239"/>
            <a:ext cx="569468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M</a:t>
            </a:r>
            <a:r>
              <a:rPr lang="en-US" sz="2400"/>
              <a:t>ETHOD OVERRIDING </a:t>
            </a:r>
            <a:r>
              <a:rPr lang="en-US" sz="3000"/>
              <a:t>- E</a:t>
            </a:r>
            <a:r>
              <a:rPr lang="en-US" sz="2400"/>
              <a:t>XAMPLE</a:t>
            </a:r>
            <a:endParaRPr sz="2400"/>
          </a:p>
        </p:txBody>
      </p:sp>
      <p:sp>
        <p:nvSpPr>
          <p:cNvPr id="361" name="Google Shape;361;p45"/>
          <p:cNvSpPr txBox="1"/>
          <p:nvPr/>
        </p:nvSpPr>
        <p:spPr>
          <a:xfrm>
            <a:off x="535940" y="1628901"/>
            <a:ext cx="4178300" cy="21621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public class TestOverridding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public static void main(String[] args) {</a:t>
            </a:r>
            <a:endParaRPr sz="1400">
              <a:solidFill>
                <a:schemeClr val="dk1"/>
              </a:solidFill>
              <a:latin typeface="Cambria"/>
              <a:ea typeface="Cambria"/>
              <a:cs typeface="Cambria"/>
              <a:sym typeface="Cambria"/>
            </a:endParaRPr>
          </a:p>
          <a:p>
            <a:pPr indent="0" lvl="0" marL="744220" marR="133985" rtl="0" algn="l">
              <a:lnSpc>
                <a:spcPct val="100000"/>
              </a:lnSpc>
              <a:spcBef>
                <a:spcPts val="10"/>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out.println("------Parent-----");  </a:t>
            </a:r>
            <a:r>
              <a:rPr lang="en-US" sz="1400">
                <a:solidFill>
                  <a:schemeClr val="dk1"/>
                </a:solidFill>
                <a:latin typeface="Cambria"/>
                <a:ea typeface="Cambria"/>
                <a:cs typeface="Cambria"/>
                <a:sym typeface="Cambria"/>
              </a:rPr>
              <a:t>Parent p = </a:t>
            </a:r>
            <a:r>
              <a:rPr b="1" lang="en-US" sz="1400">
                <a:solidFill>
                  <a:schemeClr val="dk1"/>
                </a:solidFill>
                <a:latin typeface="Cambria"/>
                <a:ea typeface="Cambria"/>
                <a:cs typeface="Cambria"/>
                <a:sym typeface="Cambria"/>
              </a:rPr>
              <a:t>new Parent();</a:t>
            </a:r>
            <a:endParaRPr sz="1400">
              <a:solidFill>
                <a:schemeClr val="dk1"/>
              </a:solidFill>
              <a:latin typeface="Cambria"/>
              <a:ea typeface="Cambria"/>
              <a:cs typeface="Cambria"/>
              <a:sym typeface="Cambria"/>
            </a:endParaRPr>
          </a:p>
          <a:p>
            <a:pPr indent="0" lvl="0" marL="744220" marR="0" rtl="0" algn="l">
              <a:lnSpc>
                <a:spcPct val="100000"/>
              </a:lnSpc>
              <a:spcBef>
                <a:spcPts val="5"/>
              </a:spcBef>
              <a:spcAft>
                <a:spcPts val="0"/>
              </a:spcAft>
              <a:buNone/>
            </a:pPr>
            <a:r>
              <a:rPr lang="en-US" sz="1400">
                <a:solidFill>
                  <a:schemeClr val="dk1"/>
                </a:solidFill>
                <a:latin typeface="Cambria"/>
                <a:ea typeface="Cambria"/>
                <a:cs typeface="Cambria"/>
                <a:sym typeface="Cambria"/>
              </a:rPr>
              <a:t>p.display();</a:t>
            </a:r>
            <a:endParaRPr sz="1400">
              <a:solidFill>
                <a:schemeClr val="dk1"/>
              </a:solidFill>
              <a:latin typeface="Cambria"/>
              <a:ea typeface="Cambria"/>
              <a:cs typeface="Cambria"/>
              <a:sym typeface="Cambria"/>
            </a:endParaRPr>
          </a:p>
          <a:p>
            <a:pPr indent="0" lvl="0" marL="0" marR="0" rtl="0" algn="l">
              <a:lnSpc>
                <a:spcPct val="100000"/>
              </a:lnSpc>
              <a:spcBef>
                <a:spcPts val="35"/>
              </a:spcBef>
              <a:spcAft>
                <a:spcPts val="0"/>
              </a:spcAft>
              <a:buNone/>
            </a:pPr>
            <a:r>
              <a:t/>
            </a:r>
            <a:endParaRPr sz="1400">
              <a:solidFill>
                <a:schemeClr val="dk1"/>
              </a:solidFill>
              <a:latin typeface="Cambria"/>
              <a:ea typeface="Cambria"/>
              <a:cs typeface="Cambria"/>
              <a:sym typeface="Cambria"/>
            </a:endParaRPr>
          </a:p>
          <a:p>
            <a:pPr indent="0" lvl="0" marL="744220" marR="0" rtl="0" algn="l">
              <a:lnSpc>
                <a:spcPct val="100000"/>
              </a:lnSpc>
              <a:spcBef>
                <a:spcPts val="5"/>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out.println(“\n------Child-----");</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Child c = </a:t>
            </a:r>
            <a:r>
              <a:rPr b="1" lang="en-US" sz="1400">
                <a:solidFill>
                  <a:schemeClr val="dk1"/>
                </a:solidFill>
                <a:latin typeface="Cambria"/>
                <a:ea typeface="Cambria"/>
                <a:cs typeface="Cambria"/>
                <a:sym typeface="Cambria"/>
              </a:rPr>
              <a:t>new Child();</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c.display();</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362" name="Google Shape;362;p45"/>
          <p:cNvSpPr txBox="1"/>
          <p:nvPr/>
        </p:nvSpPr>
        <p:spPr>
          <a:xfrm>
            <a:off x="535940" y="3764660"/>
            <a:ext cx="8509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363" name="Google Shape;363;p45"/>
          <p:cNvSpPr txBox="1"/>
          <p:nvPr/>
        </p:nvSpPr>
        <p:spPr>
          <a:xfrm>
            <a:off x="535940" y="4189933"/>
            <a:ext cx="4400550" cy="21621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class Parent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public void display() {</a:t>
            </a:r>
            <a:endParaRPr sz="1400">
              <a:solidFill>
                <a:schemeClr val="dk1"/>
              </a:solidFill>
              <a:latin typeface="Cambria"/>
              <a:ea typeface="Cambria"/>
              <a:cs typeface="Cambria"/>
              <a:sym typeface="Cambria"/>
            </a:endParaRPr>
          </a:p>
          <a:p>
            <a:pPr indent="0" lvl="0" marL="652780" marR="0" rtl="0" algn="l">
              <a:lnSpc>
                <a:spcPct val="100000"/>
              </a:lnSpc>
              <a:spcBef>
                <a:spcPts val="10"/>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 "Display in Parent"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b="1" lang="en-US" sz="1400">
                <a:solidFill>
                  <a:schemeClr val="dk1"/>
                </a:solidFill>
                <a:latin typeface="Cambria"/>
                <a:ea typeface="Cambria"/>
                <a:cs typeface="Cambria"/>
                <a:sym typeface="Cambria"/>
              </a:rPr>
              <a:t>class Child extends Parent {</a:t>
            </a:r>
            <a:endParaRPr sz="1400">
              <a:solidFill>
                <a:schemeClr val="dk1"/>
              </a:solidFill>
              <a:latin typeface="Cambria"/>
              <a:ea typeface="Cambria"/>
              <a:cs typeface="Cambria"/>
              <a:sym typeface="Cambria"/>
            </a:endParaRPr>
          </a:p>
          <a:p>
            <a:pPr indent="0" lvl="0" marL="379730" marR="0" rtl="0" algn="l">
              <a:lnSpc>
                <a:spcPct val="100000"/>
              </a:lnSpc>
              <a:spcBef>
                <a:spcPts val="5"/>
              </a:spcBef>
              <a:spcAft>
                <a:spcPts val="0"/>
              </a:spcAft>
              <a:buNone/>
            </a:pPr>
            <a:r>
              <a:rPr b="1" lang="en-US" sz="1400">
                <a:solidFill>
                  <a:schemeClr val="dk1"/>
                </a:solidFill>
                <a:latin typeface="Cambria"/>
                <a:ea typeface="Cambria"/>
                <a:cs typeface="Cambria"/>
                <a:sym typeface="Cambria"/>
              </a:rPr>
              <a:t>public void display() {</a:t>
            </a:r>
            <a:endParaRPr sz="1400">
              <a:solidFill>
                <a:schemeClr val="dk1"/>
              </a:solidFill>
              <a:latin typeface="Cambria"/>
              <a:ea typeface="Cambria"/>
              <a:cs typeface="Cambria"/>
              <a:sym typeface="Cambria"/>
            </a:endParaRPr>
          </a:p>
          <a:p>
            <a:pPr indent="0" lvl="0" marL="652780" marR="0" rtl="0" algn="l">
              <a:lnSpc>
                <a:spcPct val="100000"/>
              </a:lnSpc>
              <a:spcBef>
                <a:spcPts val="10"/>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 "Display in Child"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364" name="Google Shape;364;p45"/>
          <p:cNvSpPr txBox="1"/>
          <p:nvPr/>
        </p:nvSpPr>
        <p:spPr>
          <a:xfrm>
            <a:off x="6248400" y="3886200"/>
            <a:ext cx="1844675" cy="1724025"/>
          </a:xfrm>
          <a:prstGeom prst="rect">
            <a:avLst/>
          </a:prstGeom>
          <a:solidFill>
            <a:srgbClr val="FFC000"/>
          </a:solidFill>
          <a:ln>
            <a:noFill/>
          </a:ln>
        </p:spPr>
        <p:txBody>
          <a:bodyPr anchorCtr="0" anchor="t" bIns="0" lIns="0" spcFirstLastPara="1" rIns="0" wrap="square" tIns="40625">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400">
                <a:solidFill>
                  <a:schemeClr val="dk1"/>
                </a:solidFill>
                <a:latin typeface="Arial"/>
                <a:ea typeface="Arial"/>
                <a:cs typeface="Arial"/>
                <a:sym typeface="Arial"/>
              </a:rPr>
              <a:t>------Parent-----</a:t>
            </a:r>
            <a:endParaRPr sz="1400">
              <a:solidFill>
                <a:schemeClr val="dk1"/>
              </a:solidFill>
              <a:latin typeface="Arial"/>
              <a:ea typeface="Arial"/>
              <a:cs typeface="Arial"/>
              <a:sym typeface="Arial"/>
            </a:endParaRPr>
          </a:p>
          <a:p>
            <a:pPr indent="0" lvl="0" marL="92075" marR="0" rtl="0" algn="l">
              <a:lnSpc>
                <a:spcPct val="100000"/>
              </a:lnSpc>
              <a:spcBef>
                <a:spcPts val="0"/>
              </a:spcBef>
              <a:spcAft>
                <a:spcPts val="0"/>
              </a:spcAft>
              <a:buNone/>
            </a:pPr>
            <a:r>
              <a:rPr lang="en-US" sz="1400">
                <a:solidFill>
                  <a:schemeClr val="dk1"/>
                </a:solidFill>
                <a:latin typeface="Arial"/>
                <a:ea typeface="Arial"/>
                <a:cs typeface="Arial"/>
                <a:sym typeface="Arial"/>
              </a:rPr>
              <a:t>Display in Parent</a:t>
            </a:r>
            <a:endParaRPr sz="1400">
              <a:solidFill>
                <a:schemeClr val="dk1"/>
              </a:solidFill>
              <a:latin typeface="Arial"/>
              <a:ea typeface="Arial"/>
              <a:cs typeface="Arial"/>
              <a:sym typeface="Arial"/>
            </a:endParaRPr>
          </a:p>
          <a:p>
            <a:pPr indent="0" lvl="0" marL="0" marR="0" rtl="0" algn="l">
              <a:lnSpc>
                <a:spcPct val="100000"/>
              </a:lnSpc>
              <a:spcBef>
                <a:spcPts val="10"/>
              </a:spcBef>
              <a:spcAft>
                <a:spcPts val="0"/>
              </a:spcAft>
              <a:buNone/>
            </a:pPr>
            <a:r>
              <a:t/>
            </a:r>
            <a:endParaRPr sz="1450">
              <a:solidFill>
                <a:schemeClr val="dk1"/>
              </a:solidFill>
              <a:latin typeface="Arial"/>
              <a:ea typeface="Arial"/>
              <a:cs typeface="Arial"/>
              <a:sym typeface="Arial"/>
            </a:endParaRPr>
          </a:p>
          <a:p>
            <a:pPr indent="0" lvl="0" marL="92075" marR="0" rtl="0" algn="l">
              <a:lnSpc>
                <a:spcPct val="100000"/>
              </a:lnSpc>
              <a:spcBef>
                <a:spcPts val="0"/>
              </a:spcBef>
              <a:spcAft>
                <a:spcPts val="0"/>
              </a:spcAft>
              <a:buNone/>
            </a:pPr>
            <a:r>
              <a:rPr lang="en-US" sz="1400">
                <a:solidFill>
                  <a:schemeClr val="dk1"/>
                </a:solidFill>
                <a:latin typeface="Arial"/>
                <a:ea typeface="Arial"/>
                <a:cs typeface="Arial"/>
                <a:sym typeface="Arial"/>
              </a:rPr>
              <a:t>------Child-----</a:t>
            </a:r>
            <a:endParaRPr sz="1400">
              <a:solidFill>
                <a:schemeClr val="dk1"/>
              </a:solidFill>
              <a:latin typeface="Arial"/>
              <a:ea typeface="Arial"/>
              <a:cs typeface="Arial"/>
              <a:sym typeface="Arial"/>
            </a:endParaRPr>
          </a:p>
          <a:p>
            <a:pPr indent="0" lvl="0" marL="92075" marR="0" rtl="0" algn="l">
              <a:lnSpc>
                <a:spcPct val="100000"/>
              </a:lnSpc>
              <a:spcBef>
                <a:spcPts val="0"/>
              </a:spcBef>
              <a:spcAft>
                <a:spcPts val="0"/>
              </a:spcAft>
              <a:buNone/>
            </a:pPr>
            <a:r>
              <a:rPr lang="en-US" sz="1400">
                <a:solidFill>
                  <a:schemeClr val="dk1"/>
                </a:solidFill>
                <a:latin typeface="Arial"/>
                <a:ea typeface="Arial"/>
                <a:cs typeface="Arial"/>
                <a:sym typeface="Arial"/>
              </a:rPr>
              <a:t>Display in Child</a:t>
            </a:r>
            <a:endParaRPr sz="1400">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6"/>
          <p:cNvSpPr txBox="1"/>
          <p:nvPr>
            <p:ph type="title"/>
          </p:nvPr>
        </p:nvSpPr>
        <p:spPr>
          <a:xfrm>
            <a:off x="535940" y="438734"/>
            <a:ext cx="6904355" cy="940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M</a:t>
            </a:r>
            <a:r>
              <a:rPr lang="en-US" sz="2400"/>
              <a:t>ETHOD OVERRIDING </a:t>
            </a:r>
            <a:r>
              <a:rPr lang="en-US" sz="3000"/>
              <a:t>- E</a:t>
            </a:r>
            <a:r>
              <a:rPr lang="en-US" sz="2400"/>
              <a:t>XAMPLE</a:t>
            </a:r>
            <a:r>
              <a:rPr lang="en-US" sz="3000"/>
              <a:t>(</a:t>
            </a:r>
            <a:r>
              <a:rPr lang="en-US" sz="2400"/>
              <a:t>SUPER</a:t>
            </a:r>
            <a:endParaRPr sz="2400"/>
          </a:p>
          <a:p>
            <a:pPr indent="0" lvl="0" marL="12700" rtl="0" algn="l">
              <a:lnSpc>
                <a:spcPct val="100000"/>
              </a:lnSpc>
              <a:spcBef>
                <a:spcPts val="0"/>
              </a:spcBef>
              <a:spcAft>
                <a:spcPts val="0"/>
              </a:spcAft>
              <a:buNone/>
            </a:pPr>
            <a:r>
              <a:rPr lang="en-US" sz="2400"/>
              <a:t>KEYWORD</a:t>
            </a:r>
            <a:r>
              <a:rPr lang="en-US" sz="3000"/>
              <a:t>)</a:t>
            </a:r>
            <a:endParaRPr sz="3000"/>
          </a:p>
        </p:txBody>
      </p:sp>
      <p:sp>
        <p:nvSpPr>
          <p:cNvPr id="370" name="Google Shape;370;p46"/>
          <p:cNvSpPr txBox="1"/>
          <p:nvPr/>
        </p:nvSpPr>
        <p:spPr>
          <a:xfrm>
            <a:off x="535940" y="1628901"/>
            <a:ext cx="4178300" cy="21621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public class TestOverridding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public static void main(String[] args) {</a:t>
            </a:r>
            <a:endParaRPr sz="1400">
              <a:solidFill>
                <a:schemeClr val="dk1"/>
              </a:solidFill>
              <a:latin typeface="Cambria"/>
              <a:ea typeface="Cambria"/>
              <a:cs typeface="Cambria"/>
              <a:sym typeface="Cambria"/>
            </a:endParaRPr>
          </a:p>
          <a:p>
            <a:pPr indent="0" lvl="0" marL="744220" marR="133985" rtl="0" algn="l">
              <a:lnSpc>
                <a:spcPct val="100000"/>
              </a:lnSpc>
              <a:spcBef>
                <a:spcPts val="10"/>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out.println("------Parent-----");  </a:t>
            </a:r>
            <a:r>
              <a:rPr lang="en-US" sz="1400">
                <a:solidFill>
                  <a:schemeClr val="dk1"/>
                </a:solidFill>
                <a:latin typeface="Cambria"/>
                <a:ea typeface="Cambria"/>
                <a:cs typeface="Cambria"/>
                <a:sym typeface="Cambria"/>
              </a:rPr>
              <a:t>Parent p = </a:t>
            </a:r>
            <a:r>
              <a:rPr b="1" lang="en-US" sz="1400">
                <a:solidFill>
                  <a:schemeClr val="dk1"/>
                </a:solidFill>
                <a:latin typeface="Cambria"/>
                <a:ea typeface="Cambria"/>
                <a:cs typeface="Cambria"/>
                <a:sym typeface="Cambria"/>
              </a:rPr>
              <a:t>new Parent();</a:t>
            </a:r>
            <a:endParaRPr sz="1400">
              <a:solidFill>
                <a:schemeClr val="dk1"/>
              </a:solidFill>
              <a:latin typeface="Cambria"/>
              <a:ea typeface="Cambria"/>
              <a:cs typeface="Cambria"/>
              <a:sym typeface="Cambria"/>
            </a:endParaRPr>
          </a:p>
          <a:p>
            <a:pPr indent="0" lvl="0" marL="744220" marR="0" rtl="0" algn="l">
              <a:lnSpc>
                <a:spcPct val="100000"/>
              </a:lnSpc>
              <a:spcBef>
                <a:spcPts val="5"/>
              </a:spcBef>
              <a:spcAft>
                <a:spcPts val="0"/>
              </a:spcAft>
              <a:buNone/>
            </a:pPr>
            <a:r>
              <a:rPr lang="en-US" sz="1400">
                <a:solidFill>
                  <a:schemeClr val="dk1"/>
                </a:solidFill>
                <a:latin typeface="Cambria"/>
                <a:ea typeface="Cambria"/>
                <a:cs typeface="Cambria"/>
                <a:sym typeface="Cambria"/>
              </a:rPr>
              <a:t>p.display();</a:t>
            </a:r>
            <a:endParaRPr sz="1400">
              <a:solidFill>
                <a:schemeClr val="dk1"/>
              </a:solidFill>
              <a:latin typeface="Cambria"/>
              <a:ea typeface="Cambria"/>
              <a:cs typeface="Cambria"/>
              <a:sym typeface="Cambria"/>
            </a:endParaRPr>
          </a:p>
          <a:p>
            <a:pPr indent="0" lvl="0" marL="0" marR="0" rtl="0" algn="l">
              <a:lnSpc>
                <a:spcPct val="100000"/>
              </a:lnSpc>
              <a:spcBef>
                <a:spcPts val="35"/>
              </a:spcBef>
              <a:spcAft>
                <a:spcPts val="0"/>
              </a:spcAft>
              <a:buNone/>
            </a:pPr>
            <a:r>
              <a:t/>
            </a:r>
            <a:endParaRPr sz="1400">
              <a:solidFill>
                <a:schemeClr val="dk1"/>
              </a:solidFill>
              <a:latin typeface="Cambria"/>
              <a:ea typeface="Cambria"/>
              <a:cs typeface="Cambria"/>
              <a:sym typeface="Cambria"/>
            </a:endParaRPr>
          </a:p>
          <a:p>
            <a:pPr indent="0" lvl="0" marL="744220" marR="0" rtl="0" algn="l">
              <a:lnSpc>
                <a:spcPct val="100000"/>
              </a:lnSpc>
              <a:spcBef>
                <a:spcPts val="5"/>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out.println(“\n------Child-----");</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Child c = </a:t>
            </a:r>
            <a:r>
              <a:rPr b="1" lang="en-US" sz="1400">
                <a:solidFill>
                  <a:schemeClr val="dk1"/>
                </a:solidFill>
                <a:latin typeface="Cambria"/>
                <a:ea typeface="Cambria"/>
                <a:cs typeface="Cambria"/>
                <a:sym typeface="Cambria"/>
              </a:rPr>
              <a:t>new Child();</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c.display();</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371" name="Google Shape;371;p46"/>
          <p:cNvSpPr txBox="1"/>
          <p:nvPr/>
        </p:nvSpPr>
        <p:spPr>
          <a:xfrm>
            <a:off x="535940" y="3764660"/>
            <a:ext cx="8509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372" name="Google Shape;372;p46"/>
          <p:cNvSpPr txBox="1"/>
          <p:nvPr/>
        </p:nvSpPr>
        <p:spPr>
          <a:xfrm>
            <a:off x="535940" y="4189933"/>
            <a:ext cx="4902835" cy="23755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class Parent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public void display() {</a:t>
            </a:r>
            <a:endParaRPr sz="1400">
              <a:solidFill>
                <a:schemeClr val="dk1"/>
              </a:solidFill>
              <a:latin typeface="Cambria"/>
              <a:ea typeface="Cambria"/>
              <a:cs typeface="Cambria"/>
              <a:sym typeface="Cambria"/>
            </a:endParaRPr>
          </a:p>
          <a:p>
            <a:pPr indent="0" lvl="0" marL="652780" marR="0" rtl="0" algn="l">
              <a:lnSpc>
                <a:spcPct val="100000"/>
              </a:lnSpc>
              <a:spcBef>
                <a:spcPts val="10"/>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 "Display in Parent"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b="1" lang="en-US" sz="1400">
                <a:solidFill>
                  <a:schemeClr val="dk1"/>
                </a:solidFill>
                <a:latin typeface="Cambria"/>
                <a:ea typeface="Cambria"/>
                <a:cs typeface="Cambria"/>
                <a:sym typeface="Cambria"/>
              </a:rPr>
              <a:t>class Child extends Parent {</a:t>
            </a:r>
            <a:endParaRPr sz="1400">
              <a:solidFill>
                <a:schemeClr val="dk1"/>
              </a:solidFill>
              <a:latin typeface="Cambria"/>
              <a:ea typeface="Cambria"/>
              <a:cs typeface="Cambria"/>
              <a:sym typeface="Cambria"/>
            </a:endParaRPr>
          </a:p>
          <a:p>
            <a:pPr indent="0" lvl="0" marL="379730" marR="0" rtl="0" algn="l">
              <a:lnSpc>
                <a:spcPct val="100000"/>
              </a:lnSpc>
              <a:spcBef>
                <a:spcPts val="15"/>
              </a:spcBef>
              <a:spcAft>
                <a:spcPts val="0"/>
              </a:spcAft>
              <a:buNone/>
            </a:pPr>
            <a:r>
              <a:rPr b="1" lang="en-US" sz="1400">
                <a:solidFill>
                  <a:schemeClr val="dk1"/>
                </a:solidFill>
                <a:latin typeface="Cambria"/>
                <a:ea typeface="Cambria"/>
                <a:cs typeface="Cambria"/>
                <a:sym typeface="Cambria"/>
              </a:rPr>
              <a:t>public void display() {</a:t>
            </a:r>
            <a:endParaRPr sz="1400">
              <a:solidFill>
                <a:schemeClr val="dk1"/>
              </a:solidFill>
              <a:latin typeface="Cambria"/>
              <a:ea typeface="Cambria"/>
              <a:cs typeface="Cambria"/>
              <a:sym typeface="Cambria"/>
            </a:endParaRPr>
          </a:p>
          <a:p>
            <a:pPr indent="0" lvl="0" marL="652780" marR="5080" rtl="0" algn="l">
              <a:lnSpc>
                <a:spcPct val="100000"/>
              </a:lnSpc>
              <a:spcBef>
                <a:spcPts val="0"/>
              </a:spcBef>
              <a:spcAft>
                <a:spcPts val="0"/>
              </a:spcAft>
              <a:buNone/>
            </a:pPr>
            <a:r>
              <a:rPr b="1" lang="en-US" sz="1400">
                <a:solidFill>
                  <a:schemeClr val="dk1"/>
                </a:solidFill>
                <a:latin typeface="Cambria"/>
                <a:ea typeface="Cambria"/>
                <a:cs typeface="Cambria"/>
                <a:sym typeface="Cambria"/>
              </a:rPr>
              <a:t>super.</a:t>
            </a:r>
            <a:r>
              <a:rPr lang="en-US" sz="1400">
                <a:solidFill>
                  <a:schemeClr val="dk1"/>
                </a:solidFill>
                <a:latin typeface="Cambria"/>
                <a:ea typeface="Cambria"/>
                <a:cs typeface="Cambria"/>
                <a:sym typeface="Cambria"/>
              </a:rPr>
              <a:t>display</a:t>
            </a:r>
            <a:r>
              <a:rPr b="1" lang="en-US" sz="1400">
                <a:solidFill>
                  <a:schemeClr val="dk1"/>
                </a:solidFill>
                <a:latin typeface="Cambria"/>
                <a:ea typeface="Cambria"/>
                <a:cs typeface="Cambria"/>
                <a:sym typeface="Cambria"/>
              </a:rPr>
              <a:t>(); </a:t>
            </a:r>
            <a:r>
              <a:rPr lang="en-US" sz="1400">
                <a:solidFill>
                  <a:schemeClr val="dk1"/>
                </a:solidFill>
                <a:latin typeface="Cambria"/>
                <a:ea typeface="Cambria"/>
                <a:cs typeface="Cambria"/>
                <a:sym typeface="Cambria"/>
              </a:rPr>
              <a:t>// invoke the parent class’s method  System.</a:t>
            </a:r>
            <a:r>
              <a:rPr b="1" i="1" lang="en-US" sz="1400">
                <a:solidFill>
                  <a:schemeClr val="dk1"/>
                </a:solidFill>
                <a:latin typeface="Cambria"/>
                <a:ea typeface="Cambria"/>
                <a:cs typeface="Cambria"/>
                <a:sym typeface="Cambria"/>
              </a:rPr>
              <a:t>out.println( "Display in Child"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373" name="Google Shape;373;p46"/>
          <p:cNvSpPr txBox="1"/>
          <p:nvPr/>
        </p:nvSpPr>
        <p:spPr>
          <a:xfrm>
            <a:off x="6248400" y="3886136"/>
            <a:ext cx="1844675" cy="1938655"/>
          </a:xfrm>
          <a:prstGeom prst="rect">
            <a:avLst/>
          </a:prstGeom>
          <a:solidFill>
            <a:srgbClr val="FFC000"/>
          </a:solidFill>
          <a:ln>
            <a:noFill/>
          </a:ln>
        </p:spPr>
        <p:txBody>
          <a:bodyPr anchorCtr="0" anchor="t" bIns="0" lIns="0" spcFirstLastPara="1" rIns="0" wrap="square" tIns="40625">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400">
                <a:solidFill>
                  <a:schemeClr val="dk1"/>
                </a:solidFill>
                <a:latin typeface="Arial"/>
                <a:ea typeface="Arial"/>
                <a:cs typeface="Arial"/>
                <a:sym typeface="Arial"/>
              </a:rPr>
              <a:t>------Parent-----</a:t>
            </a:r>
            <a:endParaRPr sz="1400">
              <a:solidFill>
                <a:schemeClr val="dk1"/>
              </a:solidFill>
              <a:latin typeface="Arial"/>
              <a:ea typeface="Arial"/>
              <a:cs typeface="Arial"/>
              <a:sym typeface="Arial"/>
            </a:endParaRPr>
          </a:p>
          <a:p>
            <a:pPr indent="0" lvl="0" marL="92075" marR="0" rtl="0" algn="l">
              <a:lnSpc>
                <a:spcPct val="100000"/>
              </a:lnSpc>
              <a:spcBef>
                <a:spcPts val="0"/>
              </a:spcBef>
              <a:spcAft>
                <a:spcPts val="0"/>
              </a:spcAft>
              <a:buNone/>
            </a:pPr>
            <a:r>
              <a:rPr lang="en-US" sz="1400">
                <a:solidFill>
                  <a:schemeClr val="dk1"/>
                </a:solidFill>
                <a:latin typeface="Arial"/>
                <a:ea typeface="Arial"/>
                <a:cs typeface="Arial"/>
                <a:sym typeface="Arial"/>
              </a:rPr>
              <a:t>Display in Parent</a:t>
            </a:r>
            <a:endParaRPr sz="1400">
              <a:solidFill>
                <a:schemeClr val="dk1"/>
              </a:solidFill>
              <a:latin typeface="Arial"/>
              <a:ea typeface="Arial"/>
              <a:cs typeface="Arial"/>
              <a:sym typeface="Arial"/>
            </a:endParaRPr>
          </a:p>
          <a:p>
            <a:pPr indent="0" lvl="0" marL="0" marR="0" rtl="0" algn="l">
              <a:lnSpc>
                <a:spcPct val="100000"/>
              </a:lnSpc>
              <a:spcBef>
                <a:spcPts val="10"/>
              </a:spcBef>
              <a:spcAft>
                <a:spcPts val="0"/>
              </a:spcAft>
              <a:buNone/>
            </a:pPr>
            <a:r>
              <a:t/>
            </a:r>
            <a:endParaRPr sz="145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400">
                <a:solidFill>
                  <a:schemeClr val="dk1"/>
                </a:solidFill>
                <a:latin typeface="Arial"/>
                <a:ea typeface="Arial"/>
                <a:cs typeface="Arial"/>
                <a:sym typeface="Arial"/>
              </a:rPr>
              <a:t>------Child-----</a:t>
            </a:r>
            <a:endParaRPr sz="1400">
              <a:solidFill>
                <a:schemeClr val="dk1"/>
              </a:solidFill>
              <a:latin typeface="Arial"/>
              <a:ea typeface="Arial"/>
              <a:cs typeface="Arial"/>
              <a:sym typeface="Arial"/>
            </a:endParaRPr>
          </a:p>
          <a:p>
            <a:pPr indent="0" lvl="0" marL="92075" marR="401320" rtl="0" algn="l">
              <a:lnSpc>
                <a:spcPct val="100000"/>
              </a:lnSpc>
              <a:spcBef>
                <a:spcPts val="0"/>
              </a:spcBef>
              <a:spcAft>
                <a:spcPts val="0"/>
              </a:spcAft>
              <a:buNone/>
            </a:pPr>
            <a:r>
              <a:rPr lang="en-US" sz="1400">
                <a:solidFill>
                  <a:schemeClr val="dk1"/>
                </a:solidFill>
                <a:latin typeface="Arial"/>
                <a:ea typeface="Arial"/>
                <a:cs typeface="Arial"/>
                <a:sym typeface="Arial"/>
              </a:rPr>
              <a:t>Display in Parent  Display in Child</a:t>
            </a:r>
            <a:endParaRPr sz="140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7"/>
          <p:cNvSpPr txBox="1"/>
          <p:nvPr>
            <p:ph type="title"/>
          </p:nvPr>
        </p:nvSpPr>
        <p:spPr>
          <a:xfrm>
            <a:off x="535940" y="896239"/>
            <a:ext cx="4046854"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M</a:t>
            </a:r>
            <a:r>
              <a:rPr lang="en-US" sz="2400"/>
              <a:t>ETHOD OVERLOADING</a:t>
            </a:r>
            <a:endParaRPr sz="2400"/>
          </a:p>
        </p:txBody>
      </p:sp>
      <p:sp>
        <p:nvSpPr>
          <p:cNvPr id="379" name="Google Shape;379;p47"/>
          <p:cNvSpPr txBox="1"/>
          <p:nvPr/>
        </p:nvSpPr>
        <p:spPr>
          <a:xfrm>
            <a:off x="535940" y="1627454"/>
            <a:ext cx="7280909" cy="4878070"/>
          </a:xfrm>
          <a:prstGeom prst="rect">
            <a:avLst/>
          </a:prstGeom>
          <a:noFill/>
          <a:ln>
            <a:noFill/>
          </a:ln>
        </p:spPr>
        <p:txBody>
          <a:bodyPr anchorCtr="0" anchor="t" bIns="0" lIns="0" spcFirstLastPara="1" rIns="0" wrap="square" tIns="12700">
            <a:spAutoFit/>
          </a:bodyPr>
          <a:lstStyle/>
          <a:p>
            <a:pPr indent="-273050" lvl="0" marL="285115" marR="323850" rtl="0" algn="l">
              <a:lnSpc>
                <a:spcPct val="100099"/>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Two methods in the </a:t>
            </a:r>
            <a:r>
              <a:rPr b="1" lang="en-US" sz="2400">
                <a:solidFill>
                  <a:schemeClr val="dk1"/>
                </a:solidFill>
                <a:latin typeface="Cambria"/>
                <a:ea typeface="Cambria"/>
                <a:cs typeface="Cambria"/>
                <a:sym typeface="Cambria"/>
              </a:rPr>
              <a:t>same class </a:t>
            </a:r>
            <a:r>
              <a:rPr lang="en-US" sz="2400">
                <a:solidFill>
                  <a:schemeClr val="dk1"/>
                </a:solidFill>
                <a:latin typeface="Cambria"/>
                <a:ea typeface="Cambria"/>
                <a:cs typeface="Cambria"/>
                <a:sym typeface="Cambria"/>
              </a:rPr>
              <a:t>can have the  </a:t>
            </a:r>
            <a:r>
              <a:rPr b="1" lang="en-US" sz="2400">
                <a:solidFill>
                  <a:schemeClr val="dk1"/>
                </a:solidFill>
                <a:latin typeface="Cambria"/>
                <a:ea typeface="Cambria"/>
                <a:cs typeface="Cambria"/>
                <a:sym typeface="Cambria"/>
              </a:rPr>
              <a:t>same name </a:t>
            </a:r>
            <a:r>
              <a:rPr lang="en-US" sz="2400">
                <a:solidFill>
                  <a:schemeClr val="dk1"/>
                </a:solidFill>
                <a:latin typeface="Cambria"/>
                <a:ea typeface="Cambria"/>
                <a:cs typeface="Cambria"/>
                <a:sym typeface="Cambria"/>
              </a:rPr>
              <a:t>with different </a:t>
            </a:r>
            <a:r>
              <a:rPr b="1" lang="en-US" sz="2400">
                <a:solidFill>
                  <a:schemeClr val="dk1"/>
                </a:solidFill>
                <a:latin typeface="Cambria"/>
                <a:ea typeface="Cambria"/>
                <a:cs typeface="Cambria"/>
                <a:sym typeface="Cambria"/>
              </a:rPr>
              <a:t>signature</a:t>
            </a:r>
            <a:r>
              <a:rPr lang="en-US" sz="2400">
                <a:solidFill>
                  <a:schemeClr val="dk1"/>
                </a:solidFill>
                <a:latin typeface="Cambria"/>
                <a:ea typeface="Cambria"/>
                <a:cs typeface="Cambria"/>
                <a:sym typeface="Cambria"/>
              </a:rPr>
              <a:t>. This is  called method overloading and the methods are  called overloaded method.</a:t>
            </a:r>
            <a:endParaRPr sz="2400">
              <a:solidFill>
                <a:schemeClr val="dk1"/>
              </a:solidFill>
              <a:latin typeface="Cambria"/>
              <a:ea typeface="Cambria"/>
              <a:cs typeface="Cambria"/>
              <a:sym typeface="Cambria"/>
            </a:endParaRPr>
          </a:p>
          <a:p>
            <a:pPr indent="-273685" lvl="1" marL="652780" marR="508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signature of a method is its </a:t>
            </a:r>
            <a:r>
              <a:rPr b="1" i="0" lang="en-US" sz="2100" u="none" cap="none" strike="noStrike">
                <a:solidFill>
                  <a:schemeClr val="dk1"/>
                </a:solidFill>
                <a:latin typeface="Cambria"/>
                <a:ea typeface="Cambria"/>
                <a:cs typeface="Cambria"/>
                <a:sym typeface="Cambria"/>
              </a:rPr>
              <a:t>name </a:t>
            </a:r>
            <a:r>
              <a:rPr b="0" i="0" lang="en-US" sz="2100" u="none" cap="none" strike="noStrike">
                <a:solidFill>
                  <a:schemeClr val="dk1"/>
                </a:solidFill>
                <a:latin typeface="Cambria"/>
                <a:ea typeface="Cambria"/>
                <a:cs typeface="Cambria"/>
                <a:sym typeface="Cambria"/>
              </a:rPr>
              <a:t>with </a:t>
            </a:r>
            <a:r>
              <a:rPr b="1" i="0" lang="en-US" sz="2100" u="none" cap="none" strike="noStrike">
                <a:solidFill>
                  <a:schemeClr val="dk1"/>
                </a:solidFill>
                <a:latin typeface="Cambria"/>
                <a:ea typeface="Cambria"/>
                <a:cs typeface="Cambria"/>
                <a:sym typeface="Cambria"/>
              </a:rPr>
              <a:t>number</a:t>
            </a:r>
            <a:r>
              <a:rPr b="0" i="0" lang="en-US" sz="2100" u="none" cap="none" strike="noStrike">
                <a:solidFill>
                  <a:schemeClr val="dk1"/>
                </a:solidFill>
                <a:latin typeface="Cambria"/>
                <a:ea typeface="Cambria"/>
                <a:cs typeface="Cambria"/>
                <a:sym typeface="Cambria"/>
              </a:rPr>
              <a:t>,  </a:t>
            </a:r>
            <a:r>
              <a:rPr b="1" i="0" lang="en-US" sz="2100" u="none" cap="none" strike="noStrike">
                <a:solidFill>
                  <a:schemeClr val="dk1"/>
                </a:solidFill>
                <a:latin typeface="Cambria"/>
                <a:ea typeface="Cambria"/>
                <a:cs typeface="Cambria"/>
                <a:sym typeface="Cambria"/>
              </a:rPr>
              <a:t>type </a:t>
            </a:r>
            <a:r>
              <a:rPr b="0" i="0" lang="en-US" sz="2100" u="none" cap="none" strike="noStrike">
                <a:solidFill>
                  <a:schemeClr val="dk1"/>
                </a:solidFill>
                <a:latin typeface="Cambria"/>
                <a:ea typeface="Cambria"/>
                <a:cs typeface="Cambria"/>
                <a:sym typeface="Cambria"/>
              </a:rPr>
              <a:t>and </a:t>
            </a:r>
            <a:r>
              <a:rPr b="1" i="0" lang="en-US" sz="2100" u="none" cap="none" strike="noStrike">
                <a:solidFill>
                  <a:schemeClr val="dk1"/>
                </a:solidFill>
                <a:latin typeface="Cambria"/>
                <a:ea typeface="Cambria"/>
                <a:cs typeface="Cambria"/>
                <a:sym typeface="Cambria"/>
              </a:rPr>
              <a:t>order </a:t>
            </a:r>
            <a:r>
              <a:rPr b="0" i="0" lang="en-US" sz="2100" u="none" cap="none" strike="noStrike">
                <a:solidFill>
                  <a:schemeClr val="dk1"/>
                </a:solidFill>
                <a:latin typeface="Cambria"/>
                <a:ea typeface="Cambria"/>
                <a:cs typeface="Cambria"/>
                <a:sym typeface="Cambria"/>
              </a:rPr>
              <a:t>of its parameters.</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return type is not part of the signature of a</a:t>
            </a:r>
            <a:endParaRPr b="0" i="0" sz="2100" u="none" cap="none" strike="noStrike">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2100">
                <a:solidFill>
                  <a:schemeClr val="dk1"/>
                </a:solidFill>
                <a:latin typeface="Cambria"/>
                <a:ea typeface="Cambria"/>
                <a:cs typeface="Cambria"/>
                <a:sym typeface="Cambria"/>
              </a:rPr>
              <a:t>method.</a:t>
            </a:r>
            <a:endParaRPr sz="21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Condition:</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Methods should be in the same class</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Same name</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Must have different argument.</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Return type could be same or different.</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8"/>
          <p:cNvSpPr txBox="1"/>
          <p:nvPr>
            <p:ph type="title"/>
          </p:nvPr>
        </p:nvSpPr>
        <p:spPr>
          <a:xfrm>
            <a:off x="535940" y="896239"/>
            <a:ext cx="4046854"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M</a:t>
            </a:r>
            <a:r>
              <a:rPr lang="en-US" sz="2400"/>
              <a:t>ETHOD OVERLOADING</a:t>
            </a:r>
            <a:endParaRPr sz="2400"/>
          </a:p>
        </p:txBody>
      </p:sp>
      <p:sp>
        <p:nvSpPr>
          <p:cNvPr id="385" name="Google Shape;385;p48"/>
          <p:cNvSpPr txBox="1"/>
          <p:nvPr/>
        </p:nvSpPr>
        <p:spPr>
          <a:xfrm>
            <a:off x="535940" y="1628978"/>
            <a:ext cx="7186930" cy="1123315"/>
          </a:xfrm>
          <a:prstGeom prst="rect">
            <a:avLst/>
          </a:prstGeom>
          <a:noFill/>
          <a:ln>
            <a:noFill/>
          </a:ln>
        </p:spPr>
        <p:txBody>
          <a:bodyPr anchorCtr="0" anchor="t" bIns="0" lIns="0" spcFirstLastPara="1" rIns="0" wrap="square" tIns="12700">
            <a:spAutoFit/>
          </a:bodyPr>
          <a:lstStyle/>
          <a:p>
            <a:pPr indent="-273050" lvl="0" marL="285115" marR="508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This called static binding because, which method  to be invoked will be decided at the time of  compilation</a:t>
            </a:r>
            <a:endParaRPr sz="2400">
              <a:solidFill>
                <a:schemeClr val="dk1"/>
              </a:solidFill>
              <a:latin typeface="Cambria"/>
              <a:ea typeface="Cambria"/>
              <a:cs typeface="Cambria"/>
              <a:sym typeface="Cambri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49"/>
          <p:cNvSpPr txBox="1"/>
          <p:nvPr>
            <p:ph type="title"/>
          </p:nvPr>
        </p:nvSpPr>
        <p:spPr>
          <a:xfrm>
            <a:off x="535940" y="896239"/>
            <a:ext cx="601027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M</a:t>
            </a:r>
            <a:r>
              <a:rPr lang="en-US" sz="2400"/>
              <a:t>ETHOD OVERLOADING </a:t>
            </a:r>
            <a:r>
              <a:rPr lang="en-US" sz="3000"/>
              <a:t>- E</a:t>
            </a:r>
            <a:r>
              <a:rPr lang="en-US" sz="2400"/>
              <a:t>XAMPLE</a:t>
            </a:r>
            <a:endParaRPr sz="2400"/>
          </a:p>
        </p:txBody>
      </p:sp>
      <p:sp>
        <p:nvSpPr>
          <p:cNvPr id="391" name="Google Shape;391;p49"/>
          <p:cNvSpPr txBox="1"/>
          <p:nvPr/>
        </p:nvSpPr>
        <p:spPr>
          <a:xfrm>
            <a:off x="535940" y="1630426"/>
            <a:ext cx="4098290" cy="1321435"/>
          </a:xfrm>
          <a:prstGeom prst="rect">
            <a:avLst/>
          </a:prstGeom>
          <a:noFill/>
          <a:ln>
            <a:noFill/>
          </a:ln>
        </p:spPr>
        <p:txBody>
          <a:bodyPr anchorCtr="0" anchor="t" bIns="0" lIns="0" spcFirstLastPara="1" rIns="0" wrap="square" tIns="12700">
            <a:spAutoFit/>
          </a:bodyPr>
          <a:lstStyle/>
          <a:p>
            <a:pPr indent="-367665" lvl="0" marL="379730" marR="2172970" rtl="0" algn="l">
              <a:lnSpc>
                <a:spcPct val="100000"/>
              </a:lnSpc>
              <a:spcBef>
                <a:spcPts val="0"/>
              </a:spcBef>
              <a:spcAft>
                <a:spcPts val="0"/>
              </a:spcAft>
              <a:buNone/>
            </a:pPr>
            <a:r>
              <a:rPr lang="en-US" sz="1500">
                <a:solidFill>
                  <a:schemeClr val="dk1"/>
                </a:solidFill>
                <a:latin typeface="Cambria"/>
                <a:ea typeface="Cambria"/>
                <a:cs typeface="Cambria"/>
                <a:sym typeface="Cambria"/>
              </a:rPr>
              <a:t>class OverloadDemo {  void test() {</a:t>
            </a:r>
            <a:endParaRPr sz="1500">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1500">
                <a:solidFill>
                  <a:schemeClr val="dk1"/>
                </a:solidFill>
                <a:latin typeface="Cambria"/>
                <a:ea typeface="Cambria"/>
                <a:cs typeface="Cambria"/>
                <a:sym typeface="Cambria"/>
              </a:rPr>
              <a:t>System.out.println("No parameters"); }</a:t>
            </a:r>
            <a:endParaRPr sz="1500">
              <a:solidFill>
                <a:schemeClr val="dk1"/>
              </a:solidFill>
              <a:latin typeface="Cambria"/>
              <a:ea typeface="Cambria"/>
              <a:cs typeface="Cambria"/>
              <a:sym typeface="Cambria"/>
            </a:endParaRPr>
          </a:p>
          <a:p>
            <a:pPr indent="0" lvl="0" marL="379730" marR="5080" rtl="0" algn="l">
              <a:lnSpc>
                <a:spcPct val="100000"/>
              </a:lnSpc>
              <a:spcBef>
                <a:spcPts val="1200"/>
              </a:spcBef>
              <a:spcAft>
                <a:spcPts val="0"/>
              </a:spcAft>
              <a:buNone/>
            </a:pPr>
            <a:r>
              <a:rPr lang="en-US" sz="1500">
                <a:solidFill>
                  <a:schemeClr val="dk1"/>
                </a:solidFill>
                <a:latin typeface="Cambria"/>
                <a:ea typeface="Cambria"/>
                <a:cs typeface="Cambria"/>
                <a:sym typeface="Cambria"/>
              </a:rPr>
              <a:t>// Overload test for one integer parameter.  void test(int a) {</a:t>
            </a:r>
            <a:endParaRPr sz="1500">
              <a:solidFill>
                <a:schemeClr val="dk1"/>
              </a:solidFill>
              <a:latin typeface="Cambria"/>
              <a:ea typeface="Cambria"/>
              <a:cs typeface="Cambria"/>
              <a:sym typeface="Cambria"/>
            </a:endParaRPr>
          </a:p>
        </p:txBody>
      </p:sp>
      <p:sp>
        <p:nvSpPr>
          <p:cNvPr id="392" name="Google Shape;392;p49"/>
          <p:cNvSpPr txBox="1"/>
          <p:nvPr/>
        </p:nvSpPr>
        <p:spPr>
          <a:xfrm>
            <a:off x="903224" y="2926156"/>
            <a:ext cx="3461385" cy="1329055"/>
          </a:xfrm>
          <a:prstGeom prst="rect">
            <a:avLst/>
          </a:prstGeom>
          <a:noFill/>
          <a:ln>
            <a:noFill/>
          </a:ln>
        </p:spPr>
        <p:txBody>
          <a:bodyPr anchorCtr="0" anchor="t" bIns="0" lIns="0" spcFirstLastPara="1" rIns="0" wrap="square" tIns="12700">
            <a:spAutoFit/>
          </a:bodyPr>
          <a:lstStyle/>
          <a:p>
            <a:pPr indent="0" lvl="0" marL="285750" marR="0" rtl="0" algn="l">
              <a:lnSpc>
                <a:spcPct val="100000"/>
              </a:lnSpc>
              <a:spcBef>
                <a:spcPts val="0"/>
              </a:spcBef>
              <a:spcAft>
                <a:spcPts val="0"/>
              </a:spcAft>
              <a:buNone/>
            </a:pPr>
            <a:r>
              <a:rPr lang="en-US" sz="1500">
                <a:solidFill>
                  <a:schemeClr val="dk1"/>
                </a:solidFill>
                <a:latin typeface="Cambria"/>
                <a:ea typeface="Cambria"/>
                <a:cs typeface="Cambria"/>
                <a:sym typeface="Cambria"/>
              </a:rPr>
              <a:t>System.out.println("a: " + a); }</a:t>
            </a:r>
            <a:endParaRPr sz="1500">
              <a:solidFill>
                <a:schemeClr val="dk1"/>
              </a:solidFill>
              <a:latin typeface="Cambria"/>
              <a:ea typeface="Cambria"/>
              <a:cs typeface="Cambria"/>
              <a:sym typeface="Cambria"/>
            </a:endParaRPr>
          </a:p>
          <a:p>
            <a:pPr indent="0" lvl="0" marL="12700" marR="33020" rtl="0" algn="l">
              <a:lnSpc>
                <a:spcPct val="100000"/>
              </a:lnSpc>
              <a:spcBef>
                <a:spcPts val="1260"/>
              </a:spcBef>
              <a:spcAft>
                <a:spcPts val="0"/>
              </a:spcAft>
              <a:buNone/>
            </a:pPr>
            <a:r>
              <a:rPr lang="en-US" sz="1500">
                <a:solidFill>
                  <a:schemeClr val="dk1"/>
                </a:solidFill>
                <a:latin typeface="Cambria"/>
                <a:ea typeface="Cambria"/>
                <a:cs typeface="Cambria"/>
                <a:sym typeface="Cambria"/>
              </a:rPr>
              <a:t>// Overload test for a double parameter  double test(double a) {</a:t>
            </a:r>
            <a:endParaRPr sz="1500">
              <a:solidFill>
                <a:schemeClr val="dk1"/>
              </a:solidFill>
              <a:latin typeface="Cambria"/>
              <a:ea typeface="Cambria"/>
              <a:cs typeface="Cambria"/>
              <a:sym typeface="Cambria"/>
            </a:endParaRPr>
          </a:p>
          <a:p>
            <a:pPr indent="0" lvl="0" marL="285750" marR="5080" rtl="0" algn="l">
              <a:lnSpc>
                <a:spcPct val="100000"/>
              </a:lnSpc>
              <a:spcBef>
                <a:spcPts val="0"/>
              </a:spcBef>
              <a:spcAft>
                <a:spcPts val="0"/>
              </a:spcAft>
              <a:buNone/>
            </a:pPr>
            <a:r>
              <a:rPr lang="en-US" sz="1500">
                <a:solidFill>
                  <a:schemeClr val="dk1"/>
                </a:solidFill>
                <a:latin typeface="Cambria"/>
                <a:ea typeface="Cambria"/>
                <a:cs typeface="Cambria"/>
                <a:sym typeface="Cambria"/>
              </a:rPr>
              <a:t>System.out.println("double a: " + a);  return a*a; }</a:t>
            </a:r>
            <a:endParaRPr sz="1500">
              <a:solidFill>
                <a:schemeClr val="dk1"/>
              </a:solidFill>
              <a:latin typeface="Cambria"/>
              <a:ea typeface="Cambria"/>
              <a:cs typeface="Cambria"/>
              <a:sym typeface="Cambria"/>
            </a:endParaRPr>
          </a:p>
        </p:txBody>
      </p:sp>
      <p:sp>
        <p:nvSpPr>
          <p:cNvPr id="393" name="Google Shape;393;p49"/>
          <p:cNvSpPr txBox="1"/>
          <p:nvPr/>
        </p:nvSpPr>
        <p:spPr>
          <a:xfrm>
            <a:off x="535940" y="4229557"/>
            <a:ext cx="5726430" cy="254063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500">
                <a:solidFill>
                  <a:schemeClr val="dk1"/>
                </a:solidFill>
                <a:latin typeface="Cambria"/>
                <a:ea typeface="Cambria"/>
                <a:cs typeface="Cambria"/>
                <a:sym typeface="Cambria"/>
              </a:rPr>
              <a:t>class Overload {</a:t>
            </a:r>
            <a:endParaRPr sz="1500">
              <a:solidFill>
                <a:schemeClr val="dk1"/>
              </a:solidFill>
              <a:latin typeface="Cambria"/>
              <a:ea typeface="Cambria"/>
              <a:cs typeface="Cambria"/>
              <a:sym typeface="Cambria"/>
            </a:endParaRPr>
          </a:p>
          <a:p>
            <a:pPr indent="-364490" lvl="0" marL="744220" marR="1286510" rtl="0" algn="l">
              <a:lnSpc>
                <a:spcPct val="100000"/>
              </a:lnSpc>
              <a:spcBef>
                <a:spcPts val="0"/>
              </a:spcBef>
              <a:spcAft>
                <a:spcPts val="0"/>
              </a:spcAft>
              <a:buNone/>
            </a:pPr>
            <a:r>
              <a:rPr lang="en-US" sz="1500">
                <a:solidFill>
                  <a:schemeClr val="dk1"/>
                </a:solidFill>
                <a:latin typeface="Cambria"/>
                <a:ea typeface="Cambria"/>
                <a:cs typeface="Cambria"/>
                <a:sym typeface="Cambria"/>
              </a:rPr>
              <a:t>public static void main(String args[]) {  OverloadDemo ob = new OverloadDemo();</a:t>
            </a:r>
            <a:endParaRPr sz="15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500">
                <a:solidFill>
                  <a:schemeClr val="dk1"/>
                </a:solidFill>
                <a:latin typeface="Cambria"/>
                <a:ea typeface="Cambria"/>
                <a:cs typeface="Cambria"/>
                <a:sym typeface="Cambria"/>
              </a:rPr>
              <a:t>// call all versions of test()</a:t>
            </a:r>
            <a:endParaRPr sz="1500">
              <a:solidFill>
                <a:schemeClr val="dk1"/>
              </a:solidFill>
              <a:latin typeface="Cambria"/>
              <a:ea typeface="Cambria"/>
              <a:cs typeface="Cambria"/>
              <a:sym typeface="Cambria"/>
            </a:endParaRPr>
          </a:p>
          <a:p>
            <a:pPr indent="0" lvl="0" marL="744220" marR="0" rtl="0" algn="l">
              <a:lnSpc>
                <a:spcPct val="100000"/>
              </a:lnSpc>
              <a:spcBef>
                <a:spcPts val="5"/>
              </a:spcBef>
              <a:spcAft>
                <a:spcPts val="0"/>
              </a:spcAft>
              <a:buNone/>
            </a:pPr>
            <a:r>
              <a:rPr lang="en-US" sz="1500">
                <a:solidFill>
                  <a:schemeClr val="dk1"/>
                </a:solidFill>
                <a:latin typeface="Cambria"/>
                <a:ea typeface="Cambria"/>
                <a:cs typeface="Cambria"/>
                <a:sym typeface="Cambria"/>
              </a:rPr>
              <a:t>ob.test();</a:t>
            </a:r>
            <a:endParaRPr sz="15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500">
                <a:solidFill>
                  <a:schemeClr val="dk1"/>
                </a:solidFill>
                <a:latin typeface="Cambria"/>
                <a:ea typeface="Cambria"/>
                <a:cs typeface="Cambria"/>
                <a:sym typeface="Cambria"/>
              </a:rPr>
              <a:t>ob.test(10);</a:t>
            </a:r>
            <a:endParaRPr sz="1500">
              <a:solidFill>
                <a:schemeClr val="dk1"/>
              </a:solidFill>
              <a:latin typeface="Cambria"/>
              <a:ea typeface="Cambria"/>
              <a:cs typeface="Cambria"/>
              <a:sym typeface="Cambria"/>
            </a:endParaRPr>
          </a:p>
          <a:p>
            <a:pPr indent="0" lvl="0" marL="744220" marR="5080" rtl="0" algn="l">
              <a:lnSpc>
                <a:spcPct val="100000"/>
              </a:lnSpc>
              <a:spcBef>
                <a:spcPts val="0"/>
              </a:spcBef>
              <a:spcAft>
                <a:spcPts val="0"/>
              </a:spcAft>
              <a:buNone/>
            </a:pPr>
            <a:r>
              <a:rPr lang="en-US" sz="1500">
                <a:solidFill>
                  <a:schemeClr val="dk1"/>
                </a:solidFill>
                <a:latin typeface="Cambria"/>
                <a:ea typeface="Cambria"/>
                <a:cs typeface="Cambria"/>
                <a:sym typeface="Cambria"/>
              </a:rPr>
              <a:t>double result = ob.test(123.25);  System.out.println("Result of ob.test(123.25): " + result);</a:t>
            </a:r>
            <a:endParaRPr sz="15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500">
                <a:solidFill>
                  <a:schemeClr val="dk1"/>
                </a:solidFill>
                <a:latin typeface="Cambria"/>
                <a:ea typeface="Cambria"/>
                <a:cs typeface="Cambria"/>
                <a:sym typeface="Cambria"/>
              </a:rPr>
              <a:t>}</a:t>
            </a:r>
            <a:endParaRPr sz="1500">
              <a:solidFill>
                <a:schemeClr val="dk1"/>
              </a:solidFill>
              <a:latin typeface="Cambria"/>
              <a:ea typeface="Cambria"/>
              <a:cs typeface="Cambria"/>
              <a:sym typeface="Cambria"/>
            </a:endParaRPr>
          </a:p>
        </p:txBody>
      </p:sp>
      <p:sp>
        <p:nvSpPr>
          <p:cNvPr id="394" name="Google Shape;394;p49"/>
          <p:cNvSpPr txBox="1"/>
          <p:nvPr/>
        </p:nvSpPr>
        <p:spPr>
          <a:xfrm>
            <a:off x="5410200" y="3048063"/>
            <a:ext cx="3187700" cy="1230630"/>
          </a:xfrm>
          <a:prstGeom prst="rect">
            <a:avLst/>
          </a:prstGeom>
          <a:solidFill>
            <a:srgbClr val="FFC000"/>
          </a:solidFill>
          <a:ln>
            <a:noFill/>
          </a:ln>
        </p:spPr>
        <p:txBody>
          <a:bodyPr anchorCtr="0" anchor="t" bIns="0" lIns="0" spcFirstLastPara="1" rIns="0" wrap="square" tIns="40000">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1911985" rtl="0" algn="l">
              <a:lnSpc>
                <a:spcPct val="100000"/>
              </a:lnSpc>
              <a:spcBef>
                <a:spcPts val="5"/>
              </a:spcBef>
              <a:spcAft>
                <a:spcPts val="0"/>
              </a:spcAft>
              <a:buNone/>
            </a:pPr>
            <a:r>
              <a:rPr lang="en-US" sz="1400">
                <a:solidFill>
                  <a:schemeClr val="dk1"/>
                </a:solidFill>
                <a:latin typeface="Arial"/>
                <a:ea typeface="Arial"/>
                <a:cs typeface="Arial"/>
                <a:sym typeface="Arial"/>
              </a:rPr>
              <a:t>No parameters  a: 10</a:t>
            </a:r>
            <a:endParaRPr sz="1400">
              <a:solidFill>
                <a:schemeClr val="dk1"/>
              </a:solidFill>
              <a:latin typeface="Arial"/>
              <a:ea typeface="Arial"/>
              <a:cs typeface="Arial"/>
              <a:sym typeface="Arial"/>
            </a:endParaRPr>
          </a:p>
          <a:p>
            <a:pPr indent="0" lvl="0" marL="92075" marR="0" rtl="0" algn="l">
              <a:lnSpc>
                <a:spcPct val="100000"/>
              </a:lnSpc>
              <a:spcBef>
                <a:spcPts val="0"/>
              </a:spcBef>
              <a:spcAft>
                <a:spcPts val="0"/>
              </a:spcAft>
              <a:buNone/>
            </a:pPr>
            <a:r>
              <a:rPr lang="en-US" sz="1400">
                <a:solidFill>
                  <a:schemeClr val="dk1"/>
                </a:solidFill>
                <a:latin typeface="Arial"/>
                <a:ea typeface="Arial"/>
                <a:cs typeface="Arial"/>
                <a:sym typeface="Arial"/>
              </a:rPr>
              <a:t>double a: 123.25</a:t>
            </a:r>
            <a:endParaRPr sz="1400">
              <a:solidFill>
                <a:schemeClr val="dk1"/>
              </a:solidFill>
              <a:latin typeface="Arial"/>
              <a:ea typeface="Arial"/>
              <a:cs typeface="Arial"/>
              <a:sym typeface="Arial"/>
            </a:endParaRPr>
          </a:p>
          <a:p>
            <a:pPr indent="0" lvl="0" marL="92075" marR="0" rtl="0" algn="l">
              <a:lnSpc>
                <a:spcPct val="100000"/>
              </a:lnSpc>
              <a:spcBef>
                <a:spcPts val="0"/>
              </a:spcBef>
              <a:spcAft>
                <a:spcPts val="0"/>
              </a:spcAft>
              <a:buNone/>
            </a:pPr>
            <a:r>
              <a:rPr lang="en-US" sz="1400">
                <a:solidFill>
                  <a:schemeClr val="dk1"/>
                </a:solidFill>
                <a:latin typeface="Arial"/>
                <a:ea typeface="Arial"/>
                <a:cs typeface="Arial"/>
                <a:sym typeface="Arial"/>
              </a:rPr>
              <a:t>Result of ob.test(123.25): 15190.5625</a:t>
            </a:r>
            <a:endParaRPr sz="1400">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0"/>
          <p:cNvSpPr txBox="1"/>
          <p:nvPr>
            <p:ph type="title"/>
          </p:nvPr>
        </p:nvSpPr>
        <p:spPr>
          <a:xfrm>
            <a:off x="535940" y="896239"/>
            <a:ext cx="509778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C</a:t>
            </a:r>
            <a:r>
              <a:rPr lang="en-US" sz="2400"/>
              <a:t>ONSTRUCTOR </a:t>
            </a:r>
            <a:r>
              <a:rPr lang="en-US" sz="3000"/>
              <a:t>O</a:t>
            </a:r>
            <a:r>
              <a:rPr lang="en-US" sz="2400"/>
              <a:t>VERLOADING</a:t>
            </a:r>
            <a:endParaRPr sz="2400"/>
          </a:p>
        </p:txBody>
      </p:sp>
      <p:sp>
        <p:nvSpPr>
          <p:cNvPr id="400" name="Google Shape;400;p50"/>
          <p:cNvSpPr txBox="1"/>
          <p:nvPr/>
        </p:nvSpPr>
        <p:spPr>
          <a:xfrm>
            <a:off x="535940" y="1628978"/>
            <a:ext cx="7142480" cy="193103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In addition to overloading normal methods, you</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can also overload constructor methods.</a:t>
            </a:r>
            <a:endParaRPr sz="2400">
              <a:solidFill>
                <a:schemeClr val="dk1"/>
              </a:solidFill>
              <a:latin typeface="Cambria"/>
              <a:ea typeface="Cambria"/>
              <a:cs typeface="Cambria"/>
              <a:sym typeface="Cambria"/>
            </a:endParaRPr>
          </a:p>
          <a:p>
            <a:pPr indent="-273050" lvl="0" marL="285115" marR="508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In fact, for most real-world classes that you  create, overloaded constructors will be the norm,  not the exception.</a:t>
            </a:r>
            <a:endParaRPr sz="2400">
              <a:solidFill>
                <a:schemeClr val="dk1"/>
              </a:solidFill>
              <a:latin typeface="Cambria"/>
              <a:ea typeface="Cambria"/>
              <a:cs typeface="Cambria"/>
              <a:sym typeface="Cambri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1"/>
          <p:cNvSpPr txBox="1"/>
          <p:nvPr>
            <p:ph type="title"/>
          </p:nvPr>
        </p:nvSpPr>
        <p:spPr>
          <a:xfrm>
            <a:off x="535940" y="896239"/>
            <a:ext cx="706374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C</a:t>
            </a:r>
            <a:r>
              <a:rPr lang="en-US" sz="2400"/>
              <a:t>ONSTRUCTOR </a:t>
            </a:r>
            <a:r>
              <a:rPr lang="en-US" sz="3000"/>
              <a:t>O</a:t>
            </a:r>
            <a:r>
              <a:rPr lang="en-US" sz="2400"/>
              <a:t>VERLOADING </a:t>
            </a:r>
            <a:r>
              <a:rPr lang="en-US" sz="3000"/>
              <a:t>- E</a:t>
            </a:r>
            <a:r>
              <a:rPr lang="en-US" sz="2400"/>
              <a:t>XAMPLE</a:t>
            </a:r>
            <a:endParaRPr sz="2400"/>
          </a:p>
        </p:txBody>
      </p:sp>
      <p:sp>
        <p:nvSpPr>
          <p:cNvPr id="406" name="Google Shape;406;p51"/>
          <p:cNvSpPr txBox="1"/>
          <p:nvPr>
            <p:ph idx="1" type="body"/>
          </p:nvPr>
        </p:nvSpPr>
        <p:spPr>
          <a:xfrm>
            <a:off x="535940" y="1628901"/>
            <a:ext cx="4399280" cy="1948814"/>
          </a:xfrm>
          <a:prstGeom prst="rect">
            <a:avLst/>
          </a:prstGeom>
          <a:noFill/>
          <a:ln>
            <a:noFill/>
          </a:ln>
        </p:spPr>
        <p:txBody>
          <a:bodyPr anchorCtr="0" anchor="t" bIns="0" lIns="0" spcFirstLastPara="1" rIns="0" wrap="square" tIns="13325">
            <a:spAutoFit/>
          </a:bodyPr>
          <a:lstStyle/>
          <a:p>
            <a:pPr indent="0" lvl="0" marL="12700" rtl="0" algn="just">
              <a:lnSpc>
                <a:spcPct val="100000"/>
              </a:lnSpc>
              <a:spcBef>
                <a:spcPts val="0"/>
              </a:spcBef>
              <a:spcAft>
                <a:spcPts val="0"/>
              </a:spcAft>
              <a:buNone/>
            </a:pPr>
            <a:r>
              <a:rPr lang="en-US"/>
              <a:t>public class Box {</a:t>
            </a:r>
            <a:endParaRPr/>
          </a:p>
          <a:p>
            <a:pPr indent="0" lvl="0" marL="379730" rtl="0" algn="just">
              <a:lnSpc>
                <a:spcPct val="100000"/>
              </a:lnSpc>
              <a:spcBef>
                <a:spcPts val="0"/>
              </a:spcBef>
              <a:spcAft>
                <a:spcPts val="0"/>
              </a:spcAft>
              <a:buNone/>
            </a:pPr>
            <a:r>
              <a:rPr lang="en-US"/>
              <a:t>double width, height, depth;</a:t>
            </a:r>
            <a:endParaRPr/>
          </a:p>
          <a:p>
            <a:pPr indent="0" lvl="0" marL="379730" marR="5080" rtl="0" algn="just">
              <a:lnSpc>
                <a:spcPct val="100000"/>
              </a:lnSpc>
              <a:spcBef>
                <a:spcPts val="10"/>
              </a:spcBef>
              <a:spcAft>
                <a:spcPts val="0"/>
              </a:spcAft>
              <a:buNone/>
            </a:pPr>
            <a:r>
              <a:rPr b="0" lang="en-US">
                <a:latin typeface="Cambria"/>
                <a:ea typeface="Cambria"/>
                <a:cs typeface="Cambria"/>
                <a:sym typeface="Cambria"/>
              </a:rPr>
              <a:t>// constructor used when all dimensions specified  Box(</a:t>
            </a:r>
            <a:r>
              <a:rPr lang="en-US"/>
              <a:t>double w, double h, double d) {</a:t>
            </a:r>
            <a:endParaRPr/>
          </a:p>
          <a:p>
            <a:pPr indent="0" lvl="0" marL="744220" marR="2757805" rtl="0" algn="just">
              <a:lnSpc>
                <a:spcPct val="100000"/>
              </a:lnSpc>
              <a:spcBef>
                <a:spcPts val="5"/>
              </a:spcBef>
              <a:spcAft>
                <a:spcPts val="0"/>
              </a:spcAft>
              <a:buNone/>
            </a:pPr>
            <a:r>
              <a:rPr b="0" lang="en-US">
                <a:latin typeface="Cambria"/>
                <a:ea typeface="Cambria"/>
                <a:cs typeface="Cambria"/>
                <a:sym typeface="Cambria"/>
              </a:rPr>
              <a:t>width = w;  height = h;  depth = d;</a:t>
            </a:r>
            <a:endParaRPr/>
          </a:p>
          <a:p>
            <a:pPr indent="0" lvl="0" marL="379730" rtl="0" algn="l">
              <a:lnSpc>
                <a:spcPct val="100000"/>
              </a:lnSpc>
              <a:spcBef>
                <a:spcPts val="0"/>
              </a:spcBef>
              <a:spcAft>
                <a:spcPts val="0"/>
              </a:spcAft>
              <a:buNone/>
            </a:pPr>
            <a:r>
              <a:rPr b="0" lang="en-US">
                <a:latin typeface="Cambria"/>
                <a:ea typeface="Cambria"/>
                <a:cs typeface="Cambria"/>
                <a:sym typeface="Cambria"/>
              </a:rPr>
              <a:t>}</a:t>
            </a:r>
            <a:endParaRPr/>
          </a:p>
          <a:p>
            <a:pPr indent="0" lvl="0" marL="379730" rtl="0" algn="l">
              <a:lnSpc>
                <a:spcPct val="100000"/>
              </a:lnSpc>
              <a:spcBef>
                <a:spcPts val="0"/>
              </a:spcBef>
              <a:spcAft>
                <a:spcPts val="0"/>
              </a:spcAft>
              <a:buNone/>
            </a:pPr>
            <a:r>
              <a:rPr b="0" lang="en-US">
                <a:latin typeface="Cambria"/>
                <a:ea typeface="Cambria"/>
                <a:cs typeface="Cambria"/>
                <a:sym typeface="Cambria"/>
              </a:rPr>
              <a:t>// constructor used when cube is created</a:t>
            </a:r>
            <a:endParaRPr/>
          </a:p>
        </p:txBody>
      </p:sp>
      <p:sp>
        <p:nvSpPr>
          <p:cNvPr id="407" name="Google Shape;407;p51"/>
          <p:cNvSpPr txBox="1"/>
          <p:nvPr/>
        </p:nvSpPr>
        <p:spPr>
          <a:xfrm>
            <a:off x="903224" y="3551301"/>
            <a:ext cx="5187950" cy="3056890"/>
          </a:xfrm>
          <a:prstGeom prst="rect">
            <a:avLst/>
          </a:prstGeom>
          <a:noFill/>
          <a:ln>
            <a:noFill/>
          </a:ln>
        </p:spPr>
        <p:txBody>
          <a:bodyPr anchorCtr="0" anchor="t" bIns="0" lIns="0" spcFirstLastPara="1" rIns="0" wrap="square" tIns="13325">
            <a:spAutoFit/>
          </a:bodyPr>
          <a:lstStyle/>
          <a:p>
            <a:pPr indent="0" lvl="0" marL="12700" marR="0" rtl="0" algn="l">
              <a:lnSpc>
                <a:spcPct val="119642"/>
              </a:lnSpc>
              <a:spcBef>
                <a:spcPts val="0"/>
              </a:spcBef>
              <a:spcAft>
                <a:spcPts val="0"/>
              </a:spcAft>
              <a:buNone/>
            </a:pPr>
            <a:r>
              <a:rPr lang="en-US" sz="1400">
                <a:solidFill>
                  <a:schemeClr val="dk1"/>
                </a:solidFill>
                <a:latin typeface="Cambria"/>
                <a:ea typeface="Cambria"/>
                <a:cs typeface="Cambria"/>
                <a:sym typeface="Cambria"/>
              </a:rPr>
              <a:t>Box(</a:t>
            </a:r>
            <a:r>
              <a:rPr b="1" lang="en-US" sz="1400">
                <a:solidFill>
                  <a:schemeClr val="dk1"/>
                </a:solidFill>
                <a:latin typeface="Cambria"/>
                <a:ea typeface="Cambria"/>
                <a:cs typeface="Cambria"/>
                <a:sym typeface="Cambria"/>
              </a:rPr>
              <a:t>double len) {</a:t>
            </a:r>
            <a:endParaRPr sz="1400">
              <a:solidFill>
                <a:schemeClr val="dk1"/>
              </a:solidFill>
              <a:latin typeface="Cambria"/>
              <a:ea typeface="Cambria"/>
              <a:cs typeface="Cambria"/>
              <a:sym typeface="Cambria"/>
            </a:endParaRPr>
          </a:p>
          <a:p>
            <a:pPr indent="0" lvl="0" marL="335915" marR="0" rtl="0" algn="l">
              <a:lnSpc>
                <a:spcPct val="119642"/>
              </a:lnSpc>
              <a:spcBef>
                <a:spcPts val="0"/>
              </a:spcBef>
              <a:spcAft>
                <a:spcPts val="0"/>
              </a:spcAft>
              <a:buNone/>
            </a:pPr>
            <a:r>
              <a:rPr b="1" lang="en-US" sz="1400">
                <a:solidFill>
                  <a:schemeClr val="dk1"/>
                </a:solidFill>
                <a:latin typeface="Cambria"/>
                <a:ea typeface="Cambria"/>
                <a:cs typeface="Cambria"/>
                <a:sym typeface="Cambria"/>
              </a:rPr>
              <a:t>width = height = depth = len;</a:t>
            </a:r>
            <a:endParaRPr sz="1400">
              <a:solidFill>
                <a:schemeClr val="dk1"/>
              </a:solidFill>
              <a:latin typeface="Cambria"/>
              <a:ea typeface="Cambria"/>
              <a:cs typeface="Cambria"/>
              <a:sym typeface="Cambria"/>
            </a:endParaRPr>
          </a:p>
          <a:p>
            <a:pPr indent="0" lvl="0" marL="12700" marR="0" rtl="0" algn="l">
              <a:lnSpc>
                <a:spcPct val="100000"/>
              </a:lnSpc>
              <a:spcBef>
                <a:spcPts val="1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lang="en-US" sz="1400">
                <a:solidFill>
                  <a:schemeClr val="dk1"/>
                </a:solidFill>
                <a:latin typeface="Cambria"/>
                <a:ea typeface="Cambria"/>
                <a:cs typeface="Cambria"/>
                <a:sym typeface="Cambria"/>
              </a:rPr>
              <a:t>// compute and return volume</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b="1" lang="en-US" sz="1400">
                <a:solidFill>
                  <a:schemeClr val="dk1"/>
                </a:solidFill>
                <a:latin typeface="Cambria"/>
                <a:ea typeface="Cambria"/>
                <a:cs typeface="Cambria"/>
                <a:sym typeface="Cambria"/>
              </a:rPr>
              <a:t>double volume() {</a:t>
            </a:r>
            <a:endParaRPr sz="1400">
              <a:solidFill>
                <a:schemeClr val="dk1"/>
              </a:solidFill>
              <a:latin typeface="Cambria"/>
              <a:ea typeface="Cambria"/>
              <a:cs typeface="Cambria"/>
              <a:sym typeface="Cambria"/>
            </a:endParaRPr>
          </a:p>
          <a:p>
            <a:pPr indent="0" lvl="0" marL="285750" marR="0" rtl="0" algn="l">
              <a:lnSpc>
                <a:spcPct val="100000"/>
              </a:lnSpc>
              <a:spcBef>
                <a:spcPts val="5"/>
              </a:spcBef>
              <a:spcAft>
                <a:spcPts val="0"/>
              </a:spcAft>
              <a:buNone/>
            </a:pPr>
            <a:r>
              <a:rPr b="1" lang="en-US" sz="1400">
                <a:solidFill>
                  <a:schemeClr val="dk1"/>
                </a:solidFill>
                <a:latin typeface="Cambria"/>
                <a:ea typeface="Cambria"/>
                <a:cs typeface="Cambria"/>
                <a:sym typeface="Cambria"/>
              </a:rPr>
              <a:t>return width * height * depth;</a:t>
            </a:r>
            <a:endParaRPr sz="1400">
              <a:solidFill>
                <a:schemeClr val="dk1"/>
              </a:solidFill>
              <a:latin typeface="Cambria"/>
              <a:ea typeface="Cambria"/>
              <a:cs typeface="Cambria"/>
              <a:sym typeface="Cambria"/>
            </a:endParaRPr>
          </a:p>
          <a:p>
            <a:pPr indent="0" lvl="0" marL="12700" marR="0" rtl="0" algn="l">
              <a:lnSpc>
                <a:spcPct val="100000"/>
              </a:lnSpc>
              <a:spcBef>
                <a:spcPts val="1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325"/>
              </a:spcBef>
              <a:spcAft>
                <a:spcPts val="0"/>
              </a:spcAft>
              <a:buNone/>
            </a:pPr>
            <a:r>
              <a:rPr b="1" lang="en-US" sz="1400">
                <a:solidFill>
                  <a:schemeClr val="dk1"/>
                </a:solidFill>
                <a:latin typeface="Cambria"/>
                <a:ea typeface="Cambria"/>
                <a:cs typeface="Cambria"/>
                <a:sym typeface="Cambria"/>
              </a:rPr>
              <a:t>public static void main(String[] args){</a:t>
            </a:r>
            <a:endParaRPr sz="1400">
              <a:solidFill>
                <a:schemeClr val="dk1"/>
              </a:solidFill>
              <a:latin typeface="Cambria"/>
              <a:ea typeface="Cambria"/>
              <a:cs typeface="Cambria"/>
              <a:sym typeface="Cambria"/>
            </a:endParaRPr>
          </a:p>
          <a:p>
            <a:pPr indent="0" lvl="0" marL="376555" marR="225425" rtl="0" algn="l">
              <a:lnSpc>
                <a:spcPct val="120100"/>
              </a:lnSpc>
              <a:spcBef>
                <a:spcPts val="10"/>
              </a:spcBef>
              <a:spcAft>
                <a:spcPts val="0"/>
              </a:spcAft>
              <a:buNone/>
            </a:pPr>
            <a:r>
              <a:rPr lang="en-US" sz="1400">
                <a:solidFill>
                  <a:schemeClr val="dk1"/>
                </a:solidFill>
                <a:latin typeface="Cambria"/>
                <a:ea typeface="Cambria"/>
                <a:cs typeface="Cambria"/>
                <a:sym typeface="Cambria"/>
              </a:rPr>
              <a:t>Box b = </a:t>
            </a:r>
            <a:r>
              <a:rPr b="1" lang="en-US" sz="1400">
                <a:solidFill>
                  <a:schemeClr val="dk1"/>
                </a:solidFill>
                <a:latin typeface="Cambria"/>
                <a:ea typeface="Cambria"/>
                <a:cs typeface="Cambria"/>
                <a:sym typeface="Cambria"/>
              </a:rPr>
              <a:t>new Box(10, 8, 5);  </a:t>
            </a: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out.println("Volume of Box: " + b.volume());  </a:t>
            </a:r>
            <a:r>
              <a:rPr lang="en-US" sz="1400">
                <a:solidFill>
                  <a:schemeClr val="dk1"/>
                </a:solidFill>
                <a:latin typeface="Cambria"/>
                <a:ea typeface="Cambria"/>
                <a:cs typeface="Cambria"/>
                <a:sym typeface="Cambria"/>
              </a:rPr>
              <a:t>Box b1 = </a:t>
            </a:r>
            <a:r>
              <a:rPr b="1" lang="en-US" sz="1400">
                <a:solidFill>
                  <a:schemeClr val="dk1"/>
                </a:solidFill>
                <a:latin typeface="Cambria"/>
                <a:ea typeface="Cambria"/>
                <a:cs typeface="Cambria"/>
                <a:sym typeface="Cambria"/>
              </a:rPr>
              <a:t>new Box(5);</a:t>
            </a:r>
            <a:endParaRPr sz="1400">
              <a:solidFill>
                <a:schemeClr val="dk1"/>
              </a:solidFill>
              <a:latin typeface="Cambria"/>
              <a:ea typeface="Cambria"/>
              <a:cs typeface="Cambria"/>
              <a:sym typeface="Cambria"/>
            </a:endParaRPr>
          </a:p>
          <a:p>
            <a:pPr indent="0" lvl="0" marL="376555" marR="0" rtl="0" algn="l">
              <a:lnSpc>
                <a:spcPct val="100000"/>
              </a:lnSpc>
              <a:spcBef>
                <a:spcPts val="335"/>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out.println("Volume of Cube: " + b1.volume());</a:t>
            </a:r>
            <a:endParaRPr sz="1400">
              <a:solidFill>
                <a:schemeClr val="dk1"/>
              </a:solidFill>
              <a:latin typeface="Cambria"/>
              <a:ea typeface="Cambria"/>
              <a:cs typeface="Cambria"/>
              <a:sym typeface="Cambria"/>
            </a:endParaRPr>
          </a:p>
          <a:p>
            <a:pPr indent="0" lvl="0" marL="12700" marR="0" rtl="0" algn="l">
              <a:lnSpc>
                <a:spcPct val="100000"/>
              </a:lnSpc>
              <a:spcBef>
                <a:spcPts val="335"/>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408" name="Google Shape;408;p51"/>
          <p:cNvSpPr txBox="1"/>
          <p:nvPr/>
        </p:nvSpPr>
        <p:spPr>
          <a:xfrm>
            <a:off x="535940" y="6581647"/>
            <a:ext cx="8509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409" name="Google Shape;409;p51"/>
          <p:cNvSpPr txBox="1"/>
          <p:nvPr/>
        </p:nvSpPr>
        <p:spPr>
          <a:xfrm>
            <a:off x="6154801" y="3657536"/>
            <a:ext cx="2272030" cy="862330"/>
          </a:xfrm>
          <a:prstGeom prst="rect">
            <a:avLst/>
          </a:prstGeom>
          <a:solidFill>
            <a:srgbClr val="FFC000"/>
          </a:solidFill>
          <a:ln>
            <a:noFill/>
          </a:ln>
        </p:spPr>
        <p:txBody>
          <a:bodyPr anchorCtr="0" anchor="t" bIns="0" lIns="0" spcFirstLastPara="1" rIns="0" wrap="square" tIns="40625">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600">
                <a:solidFill>
                  <a:schemeClr val="dk1"/>
                </a:solidFill>
                <a:latin typeface="Arial"/>
                <a:ea typeface="Arial"/>
                <a:cs typeface="Arial"/>
                <a:sym typeface="Arial"/>
              </a:rPr>
              <a:t>Volume of Box: 400.0</a:t>
            </a:r>
            <a:endParaRPr sz="16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600">
                <a:solidFill>
                  <a:schemeClr val="dk1"/>
                </a:solidFill>
                <a:latin typeface="Arial"/>
                <a:ea typeface="Arial"/>
                <a:cs typeface="Arial"/>
                <a:sym typeface="Arial"/>
              </a:rPr>
              <a:t>Volume of Cube: 125.0</a:t>
            </a:r>
            <a:endParaRPr sz="1600">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2"/>
          <p:cNvSpPr txBox="1"/>
          <p:nvPr>
            <p:ph type="title"/>
          </p:nvPr>
        </p:nvSpPr>
        <p:spPr>
          <a:xfrm>
            <a:off x="535940" y="928242"/>
            <a:ext cx="775970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t>I</a:t>
            </a:r>
            <a:r>
              <a:rPr lang="en-US"/>
              <a:t>NVOKING </a:t>
            </a:r>
            <a:r>
              <a:rPr lang="en-US" sz="2800"/>
              <a:t>O</a:t>
            </a:r>
            <a:r>
              <a:rPr lang="en-US"/>
              <a:t>VERLOADED </a:t>
            </a:r>
            <a:r>
              <a:rPr lang="en-US" sz="2800"/>
              <a:t>C</a:t>
            </a:r>
            <a:r>
              <a:rPr lang="en-US"/>
              <a:t>ONSTRUCTORS </a:t>
            </a:r>
            <a:r>
              <a:rPr lang="en-US" sz="2800"/>
              <a:t>-</a:t>
            </a:r>
            <a:r>
              <a:rPr lang="en-US"/>
              <a:t>THIS</a:t>
            </a:r>
            <a:r>
              <a:rPr lang="en-US" sz="2800"/>
              <a:t>( )</a:t>
            </a:r>
            <a:endParaRPr sz="2800"/>
          </a:p>
        </p:txBody>
      </p:sp>
      <p:sp>
        <p:nvSpPr>
          <p:cNvPr id="415" name="Google Shape;415;p52"/>
          <p:cNvSpPr txBox="1"/>
          <p:nvPr/>
        </p:nvSpPr>
        <p:spPr>
          <a:xfrm>
            <a:off x="535940" y="1628978"/>
            <a:ext cx="7247255" cy="454088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Sometimes it is useful for one constructor to</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invoke another.</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this is accomplished by using the </a:t>
            </a:r>
            <a:r>
              <a:rPr b="1" i="0" lang="en-US" sz="2100" u="none" cap="none" strike="noStrike">
                <a:solidFill>
                  <a:schemeClr val="dk1"/>
                </a:solidFill>
                <a:latin typeface="Cambria"/>
                <a:ea typeface="Cambria"/>
                <a:cs typeface="Cambria"/>
                <a:sym typeface="Cambria"/>
              </a:rPr>
              <a:t>this keyword.</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general form is</a:t>
            </a:r>
            <a:endParaRPr b="0" i="0" sz="2100" u="none" cap="none" strike="noStrike">
              <a:solidFill>
                <a:schemeClr val="dk1"/>
              </a:solidFill>
              <a:latin typeface="Cambria"/>
              <a:ea typeface="Cambria"/>
              <a:cs typeface="Cambria"/>
              <a:sym typeface="Cambria"/>
            </a:endParaRPr>
          </a:p>
          <a:p>
            <a:pPr indent="-183515" lvl="2" marL="927100" marR="0" rtl="0" algn="l">
              <a:lnSpc>
                <a:spcPct val="100000"/>
              </a:lnSpc>
              <a:spcBef>
                <a:spcPts val="434"/>
              </a:spcBef>
              <a:spcAft>
                <a:spcPts val="0"/>
              </a:spcAft>
              <a:buClr>
                <a:srgbClr val="DF752E"/>
              </a:buClr>
              <a:buSzPts val="1050"/>
              <a:buFont typeface="Noto Sans Symbols"/>
              <a:buChar char="🞆"/>
            </a:pPr>
            <a:r>
              <a:rPr b="0" i="0" lang="en-US" sz="1800" u="none" cap="none" strike="noStrike">
                <a:solidFill>
                  <a:schemeClr val="dk1"/>
                </a:solidFill>
                <a:latin typeface="Cambria"/>
                <a:ea typeface="Cambria"/>
                <a:cs typeface="Cambria"/>
                <a:sym typeface="Cambria"/>
              </a:rPr>
              <a:t>this(</a:t>
            </a:r>
            <a:r>
              <a:rPr b="0" i="1" lang="en-US" sz="1800" u="none" cap="none" strike="noStrike">
                <a:solidFill>
                  <a:schemeClr val="dk1"/>
                </a:solidFill>
                <a:latin typeface="Cambria"/>
                <a:ea typeface="Cambria"/>
                <a:cs typeface="Cambria"/>
                <a:sym typeface="Cambria"/>
              </a:rPr>
              <a:t>arg-list)</a:t>
            </a:r>
            <a:endParaRPr b="0" i="0" sz="1800" u="none" cap="none" strike="noStrike">
              <a:solidFill>
                <a:schemeClr val="dk1"/>
              </a:solidFill>
              <a:latin typeface="Cambria"/>
              <a:ea typeface="Cambria"/>
              <a:cs typeface="Cambria"/>
              <a:sym typeface="Cambria"/>
            </a:endParaRPr>
          </a:p>
          <a:p>
            <a:pPr indent="-273050" lvl="0" marL="285115" marR="5080" rtl="0" algn="l">
              <a:lnSpc>
                <a:spcPct val="100000"/>
              </a:lnSpc>
              <a:spcBef>
                <a:spcPts val="58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When </a:t>
            </a:r>
            <a:r>
              <a:rPr b="1" lang="en-US" sz="2400">
                <a:solidFill>
                  <a:schemeClr val="dk1"/>
                </a:solidFill>
                <a:latin typeface="Cambria"/>
                <a:ea typeface="Cambria"/>
                <a:cs typeface="Cambria"/>
                <a:sym typeface="Cambria"/>
              </a:rPr>
              <a:t>this( ) is executed, the overloaded  constructor that matches the parameter list  </a:t>
            </a:r>
            <a:r>
              <a:rPr lang="en-US" sz="2400">
                <a:solidFill>
                  <a:schemeClr val="dk1"/>
                </a:solidFill>
                <a:latin typeface="Cambria"/>
                <a:ea typeface="Cambria"/>
                <a:cs typeface="Cambria"/>
                <a:sym typeface="Cambria"/>
              </a:rPr>
              <a:t>specified by </a:t>
            </a:r>
            <a:r>
              <a:rPr i="1" lang="en-US" sz="2400">
                <a:solidFill>
                  <a:schemeClr val="dk1"/>
                </a:solidFill>
                <a:latin typeface="Cambria"/>
                <a:ea typeface="Cambria"/>
                <a:cs typeface="Cambria"/>
                <a:sym typeface="Cambria"/>
              </a:rPr>
              <a:t>arg-list is executed.</a:t>
            </a:r>
            <a:endParaRPr sz="2400">
              <a:solidFill>
                <a:schemeClr val="dk1"/>
              </a:solidFill>
              <a:latin typeface="Cambria"/>
              <a:ea typeface="Cambria"/>
              <a:cs typeface="Cambria"/>
              <a:sym typeface="Cambria"/>
            </a:endParaRPr>
          </a:p>
          <a:p>
            <a:pPr indent="-273050" lvl="0" marL="285115" marR="102235" rtl="0" algn="l">
              <a:lnSpc>
                <a:spcPct val="100000"/>
              </a:lnSpc>
              <a:spcBef>
                <a:spcPts val="60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call to </a:t>
            </a:r>
            <a:r>
              <a:rPr b="1" lang="en-US" sz="2400">
                <a:solidFill>
                  <a:schemeClr val="dk1"/>
                </a:solidFill>
                <a:latin typeface="Cambria"/>
                <a:ea typeface="Cambria"/>
                <a:cs typeface="Cambria"/>
                <a:sym typeface="Cambria"/>
              </a:rPr>
              <a:t>this( ) must be the first statement  within </a:t>
            </a:r>
            <a:r>
              <a:rPr lang="en-US" sz="2400">
                <a:solidFill>
                  <a:schemeClr val="dk1"/>
                </a:solidFill>
                <a:latin typeface="Cambria"/>
                <a:ea typeface="Cambria"/>
                <a:cs typeface="Cambria"/>
                <a:sym typeface="Cambria"/>
              </a:rPr>
              <a:t>the constructor.</a:t>
            </a:r>
            <a:endParaRPr sz="2400">
              <a:solidFill>
                <a:schemeClr val="dk1"/>
              </a:solidFill>
              <a:latin typeface="Cambria"/>
              <a:ea typeface="Cambria"/>
              <a:cs typeface="Cambria"/>
              <a:sym typeface="Cambria"/>
            </a:endParaRPr>
          </a:p>
          <a:p>
            <a:pPr indent="-273685" lvl="1" marL="652780" marR="0" rtl="0" algn="l">
              <a:lnSpc>
                <a:spcPct val="100000"/>
              </a:lnSpc>
              <a:spcBef>
                <a:spcPts val="51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General rule: Constructor call must be the first</a:t>
            </a:r>
            <a:endParaRPr b="0" i="0" sz="2100" u="none" cap="none" strike="noStrike">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2100">
                <a:solidFill>
                  <a:schemeClr val="dk1"/>
                </a:solidFill>
                <a:latin typeface="Cambria"/>
                <a:ea typeface="Cambria"/>
                <a:cs typeface="Cambria"/>
                <a:sym typeface="Cambria"/>
              </a:rPr>
              <a:t>statement in a constructor.</a:t>
            </a:r>
            <a:endParaRPr sz="2100">
              <a:solidFill>
                <a:schemeClr val="dk1"/>
              </a:solidFill>
              <a:latin typeface="Cambria"/>
              <a:ea typeface="Cambria"/>
              <a:cs typeface="Cambria"/>
              <a:sym typeface="Cambria"/>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3"/>
          <p:cNvSpPr txBox="1"/>
          <p:nvPr>
            <p:ph type="title"/>
          </p:nvPr>
        </p:nvSpPr>
        <p:spPr>
          <a:xfrm>
            <a:off x="535940" y="896239"/>
            <a:ext cx="706374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C</a:t>
            </a:r>
            <a:r>
              <a:rPr lang="en-US" sz="2400"/>
              <a:t>ONSTRUCTOR </a:t>
            </a:r>
            <a:r>
              <a:rPr lang="en-US" sz="3000"/>
              <a:t>O</a:t>
            </a:r>
            <a:r>
              <a:rPr lang="en-US" sz="2400"/>
              <a:t>VERLOADING </a:t>
            </a:r>
            <a:r>
              <a:rPr lang="en-US" sz="3000"/>
              <a:t>- E</a:t>
            </a:r>
            <a:r>
              <a:rPr lang="en-US" sz="2400"/>
              <a:t>XAMPLE</a:t>
            </a:r>
            <a:endParaRPr sz="2400"/>
          </a:p>
        </p:txBody>
      </p:sp>
      <p:sp>
        <p:nvSpPr>
          <p:cNvPr id="421" name="Google Shape;421;p53"/>
          <p:cNvSpPr txBox="1"/>
          <p:nvPr>
            <p:ph idx="1" type="body"/>
          </p:nvPr>
        </p:nvSpPr>
        <p:spPr>
          <a:xfrm>
            <a:off x="535940" y="1628901"/>
            <a:ext cx="4399280" cy="1948814"/>
          </a:xfrm>
          <a:prstGeom prst="rect">
            <a:avLst/>
          </a:prstGeom>
          <a:noFill/>
          <a:ln>
            <a:noFill/>
          </a:ln>
        </p:spPr>
        <p:txBody>
          <a:bodyPr anchorCtr="0" anchor="t" bIns="0" lIns="0" spcFirstLastPara="1" rIns="0" wrap="square" tIns="13325">
            <a:spAutoFit/>
          </a:bodyPr>
          <a:lstStyle/>
          <a:p>
            <a:pPr indent="0" lvl="0" marL="12700" rtl="0" algn="just">
              <a:lnSpc>
                <a:spcPct val="100000"/>
              </a:lnSpc>
              <a:spcBef>
                <a:spcPts val="0"/>
              </a:spcBef>
              <a:spcAft>
                <a:spcPts val="0"/>
              </a:spcAft>
              <a:buNone/>
            </a:pPr>
            <a:r>
              <a:rPr lang="en-US"/>
              <a:t>public class Box {</a:t>
            </a:r>
            <a:endParaRPr/>
          </a:p>
          <a:p>
            <a:pPr indent="0" lvl="0" marL="379730" rtl="0" algn="just">
              <a:lnSpc>
                <a:spcPct val="100000"/>
              </a:lnSpc>
              <a:spcBef>
                <a:spcPts val="0"/>
              </a:spcBef>
              <a:spcAft>
                <a:spcPts val="0"/>
              </a:spcAft>
              <a:buNone/>
            </a:pPr>
            <a:r>
              <a:rPr lang="en-US"/>
              <a:t>double width, height, depth;</a:t>
            </a:r>
            <a:endParaRPr/>
          </a:p>
          <a:p>
            <a:pPr indent="0" lvl="0" marL="379730" marR="5080" rtl="0" algn="just">
              <a:lnSpc>
                <a:spcPct val="100000"/>
              </a:lnSpc>
              <a:spcBef>
                <a:spcPts val="10"/>
              </a:spcBef>
              <a:spcAft>
                <a:spcPts val="0"/>
              </a:spcAft>
              <a:buNone/>
            </a:pPr>
            <a:r>
              <a:rPr b="0" lang="en-US">
                <a:latin typeface="Cambria"/>
                <a:ea typeface="Cambria"/>
                <a:cs typeface="Cambria"/>
                <a:sym typeface="Cambria"/>
              </a:rPr>
              <a:t>// constructor used when all dimensions specified  Box(</a:t>
            </a:r>
            <a:r>
              <a:rPr lang="en-US"/>
              <a:t>double w, double h, double d) {</a:t>
            </a:r>
            <a:endParaRPr/>
          </a:p>
          <a:p>
            <a:pPr indent="0" lvl="0" marL="744220" marR="2757805" rtl="0" algn="just">
              <a:lnSpc>
                <a:spcPct val="100000"/>
              </a:lnSpc>
              <a:spcBef>
                <a:spcPts val="5"/>
              </a:spcBef>
              <a:spcAft>
                <a:spcPts val="0"/>
              </a:spcAft>
              <a:buNone/>
            </a:pPr>
            <a:r>
              <a:rPr b="0" lang="en-US">
                <a:latin typeface="Cambria"/>
                <a:ea typeface="Cambria"/>
                <a:cs typeface="Cambria"/>
                <a:sym typeface="Cambria"/>
              </a:rPr>
              <a:t>width = w;  height = h;  depth = d;</a:t>
            </a:r>
            <a:endParaRPr/>
          </a:p>
          <a:p>
            <a:pPr indent="0" lvl="0" marL="379730" rtl="0" algn="l">
              <a:lnSpc>
                <a:spcPct val="100000"/>
              </a:lnSpc>
              <a:spcBef>
                <a:spcPts val="0"/>
              </a:spcBef>
              <a:spcAft>
                <a:spcPts val="0"/>
              </a:spcAft>
              <a:buNone/>
            </a:pPr>
            <a:r>
              <a:rPr b="0" lang="en-US">
                <a:latin typeface="Cambria"/>
                <a:ea typeface="Cambria"/>
                <a:cs typeface="Cambria"/>
                <a:sym typeface="Cambria"/>
              </a:rPr>
              <a:t>}</a:t>
            </a:r>
            <a:endParaRPr/>
          </a:p>
          <a:p>
            <a:pPr indent="0" lvl="0" marL="379730" rtl="0" algn="l">
              <a:lnSpc>
                <a:spcPct val="100000"/>
              </a:lnSpc>
              <a:spcBef>
                <a:spcPts val="0"/>
              </a:spcBef>
              <a:spcAft>
                <a:spcPts val="0"/>
              </a:spcAft>
              <a:buNone/>
            </a:pPr>
            <a:r>
              <a:rPr b="0" lang="en-US">
                <a:latin typeface="Cambria"/>
                <a:ea typeface="Cambria"/>
                <a:cs typeface="Cambria"/>
                <a:sym typeface="Cambria"/>
              </a:rPr>
              <a:t>// constructor used when cube is created</a:t>
            </a:r>
            <a:endParaRPr/>
          </a:p>
        </p:txBody>
      </p:sp>
      <p:sp>
        <p:nvSpPr>
          <p:cNvPr id="422" name="Google Shape;422;p53"/>
          <p:cNvSpPr txBox="1"/>
          <p:nvPr/>
        </p:nvSpPr>
        <p:spPr>
          <a:xfrm>
            <a:off x="903224" y="3551301"/>
            <a:ext cx="5187950" cy="3056890"/>
          </a:xfrm>
          <a:prstGeom prst="rect">
            <a:avLst/>
          </a:prstGeom>
          <a:noFill/>
          <a:ln>
            <a:noFill/>
          </a:ln>
        </p:spPr>
        <p:txBody>
          <a:bodyPr anchorCtr="0" anchor="t" bIns="0" lIns="0" spcFirstLastPara="1" rIns="0" wrap="square" tIns="13325">
            <a:spAutoFit/>
          </a:bodyPr>
          <a:lstStyle/>
          <a:p>
            <a:pPr indent="0" lvl="0" marL="12700" marR="0" rtl="0" algn="l">
              <a:lnSpc>
                <a:spcPct val="119642"/>
              </a:lnSpc>
              <a:spcBef>
                <a:spcPts val="0"/>
              </a:spcBef>
              <a:spcAft>
                <a:spcPts val="0"/>
              </a:spcAft>
              <a:buNone/>
            </a:pPr>
            <a:r>
              <a:rPr lang="en-US" sz="1400">
                <a:solidFill>
                  <a:schemeClr val="dk1"/>
                </a:solidFill>
                <a:latin typeface="Cambria"/>
                <a:ea typeface="Cambria"/>
                <a:cs typeface="Cambria"/>
                <a:sym typeface="Cambria"/>
              </a:rPr>
              <a:t>Box(</a:t>
            </a:r>
            <a:r>
              <a:rPr b="1" lang="en-US" sz="1400">
                <a:solidFill>
                  <a:schemeClr val="dk1"/>
                </a:solidFill>
                <a:latin typeface="Cambria"/>
                <a:ea typeface="Cambria"/>
                <a:cs typeface="Cambria"/>
                <a:sym typeface="Cambria"/>
              </a:rPr>
              <a:t>double len) {</a:t>
            </a:r>
            <a:endParaRPr sz="1400">
              <a:solidFill>
                <a:schemeClr val="dk1"/>
              </a:solidFill>
              <a:latin typeface="Cambria"/>
              <a:ea typeface="Cambria"/>
              <a:cs typeface="Cambria"/>
              <a:sym typeface="Cambria"/>
            </a:endParaRPr>
          </a:p>
          <a:p>
            <a:pPr indent="0" lvl="0" marL="335915" marR="0" rtl="0" algn="l">
              <a:lnSpc>
                <a:spcPct val="119642"/>
              </a:lnSpc>
              <a:spcBef>
                <a:spcPts val="0"/>
              </a:spcBef>
              <a:spcAft>
                <a:spcPts val="0"/>
              </a:spcAft>
              <a:buNone/>
            </a:pPr>
            <a:r>
              <a:rPr b="1" lang="en-US" sz="1400">
                <a:solidFill>
                  <a:schemeClr val="dk1"/>
                </a:solidFill>
                <a:latin typeface="Cambria"/>
                <a:ea typeface="Cambria"/>
                <a:cs typeface="Cambria"/>
                <a:sym typeface="Cambria"/>
              </a:rPr>
              <a:t>width = height = depth = len;</a:t>
            </a:r>
            <a:endParaRPr sz="1400">
              <a:solidFill>
                <a:schemeClr val="dk1"/>
              </a:solidFill>
              <a:latin typeface="Cambria"/>
              <a:ea typeface="Cambria"/>
              <a:cs typeface="Cambria"/>
              <a:sym typeface="Cambria"/>
            </a:endParaRPr>
          </a:p>
          <a:p>
            <a:pPr indent="0" lvl="0" marL="12700" marR="0" rtl="0" algn="l">
              <a:lnSpc>
                <a:spcPct val="100000"/>
              </a:lnSpc>
              <a:spcBef>
                <a:spcPts val="1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lang="en-US" sz="1400">
                <a:solidFill>
                  <a:schemeClr val="dk1"/>
                </a:solidFill>
                <a:latin typeface="Cambria"/>
                <a:ea typeface="Cambria"/>
                <a:cs typeface="Cambria"/>
                <a:sym typeface="Cambria"/>
              </a:rPr>
              <a:t>// compute and return volume</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b="1" lang="en-US" sz="1400">
                <a:solidFill>
                  <a:schemeClr val="dk1"/>
                </a:solidFill>
                <a:latin typeface="Cambria"/>
                <a:ea typeface="Cambria"/>
                <a:cs typeface="Cambria"/>
                <a:sym typeface="Cambria"/>
              </a:rPr>
              <a:t>double volume() {</a:t>
            </a:r>
            <a:endParaRPr sz="1400">
              <a:solidFill>
                <a:schemeClr val="dk1"/>
              </a:solidFill>
              <a:latin typeface="Cambria"/>
              <a:ea typeface="Cambria"/>
              <a:cs typeface="Cambria"/>
              <a:sym typeface="Cambria"/>
            </a:endParaRPr>
          </a:p>
          <a:p>
            <a:pPr indent="0" lvl="0" marL="285750" marR="0" rtl="0" algn="l">
              <a:lnSpc>
                <a:spcPct val="100000"/>
              </a:lnSpc>
              <a:spcBef>
                <a:spcPts val="5"/>
              </a:spcBef>
              <a:spcAft>
                <a:spcPts val="0"/>
              </a:spcAft>
              <a:buNone/>
            </a:pPr>
            <a:r>
              <a:rPr b="1" lang="en-US" sz="1400">
                <a:solidFill>
                  <a:schemeClr val="dk1"/>
                </a:solidFill>
                <a:latin typeface="Cambria"/>
                <a:ea typeface="Cambria"/>
                <a:cs typeface="Cambria"/>
                <a:sym typeface="Cambria"/>
              </a:rPr>
              <a:t>return width * height * depth;</a:t>
            </a:r>
            <a:endParaRPr sz="1400">
              <a:solidFill>
                <a:schemeClr val="dk1"/>
              </a:solidFill>
              <a:latin typeface="Cambria"/>
              <a:ea typeface="Cambria"/>
              <a:cs typeface="Cambria"/>
              <a:sym typeface="Cambria"/>
            </a:endParaRPr>
          </a:p>
          <a:p>
            <a:pPr indent="0" lvl="0" marL="12700" marR="0" rtl="0" algn="l">
              <a:lnSpc>
                <a:spcPct val="100000"/>
              </a:lnSpc>
              <a:spcBef>
                <a:spcPts val="1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325"/>
              </a:spcBef>
              <a:spcAft>
                <a:spcPts val="0"/>
              </a:spcAft>
              <a:buNone/>
            </a:pPr>
            <a:r>
              <a:rPr b="1" lang="en-US" sz="1400">
                <a:solidFill>
                  <a:schemeClr val="dk1"/>
                </a:solidFill>
                <a:latin typeface="Cambria"/>
                <a:ea typeface="Cambria"/>
                <a:cs typeface="Cambria"/>
                <a:sym typeface="Cambria"/>
              </a:rPr>
              <a:t>public static void main(String[] args){</a:t>
            </a:r>
            <a:endParaRPr sz="1400">
              <a:solidFill>
                <a:schemeClr val="dk1"/>
              </a:solidFill>
              <a:latin typeface="Cambria"/>
              <a:ea typeface="Cambria"/>
              <a:cs typeface="Cambria"/>
              <a:sym typeface="Cambria"/>
            </a:endParaRPr>
          </a:p>
          <a:p>
            <a:pPr indent="0" lvl="0" marL="376555" marR="225425" rtl="0" algn="l">
              <a:lnSpc>
                <a:spcPct val="120100"/>
              </a:lnSpc>
              <a:spcBef>
                <a:spcPts val="10"/>
              </a:spcBef>
              <a:spcAft>
                <a:spcPts val="0"/>
              </a:spcAft>
              <a:buNone/>
            </a:pPr>
            <a:r>
              <a:rPr lang="en-US" sz="1400">
                <a:solidFill>
                  <a:schemeClr val="dk1"/>
                </a:solidFill>
                <a:latin typeface="Cambria"/>
                <a:ea typeface="Cambria"/>
                <a:cs typeface="Cambria"/>
                <a:sym typeface="Cambria"/>
              </a:rPr>
              <a:t>Box b = </a:t>
            </a:r>
            <a:r>
              <a:rPr b="1" lang="en-US" sz="1400">
                <a:solidFill>
                  <a:schemeClr val="dk1"/>
                </a:solidFill>
                <a:latin typeface="Cambria"/>
                <a:ea typeface="Cambria"/>
                <a:cs typeface="Cambria"/>
                <a:sym typeface="Cambria"/>
              </a:rPr>
              <a:t>new Box(10, 8, 5);  </a:t>
            </a: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out.println("Volume of Box: " + b.volume());  </a:t>
            </a:r>
            <a:r>
              <a:rPr lang="en-US" sz="1400">
                <a:solidFill>
                  <a:schemeClr val="dk1"/>
                </a:solidFill>
                <a:latin typeface="Cambria"/>
                <a:ea typeface="Cambria"/>
                <a:cs typeface="Cambria"/>
                <a:sym typeface="Cambria"/>
              </a:rPr>
              <a:t>Box b1 = </a:t>
            </a:r>
            <a:r>
              <a:rPr b="1" lang="en-US" sz="1400">
                <a:solidFill>
                  <a:schemeClr val="dk1"/>
                </a:solidFill>
                <a:latin typeface="Cambria"/>
                <a:ea typeface="Cambria"/>
                <a:cs typeface="Cambria"/>
                <a:sym typeface="Cambria"/>
              </a:rPr>
              <a:t>new Box(5);</a:t>
            </a:r>
            <a:endParaRPr sz="1400">
              <a:solidFill>
                <a:schemeClr val="dk1"/>
              </a:solidFill>
              <a:latin typeface="Cambria"/>
              <a:ea typeface="Cambria"/>
              <a:cs typeface="Cambria"/>
              <a:sym typeface="Cambria"/>
            </a:endParaRPr>
          </a:p>
          <a:p>
            <a:pPr indent="0" lvl="0" marL="376555" marR="0" rtl="0" algn="l">
              <a:lnSpc>
                <a:spcPct val="100000"/>
              </a:lnSpc>
              <a:spcBef>
                <a:spcPts val="335"/>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out.println("Volume of Cube: " + b1.volume());</a:t>
            </a:r>
            <a:endParaRPr sz="1400">
              <a:solidFill>
                <a:schemeClr val="dk1"/>
              </a:solidFill>
              <a:latin typeface="Cambria"/>
              <a:ea typeface="Cambria"/>
              <a:cs typeface="Cambria"/>
              <a:sym typeface="Cambria"/>
            </a:endParaRPr>
          </a:p>
          <a:p>
            <a:pPr indent="0" lvl="0" marL="12700" marR="0" rtl="0" algn="l">
              <a:lnSpc>
                <a:spcPct val="100000"/>
              </a:lnSpc>
              <a:spcBef>
                <a:spcPts val="335"/>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423" name="Google Shape;423;p53"/>
          <p:cNvSpPr txBox="1"/>
          <p:nvPr/>
        </p:nvSpPr>
        <p:spPr>
          <a:xfrm>
            <a:off x="535940" y="6581647"/>
            <a:ext cx="8509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424" name="Google Shape;424;p53"/>
          <p:cNvSpPr txBox="1"/>
          <p:nvPr/>
        </p:nvSpPr>
        <p:spPr>
          <a:xfrm>
            <a:off x="6154801" y="3657536"/>
            <a:ext cx="2272030" cy="862330"/>
          </a:xfrm>
          <a:prstGeom prst="rect">
            <a:avLst/>
          </a:prstGeom>
          <a:solidFill>
            <a:srgbClr val="FFC000"/>
          </a:solidFill>
          <a:ln>
            <a:noFill/>
          </a:ln>
        </p:spPr>
        <p:txBody>
          <a:bodyPr anchorCtr="0" anchor="t" bIns="0" lIns="0" spcFirstLastPara="1" rIns="0" wrap="square" tIns="40625">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600">
                <a:solidFill>
                  <a:schemeClr val="dk1"/>
                </a:solidFill>
                <a:latin typeface="Arial"/>
                <a:ea typeface="Arial"/>
                <a:cs typeface="Arial"/>
                <a:sym typeface="Arial"/>
              </a:rPr>
              <a:t>Volume of Box: 400.0</a:t>
            </a:r>
            <a:endParaRPr sz="16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600">
                <a:solidFill>
                  <a:schemeClr val="dk1"/>
                </a:solidFill>
                <a:latin typeface="Arial"/>
                <a:ea typeface="Arial"/>
                <a:cs typeface="Arial"/>
                <a:sym typeface="Arial"/>
              </a:rPr>
              <a:t>Volume of Cube: 125.0</a:t>
            </a:r>
            <a:endParaRPr sz="1600">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4"/>
          <p:cNvSpPr txBox="1"/>
          <p:nvPr>
            <p:ph type="title"/>
          </p:nvPr>
        </p:nvSpPr>
        <p:spPr>
          <a:xfrm>
            <a:off x="535940" y="438734"/>
            <a:ext cx="7148195" cy="9404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C</a:t>
            </a:r>
            <a:r>
              <a:rPr lang="en-US" sz="2400"/>
              <a:t>ONSTRUCTOR </a:t>
            </a:r>
            <a:r>
              <a:rPr lang="en-US" sz="3000"/>
              <a:t>O</a:t>
            </a:r>
            <a:r>
              <a:rPr lang="en-US" sz="2400"/>
              <a:t>VERLOADING </a:t>
            </a:r>
            <a:r>
              <a:rPr lang="en-US" sz="3000"/>
              <a:t>– E</a:t>
            </a:r>
            <a:r>
              <a:rPr lang="en-US" sz="2400"/>
              <a:t>XAMPLE</a:t>
            </a:r>
            <a:endParaRPr sz="2400"/>
          </a:p>
          <a:p>
            <a:pPr indent="0" lvl="0" marL="12700" rtl="0" algn="l">
              <a:lnSpc>
                <a:spcPct val="100000"/>
              </a:lnSpc>
              <a:spcBef>
                <a:spcPts val="0"/>
              </a:spcBef>
              <a:spcAft>
                <a:spcPts val="0"/>
              </a:spcAft>
              <a:buNone/>
            </a:pPr>
            <a:r>
              <a:rPr lang="en-US" sz="2400"/>
              <a:t>WITH THIS</a:t>
            </a:r>
            <a:r>
              <a:rPr lang="en-US" sz="3000"/>
              <a:t>()</a:t>
            </a:r>
            <a:endParaRPr sz="3000"/>
          </a:p>
        </p:txBody>
      </p:sp>
      <p:sp>
        <p:nvSpPr>
          <p:cNvPr id="430" name="Google Shape;430;p54"/>
          <p:cNvSpPr txBox="1"/>
          <p:nvPr>
            <p:ph idx="1" type="body"/>
          </p:nvPr>
        </p:nvSpPr>
        <p:spPr>
          <a:xfrm>
            <a:off x="535940" y="1628901"/>
            <a:ext cx="4399280" cy="1948814"/>
          </a:xfrm>
          <a:prstGeom prst="rect">
            <a:avLst/>
          </a:prstGeom>
          <a:noFill/>
          <a:ln>
            <a:noFill/>
          </a:ln>
        </p:spPr>
        <p:txBody>
          <a:bodyPr anchorCtr="0" anchor="t" bIns="0" lIns="0" spcFirstLastPara="1" rIns="0" wrap="square" tIns="13325">
            <a:spAutoFit/>
          </a:bodyPr>
          <a:lstStyle/>
          <a:p>
            <a:pPr indent="0" lvl="0" marL="12700" rtl="0" algn="just">
              <a:lnSpc>
                <a:spcPct val="100000"/>
              </a:lnSpc>
              <a:spcBef>
                <a:spcPts val="0"/>
              </a:spcBef>
              <a:spcAft>
                <a:spcPts val="0"/>
              </a:spcAft>
              <a:buNone/>
            </a:pPr>
            <a:r>
              <a:rPr lang="en-US"/>
              <a:t>public class Box {</a:t>
            </a:r>
            <a:endParaRPr/>
          </a:p>
          <a:p>
            <a:pPr indent="0" lvl="0" marL="379730" rtl="0" algn="just">
              <a:lnSpc>
                <a:spcPct val="100000"/>
              </a:lnSpc>
              <a:spcBef>
                <a:spcPts val="0"/>
              </a:spcBef>
              <a:spcAft>
                <a:spcPts val="0"/>
              </a:spcAft>
              <a:buNone/>
            </a:pPr>
            <a:r>
              <a:rPr lang="en-US"/>
              <a:t>double width, height, depth;</a:t>
            </a:r>
            <a:endParaRPr/>
          </a:p>
          <a:p>
            <a:pPr indent="0" lvl="0" marL="379730" marR="5080" rtl="0" algn="just">
              <a:lnSpc>
                <a:spcPct val="100000"/>
              </a:lnSpc>
              <a:spcBef>
                <a:spcPts val="10"/>
              </a:spcBef>
              <a:spcAft>
                <a:spcPts val="0"/>
              </a:spcAft>
              <a:buNone/>
            </a:pPr>
            <a:r>
              <a:rPr b="0" lang="en-US">
                <a:latin typeface="Cambria"/>
                <a:ea typeface="Cambria"/>
                <a:cs typeface="Cambria"/>
                <a:sym typeface="Cambria"/>
              </a:rPr>
              <a:t>// constructor used when all dimensions specified  Box(</a:t>
            </a:r>
            <a:r>
              <a:rPr lang="en-US"/>
              <a:t>double w, double h, double d) {</a:t>
            </a:r>
            <a:endParaRPr/>
          </a:p>
          <a:p>
            <a:pPr indent="0" lvl="0" marL="744220" marR="2757805" rtl="0" algn="just">
              <a:lnSpc>
                <a:spcPct val="100000"/>
              </a:lnSpc>
              <a:spcBef>
                <a:spcPts val="5"/>
              </a:spcBef>
              <a:spcAft>
                <a:spcPts val="0"/>
              </a:spcAft>
              <a:buNone/>
            </a:pPr>
            <a:r>
              <a:rPr b="0" lang="en-US">
                <a:latin typeface="Cambria"/>
                <a:ea typeface="Cambria"/>
                <a:cs typeface="Cambria"/>
                <a:sym typeface="Cambria"/>
              </a:rPr>
              <a:t>width = w;  height = h;  depth = d;</a:t>
            </a:r>
            <a:endParaRPr/>
          </a:p>
          <a:p>
            <a:pPr indent="0" lvl="0" marL="379730" rtl="0" algn="l">
              <a:lnSpc>
                <a:spcPct val="100000"/>
              </a:lnSpc>
              <a:spcBef>
                <a:spcPts val="0"/>
              </a:spcBef>
              <a:spcAft>
                <a:spcPts val="0"/>
              </a:spcAft>
              <a:buNone/>
            </a:pPr>
            <a:r>
              <a:rPr b="0" lang="en-US">
                <a:latin typeface="Cambria"/>
                <a:ea typeface="Cambria"/>
                <a:cs typeface="Cambria"/>
                <a:sym typeface="Cambria"/>
              </a:rPr>
              <a:t>}</a:t>
            </a:r>
            <a:endParaRPr/>
          </a:p>
          <a:p>
            <a:pPr indent="0" lvl="0" marL="379730" rtl="0" algn="l">
              <a:lnSpc>
                <a:spcPct val="100000"/>
              </a:lnSpc>
              <a:spcBef>
                <a:spcPts val="0"/>
              </a:spcBef>
              <a:spcAft>
                <a:spcPts val="0"/>
              </a:spcAft>
              <a:buNone/>
            </a:pPr>
            <a:r>
              <a:rPr b="0" lang="en-US">
                <a:latin typeface="Cambria"/>
                <a:ea typeface="Cambria"/>
                <a:cs typeface="Cambria"/>
                <a:sym typeface="Cambria"/>
              </a:rPr>
              <a:t>// constructor used when cube is created</a:t>
            </a:r>
            <a:endParaRPr/>
          </a:p>
        </p:txBody>
      </p:sp>
      <p:sp>
        <p:nvSpPr>
          <p:cNvPr id="431" name="Google Shape;431;p54"/>
          <p:cNvSpPr txBox="1"/>
          <p:nvPr/>
        </p:nvSpPr>
        <p:spPr>
          <a:xfrm>
            <a:off x="903224" y="3551301"/>
            <a:ext cx="5187950" cy="3056890"/>
          </a:xfrm>
          <a:prstGeom prst="rect">
            <a:avLst/>
          </a:prstGeom>
          <a:noFill/>
          <a:ln>
            <a:noFill/>
          </a:ln>
        </p:spPr>
        <p:txBody>
          <a:bodyPr anchorCtr="0" anchor="t" bIns="0" lIns="0" spcFirstLastPara="1" rIns="0" wrap="square" tIns="20950">
            <a:spAutoFit/>
          </a:bodyPr>
          <a:lstStyle/>
          <a:p>
            <a:pPr indent="-273685" lvl="0" marL="285750" marR="3295015" rtl="0" algn="l">
              <a:lnSpc>
                <a:spcPct val="119285"/>
              </a:lnSpc>
              <a:spcBef>
                <a:spcPts val="0"/>
              </a:spcBef>
              <a:spcAft>
                <a:spcPts val="0"/>
              </a:spcAft>
              <a:buNone/>
            </a:pPr>
            <a:r>
              <a:rPr lang="en-US" sz="1400">
                <a:solidFill>
                  <a:schemeClr val="dk1"/>
                </a:solidFill>
                <a:latin typeface="Cambria"/>
                <a:ea typeface="Cambria"/>
                <a:cs typeface="Cambria"/>
                <a:sym typeface="Cambria"/>
              </a:rPr>
              <a:t>Box(</a:t>
            </a:r>
            <a:r>
              <a:rPr b="1" lang="en-US" sz="1400">
                <a:solidFill>
                  <a:schemeClr val="dk1"/>
                </a:solidFill>
                <a:latin typeface="Cambria"/>
                <a:ea typeface="Cambria"/>
                <a:cs typeface="Cambria"/>
                <a:sym typeface="Cambria"/>
              </a:rPr>
              <a:t>double len) {  this(len, len, len);</a:t>
            </a:r>
            <a:endParaRPr sz="1400">
              <a:solidFill>
                <a:schemeClr val="dk1"/>
              </a:solidFill>
              <a:latin typeface="Cambria"/>
              <a:ea typeface="Cambria"/>
              <a:cs typeface="Cambria"/>
              <a:sym typeface="Cambria"/>
            </a:endParaRPr>
          </a:p>
          <a:p>
            <a:pPr indent="0" lvl="0" marL="12700" marR="0" rtl="0" algn="l">
              <a:lnSpc>
                <a:spcPct val="116785"/>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5"/>
              </a:spcBef>
              <a:spcAft>
                <a:spcPts val="0"/>
              </a:spcAft>
              <a:buNone/>
            </a:pPr>
            <a:r>
              <a:rPr lang="en-US" sz="1400">
                <a:solidFill>
                  <a:schemeClr val="dk1"/>
                </a:solidFill>
                <a:latin typeface="Cambria"/>
                <a:ea typeface="Cambria"/>
                <a:cs typeface="Cambria"/>
                <a:sym typeface="Cambria"/>
              </a:rPr>
              <a:t>// compute and return volume</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b="1" lang="en-US" sz="1400">
                <a:solidFill>
                  <a:schemeClr val="dk1"/>
                </a:solidFill>
                <a:latin typeface="Cambria"/>
                <a:ea typeface="Cambria"/>
                <a:cs typeface="Cambria"/>
                <a:sym typeface="Cambria"/>
              </a:rPr>
              <a:t>double volume() {</a:t>
            </a:r>
            <a:endParaRPr sz="1400">
              <a:solidFill>
                <a:schemeClr val="dk1"/>
              </a:solidFill>
              <a:latin typeface="Cambria"/>
              <a:ea typeface="Cambria"/>
              <a:cs typeface="Cambria"/>
              <a:sym typeface="Cambria"/>
            </a:endParaRPr>
          </a:p>
          <a:p>
            <a:pPr indent="0" lvl="0" marL="28575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return width * height * depth;</a:t>
            </a:r>
            <a:endParaRPr sz="1400">
              <a:solidFill>
                <a:schemeClr val="dk1"/>
              </a:solidFill>
              <a:latin typeface="Cambria"/>
              <a:ea typeface="Cambria"/>
              <a:cs typeface="Cambria"/>
              <a:sym typeface="Cambria"/>
            </a:endParaRPr>
          </a:p>
          <a:p>
            <a:pPr indent="0" lvl="0" marL="12700" marR="0" rtl="0" algn="l">
              <a:lnSpc>
                <a:spcPct val="100000"/>
              </a:lnSpc>
              <a:spcBef>
                <a:spcPts val="1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325"/>
              </a:spcBef>
              <a:spcAft>
                <a:spcPts val="0"/>
              </a:spcAft>
              <a:buNone/>
            </a:pPr>
            <a:r>
              <a:rPr b="1" lang="en-US" sz="1400">
                <a:solidFill>
                  <a:schemeClr val="dk1"/>
                </a:solidFill>
                <a:latin typeface="Cambria"/>
                <a:ea typeface="Cambria"/>
                <a:cs typeface="Cambria"/>
                <a:sym typeface="Cambria"/>
              </a:rPr>
              <a:t>public static void main(String[] args){</a:t>
            </a:r>
            <a:endParaRPr sz="1400">
              <a:solidFill>
                <a:schemeClr val="dk1"/>
              </a:solidFill>
              <a:latin typeface="Cambria"/>
              <a:ea typeface="Cambria"/>
              <a:cs typeface="Cambria"/>
              <a:sym typeface="Cambria"/>
            </a:endParaRPr>
          </a:p>
          <a:p>
            <a:pPr indent="0" lvl="0" marL="376555" marR="225425" rtl="0" algn="l">
              <a:lnSpc>
                <a:spcPct val="120100"/>
              </a:lnSpc>
              <a:spcBef>
                <a:spcPts val="10"/>
              </a:spcBef>
              <a:spcAft>
                <a:spcPts val="0"/>
              </a:spcAft>
              <a:buNone/>
            </a:pPr>
            <a:r>
              <a:rPr lang="en-US" sz="1400">
                <a:solidFill>
                  <a:schemeClr val="dk1"/>
                </a:solidFill>
                <a:latin typeface="Cambria"/>
                <a:ea typeface="Cambria"/>
                <a:cs typeface="Cambria"/>
                <a:sym typeface="Cambria"/>
              </a:rPr>
              <a:t>Box b = </a:t>
            </a:r>
            <a:r>
              <a:rPr b="1" lang="en-US" sz="1400">
                <a:solidFill>
                  <a:schemeClr val="dk1"/>
                </a:solidFill>
                <a:latin typeface="Cambria"/>
                <a:ea typeface="Cambria"/>
                <a:cs typeface="Cambria"/>
                <a:sym typeface="Cambria"/>
              </a:rPr>
              <a:t>new Box(10, 8, 5);  </a:t>
            </a: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out.println("Volume of Box: " + b.volume());  </a:t>
            </a:r>
            <a:r>
              <a:rPr lang="en-US" sz="1400">
                <a:solidFill>
                  <a:schemeClr val="dk1"/>
                </a:solidFill>
                <a:latin typeface="Cambria"/>
                <a:ea typeface="Cambria"/>
                <a:cs typeface="Cambria"/>
                <a:sym typeface="Cambria"/>
              </a:rPr>
              <a:t>Box b1 = </a:t>
            </a:r>
            <a:r>
              <a:rPr b="1" lang="en-US" sz="1400">
                <a:solidFill>
                  <a:schemeClr val="dk1"/>
                </a:solidFill>
                <a:latin typeface="Cambria"/>
                <a:ea typeface="Cambria"/>
                <a:cs typeface="Cambria"/>
                <a:sym typeface="Cambria"/>
              </a:rPr>
              <a:t>new Box(5);</a:t>
            </a:r>
            <a:endParaRPr sz="1400">
              <a:solidFill>
                <a:schemeClr val="dk1"/>
              </a:solidFill>
              <a:latin typeface="Cambria"/>
              <a:ea typeface="Cambria"/>
              <a:cs typeface="Cambria"/>
              <a:sym typeface="Cambria"/>
            </a:endParaRPr>
          </a:p>
          <a:p>
            <a:pPr indent="0" lvl="0" marL="376555" marR="0" rtl="0" algn="l">
              <a:lnSpc>
                <a:spcPct val="100000"/>
              </a:lnSpc>
              <a:spcBef>
                <a:spcPts val="335"/>
              </a:spcBef>
              <a:spcAft>
                <a:spcPts val="0"/>
              </a:spcAft>
              <a:buNone/>
            </a:pPr>
            <a:r>
              <a:rPr lang="en-US" sz="1400">
                <a:solidFill>
                  <a:schemeClr val="dk1"/>
                </a:solidFill>
                <a:latin typeface="Cambria"/>
                <a:ea typeface="Cambria"/>
                <a:cs typeface="Cambria"/>
                <a:sym typeface="Cambria"/>
              </a:rPr>
              <a:t>System.</a:t>
            </a:r>
            <a:r>
              <a:rPr b="1" i="1" lang="en-US" sz="1400">
                <a:solidFill>
                  <a:schemeClr val="dk1"/>
                </a:solidFill>
                <a:latin typeface="Cambria"/>
                <a:ea typeface="Cambria"/>
                <a:cs typeface="Cambria"/>
                <a:sym typeface="Cambria"/>
              </a:rPr>
              <a:t>out.println("Volume of Cube: " + b1.volume());</a:t>
            </a:r>
            <a:endParaRPr sz="1400">
              <a:solidFill>
                <a:schemeClr val="dk1"/>
              </a:solidFill>
              <a:latin typeface="Cambria"/>
              <a:ea typeface="Cambria"/>
              <a:cs typeface="Cambria"/>
              <a:sym typeface="Cambria"/>
            </a:endParaRPr>
          </a:p>
          <a:p>
            <a:pPr indent="0" lvl="0" marL="12700" marR="0" rtl="0" algn="l">
              <a:lnSpc>
                <a:spcPct val="100000"/>
              </a:lnSpc>
              <a:spcBef>
                <a:spcPts val="34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432" name="Google Shape;432;p54"/>
          <p:cNvSpPr txBox="1"/>
          <p:nvPr/>
        </p:nvSpPr>
        <p:spPr>
          <a:xfrm>
            <a:off x="535940" y="6581647"/>
            <a:ext cx="85090"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433" name="Google Shape;433;p54"/>
          <p:cNvSpPr txBox="1"/>
          <p:nvPr/>
        </p:nvSpPr>
        <p:spPr>
          <a:xfrm>
            <a:off x="6154801" y="3657536"/>
            <a:ext cx="2272030" cy="862330"/>
          </a:xfrm>
          <a:prstGeom prst="rect">
            <a:avLst/>
          </a:prstGeom>
          <a:solidFill>
            <a:srgbClr val="FFC000"/>
          </a:solidFill>
          <a:ln>
            <a:noFill/>
          </a:ln>
        </p:spPr>
        <p:txBody>
          <a:bodyPr anchorCtr="0" anchor="t" bIns="0" lIns="0" spcFirstLastPara="1" rIns="0" wrap="square" tIns="40625">
            <a:spAutoFit/>
          </a:bodyPr>
          <a:lstStyle/>
          <a:p>
            <a:pPr indent="0" lvl="0" marL="92075" marR="0" rtl="0" algn="l">
              <a:lnSpc>
                <a:spcPct val="100000"/>
              </a:lnSpc>
              <a:spcBef>
                <a:spcPts val="0"/>
              </a:spcBef>
              <a:spcAft>
                <a:spcPts val="0"/>
              </a:spcAft>
              <a:buNone/>
            </a:pPr>
            <a:r>
              <a:rPr lang="en-US" sz="1800">
                <a:solidFill>
                  <a:schemeClr val="dk1"/>
                </a:solidFill>
                <a:latin typeface="Arial"/>
                <a:ea typeface="Arial"/>
                <a:cs typeface="Arial"/>
                <a:sym typeface="Arial"/>
              </a:rPr>
              <a:t>Output:</a:t>
            </a:r>
            <a:endParaRPr sz="18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600">
                <a:solidFill>
                  <a:schemeClr val="dk1"/>
                </a:solidFill>
                <a:latin typeface="Arial"/>
                <a:ea typeface="Arial"/>
                <a:cs typeface="Arial"/>
                <a:sym typeface="Arial"/>
              </a:rPr>
              <a:t>Volume of Box: 400.0</a:t>
            </a:r>
            <a:endParaRPr sz="160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600">
                <a:solidFill>
                  <a:schemeClr val="dk1"/>
                </a:solidFill>
                <a:latin typeface="Arial"/>
                <a:ea typeface="Arial"/>
                <a:cs typeface="Arial"/>
                <a:sym typeface="Arial"/>
              </a:rPr>
              <a:t>Volume of Cube: 125.0</a:t>
            </a:r>
            <a:endParaRPr sz="1600">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5"/>
          <p:cNvSpPr txBox="1"/>
          <p:nvPr>
            <p:ph type="title"/>
          </p:nvPr>
        </p:nvSpPr>
        <p:spPr>
          <a:xfrm>
            <a:off x="535940" y="896239"/>
            <a:ext cx="458343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S</a:t>
            </a:r>
            <a:r>
              <a:rPr lang="en-US" sz="2400"/>
              <a:t>UBCLASS </a:t>
            </a:r>
            <a:r>
              <a:rPr lang="en-US" sz="3000"/>
              <a:t>P</a:t>
            </a:r>
            <a:r>
              <a:rPr lang="en-US" sz="2400"/>
              <a:t>OLYMORPHISM</a:t>
            </a:r>
            <a:endParaRPr sz="2400"/>
          </a:p>
        </p:txBody>
      </p:sp>
      <p:sp>
        <p:nvSpPr>
          <p:cNvPr id="439" name="Google Shape;439;p55"/>
          <p:cNvSpPr txBox="1"/>
          <p:nvPr/>
        </p:nvSpPr>
        <p:spPr>
          <a:xfrm>
            <a:off x="535940" y="1627454"/>
            <a:ext cx="7263130" cy="3783329"/>
          </a:xfrm>
          <a:prstGeom prst="rect">
            <a:avLst/>
          </a:prstGeom>
          <a:noFill/>
          <a:ln>
            <a:noFill/>
          </a:ln>
        </p:spPr>
        <p:txBody>
          <a:bodyPr anchorCtr="0" anchor="t" bIns="0" lIns="0" spcFirstLastPara="1" rIns="0" wrap="square" tIns="12700">
            <a:spAutoFit/>
          </a:bodyPr>
          <a:lstStyle/>
          <a:p>
            <a:pPr indent="-356869" lvl="0" marL="36893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 </a:t>
            </a:r>
            <a:r>
              <a:rPr b="1" lang="en-US" sz="2400">
                <a:solidFill>
                  <a:schemeClr val="dk1"/>
                </a:solidFill>
                <a:latin typeface="Cambria"/>
                <a:ea typeface="Cambria"/>
                <a:cs typeface="Cambria"/>
                <a:sym typeface="Cambria"/>
              </a:rPr>
              <a:t>parent class reference </a:t>
            </a:r>
            <a:r>
              <a:rPr lang="en-US" sz="2400">
                <a:solidFill>
                  <a:schemeClr val="dk1"/>
                </a:solidFill>
                <a:latin typeface="Cambria"/>
                <a:ea typeface="Cambria"/>
                <a:cs typeface="Cambria"/>
                <a:sym typeface="Cambria"/>
              </a:rPr>
              <a:t>is used to </a:t>
            </a:r>
            <a:r>
              <a:rPr b="1" lang="en-US" sz="2400">
                <a:solidFill>
                  <a:schemeClr val="dk1"/>
                </a:solidFill>
                <a:latin typeface="Cambria"/>
                <a:ea typeface="Cambria"/>
                <a:cs typeface="Cambria"/>
                <a:sym typeface="Cambria"/>
              </a:rPr>
              <a:t>refer </a:t>
            </a:r>
            <a:r>
              <a:rPr lang="en-US" sz="2400">
                <a:solidFill>
                  <a:schemeClr val="dk1"/>
                </a:solidFill>
                <a:latin typeface="Cambria"/>
                <a:ea typeface="Cambria"/>
                <a:cs typeface="Cambria"/>
                <a:sym typeface="Cambria"/>
              </a:rPr>
              <a:t>to a</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b="1" lang="en-US" sz="2400">
                <a:solidFill>
                  <a:schemeClr val="dk1"/>
                </a:solidFill>
                <a:latin typeface="Cambria"/>
                <a:ea typeface="Cambria"/>
                <a:cs typeface="Cambria"/>
                <a:sym typeface="Cambria"/>
              </a:rPr>
              <a:t>child class object</a:t>
            </a:r>
            <a:r>
              <a:rPr lang="en-US" sz="2400">
                <a:solidFill>
                  <a:schemeClr val="dk1"/>
                </a:solidFill>
                <a:latin typeface="Cambria"/>
                <a:ea typeface="Cambria"/>
                <a:cs typeface="Cambria"/>
                <a:sym typeface="Cambria"/>
              </a:rPr>
              <a:t>.</a:t>
            </a:r>
            <a:endParaRPr sz="2400">
              <a:solidFill>
                <a:schemeClr val="dk1"/>
              </a:solidFill>
              <a:latin typeface="Cambria"/>
              <a:ea typeface="Cambria"/>
              <a:cs typeface="Cambria"/>
              <a:sym typeface="Cambria"/>
            </a:endParaRPr>
          </a:p>
          <a:p>
            <a:pPr indent="-273050" lvl="0" marL="285115" marR="0" rtl="0" algn="l">
              <a:lnSpc>
                <a:spcPct val="100000"/>
              </a:lnSpc>
              <a:spcBef>
                <a:spcPts val="61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Couple things to remember:</a:t>
            </a:r>
            <a:endParaRPr sz="2400">
              <a:solidFill>
                <a:schemeClr val="dk1"/>
              </a:solidFill>
              <a:latin typeface="Cambria"/>
              <a:ea typeface="Cambria"/>
              <a:cs typeface="Cambria"/>
              <a:sym typeface="Cambria"/>
            </a:endParaRPr>
          </a:p>
          <a:p>
            <a:pPr indent="-273685" lvl="1" marL="652780" marR="508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only possible way to access an object is through a  reference variable.</a:t>
            </a:r>
            <a:endParaRPr b="0" i="0" sz="2100" u="none" cap="none" strike="noStrike">
              <a:solidFill>
                <a:schemeClr val="dk1"/>
              </a:solidFill>
              <a:latin typeface="Cambria"/>
              <a:ea typeface="Cambria"/>
              <a:cs typeface="Cambria"/>
              <a:sym typeface="Cambria"/>
            </a:endParaRPr>
          </a:p>
          <a:p>
            <a:pPr indent="-273685" lvl="1" marL="652780" marR="302895"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type of the reference variable would determine  the methods that it can invoke on the object.</a:t>
            </a:r>
            <a:endParaRPr b="0" i="0" sz="2100" u="none" cap="none" strike="noStrike">
              <a:solidFill>
                <a:schemeClr val="dk1"/>
              </a:solidFill>
              <a:latin typeface="Cambria"/>
              <a:ea typeface="Cambria"/>
              <a:cs typeface="Cambria"/>
              <a:sym typeface="Cambria"/>
            </a:endParaRPr>
          </a:p>
          <a:p>
            <a:pPr indent="-273050" lvl="0" marL="285115" marR="17907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Using subclass polymorphism we can call or  execute the child-class overriding method by the  parent-class object.</a:t>
            </a:r>
            <a:endParaRPr sz="2400">
              <a:solidFill>
                <a:schemeClr val="dk1"/>
              </a:solidFill>
              <a:latin typeface="Cambria"/>
              <a:ea typeface="Cambria"/>
              <a:cs typeface="Cambria"/>
              <a:sym typeface="Cambri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6"/>
          <p:cNvSpPr txBox="1"/>
          <p:nvPr>
            <p:ph type="title"/>
          </p:nvPr>
        </p:nvSpPr>
        <p:spPr>
          <a:xfrm>
            <a:off x="535940" y="896239"/>
            <a:ext cx="654685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S</a:t>
            </a:r>
            <a:r>
              <a:rPr lang="en-US" sz="2400"/>
              <a:t>UBCLASS </a:t>
            </a:r>
            <a:r>
              <a:rPr lang="en-US" sz="3000"/>
              <a:t>P</a:t>
            </a:r>
            <a:r>
              <a:rPr lang="en-US" sz="2400"/>
              <a:t>OLYMORPHISM </a:t>
            </a:r>
            <a:r>
              <a:rPr lang="en-US" sz="3000"/>
              <a:t>- E</a:t>
            </a:r>
            <a:r>
              <a:rPr lang="en-US" sz="2400"/>
              <a:t>XAMPLE</a:t>
            </a:r>
            <a:endParaRPr sz="2400"/>
          </a:p>
        </p:txBody>
      </p:sp>
      <p:sp>
        <p:nvSpPr>
          <p:cNvPr id="445" name="Google Shape;445;p56"/>
          <p:cNvSpPr txBox="1"/>
          <p:nvPr/>
        </p:nvSpPr>
        <p:spPr>
          <a:xfrm>
            <a:off x="535940" y="1842643"/>
            <a:ext cx="5516880" cy="1948180"/>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b="1" lang="en-US" sz="1400">
                <a:solidFill>
                  <a:schemeClr val="dk1"/>
                </a:solidFill>
                <a:latin typeface="Cambria"/>
                <a:ea typeface="Cambria"/>
                <a:cs typeface="Cambria"/>
                <a:sym typeface="Cambria"/>
              </a:rPr>
              <a:t>public class TestPolymorphism {</a:t>
            </a:r>
            <a:endParaRPr sz="1400">
              <a:solidFill>
                <a:schemeClr val="dk1"/>
              </a:solidFill>
              <a:latin typeface="Cambria"/>
              <a:ea typeface="Cambria"/>
              <a:cs typeface="Cambria"/>
              <a:sym typeface="Cambria"/>
            </a:endParaRPr>
          </a:p>
          <a:p>
            <a:pPr indent="-364490" lvl="0" marL="744220" marR="1593850" rtl="0" algn="l">
              <a:lnSpc>
                <a:spcPct val="100000"/>
              </a:lnSpc>
              <a:spcBef>
                <a:spcPts val="10"/>
              </a:spcBef>
              <a:spcAft>
                <a:spcPts val="0"/>
              </a:spcAft>
              <a:buNone/>
            </a:pPr>
            <a:r>
              <a:rPr b="1" lang="en-US" sz="1400">
                <a:solidFill>
                  <a:schemeClr val="dk1"/>
                </a:solidFill>
                <a:latin typeface="Cambria"/>
                <a:ea typeface="Cambria"/>
                <a:cs typeface="Cambria"/>
                <a:sym typeface="Cambria"/>
              </a:rPr>
              <a:t>public static void main(String[] args) </a:t>
            </a:r>
            <a:r>
              <a:rPr lang="en-US" sz="1400">
                <a:solidFill>
                  <a:schemeClr val="dk1"/>
                </a:solidFill>
                <a:latin typeface="Cambria"/>
                <a:ea typeface="Cambria"/>
                <a:cs typeface="Cambria"/>
                <a:sym typeface="Cambria"/>
              </a:rPr>
              <a:t>{  Animal a = </a:t>
            </a:r>
            <a:r>
              <a:rPr b="1" lang="en-US" sz="1400">
                <a:solidFill>
                  <a:schemeClr val="dk1"/>
                </a:solidFill>
                <a:latin typeface="Cambria"/>
                <a:ea typeface="Cambria"/>
                <a:cs typeface="Cambria"/>
                <a:sym typeface="Cambria"/>
              </a:rPr>
              <a:t>new Bird();</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a.sleep(); // sleep() method of animal class will be executed</a:t>
            </a:r>
            <a:endParaRPr sz="1400">
              <a:solidFill>
                <a:schemeClr val="dk1"/>
              </a:solidFill>
              <a:latin typeface="Cambria"/>
              <a:ea typeface="Cambria"/>
              <a:cs typeface="Cambria"/>
              <a:sym typeface="Cambria"/>
            </a:endParaRPr>
          </a:p>
          <a:p>
            <a:pPr indent="0" lvl="0" marL="0" marR="0" rtl="0" algn="l">
              <a:lnSpc>
                <a:spcPct val="100000"/>
              </a:lnSpc>
              <a:spcBef>
                <a:spcPts val="40"/>
              </a:spcBef>
              <a:spcAft>
                <a:spcPts val="0"/>
              </a:spcAft>
              <a:buNone/>
            </a:pPr>
            <a:r>
              <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Animal h = </a:t>
            </a:r>
            <a:r>
              <a:rPr b="1" lang="en-US" sz="1400">
                <a:solidFill>
                  <a:schemeClr val="dk1"/>
                </a:solidFill>
                <a:latin typeface="Cambria"/>
                <a:ea typeface="Cambria"/>
                <a:cs typeface="Cambria"/>
                <a:sym typeface="Cambria"/>
              </a:rPr>
              <a:t>new Horse();</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h.sleep(); // sleep() method of Horse class will be executed</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
        <p:nvSpPr>
          <p:cNvPr id="446" name="Google Shape;446;p56"/>
          <p:cNvSpPr/>
          <p:nvPr/>
        </p:nvSpPr>
        <p:spPr>
          <a:xfrm>
            <a:off x="3833748" y="4187633"/>
            <a:ext cx="441959" cy="0"/>
          </a:xfrm>
          <a:custGeom>
            <a:rect b="b" l="l" r="r" t="t"/>
            <a:pathLst>
              <a:path extrusionOk="0" h="120000" w="441960">
                <a:moveTo>
                  <a:pt x="0" y="0"/>
                </a:moveTo>
                <a:lnTo>
                  <a:pt x="441957" y="0"/>
                </a:lnTo>
              </a:path>
            </a:pathLst>
          </a:custGeom>
          <a:noFill/>
          <a:ln cap="flat" cmpd="sng" w="118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56"/>
          <p:cNvSpPr/>
          <p:nvPr/>
        </p:nvSpPr>
        <p:spPr>
          <a:xfrm>
            <a:off x="3833748" y="4668075"/>
            <a:ext cx="486409" cy="0"/>
          </a:xfrm>
          <a:custGeom>
            <a:rect b="b" l="l" r="r" t="t"/>
            <a:pathLst>
              <a:path extrusionOk="0" h="120000" w="486410">
                <a:moveTo>
                  <a:pt x="0" y="0"/>
                </a:moveTo>
                <a:lnTo>
                  <a:pt x="486153" y="0"/>
                </a:lnTo>
              </a:path>
            </a:pathLst>
          </a:custGeom>
          <a:noFill/>
          <a:ln cap="flat" cmpd="sng" w="118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56"/>
          <p:cNvSpPr txBox="1"/>
          <p:nvPr/>
        </p:nvSpPr>
        <p:spPr>
          <a:xfrm>
            <a:off x="3741801" y="3886136"/>
            <a:ext cx="678180" cy="122428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2525">
            <a:spAutoFit/>
          </a:bodyPr>
          <a:lstStyle/>
          <a:p>
            <a:pPr indent="0" lvl="0" marL="91440" marR="0" rtl="0" algn="l">
              <a:lnSpc>
                <a:spcPct val="100000"/>
              </a:lnSpc>
              <a:spcBef>
                <a:spcPts val="0"/>
              </a:spcBef>
              <a:spcAft>
                <a:spcPts val="0"/>
              </a:spcAft>
              <a:buNone/>
            </a:pPr>
            <a:r>
              <a:rPr lang="en-US" sz="1050">
                <a:solidFill>
                  <a:schemeClr val="dk1"/>
                </a:solidFill>
                <a:latin typeface="Arial"/>
                <a:ea typeface="Arial"/>
                <a:cs typeface="Arial"/>
                <a:sym typeface="Arial"/>
              </a:rPr>
              <a:t>Animal</a:t>
            </a:r>
            <a:endParaRPr sz="105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100">
              <a:solidFill>
                <a:schemeClr val="dk1"/>
              </a:solidFill>
              <a:latin typeface="Arial"/>
              <a:ea typeface="Arial"/>
              <a:cs typeface="Arial"/>
              <a:sym typeface="Arial"/>
            </a:endParaRPr>
          </a:p>
          <a:p>
            <a:pPr indent="0" lvl="0" marL="91440" marR="0" rtl="0" algn="l">
              <a:lnSpc>
                <a:spcPct val="100000"/>
              </a:lnSpc>
              <a:spcBef>
                <a:spcPts val="0"/>
              </a:spcBef>
              <a:spcAft>
                <a:spcPts val="0"/>
              </a:spcAft>
              <a:buNone/>
            </a:pPr>
            <a:r>
              <a:rPr lang="en-US" sz="1050">
                <a:solidFill>
                  <a:schemeClr val="dk1"/>
                </a:solidFill>
                <a:latin typeface="Arial"/>
                <a:ea typeface="Arial"/>
                <a:cs typeface="Arial"/>
                <a:sym typeface="Arial"/>
              </a:rPr>
              <a:t>Weight</a:t>
            </a:r>
            <a:endParaRPr sz="1050">
              <a:solidFill>
                <a:schemeClr val="dk1"/>
              </a:solidFill>
              <a:latin typeface="Arial"/>
              <a:ea typeface="Arial"/>
              <a:cs typeface="Arial"/>
              <a:sym typeface="Arial"/>
            </a:endParaRPr>
          </a:p>
          <a:p>
            <a:pPr indent="0" lvl="0" marL="91440" marR="0" rtl="0" algn="l">
              <a:lnSpc>
                <a:spcPct val="100000"/>
              </a:lnSpc>
              <a:spcBef>
                <a:spcPts val="0"/>
              </a:spcBef>
              <a:spcAft>
                <a:spcPts val="0"/>
              </a:spcAft>
              <a:buNone/>
            </a:pPr>
            <a:r>
              <a:rPr lang="en-US" sz="1050">
                <a:solidFill>
                  <a:schemeClr val="dk1"/>
                </a:solidFill>
                <a:latin typeface="Arial"/>
                <a:ea typeface="Arial"/>
                <a:cs typeface="Arial"/>
                <a:sym typeface="Arial"/>
              </a:rPr>
              <a:t>Color</a:t>
            </a:r>
            <a:endParaRPr sz="105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1050">
              <a:solidFill>
                <a:schemeClr val="dk1"/>
              </a:solidFill>
              <a:latin typeface="Arial"/>
              <a:ea typeface="Arial"/>
              <a:cs typeface="Arial"/>
              <a:sym typeface="Arial"/>
            </a:endParaRPr>
          </a:p>
          <a:p>
            <a:pPr indent="0" lvl="0" marL="91440" marR="167640" rtl="0" algn="l">
              <a:lnSpc>
                <a:spcPct val="100000"/>
              </a:lnSpc>
              <a:spcBef>
                <a:spcPts val="0"/>
              </a:spcBef>
              <a:spcAft>
                <a:spcPts val="0"/>
              </a:spcAft>
              <a:buNone/>
            </a:pPr>
            <a:r>
              <a:rPr lang="en-US" sz="1050">
                <a:solidFill>
                  <a:schemeClr val="dk1"/>
                </a:solidFill>
                <a:latin typeface="Arial"/>
                <a:ea typeface="Arial"/>
                <a:cs typeface="Arial"/>
                <a:sym typeface="Arial"/>
              </a:rPr>
              <a:t>eat()  sleep()</a:t>
            </a:r>
            <a:endParaRPr sz="1050">
              <a:solidFill>
                <a:schemeClr val="dk1"/>
              </a:solidFill>
              <a:latin typeface="Arial"/>
              <a:ea typeface="Arial"/>
              <a:cs typeface="Arial"/>
              <a:sym typeface="Arial"/>
            </a:endParaRPr>
          </a:p>
        </p:txBody>
      </p:sp>
      <p:sp>
        <p:nvSpPr>
          <p:cNvPr id="449" name="Google Shape;449;p56"/>
          <p:cNvSpPr/>
          <p:nvPr/>
        </p:nvSpPr>
        <p:spPr>
          <a:xfrm>
            <a:off x="2987675" y="5573889"/>
            <a:ext cx="441959" cy="0"/>
          </a:xfrm>
          <a:custGeom>
            <a:rect b="b" l="l" r="r" t="t"/>
            <a:pathLst>
              <a:path extrusionOk="0" h="120000" w="441960">
                <a:moveTo>
                  <a:pt x="0" y="0"/>
                </a:moveTo>
                <a:lnTo>
                  <a:pt x="441957" y="0"/>
                </a:lnTo>
              </a:path>
            </a:pathLst>
          </a:custGeom>
          <a:noFill/>
          <a:ln cap="flat" cmpd="sng" w="118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56"/>
          <p:cNvSpPr/>
          <p:nvPr/>
        </p:nvSpPr>
        <p:spPr>
          <a:xfrm>
            <a:off x="2987675" y="5894234"/>
            <a:ext cx="486409" cy="0"/>
          </a:xfrm>
          <a:custGeom>
            <a:rect b="b" l="l" r="r" t="t"/>
            <a:pathLst>
              <a:path extrusionOk="0" h="120000" w="486410">
                <a:moveTo>
                  <a:pt x="0" y="0"/>
                </a:moveTo>
                <a:lnTo>
                  <a:pt x="486153" y="0"/>
                </a:lnTo>
              </a:path>
            </a:pathLst>
          </a:custGeom>
          <a:noFill/>
          <a:ln cap="flat" cmpd="sng" w="118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56"/>
          <p:cNvSpPr txBox="1"/>
          <p:nvPr/>
        </p:nvSpPr>
        <p:spPr>
          <a:xfrm>
            <a:off x="2895600" y="5272087"/>
            <a:ext cx="678180" cy="90043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3175">
            <a:spAutoFit/>
          </a:bodyPr>
          <a:lstStyle/>
          <a:p>
            <a:pPr indent="0" lvl="0" marL="92075" marR="0" rtl="0" algn="l">
              <a:lnSpc>
                <a:spcPct val="100000"/>
              </a:lnSpc>
              <a:spcBef>
                <a:spcPts val="0"/>
              </a:spcBef>
              <a:spcAft>
                <a:spcPts val="0"/>
              </a:spcAft>
              <a:buNone/>
            </a:pPr>
            <a:r>
              <a:rPr lang="en-US" sz="1050">
                <a:solidFill>
                  <a:schemeClr val="dk1"/>
                </a:solidFill>
                <a:latin typeface="Arial"/>
                <a:ea typeface="Arial"/>
                <a:cs typeface="Arial"/>
                <a:sym typeface="Arial"/>
              </a:rPr>
              <a:t>Bird</a:t>
            </a:r>
            <a:endParaRPr sz="105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1050">
              <a:solidFill>
                <a:schemeClr val="dk1"/>
              </a:solidFill>
              <a:latin typeface="Arial"/>
              <a:ea typeface="Arial"/>
              <a:cs typeface="Arial"/>
              <a:sym typeface="Arial"/>
            </a:endParaRPr>
          </a:p>
          <a:p>
            <a:pPr indent="0" lvl="0" marL="92075" marR="0" rtl="0" algn="l">
              <a:lnSpc>
                <a:spcPct val="100000"/>
              </a:lnSpc>
              <a:spcBef>
                <a:spcPts val="5"/>
              </a:spcBef>
              <a:spcAft>
                <a:spcPts val="0"/>
              </a:spcAft>
              <a:buNone/>
            </a:pPr>
            <a:r>
              <a:rPr lang="en-US" sz="1050">
                <a:solidFill>
                  <a:schemeClr val="dk1"/>
                </a:solidFill>
                <a:latin typeface="Arial"/>
                <a:ea typeface="Arial"/>
                <a:cs typeface="Arial"/>
                <a:sym typeface="Arial"/>
              </a:rPr>
              <a:t>canFly</a:t>
            </a:r>
            <a:endParaRPr sz="1050">
              <a:solidFill>
                <a:schemeClr val="dk1"/>
              </a:solidFill>
              <a:latin typeface="Arial"/>
              <a:ea typeface="Arial"/>
              <a:cs typeface="Arial"/>
              <a:sym typeface="Arial"/>
            </a:endParaRPr>
          </a:p>
          <a:p>
            <a:pPr indent="0" lvl="0" marL="0" marR="0" rtl="0" algn="l">
              <a:lnSpc>
                <a:spcPct val="100000"/>
              </a:lnSpc>
              <a:spcBef>
                <a:spcPts val="50"/>
              </a:spcBef>
              <a:spcAft>
                <a:spcPts val="0"/>
              </a:spcAft>
              <a:buNone/>
            </a:pPr>
            <a:r>
              <a:t/>
            </a:r>
            <a:endParaRPr sz="1050">
              <a:solidFill>
                <a:schemeClr val="dk1"/>
              </a:solidFill>
              <a:latin typeface="Arial"/>
              <a:ea typeface="Arial"/>
              <a:cs typeface="Arial"/>
              <a:sym typeface="Arial"/>
            </a:endParaRPr>
          </a:p>
          <a:p>
            <a:pPr indent="0" lvl="0" marL="92075" marR="0" rtl="0" algn="l">
              <a:lnSpc>
                <a:spcPct val="100000"/>
              </a:lnSpc>
              <a:spcBef>
                <a:spcPts val="0"/>
              </a:spcBef>
              <a:spcAft>
                <a:spcPts val="0"/>
              </a:spcAft>
              <a:buNone/>
            </a:pPr>
            <a:r>
              <a:rPr lang="en-US" sz="1050">
                <a:solidFill>
                  <a:schemeClr val="dk1"/>
                </a:solidFill>
                <a:latin typeface="Arial"/>
                <a:ea typeface="Arial"/>
                <a:cs typeface="Arial"/>
                <a:sym typeface="Arial"/>
              </a:rPr>
              <a:t>fly()</a:t>
            </a:r>
            <a:endParaRPr sz="1050">
              <a:solidFill>
                <a:schemeClr val="dk1"/>
              </a:solidFill>
              <a:latin typeface="Arial"/>
              <a:ea typeface="Arial"/>
              <a:cs typeface="Arial"/>
              <a:sym typeface="Arial"/>
            </a:endParaRPr>
          </a:p>
        </p:txBody>
      </p:sp>
      <p:sp>
        <p:nvSpPr>
          <p:cNvPr id="452" name="Google Shape;452;p56"/>
          <p:cNvSpPr/>
          <p:nvPr/>
        </p:nvSpPr>
        <p:spPr>
          <a:xfrm>
            <a:off x="4671948" y="5559790"/>
            <a:ext cx="441959" cy="0"/>
          </a:xfrm>
          <a:custGeom>
            <a:rect b="b" l="l" r="r" t="t"/>
            <a:pathLst>
              <a:path extrusionOk="0" h="120000" w="441960">
                <a:moveTo>
                  <a:pt x="0" y="0"/>
                </a:moveTo>
                <a:lnTo>
                  <a:pt x="441956" y="0"/>
                </a:lnTo>
              </a:path>
            </a:pathLst>
          </a:custGeom>
          <a:noFill/>
          <a:ln cap="flat" cmpd="sng" w="11825">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56"/>
          <p:cNvSpPr/>
          <p:nvPr/>
        </p:nvSpPr>
        <p:spPr>
          <a:xfrm>
            <a:off x="4671948" y="5879908"/>
            <a:ext cx="486409" cy="0"/>
          </a:xfrm>
          <a:custGeom>
            <a:rect b="b" l="l" r="r" t="t"/>
            <a:pathLst>
              <a:path extrusionOk="0" h="120000" w="486410">
                <a:moveTo>
                  <a:pt x="0" y="0"/>
                </a:moveTo>
                <a:lnTo>
                  <a:pt x="486153" y="0"/>
                </a:lnTo>
              </a:path>
            </a:pathLst>
          </a:custGeom>
          <a:noFill/>
          <a:ln cap="flat" cmpd="sng" w="11800">
            <a:solidFill>
              <a:srgbClr val="00000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56"/>
          <p:cNvSpPr txBox="1"/>
          <p:nvPr/>
        </p:nvSpPr>
        <p:spPr>
          <a:xfrm>
            <a:off x="4580001" y="5257800"/>
            <a:ext cx="678180" cy="90043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43175">
            <a:spAutoFit/>
          </a:bodyPr>
          <a:lstStyle/>
          <a:p>
            <a:pPr indent="0" lvl="0" marL="91440" marR="0" rtl="0" algn="l">
              <a:lnSpc>
                <a:spcPct val="100000"/>
              </a:lnSpc>
              <a:spcBef>
                <a:spcPts val="0"/>
              </a:spcBef>
              <a:spcAft>
                <a:spcPts val="0"/>
              </a:spcAft>
              <a:buNone/>
            </a:pPr>
            <a:r>
              <a:rPr lang="en-US" sz="1050">
                <a:solidFill>
                  <a:schemeClr val="dk1"/>
                </a:solidFill>
                <a:latin typeface="Arial"/>
                <a:ea typeface="Arial"/>
                <a:cs typeface="Arial"/>
                <a:sym typeface="Arial"/>
              </a:rPr>
              <a:t>Horse</a:t>
            </a:r>
            <a:endParaRPr sz="105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200">
              <a:solidFill>
                <a:schemeClr val="dk1"/>
              </a:solidFill>
              <a:latin typeface="Arial"/>
              <a:ea typeface="Arial"/>
              <a:cs typeface="Arial"/>
              <a:sym typeface="Arial"/>
            </a:endParaRPr>
          </a:p>
          <a:p>
            <a:pPr indent="0" lvl="0" marL="91440" marR="0" rtl="0" algn="l">
              <a:lnSpc>
                <a:spcPct val="100000"/>
              </a:lnSpc>
              <a:spcBef>
                <a:spcPts val="1019"/>
              </a:spcBef>
              <a:spcAft>
                <a:spcPts val="0"/>
              </a:spcAft>
              <a:buNone/>
            </a:pPr>
            <a:r>
              <a:rPr lang="en-US" sz="1050">
                <a:solidFill>
                  <a:schemeClr val="dk1"/>
                </a:solidFill>
                <a:latin typeface="Arial"/>
                <a:ea typeface="Arial"/>
                <a:cs typeface="Arial"/>
                <a:sym typeface="Arial"/>
              </a:rPr>
              <a:t>sleep()</a:t>
            </a:r>
            <a:endParaRPr sz="1050">
              <a:solidFill>
                <a:schemeClr val="dk1"/>
              </a:solidFill>
              <a:latin typeface="Arial"/>
              <a:ea typeface="Arial"/>
              <a:cs typeface="Arial"/>
              <a:sym typeface="Arial"/>
            </a:endParaRPr>
          </a:p>
        </p:txBody>
      </p:sp>
      <p:sp>
        <p:nvSpPr>
          <p:cNvPr id="455" name="Google Shape;455;p56"/>
          <p:cNvSpPr/>
          <p:nvPr/>
        </p:nvSpPr>
        <p:spPr>
          <a:xfrm>
            <a:off x="3230626" y="4724400"/>
            <a:ext cx="503555" cy="552450"/>
          </a:xfrm>
          <a:custGeom>
            <a:rect b="b" l="l" r="r" t="t"/>
            <a:pathLst>
              <a:path extrusionOk="0" h="552450" w="503554">
                <a:moveTo>
                  <a:pt x="486171" y="18634"/>
                </a:moveTo>
                <a:lnTo>
                  <a:pt x="474209" y="22392"/>
                </a:lnTo>
                <a:lnTo>
                  <a:pt x="0" y="543433"/>
                </a:lnTo>
                <a:lnTo>
                  <a:pt x="9398" y="551941"/>
                </a:lnTo>
                <a:lnTo>
                  <a:pt x="483534" y="30981"/>
                </a:lnTo>
                <a:lnTo>
                  <a:pt x="486171" y="18634"/>
                </a:lnTo>
                <a:close/>
              </a:path>
              <a:path extrusionOk="0" h="552450" w="503554">
                <a:moveTo>
                  <a:pt x="502088" y="5080"/>
                </a:moveTo>
                <a:lnTo>
                  <a:pt x="489965" y="5080"/>
                </a:lnTo>
                <a:lnTo>
                  <a:pt x="499363" y="13588"/>
                </a:lnTo>
                <a:lnTo>
                  <a:pt x="483534" y="30981"/>
                </a:lnTo>
                <a:lnTo>
                  <a:pt x="470026" y="94233"/>
                </a:lnTo>
                <a:lnTo>
                  <a:pt x="469391" y="97662"/>
                </a:lnTo>
                <a:lnTo>
                  <a:pt x="471550" y="101092"/>
                </a:lnTo>
                <a:lnTo>
                  <a:pt x="474979" y="101726"/>
                </a:lnTo>
                <a:lnTo>
                  <a:pt x="478409" y="102488"/>
                </a:lnTo>
                <a:lnTo>
                  <a:pt x="481711" y="100330"/>
                </a:lnTo>
                <a:lnTo>
                  <a:pt x="482473" y="96900"/>
                </a:lnTo>
                <a:lnTo>
                  <a:pt x="502088" y="5080"/>
                </a:lnTo>
                <a:close/>
              </a:path>
              <a:path extrusionOk="0" h="552450" w="503554">
                <a:moveTo>
                  <a:pt x="503174" y="0"/>
                </a:moveTo>
                <a:lnTo>
                  <a:pt x="408686" y="29718"/>
                </a:lnTo>
                <a:lnTo>
                  <a:pt x="405257" y="30733"/>
                </a:lnTo>
                <a:lnTo>
                  <a:pt x="403478" y="34289"/>
                </a:lnTo>
                <a:lnTo>
                  <a:pt x="404495" y="37592"/>
                </a:lnTo>
                <a:lnTo>
                  <a:pt x="405511" y="41020"/>
                </a:lnTo>
                <a:lnTo>
                  <a:pt x="409066" y="42799"/>
                </a:lnTo>
                <a:lnTo>
                  <a:pt x="412496" y="41782"/>
                </a:lnTo>
                <a:lnTo>
                  <a:pt x="474209" y="22392"/>
                </a:lnTo>
                <a:lnTo>
                  <a:pt x="489965" y="5080"/>
                </a:lnTo>
                <a:lnTo>
                  <a:pt x="502088" y="5080"/>
                </a:lnTo>
                <a:lnTo>
                  <a:pt x="503174" y="0"/>
                </a:lnTo>
                <a:close/>
              </a:path>
              <a:path extrusionOk="0" h="552450" w="503554">
                <a:moveTo>
                  <a:pt x="493192" y="8000"/>
                </a:moveTo>
                <a:lnTo>
                  <a:pt x="488441" y="8000"/>
                </a:lnTo>
                <a:lnTo>
                  <a:pt x="496570" y="15367"/>
                </a:lnTo>
                <a:lnTo>
                  <a:pt x="486171" y="18634"/>
                </a:lnTo>
                <a:lnTo>
                  <a:pt x="483534" y="30981"/>
                </a:lnTo>
                <a:lnTo>
                  <a:pt x="499363" y="13588"/>
                </a:lnTo>
                <a:lnTo>
                  <a:pt x="493192" y="8000"/>
                </a:lnTo>
                <a:close/>
              </a:path>
              <a:path extrusionOk="0" h="552450" w="503554">
                <a:moveTo>
                  <a:pt x="489965" y="5080"/>
                </a:moveTo>
                <a:lnTo>
                  <a:pt x="474209" y="22392"/>
                </a:lnTo>
                <a:lnTo>
                  <a:pt x="486171" y="18634"/>
                </a:lnTo>
                <a:lnTo>
                  <a:pt x="488441" y="8000"/>
                </a:lnTo>
                <a:lnTo>
                  <a:pt x="493192" y="8000"/>
                </a:lnTo>
                <a:lnTo>
                  <a:pt x="489965" y="5080"/>
                </a:lnTo>
                <a:close/>
              </a:path>
              <a:path extrusionOk="0" h="552450" w="503554">
                <a:moveTo>
                  <a:pt x="488441" y="8000"/>
                </a:moveTo>
                <a:lnTo>
                  <a:pt x="486171" y="18634"/>
                </a:lnTo>
                <a:lnTo>
                  <a:pt x="496570" y="15367"/>
                </a:lnTo>
                <a:lnTo>
                  <a:pt x="488441" y="8000"/>
                </a:lnTo>
                <a:close/>
              </a:path>
            </a:pathLst>
          </a:custGeom>
          <a:solidFill>
            <a:srgbClr val="FF690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56"/>
          <p:cNvSpPr/>
          <p:nvPr/>
        </p:nvSpPr>
        <p:spPr>
          <a:xfrm>
            <a:off x="4419600" y="4724400"/>
            <a:ext cx="503555" cy="537845"/>
          </a:xfrm>
          <a:custGeom>
            <a:rect b="b" l="l" r="r" t="t"/>
            <a:pathLst>
              <a:path extrusionOk="0" h="537845" w="503554">
                <a:moveTo>
                  <a:pt x="17144" y="18367"/>
                </a:moveTo>
                <a:lnTo>
                  <a:pt x="19914" y="30561"/>
                </a:lnTo>
                <a:lnTo>
                  <a:pt x="493775" y="537718"/>
                </a:lnTo>
                <a:lnTo>
                  <a:pt x="503174" y="529082"/>
                </a:lnTo>
                <a:lnTo>
                  <a:pt x="29265" y="22007"/>
                </a:lnTo>
                <a:lnTo>
                  <a:pt x="17144" y="18367"/>
                </a:lnTo>
                <a:close/>
              </a:path>
              <a:path extrusionOk="0" h="537845" w="503554">
                <a:moveTo>
                  <a:pt x="0" y="0"/>
                </a:moveTo>
                <a:lnTo>
                  <a:pt x="21971" y="96647"/>
                </a:lnTo>
                <a:lnTo>
                  <a:pt x="22733" y="100075"/>
                </a:lnTo>
                <a:lnTo>
                  <a:pt x="26162" y="102235"/>
                </a:lnTo>
                <a:lnTo>
                  <a:pt x="29590" y="101345"/>
                </a:lnTo>
                <a:lnTo>
                  <a:pt x="33020" y="100583"/>
                </a:lnTo>
                <a:lnTo>
                  <a:pt x="35051" y="97281"/>
                </a:lnTo>
                <a:lnTo>
                  <a:pt x="34289" y="93852"/>
                </a:lnTo>
                <a:lnTo>
                  <a:pt x="19914" y="30561"/>
                </a:lnTo>
                <a:lnTo>
                  <a:pt x="3937" y="13462"/>
                </a:lnTo>
                <a:lnTo>
                  <a:pt x="13208" y="4825"/>
                </a:lnTo>
                <a:lnTo>
                  <a:pt x="16093" y="4825"/>
                </a:lnTo>
                <a:lnTo>
                  <a:pt x="0" y="0"/>
                </a:lnTo>
                <a:close/>
              </a:path>
              <a:path extrusionOk="0" h="537845" w="503554">
                <a:moveTo>
                  <a:pt x="16093" y="4825"/>
                </a:moveTo>
                <a:lnTo>
                  <a:pt x="13208" y="4825"/>
                </a:lnTo>
                <a:lnTo>
                  <a:pt x="29265" y="22007"/>
                </a:lnTo>
                <a:lnTo>
                  <a:pt x="94614" y="41656"/>
                </a:lnTo>
                <a:lnTo>
                  <a:pt x="98171" y="39750"/>
                </a:lnTo>
                <a:lnTo>
                  <a:pt x="99187" y="36322"/>
                </a:lnTo>
                <a:lnTo>
                  <a:pt x="100202" y="33019"/>
                </a:lnTo>
                <a:lnTo>
                  <a:pt x="98298" y="29463"/>
                </a:lnTo>
                <a:lnTo>
                  <a:pt x="16093" y="4825"/>
                </a:lnTo>
                <a:close/>
              </a:path>
              <a:path extrusionOk="0" h="537845" w="503554">
                <a:moveTo>
                  <a:pt x="13208" y="4825"/>
                </a:moveTo>
                <a:lnTo>
                  <a:pt x="3937" y="13462"/>
                </a:lnTo>
                <a:lnTo>
                  <a:pt x="19914" y="30561"/>
                </a:lnTo>
                <a:lnTo>
                  <a:pt x="17144" y="18367"/>
                </a:lnTo>
                <a:lnTo>
                  <a:pt x="6730" y="15239"/>
                </a:lnTo>
                <a:lnTo>
                  <a:pt x="14732" y="7747"/>
                </a:lnTo>
                <a:lnTo>
                  <a:pt x="15937" y="7747"/>
                </a:lnTo>
                <a:lnTo>
                  <a:pt x="13208" y="4825"/>
                </a:lnTo>
                <a:close/>
              </a:path>
              <a:path extrusionOk="0" h="537845" w="503554">
                <a:moveTo>
                  <a:pt x="15937" y="7747"/>
                </a:moveTo>
                <a:lnTo>
                  <a:pt x="14732" y="7747"/>
                </a:lnTo>
                <a:lnTo>
                  <a:pt x="17144" y="18367"/>
                </a:lnTo>
                <a:lnTo>
                  <a:pt x="29265" y="22007"/>
                </a:lnTo>
                <a:lnTo>
                  <a:pt x="15937" y="7747"/>
                </a:lnTo>
                <a:close/>
              </a:path>
              <a:path extrusionOk="0" h="537845" w="503554">
                <a:moveTo>
                  <a:pt x="14732" y="7747"/>
                </a:moveTo>
                <a:lnTo>
                  <a:pt x="6730" y="15239"/>
                </a:lnTo>
                <a:lnTo>
                  <a:pt x="17144" y="18367"/>
                </a:lnTo>
                <a:lnTo>
                  <a:pt x="14732" y="7747"/>
                </a:lnTo>
                <a:close/>
              </a:path>
            </a:pathLst>
          </a:custGeom>
          <a:solidFill>
            <a:srgbClr val="FF6903"/>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7"/>
          <p:cNvSpPr txBox="1"/>
          <p:nvPr>
            <p:ph type="title"/>
          </p:nvPr>
        </p:nvSpPr>
        <p:spPr>
          <a:xfrm>
            <a:off x="535940" y="896239"/>
            <a:ext cx="821309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S</a:t>
            </a:r>
            <a:r>
              <a:rPr lang="en-US" sz="2400"/>
              <a:t>UBCLASS </a:t>
            </a:r>
            <a:r>
              <a:rPr lang="en-US" sz="3000"/>
              <a:t>P</a:t>
            </a:r>
            <a:r>
              <a:rPr lang="en-US" sz="2400"/>
              <a:t>OLYMORPHISM </a:t>
            </a:r>
            <a:r>
              <a:rPr lang="en-US" sz="3000"/>
              <a:t>–C</a:t>
            </a:r>
            <a:r>
              <a:rPr lang="en-US" sz="2400"/>
              <a:t>OMPILE</a:t>
            </a:r>
            <a:r>
              <a:rPr lang="en-US" sz="3000"/>
              <a:t>/</a:t>
            </a:r>
            <a:r>
              <a:rPr lang="en-US" sz="2400"/>
              <a:t>RUN TIME</a:t>
            </a:r>
            <a:endParaRPr sz="2400"/>
          </a:p>
        </p:txBody>
      </p:sp>
      <p:sp>
        <p:nvSpPr>
          <p:cNvPr id="462" name="Google Shape;462;p57"/>
          <p:cNvSpPr txBox="1"/>
          <p:nvPr/>
        </p:nvSpPr>
        <p:spPr>
          <a:xfrm>
            <a:off x="535940" y="1555822"/>
            <a:ext cx="7617460" cy="4846840"/>
          </a:xfrm>
          <a:prstGeom prst="rect">
            <a:avLst/>
          </a:prstGeom>
          <a:noFill/>
          <a:ln>
            <a:noFill/>
          </a:ln>
        </p:spPr>
        <p:txBody>
          <a:bodyPr anchorCtr="0" anchor="t" bIns="0" lIns="0" spcFirstLastPara="1" rIns="0" wrap="square" tIns="85725">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2 types of check</a:t>
            </a:r>
            <a:endParaRPr sz="2400">
              <a:solidFill>
                <a:schemeClr val="dk1"/>
              </a:solidFill>
              <a:latin typeface="Cambria"/>
              <a:ea typeface="Cambria"/>
              <a:cs typeface="Cambria"/>
              <a:sym typeface="Cambria"/>
            </a:endParaRPr>
          </a:p>
          <a:p>
            <a:pPr indent="-273685" lvl="1" marL="652780" marR="508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reference variable would determine the methods that  it can invoke on the object.	</a:t>
            </a:r>
            <a:r>
              <a:rPr b="1" i="0" lang="en-US" sz="2100" u="none" cap="none" strike="noStrike">
                <a:solidFill>
                  <a:schemeClr val="dk1"/>
                </a:solidFill>
                <a:latin typeface="Cambria"/>
                <a:ea typeface="Cambria"/>
                <a:cs typeface="Cambria"/>
                <a:sym typeface="Cambria"/>
              </a:rPr>
              <a:t>Compile time check.</a:t>
            </a:r>
            <a:endParaRPr b="0" i="0" sz="2100" u="none" cap="none" strike="noStrike">
              <a:solidFill>
                <a:schemeClr val="dk1"/>
              </a:solidFill>
              <a:latin typeface="Cambria"/>
              <a:ea typeface="Cambria"/>
              <a:cs typeface="Cambria"/>
              <a:sym typeface="Cambria"/>
            </a:endParaRPr>
          </a:p>
          <a:p>
            <a:pPr indent="-273685" lvl="1" marL="652780" marR="2413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object type (NOT reference variable type) determines  which overridden method will be used at </a:t>
            </a:r>
            <a:r>
              <a:rPr b="1" i="0" lang="en-US" sz="2100" u="none" cap="none" strike="noStrike">
                <a:solidFill>
                  <a:schemeClr val="dk1"/>
                </a:solidFill>
                <a:latin typeface="Cambria"/>
                <a:ea typeface="Cambria"/>
                <a:cs typeface="Cambria"/>
                <a:sym typeface="Cambria"/>
              </a:rPr>
              <a:t>runtime.</a:t>
            </a:r>
            <a:endParaRPr b="1" i="0" sz="2100" u="none" cap="none" strike="noStrike">
              <a:solidFill>
                <a:schemeClr val="dk1"/>
              </a:solidFill>
              <a:latin typeface="Cambria"/>
              <a:ea typeface="Cambria"/>
              <a:cs typeface="Cambria"/>
              <a:sym typeface="Cambria"/>
            </a:endParaRPr>
          </a:p>
          <a:p>
            <a:pPr indent="-273685" lvl="1" marL="652780" marR="2413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Consider the code below</a:t>
            </a:r>
            <a:endParaRPr/>
          </a:p>
          <a:p>
            <a:pPr indent="-273685" lvl="2" marL="1109980" marR="24130" rtl="0" algn="l">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   </a:t>
            </a:r>
            <a:r>
              <a:rPr b="0" i="0" lang="en-US" sz="1600" u="none" cap="none" strike="noStrike">
                <a:solidFill>
                  <a:schemeClr val="dk1"/>
                </a:solidFill>
                <a:latin typeface="Cambria"/>
                <a:ea typeface="Cambria"/>
                <a:cs typeface="Cambria"/>
                <a:sym typeface="Cambria"/>
              </a:rPr>
              <a:t>Animal a = new Bird();</a:t>
            </a:r>
            <a:br>
              <a:rPr b="0" i="0" lang="en-US" sz="1600" u="none" cap="none" strike="noStrike">
                <a:solidFill>
                  <a:schemeClr val="dk1"/>
                </a:solidFill>
                <a:latin typeface="Cambria"/>
                <a:ea typeface="Cambria"/>
                <a:cs typeface="Cambria"/>
                <a:sym typeface="Cambria"/>
              </a:rPr>
            </a:br>
            <a:r>
              <a:rPr b="0" i="0" lang="en-US" sz="1600" u="none" cap="none" strike="noStrike">
                <a:solidFill>
                  <a:schemeClr val="dk1"/>
                </a:solidFill>
                <a:latin typeface="Cambria"/>
                <a:ea typeface="Cambria"/>
                <a:cs typeface="Cambria"/>
                <a:sym typeface="Cambria"/>
              </a:rPr>
              <a:t>    a.sleep();</a:t>
            </a:r>
            <a:br>
              <a:rPr b="0" i="0" lang="en-US" sz="1600" u="none" cap="none" strike="noStrike">
                <a:solidFill>
                  <a:schemeClr val="dk1"/>
                </a:solidFill>
                <a:latin typeface="Cambria"/>
                <a:ea typeface="Cambria"/>
                <a:cs typeface="Cambria"/>
                <a:sym typeface="Cambria"/>
              </a:rPr>
            </a:br>
            <a:br>
              <a:rPr b="0" i="0" lang="en-US" sz="1600" u="none" cap="none" strike="noStrike">
                <a:solidFill>
                  <a:schemeClr val="dk1"/>
                </a:solidFill>
                <a:latin typeface="Cambria"/>
                <a:ea typeface="Cambria"/>
                <a:cs typeface="Cambria"/>
                <a:sym typeface="Cambria"/>
              </a:rPr>
            </a:br>
            <a:r>
              <a:rPr b="0" i="0" lang="en-US" sz="1600" u="none" cap="none" strike="noStrike">
                <a:solidFill>
                  <a:schemeClr val="dk1"/>
                </a:solidFill>
                <a:latin typeface="Cambria"/>
                <a:ea typeface="Cambria"/>
                <a:cs typeface="Cambria"/>
                <a:sym typeface="Cambria"/>
              </a:rPr>
              <a:t>    Animal h = new Horse();</a:t>
            </a:r>
            <a:br>
              <a:rPr b="0" i="0" lang="en-US" sz="1600" u="none" cap="none" strike="noStrike">
                <a:solidFill>
                  <a:schemeClr val="dk1"/>
                </a:solidFill>
                <a:latin typeface="Cambria"/>
                <a:ea typeface="Cambria"/>
                <a:cs typeface="Cambria"/>
                <a:sym typeface="Cambria"/>
              </a:rPr>
            </a:br>
            <a:r>
              <a:rPr b="0" i="0" lang="en-US" sz="1600" u="none" cap="none" strike="noStrike">
                <a:solidFill>
                  <a:schemeClr val="dk1"/>
                </a:solidFill>
                <a:latin typeface="Cambria"/>
                <a:ea typeface="Cambria"/>
                <a:cs typeface="Cambria"/>
                <a:sym typeface="Cambria"/>
              </a:rPr>
              <a:t>    h.sleep(); </a:t>
            </a:r>
            <a:endParaRPr b="0" i="0" sz="1600" u="none" cap="none" strike="noStrike">
              <a:solidFill>
                <a:schemeClr val="dk1"/>
              </a:solidFill>
              <a:latin typeface="Cambria"/>
              <a:ea typeface="Cambria"/>
              <a:cs typeface="Cambria"/>
              <a:sym typeface="Cambria"/>
            </a:endParaRPr>
          </a:p>
          <a:p>
            <a:pPr indent="-182880" lvl="2" marL="927100" marR="172720" rtl="0" algn="l">
              <a:lnSpc>
                <a:spcPct val="100000"/>
              </a:lnSpc>
              <a:spcBef>
                <a:spcPts val="434"/>
              </a:spcBef>
              <a:spcAft>
                <a:spcPts val="0"/>
              </a:spcAft>
              <a:buClr>
                <a:srgbClr val="DF752E"/>
              </a:buClr>
              <a:buSzPts val="1050"/>
              <a:buFont typeface="Noto Sans Symbols"/>
              <a:buChar char="🞆"/>
            </a:pPr>
            <a:r>
              <a:rPr b="0" i="0" lang="en-US" sz="1800" u="none" cap="none" strike="noStrike">
                <a:solidFill>
                  <a:schemeClr val="dk1"/>
                </a:solidFill>
                <a:latin typeface="Cambria"/>
                <a:ea typeface="Cambria"/>
                <a:cs typeface="Cambria"/>
                <a:sym typeface="Cambria"/>
              </a:rPr>
              <a:t>Can’t call a.sleep() if the sleep() method is not available in  Animal class. Will produce compile error.</a:t>
            </a:r>
            <a:endParaRPr b="0" i="0" sz="1800" u="none" cap="none" strike="noStrike">
              <a:solidFill>
                <a:schemeClr val="dk1"/>
              </a:solidFill>
              <a:latin typeface="Cambria"/>
              <a:ea typeface="Cambria"/>
              <a:cs typeface="Cambria"/>
              <a:sym typeface="Cambria"/>
            </a:endParaRPr>
          </a:p>
          <a:p>
            <a:pPr indent="-182880" lvl="2" marL="927100" marR="5080" rtl="0" algn="l">
              <a:lnSpc>
                <a:spcPct val="100000"/>
              </a:lnSpc>
              <a:spcBef>
                <a:spcPts val="434"/>
              </a:spcBef>
              <a:spcAft>
                <a:spcPts val="0"/>
              </a:spcAft>
              <a:buClr>
                <a:srgbClr val="DF752E"/>
              </a:buClr>
              <a:buSzPts val="1050"/>
              <a:buFont typeface="Noto Sans Symbols"/>
              <a:buChar char="🞆"/>
            </a:pPr>
            <a:r>
              <a:rPr b="0" i="0" lang="en-US" sz="1800" u="none" cap="none" strike="noStrike">
                <a:solidFill>
                  <a:schemeClr val="dk1"/>
                </a:solidFill>
                <a:latin typeface="Cambria"/>
                <a:ea typeface="Cambria"/>
                <a:cs typeface="Cambria"/>
                <a:sym typeface="Cambria"/>
              </a:rPr>
              <a:t>During runtime the Horse’s sleep() method will be executed  not Animal’s.</a:t>
            </a:r>
            <a:endParaRPr b="0" i="0" sz="1800" u="none" cap="none" strike="noStrike">
              <a:solidFill>
                <a:schemeClr val="dk1"/>
              </a:solidFill>
              <a:latin typeface="Cambria"/>
              <a:ea typeface="Cambria"/>
              <a:cs typeface="Cambria"/>
              <a:sym typeface="Cambri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8"/>
          <p:cNvSpPr txBox="1"/>
          <p:nvPr>
            <p:ph type="title"/>
          </p:nvPr>
        </p:nvSpPr>
        <p:spPr>
          <a:xfrm>
            <a:off x="535940" y="438734"/>
            <a:ext cx="6269355" cy="483234"/>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S</a:t>
            </a:r>
            <a:r>
              <a:rPr lang="en-US" sz="2400"/>
              <a:t>UBCLASS </a:t>
            </a:r>
            <a:r>
              <a:rPr lang="en-US" sz="3000"/>
              <a:t>P</a:t>
            </a:r>
            <a:r>
              <a:rPr lang="en-US" sz="2400"/>
              <a:t>OLYMORPHISM </a:t>
            </a:r>
            <a:r>
              <a:rPr lang="en-US" sz="3000"/>
              <a:t>– </a:t>
            </a:r>
            <a:r>
              <a:rPr lang="en-US" sz="2400"/>
              <a:t>ACCESS</a:t>
            </a:r>
            <a:endParaRPr sz="2400"/>
          </a:p>
        </p:txBody>
      </p:sp>
      <p:sp>
        <p:nvSpPr>
          <p:cNvPr id="468" name="Google Shape;468;p58"/>
          <p:cNvSpPr txBox="1"/>
          <p:nvPr/>
        </p:nvSpPr>
        <p:spPr>
          <a:xfrm>
            <a:off x="535940" y="972439"/>
            <a:ext cx="7251700" cy="460184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rgbClr val="565F6C"/>
                </a:solidFill>
                <a:latin typeface="Cambria"/>
                <a:ea typeface="Cambria"/>
                <a:cs typeface="Cambria"/>
                <a:sym typeface="Cambria"/>
              </a:rPr>
              <a:t>METHOD NOT AVAILABLE IN PARENT</a:t>
            </a:r>
            <a:endParaRPr sz="2400">
              <a:solidFill>
                <a:schemeClr val="dk1"/>
              </a:solidFill>
              <a:latin typeface="Cambria"/>
              <a:ea typeface="Cambria"/>
              <a:cs typeface="Cambria"/>
              <a:sym typeface="Cambria"/>
            </a:endParaRPr>
          </a:p>
          <a:p>
            <a:pPr indent="0" lvl="0" marL="12700" marR="0" rtl="0" algn="l">
              <a:lnSpc>
                <a:spcPct val="100000"/>
              </a:lnSpc>
              <a:spcBef>
                <a:spcPts val="2305"/>
              </a:spcBef>
              <a:spcAft>
                <a:spcPts val="0"/>
              </a:spcAft>
              <a:buNone/>
            </a:pPr>
            <a:r>
              <a:rPr lang="en-US" sz="1400">
                <a:solidFill>
                  <a:schemeClr val="dk1"/>
                </a:solidFill>
                <a:latin typeface="Cambria"/>
                <a:ea typeface="Cambria"/>
                <a:cs typeface="Cambria"/>
                <a:sym typeface="Cambria"/>
              </a:rPr>
              <a:t>public class TestPolymorphism {</a:t>
            </a:r>
            <a:endParaRPr sz="1400">
              <a:solidFill>
                <a:schemeClr val="dk1"/>
              </a:solidFill>
              <a:latin typeface="Cambria"/>
              <a:ea typeface="Cambria"/>
              <a:cs typeface="Cambria"/>
              <a:sym typeface="Cambria"/>
            </a:endParaRPr>
          </a:p>
          <a:p>
            <a:pPr indent="-364490" lvl="0" marL="744220" marR="3731259" rtl="0" algn="l">
              <a:lnSpc>
                <a:spcPct val="100000"/>
              </a:lnSpc>
              <a:spcBef>
                <a:spcPts val="0"/>
              </a:spcBef>
              <a:spcAft>
                <a:spcPts val="0"/>
              </a:spcAft>
              <a:buNone/>
            </a:pPr>
            <a:r>
              <a:rPr lang="en-US" sz="1400">
                <a:solidFill>
                  <a:schemeClr val="dk1"/>
                </a:solidFill>
                <a:latin typeface="Cambria"/>
                <a:ea typeface="Cambria"/>
                <a:cs typeface="Cambria"/>
                <a:sym typeface="Cambria"/>
              </a:rPr>
              <a:t>public static void main(String[] args) {  Animal a = new Bird();</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a.fly(); // Compile error: The  method fly() is undefined for the type Animal</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19642"/>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273050" lvl="0" marL="285115" marR="0" rtl="0" algn="l">
              <a:lnSpc>
                <a:spcPct val="119791"/>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So what to do if need to call subclass method that</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is not available in Parent class?</a:t>
            </a:r>
            <a:endParaRPr sz="2400">
              <a:solidFill>
                <a:schemeClr val="dk1"/>
              </a:solidFill>
              <a:latin typeface="Cambria"/>
              <a:ea typeface="Cambria"/>
              <a:cs typeface="Cambria"/>
              <a:sym typeface="Cambria"/>
            </a:endParaRPr>
          </a:p>
          <a:p>
            <a:pPr indent="-273685" lvl="1" marL="652780" marR="0" rtl="0" algn="l">
              <a:lnSpc>
                <a:spcPct val="100000"/>
              </a:lnSpc>
              <a:spcBef>
                <a:spcPts val="5"/>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Casting</a:t>
            </a:r>
            <a:endParaRPr b="0" i="0" sz="2000" u="none" cap="none" strike="noStrike">
              <a:solidFill>
                <a:schemeClr val="dk1"/>
              </a:solidFill>
              <a:latin typeface="Cambria"/>
              <a:ea typeface="Cambria"/>
              <a:cs typeface="Cambria"/>
              <a:sym typeface="Cambria"/>
            </a:endParaRPr>
          </a:p>
          <a:p>
            <a:pPr indent="0" lvl="0" marL="0" marR="0" rtl="0" algn="l">
              <a:lnSpc>
                <a:spcPct val="100000"/>
              </a:lnSpc>
              <a:spcBef>
                <a:spcPts val="15"/>
              </a:spcBef>
              <a:spcAft>
                <a:spcPts val="0"/>
              </a:spcAft>
              <a:buNone/>
            </a:pPr>
            <a:r>
              <a:t/>
            </a:r>
            <a:endParaRPr sz="215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public class TestPolymorphism {</a:t>
            </a:r>
            <a:endParaRPr sz="1400">
              <a:solidFill>
                <a:schemeClr val="dk1"/>
              </a:solidFill>
              <a:latin typeface="Cambria"/>
              <a:ea typeface="Cambria"/>
              <a:cs typeface="Cambria"/>
              <a:sym typeface="Cambria"/>
            </a:endParaRPr>
          </a:p>
          <a:p>
            <a:pPr indent="-364490" lvl="0" marL="744220" marR="3731259" rtl="0" algn="l">
              <a:lnSpc>
                <a:spcPct val="100000"/>
              </a:lnSpc>
              <a:spcBef>
                <a:spcPts val="0"/>
              </a:spcBef>
              <a:spcAft>
                <a:spcPts val="0"/>
              </a:spcAft>
              <a:buNone/>
            </a:pPr>
            <a:r>
              <a:rPr lang="en-US" sz="1400">
                <a:solidFill>
                  <a:schemeClr val="dk1"/>
                </a:solidFill>
                <a:latin typeface="Cambria"/>
                <a:ea typeface="Cambria"/>
                <a:cs typeface="Cambria"/>
                <a:sym typeface="Cambria"/>
              </a:rPr>
              <a:t>public static void main(String[] args) {  Animal a = new Bird();  ((Bird)a).fly(); // OK</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9"/>
          <p:cNvSpPr txBox="1"/>
          <p:nvPr>
            <p:ph type="title"/>
          </p:nvPr>
        </p:nvSpPr>
        <p:spPr>
          <a:xfrm>
            <a:off x="535940" y="896239"/>
            <a:ext cx="393636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C</a:t>
            </a:r>
            <a:r>
              <a:rPr lang="en-US" sz="2400"/>
              <a:t>ASTING AND </a:t>
            </a:r>
            <a:r>
              <a:rPr lang="en-US" sz="3000"/>
              <a:t>C</a:t>
            </a:r>
            <a:r>
              <a:rPr lang="en-US" sz="2400"/>
              <a:t>LASSES</a:t>
            </a:r>
            <a:endParaRPr sz="2400"/>
          </a:p>
        </p:txBody>
      </p:sp>
      <p:sp>
        <p:nvSpPr>
          <p:cNvPr id="474" name="Google Shape;474;p59"/>
          <p:cNvSpPr txBox="1"/>
          <p:nvPr/>
        </p:nvSpPr>
        <p:spPr>
          <a:xfrm>
            <a:off x="535940" y="1628978"/>
            <a:ext cx="7260590" cy="4589780"/>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An instance of a child class can be assigned to a</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variable (field) of the parent class.</a:t>
            </a:r>
            <a:endParaRPr sz="2400">
              <a:solidFill>
                <a:schemeClr val="dk1"/>
              </a:solidFill>
              <a:latin typeface="Cambria"/>
              <a:ea typeface="Cambria"/>
              <a:cs typeface="Cambria"/>
              <a:sym typeface="Cambria"/>
            </a:endParaRPr>
          </a:p>
          <a:p>
            <a:pPr indent="-273050" lvl="0" marL="285115" marR="124460" rtl="0" algn="l">
              <a:lnSpc>
                <a:spcPct val="119583"/>
              </a:lnSpc>
              <a:spcBef>
                <a:spcPts val="70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variable references an subtype object can be cast  down to its subclass type with an </a:t>
            </a:r>
            <a:r>
              <a:rPr b="1" lang="en-US" sz="2400">
                <a:solidFill>
                  <a:schemeClr val="dk1"/>
                </a:solidFill>
                <a:latin typeface="Cambria"/>
                <a:ea typeface="Cambria"/>
                <a:cs typeface="Cambria"/>
                <a:sym typeface="Cambria"/>
              </a:rPr>
              <a:t>explicit </a:t>
            </a:r>
            <a:r>
              <a:rPr lang="en-US" sz="2400">
                <a:solidFill>
                  <a:schemeClr val="dk1"/>
                </a:solidFill>
                <a:latin typeface="Cambria"/>
                <a:ea typeface="Cambria"/>
                <a:cs typeface="Cambria"/>
                <a:sym typeface="Cambria"/>
              </a:rPr>
              <a:t>cast.</a:t>
            </a:r>
            <a:endParaRPr sz="2400">
              <a:solidFill>
                <a:schemeClr val="dk1"/>
              </a:solidFill>
              <a:latin typeface="Cambria"/>
              <a:ea typeface="Cambria"/>
              <a:cs typeface="Cambria"/>
              <a:sym typeface="Cambria"/>
            </a:endParaRPr>
          </a:p>
          <a:p>
            <a:pPr indent="-273050" lvl="0" marL="285115" marR="5080" rtl="0" algn="l">
              <a:lnSpc>
                <a:spcPct val="100000"/>
              </a:lnSpc>
              <a:spcBef>
                <a:spcPts val="52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 runtime error occurs when explicitly casting an  object to a type that it is not.</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An object of type Parent cannot be cast to type Child.</a:t>
            </a:r>
            <a:endParaRPr b="0" i="0" sz="2100" u="none" cap="none" strike="noStrike">
              <a:solidFill>
                <a:schemeClr val="dk1"/>
              </a:solidFill>
              <a:latin typeface="Cambria"/>
              <a:ea typeface="Cambria"/>
              <a:cs typeface="Cambria"/>
              <a:sym typeface="Cambria"/>
            </a:endParaRPr>
          </a:p>
          <a:p>
            <a:pPr indent="-273050" lvl="0" marL="285115" marR="119379"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In the code shown in next page, the cast "(Uncle)  object" is a runtime error</a:t>
            </a:r>
            <a:endParaRPr sz="2400">
              <a:solidFill>
                <a:schemeClr val="dk1"/>
              </a:solidFill>
              <a:latin typeface="Cambria"/>
              <a:ea typeface="Cambria"/>
              <a:cs typeface="Cambria"/>
              <a:sym typeface="Cambria"/>
            </a:endParaRPr>
          </a:p>
          <a:p>
            <a:pPr indent="-273685" lvl="1" marL="652780" marR="21717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because at that time	object holds an instance of the  Child class, which is not of type (or subclass) of  Uncle.</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0"/>
          <p:cNvSpPr txBox="1"/>
          <p:nvPr>
            <p:ph type="title"/>
          </p:nvPr>
        </p:nvSpPr>
        <p:spPr>
          <a:xfrm>
            <a:off x="535940" y="896239"/>
            <a:ext cx="393636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C</a:t>
            </a:r>
            <a:r>
              <a:rPr lang="en-US" sz="2400"/>
              <a:t>ASTING AND </a:t>
            </a:r>
            <a:r>
              <a:rPr lang="en-US" sz="3000"/>
              <a:t>C</a:t>
            </a:r>
            <a:r>
              <a:rPr lang="en-US" sz="2400"/>
              <a:t>LASSES</a:t>
            </a:r>
            <a:endParaRPr sz="2400"/>
          </a:p>
        </p:txBody>
      </p:sp>
      <p:sp>
        <p:nvSpPr>
          <p:cNvPr id="480" name="Google Shape;480;p60"/>
          <p:cNvSpPr txBox="1"/>
          <p:nvPr/>
        </p:nvSpPr>
        <p:spPr>
          <a:xfrm>
            <a:off x="535940" y="1630426"/>
            <a:ext cx="4431665" cy="318071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class Casting {</a:t>
            </a:r>
            <a:endParaRPr sz="1400">
              <a:solidFill>
                <a:schemeClr val="dk1"/>
              </a:solidFill>
              <a:latin typeface="Cambria"/>
              <a:ea typeface="Cambria"/>
              <a:cs typeface="Cambria"/>
              <a:sym typeface="Cambria"/>
            </a:endParaRPr>
          </a:p>
          <a:p>
            <a:pPr indent="-364490" lvl="0" marL="744220" marR="813435" rtl="0" algn="l">
              <a:lnSpc>
                <a:spcPct val="100000"/>
              </a:lnSpc>
              <a:spcBef>
                <a:spcPts val="0"/>
              </a:spcBef>
              <a:spcAft>
                <a:spcPts val="0"/>
              </a:spcAft>
              <a:buNone/>
            </a:pPr>
            <a:r>
              <a:rPr lang="en-US" sz="1400">
                <a:solidFill>
                  <a:schemeClr val="dk1"/>
                </a:solidFill>
                <a:latin typeface="Cambria"/>
                <a:ea typeface="Cambria"/>
                <a:cs typeface="Cambria"/>
                <a:sym typeface="Cambria"/>
              </a:rPr>
              <a:t>public static void main( String args[] ) {  Object object;</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Parent parent;</a:t>
            </a:r>
            <a:endParaRPr sz="1400">
              <a:solidFill>
                <a:schemeClr val="dk1"/>
              </a:solidFill>
              <a:latin typeface="Cambria"/>
              <a:ea typeface="Cambria"/>
              <a:cs typeface="Cambria"/>
              <a:sym typeface="Cambria"/>
            </a:endParaRPr>
          </a:p>
          <a:p>
            <a:pPr indent="0" lvl="0" marL="744220" marR="1570990" rtl="0" algn="l">
              <a:lnSpc>
                <a:spcPct val="100000"/>
              </a:lnSpc>
              <a:spcBef>
                <a:spcPts val="0"/>
              </a:spcBef>
              <a:spcAft>
                <a:spcPts val="0"/>
              </a:spcAft>
              <a:buNone/>
            </a:pPr>
            <a:r>
              <a:rPr lang="en-US" sz="1400">
                <a:solidFill>
                  <a:schemeClr val="dk1"/>
                </a:solidFill>
                <a:latin typeface="Cambria"/>
                <a:ea typeface="Cambria"/>
                <a:cs typeface="Cambria"/>
                <a:sym typeface="Cambria"/>
              </a:rPr>
              <a:t>Child child = new Child();  Uncle uncle;</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parent = child;</a:t>
            </a:r>
            <a:endParaRPr sz="1400">
              <a:solidFill>
                <a:schemeClr val="dk1"/>
              </a:solidFill>
              <a:latin typeface="Cambria"/>
              <a:ea typeface="Cambria"/>
              <a:cs typeface="Cambria"/>
              <a:sym typeface="Cambria"/>
            </a:endParaRPr>
          </a:p>
          <a:p>
            <a:pPr indent="0" lvl="0" marL="744220" marR="0" rtl="0" algn="l">
              <a:lnSpc>
                <a:spcPct val="100000"/>
              </a:lnSpc>
              <a:spcBef>
                <a:spcPts val="0"/>
              </a:spcBef>
              <a:spcAft>
                <a:spcPts val="0"/>
              </a:spcAft>
              <a:buNone/>
            </a:pPr>
            <a:r>
              <a:rPr lang="en-US" sz="1400">
                <a:solidFill>
                  <a:schemeClr val="dk1"/>
                </a:solidFill>
                <a:latin typeface="Cambria"/>
                <a:ea typeface="Cambria"/>
                <a:cs typeface="Cambria"/>
                <a:sym typeface="Cambria"/>
              </a:rPr>
              <a:t>object = child;</a:t>
            </a:r>
            <a:endParaRPr sz="1400">
              <a:solidFill>
                <a:schemeClr val="dk1"/>
              </a:solidFill>
              <a:latin typeface="Cambria"/>
              <a:ea typeface="Cambria"/>
              <a:cs typeface="Cambria"/>
              <a:sym typeface="Cambria"/>
            </a:endParaRPr>
          </a:p>
          <a:p>
            <a:pPr indent="0" lvl="0" marL="744220" marR="5080" rtl="0" algn="l">
              <a:lnSpc>
                <a:spcPct val="100000"/>
              </a:lnSpc>
              <a:spcBef>
                <a:spcPts val="0"/>
              </a:spcBef>
              <a:spcAft>
                <a:spcPts val="0"/>
              </a:spcAft>
              <a:buNone/>
            </a:pPr>
            <a:r>
              <a:rPr lang="en-US" sz="1400">
                <a:solidFill>
                  <a:schemeClr val="dk1"/>
                </a:solidFill>
                <a:latin typeface="Cambria"/>
                <a:ea typeface="Cambria"/>
                <a:cs typeface="Cambria"/>
                <a:sym typeface="Cambria"/>
              </a:rPr>
              <a:t>parent = (Parent) object; // explicit cast down  child = (Child) object; // explicit cast down  uncle = (Uncle) object; //Runtime exception</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5"/>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273050" lvl="0" marL="285115" marR="0" rtl="0" algn="l">
              <a:lnSpc>
                <a:spcPct val="100000"/>
              </a:lnSpc>
              <a:spcBef>
                <a:spcPts val="590"/>
              </a:spcBef>
              <a:spcAft>
                <a:spcPts val="0"/>
              </a:spcAft>
              <a:buClr>
                <a:srgbClr val="FD8537"/>
              </a:buClr>
              <a:buSzPts val="1400"/>
              <a:buFont typeface="Noto Sans Symbols"/>
              <a:buChar char="🞆"/>
            </a:pPr>
            <a:r>
              <a:rPr b="1" lang="en-US" sz="2000">
                <a:solidFill>
                  <a:schemeClr val="dk1"/>
                </a:solidFill>
                <a:latin typeface="Cambria"/>
                <a:ea typeface="Cambria"/>
                <a:cs typeface="Cambria"/>
                <a:sym typeface="Cambria"/>
              </a:rPr>
              <a:t>Output</a:t>
            </a:r>
            <a:endParaRPr sz="2000">
              <a:solidFill>
                <a:schemeClr val="dk1"/>
              </a:solidFill>
              <a:latin typeface="Cambria"/>
              <a:ea typeface="Cambria"/>
              <a:cs typeface="Cambria"/>
              <a:sym typeface="Cambria"/>
            </a:endParaRPr>
          </a:p>
        </p:txBody>
      </p:sp>
      <p:sp>
        <p:nvSpPr>
          <p:cNvPr id="481" name="Google Shape;481;p60"/>
          <p:cNvSpPr txBox="1"/>
          <p:nvPr/>
        </p:nvSpPr>
        <p:spPr>
          <a:xfrm>
            <a:off x="535940" y="4862321"/>
            <a:ext cx="7271384" cy="1670685"/>
          </a:xfrm>
          <a:prstGeom prst="rect">
            <a:avLst/>
          </a:prstGeom>
          <a:noFill/>
          <a:ln>
            <a:noFill/>
          </a:ln>
        </p:spPr>
        <p:txBody>
          <a:bodyPr anchorCtr="0" anchor="t" bIns="0" lIns="0" spcFirstLastPara="1" rIns="0" wrap="square" tIns="12700">
            <a:spAutoFit/>
          </a:bodyPr>
          <a:lstStyle/>
          <a:p>
            <a:pPr indent="0" lvl="0" marL="285115" marR="0" rtl="0" algn="l">
              <a:lnSpc>
                <a:spcPct val="100000"/>
              </a:lnSpc>
              <a:spcBef>
                <a:spcPts val="0"/>
              </a:spcBef>
              <a:spcAft>
                <a:spcPts val="0"/>
              </a:spcAft>
              <a:buNone/>
            </a:pPr>
            <a:r>
              <a:rPr lang="en-US" sz="1800">
                <a:solidFill>
                  <a:schemeClr val="dk1"/>
                </a:solidFill>
                <a:latin typeface="Cambria"/>
                <a:ea typeface="Cambria"/>
                <a:cs typeface="Cambria"/>
                <a:sym typeface="Cambria"/>
              </a:rPr>
              <a:t>java.lang.ClassCastException: Child: cannot cast to Uncle</a:t>
            </a:r>
            <a:endParaRPr sz="1800">
              <a:solidFill>
                <a:schemeClr val="dk1"/>
              </a:solidFill>
              <a:latin typeface="Cambria"/>
              <a:ea typeface="Cambria"/>
              <a:cs typeface="Cambria"/>
              <a:sym typeface="Cambria"/>
            </a:endParaRPr>
          </a:p>
          <a:p>
            <a:pPr indent="0" lvl="0" marL="0" marR="0" rtl="0" algn="l">
              <a:lnSpc>
                <a:spcPct val="100000"/>
              </a:lnSpc>
              <a:spcBef>
                <a:spcPts val="15"/>
              </a:spcBef>
              <a:spcAft>
                <a:spcPts val="0"/>
              </a:spcAft>
              <a:buNone/>
            </a:pPr>
            <a:r>
              <a:t/>
            </a:r>
            <a:endParaRPr sz="3050">
              <a:solidFill>
                <a:schemeClr val="dk1"/>
              </a:solidFill>
              <a:latin typeface="Cambria"/>
              <a:ea typeface="Cambria"/>
              <a:cs typeface="Cambria"/>
              <a:sym typeface="Cambria"/>
            </a:endParaRPr>
          </a:p>
          <a:p>
            <a:pPr indent="-273050" lvl="0" marL="285115" marR="508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the cast "(Uncle) object" is a runtime error - because at that  time	object holds an instance of the Child class, which is  not of type (or subclass) of Uncle.</a:t>
            </a:r>
            <a:endParaRPr sz="2000">
              <a:solidFill>
                <a:schemeClr val="dk1"/>
              </a:solidFill>
              <a:latin typeface="Cambria"/>
              <a:ea typeface="Cambria"/>
              <a:cs typeface="Cambria"/>
              <a:sym typeface="Cambria"/>
            </a:endParaRPr>
          </a:p>
        </p:txBody>
      </p:sp>
      <p:grpSp>
        <p:nvGrpSpPr>
          <p:cNvPr id="482" name="Google Shape;482;p60"/>
          <p:cNvGrpSpPr/>
          <p:nvPr/>
        </p:nvGrpSpPr>
        <p:grpSpPr>
          <a:xfrm>
            <a:off x="6580758" y="2211197"/>
            <a:ext cx="788035" cy="1193164"/>
            <a:chOff x="6580758" y="2211197"/>
            <a:chExt cx="788035" cy="1193164"/>
          </a:xfrm>
        </p:grpSpPr>
        <p:sp>
          <p:nvSpPr>
            <p:cNvPr id="483" name="Google Shape;483;p60"/>
            <p:cNvSpPr/>
            <p:nvPr/>
          </p:nvSpPr>
          <p:spPr>
            <a:xfrm>
              <a:off x="6580758" y="2620391"/>
              <a:ext cx="788035" cy="187960"/>
            </a:xfrm>
            <a:custGeom>
              <a:rect b="b" l="l" r="r" t="t"/>
              <a:pathLst>
                <a:path extrusionOk="0" h="187960" w="788034">
                  <a:moveTo>
                    <a:pt x="393826" y="0"/>
                  </a:moveTo>
                  <a:lnTo>
                    <a:pt x="393826" y="127762"/>
                  </a:lnTo>
                  <a:lnTo>
                    <a:pt x="787654" y="127762"/>
                  </a:lnTo>
                  <a:lnTo>
                    <a:pt x="787654" y="187451"/>
                  </a:lnTo>
                </a:path>
                <a:path extrusionOk="0" h="187960" w="788034">
                  <a:moveTo>
                    <a:pt x="393826" y="0"/>
                  </a:moveTo>
                  <a:lnTo>
                    <a:pt x="393826" y="127762"/>
                  </a:lnTo>
                  <a:lnTo>
                    <a:pt x="0" y="127762"/>
                  </a:lnTo>
                  <a:lnTo>
                    <a:pt x="0" y="187451"/>
                  </a:lnTo>
                </a:path>
              </a:pathLst>
            </a:custGeom>
            <a:noFill/>
            <a:ln cap="flat" cmpd="sng" w="25400">
              <a:solidFill>
                <a:srgbClr val="CA6A2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60"/>
            <p:cNvSpPr/>
            <p:nvPr/>
          </p:nvSpPr>
          <p:spPr>
            <a:xfrm>
              <a:off x="6652386" y="2211197"/>
              <a:ext cx="644525" cy="409575"/>
            </a:xfrm>
            <a:custGeom>
              <a:rect b="b" l="l" r="r" t="t"/>
              <a:pathLst>
                <a:path extrusionOk="0" h="409575" w="644525">
                  <a:moveTo>
                    <a:pt x="603504" y="0"/>
                  </a:moveTo>
                  <a:lnTo>
                    <a:pt x="40894" y="0"/>
                  </a:lnTo>
                  <a:lnTo>
                    <a:pt x="24967" y="3210"/>
                  </a:lnTo>
                  <a:lnTo>
                    <a:pt x="11969" y="11969"/>
                  </a:lnTo>
                  <a:lnTo>
                    <a:pt x="3210" y="24967"/>
                  </a:lnTo>
                  <a:lnTo>
                    <a:pt x="0" y="40893"/>
                  </a:lnTo>
                  <a:lnTo>
                    <a:pt x="0" y="368300"/>
                  </a:lnTo>
                  <a:lnTo>
                    <a:pt x="3210" y="384226"/>
                  </a:lnTo>
                  <a:lnTo>
                    <a:pt x="11969" y="397224"/>
                  </a:lnTo>
                  <a:lnTo>
                    <a:pt x="24967" y="405983"/>
                  </a:lnTo>
                  <a:lnTo>
                    <a:pt x="40894" y="409193"/>
                  </a:lnTo>
                  <a:lnTo>
                    <a:pt x="603504" y="409193"/>
                  </a:lnTo>
                  <a:lnTo>
                    <a:pt x="619430" y="405983"/>
                  </a:lnTo>
                  <a:lnTo>
                    <a:pt x="632428" y="397224"/>
                  </a:lnTo>
                  <a:lnTo>
                    <a:pt x="641187" y="384226"/>
                  </a:lnTo>
                  <a:lnTo>
                    <a:pt x="644398" y="368300"/>
                  </a:lnTo>
                  <a:lnTo>
                    <a:pt x="644398" y="40893"/>
                  </a:lnTo>
                  <a:lnTo>
                    <a:pt x="641187" y="24967"/>
                  </a:lnTo>
                  <a:lnTo>
                    <a:pt x="632428" y="11969"/>
                  </a:lnTo>
                  <a:lnTo>
                    <a:pt x="619430" y="3210"/>
                  </a:lnTo>
                  <a:lnTo>
                    <a:pt x="603504"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60"/>
            <p:cNvSpPr/>
            <p:nvPr/>
          </p:nvSpPr>
          <p:spPr>
            <a:xfrm>
              <a:off x="6652386" y="2211197"/>
              <a:ext cx="644525" cy="409575"/>
            </a:xfrm>
            <a:custGeom>
              <a:rect b="b" l="l" r="r" t="t"/>
              <a:pathLst>
                <a:path extrusionOk="0" h="409575" w="644525">
                  <a:moveTo>
                    <a:pt x="0" y="40893"/>
                  </a:moveTo>
                  <a:lnTo>
                    <a:pt x="3210" y="24967"/>
                  </a:lnTo>
                  <a:lnTo>
                    <a:pt x="11969" y="11969"/>
                  </a:lnTo>
                  <a:lnTo>
                    <a:pt x="24967" y="3210"/>
                  </a:lnTo>
                  <a:lnTo>
                    <a:pt x="40894" y="0"/>
                  </a:lnTo>
                  <a:lnTo>
                    <a:pt x="603504" y="0"/>
                  </a:lnTo>
                  <a:lnTo>
                    <a:pt x="619430" y="3210"/>
                  </a:lnTo>
                  <a:lnTo>
                    <a:pt x="632428" y="11969"/>
                  </a:lnTo>
                  <a:lnTo>
                    <a:pt x="641187" y="24967"/>
                  </a:lnTo>
                  <a:lnTo>
                    <a:pt x="644398" y="40893"/>
                  </a:lnTo>
                  <a:lnTo>
                    <a:pt x="644398" y="368300"/>
                  </a:lnTo>
                  <a:lnTo>
                    <a:pt x="641187" y="384226"/>
                  </a:lnTo>
                  <a:lnTo>
                    <a:pt x="632428" y="397224"/>
                  </a:lnTo>
                  <a:lnTo>
                    <a:pt x="619430" y="405983"/>
                  </a:lnTo>
                  <a:lnTo>
                    <a:pt x="603504" y="409193"/>
                  </a:lnTo>
                  <a:lnTo>
                    <a:pt x="40894" y="409193"/>
                  </a:lnTo>
                  <a:lnTo>
                    <a:pt x="24967" y="405983"/>
                  </a:lnTo>
                  <a:lnTo>
                    <a:pt x="11969" y="397224"/>
                  </a:lnTo>
                  <a:lnTo>
                    <a:pt x="3210" y="384226"/>
                  </a:lnTo>
                  <a:lnTo>
                    <a:pt x="0" y="368300"/>
                  </a:lnTo>
                  <a:lnTo>
                    <a:pt x="0" y="40893"/>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60"/>
            <p:cNvSpPr/>
            <p:nvPr/>
          </p:nvSpPr>
          <p:spPr>
            <a:xfrm>
              <a:off x="6724014" y="2279142"/>
              <a:ext cx="644525" cy="409575"/>
            </a:xfrm>
            <a:custGeom>
              <a:rect b="b" l="l" r="r" t="t"/>
              <a:pathLst>
                <a:path extrusionOk="0" h="409575" w="644525">
                  <a:moveTo>
                    <a:pt x="603503" y="0"/>
                  </a:moveTo>
                  <a:lnTo>
                    <a:pt x="40893" y="0"/>
                  </a:lnTo>
                  <a:lnTo>
                    <a:pt x="24967" y="3230"/>
                  </a:lnTo>
                  <a:lnTo>
                    <a:pt x="11969" y="12033"/>
                  </a:lnTo>
                  <a:lnTo>
                    <a:pt x="3210" y="25074"/>
                  </a:lnTo>
                  <a:lnTo>
                    <a:pt x="0" y="41021"/>
                  </a:lnTo>
                  <a:lnTo>
                    <a:pt x="0" y="368300"/>
                  </a:lnTo>
                  <a:lnTo>
                    <a:pt x="3210" y="384246"/>
                  </a:lnTo>
                  <a:lnTo>
                    <a:pt x="11969" y="397287"/>
                  </a:lnTo>
                  <a:lnTo>
                    <a:pt x="24967" y="406090"/>
                  </a:lnTo>
                  <a:lnTo>
                    <a:pt x="40893" y="409321"/>
                  </a:lnTo>
                  <a:lnTo>
                    <a:pt x="603503" y="409321"/>
                  </a:lnTo>
                  <a:lnTo>
                    <a:pt x="619430" y="406090"/>
                  </a:lnTo>
                  <a:lnTo>
                    <a:pt x="632428" y="397287"/>
                  </a:lnTo>
                  <a:lnTo>
                    <a:pt x="641187" y="384246"/>
                  </a:lnTo>
                  <a:lnTo>
                    <a:pt x="644398" y="368300"/>
                  </a:lnTo>
                  <a:lnTo>
                    <a:pt x="644398" y="41021"/>
                  </a:lnTo>
                  <a:lnTo>
                    <a:pt x="641187" y="25074"/>
                  </a:lnTo>
                  <a:lnTo>
                    <a:pt x="632428" y="12033"/>
                  </a:lnTo>
                  <a:lnTo>
                    <a:pt x="619430" y="3230"/>
                  </a:lnTo>
                  <a:lnTo>
                    <a:pt x="603503"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60"/>
            <p:cNvSpPr/>
            <p:nvPr/>
          </p:nvSpPr>
          <p:spPr>
            <a:xfrm>
              <a:off x="6724014" y="2279142"/>
              <a:ext cx="644525" cy="409575"/>
            </a:xfrm>
            <a:custGeom>
              <a:rect b="b" l="l" r="r" t="t"/>
              <a:pathLst>
                <a:path extrusionOk="0" h="409575" w="644525">
                  <a:moveTo>
                    <a:pt x="0" y="41021"/>
                  </a:moveTo>
                  <a:lnTo>
                    <a:pt x="3210" y="25074"/>
                  </a:lnTo>
                  <a:lnTo>
                    <a:pt x="11969" y="12033"/>
                  </a:lnTo>
                  <a:lnTo>
                    <a:pt x="24967" y="3230"/>
                  </a:lnTo>
                  <a:lnTo>
                    <a:pt x="40893" y="0"/>
                  </a:lnTo>
                  <a:lnTo>
                    <a:pt x="603503" y="0"/>
                  </a:lnTo>
                  <a:lnTo>
                    <a:pt x="619430" y="3230"/>
                  </a:lnTo>
                  <a:lnTo>
                    <a:pt x="632428" y="12033"/>
                  </a:lnTo>
                  <a:lnTo>
                    <a:pt x="641187" y="25074"/>
                  </a:lnTo>
                  <a:lnTo>
                    <a:pt x="644398" y="41021"/>
                  </a:lnTo>
                  <a:lnTo>
                    <a:pt x="644398" y="368300"/>
                  </a:lnTo>
                  <a:lnTo>
                    <a:pt x="641187" y="384246"/>
                  </a:lnTo>
                  <a:lnTo>
                    <a:pt x="632428" y="397287"/>
                  </a:lnTo>
                  <a:lnTo>
                    <a:pt x="619430" y="406090"/>
                  </a:lnTo>
                  <a:lnTo>
                    <a:pt x="603503" y="409321"/>
                  </a:lnTo>
                  <a:lnTo>
                    <a:pt x="40893" y="409321"/>
                  </a:lnTo>
                  <a:lnTo>
                    <a:pt x="24967" y="406090"/>
                  </a:lnTo>
                  <a:lnTo>
                    <a:pt x="11969" y="397287"/>
                  </a:lnTo>
                  <a:lnTo>
                    <a:pt x="3210" y="384246"/>
                  </a:lnTo>
                  <a:lnTo>
                    <a:pt x="0" y="368300"/>
                  </a:lnTo>
                  <a:lnTo>
                    <a:pt x="0" y="41021"/>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60"/>
            <p:cNvSpPr/>
            <p:nvPr/>
          </p:nvSpPr>
          <p:spPr>
            <a:xfrm>
              <a:off x="6580758" y="3217036"/>
              <a:ext cx="0" cy="187325"/>
            </a:xfrm>
            <a:custGeom>
              <a:rect b="b" l="l" r="r" t="t"/>
              <a:pathLst>
                <a:path extrusionOk="0" h="187325" w="120000">
                  <a:moveTo>
                    <a:pt x="0" y="0"/>
                  </a:moveTo>
                  <a:lnTo>
                    <a:pt x="0" y="187325"/>
                  </a:lnTo>
                </a:path>
              </a:pathLst>
            </a:custGeom>
            <a:noFill/>
            <a:ln cap="flat" cmpd="sng" w="25400">
              <a:solidFill>
                <a:srgbClr val="E679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9" name="Google Shape;489;p60"/>
          <p:cNvSpPr txBox="1"/>
          <p:nvPr/>
        </p:nvSpPr>
        <p:spPr>
          <a:xfrm>
            <a:off x="6808089" y="2369311"/>
            <a:ext cx="478155"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Cambria"/>
                <a:ea typeface="Cambria"/>
                <a:cs typeface="Cambria"/>
                <a:sym typeface="Cambria"/>
              </a:rPr>
              <a:t>Object</a:t>
            </a:r>
            <a:endParaRPr sz="1200">
              <a:solidFill>
                <a:schemeClr val="dk1"/>
              </a:solidFill>
              <a:latin typeface="Cambria"/>
              <a:ea typeface="Cambria"/>
              <a:cs typeface="Cambria"/>
              <a:sym typeface="Cambria"/>
            </a:endParaRPr>
          </a:p>
        </p:txBody>
      </p:sp>
      <p:grpSp>
        <p:nvGrpSpPr>
          <p:cNvPr id="490" name="Google Shape;490;p60"/>
          <p:cNvGrpSpPr/>
          <p:nvPr/>
        </p:nvGrpSpPr>
        <p:grpSpPr>
          <a:xfrm>
            <a:off x="6258559" y="2807842"/>
            <a:ext cx="716153" cy="477520"/>
            <a:chOff x="6258559" y="2807842"/>
            <a:chExt cx="716153" cy="477520"/>
          </a:xfrm>
        </p:grpSpPr>
        <p:sp>
          <p:nvSpPr>
            <p:cNvPr id="491" name="Google Shape;491;p60"/>
            <p:cNvSpPr/>
            <p:nvPr/>
          </p:nvSpPr>
          <p:spPr>
            <a:xfrm>
              <a:off x="6258559" y="2807842"/>
              <a:ext cx="644525" cy="409575"/>
            </a:xfrm>
            <a:custGeom>
              <a:rect b="b" l="l" r="r" t="t"/>
              <a:pathLst>
                <a:path extrusionOk="0" h="409575" w="644525">
                  <a:moveTo>
                    <a:pt x="603504" y="0"/>
                  </a:moveTo>
                  <a:lnTo>
                    <a:pt x="40893" y="0"/>
                  </a:lnTo>
                  <a:lnTo>
                    <a:pt x="24967" y="3210"/>
                  </a:lnTo>
                  <a:lnTo>
                    <a:pt x="11969" y="11969"/>
                  </a:lnTo>
                  <a:lnTo>
                    <a:pt x="3210" y="24967"/>
                  </a:lnTo>
                  <a:lnTo>
                    <a:pt x="0" y="40894"/>
                  </a:lnTo>
                  <a:lnTo>
                    <a:pt x="0" y="368300"/>
                  </a:lnTo>
                  <a:lnTo>
                    <a:pt x="3210" y="384173"/>
                  </a:lnTo>
                  <a:lnTo>
                    <a:pt x="11969" y="397176"/>
                  </a:lnTo>
                  <a:lnTo>
                    <a:pt x="24967" y="405965"/>
                  </a:lnTo>
                  <a:lnTo>
                    <a:pt x="40893" y="409194"/>
                  </a:lnTo>
                  <a:lnTo>
                    <a:pt x="603504" y="409194"/>
                  </a:lnTo>
                  <a:lnTo>
                    <a:pt x="619430" y="405965"/>
                  </a:lnTo>
                  <a:lnTo>
                    <a:pt x="632428" y="397176"/>
                  </a:lnTo>
                  <a:lnTo>
                    <a:pt x="641187" y="384173"/>
                  </a:lnTo>
                  <a:lnTo>
                    <a:pt x="644397" y="368300"/>
                  </a:lnTo>
                  <a:lnTo>
                    <a:pt x="644397" y="40894"/>
                  </a:lnTo>
                  <a:lnTo>
                    <a:pt x="641187" y="24967"/>
                  </a:lnTo>
                  <a:lnTo>
                    <a:pt x="632428" y="11969"/>
                  </a:lnTo>
                  <a:lnTo>
                    <a:pt x="619430" y="3210"/>
                  </a:lnTo>
                  <a:lnTo>
                    <a:pt x="603504"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60"/>
            <p:cNvSpPr/>
            <p:nvPr/>
          </p:nvSpPr>
          <p:spPr>
            <a:xfrm>
              <a:off x="6258559" y="2807842"/>
              <a:ext cx="644525" cy="409575"/>
            </a:xfrm>
            <a:custGeom>
              <a:rect b="b" l="l" r="r" t="t"/>
              <a:pathLst>
                <a:path extrusionOk="0" h="409575" w="644525">
                  <a:moveTo>
                    <a:pt x="0" y="40894"/>
                  </a:moveTo>
                  <a:lnTo>
                    <a:pt x="3210" y="24967"/>
                  </a:lnTo>
                  <a:lnTo>
                    <a:pt x="11969" y="11969"/>
                  </a:lnTo>
                  <a:lnTo>
                    <a:pt x="24967" y="3210"/>
                  </a:lnTo>
                  <a:lnTo>
                    <a:pt x="40893" y="0"/>
                  </a:lnTo>
                  <a:lnTo>
                    <a:pt x="603504" y="0"/>
                  </a:lnTo>
                  <a:lnTo>
                    <a:pt x="619430" y="3210"/>
                  </a:lnTo>
                  <a:lnTo>
                    <a:pt x="632428" y="11969"/>
                  </a:lnTo>
                  <a:lnTo>
                    <a:pt x="641187" y="24967"/>
                  </a:lnTo>
                  <a:lnTo>
                    <a:pt x="644397" y="40894"/>
                  </a:lnTo>
                  <a:lnTo>
                    <a:pt x="644397" y="368300"/>
                  </a:lnTo>
                  <a:lnTo>
                    <a:pt x="641187" y="384173"/>
                  </a:lnTo>
                  <a:lnTo>
                    <a:pt x="632428" y="397176"/>
                  </a:lnTo>
                  <a:lnTo>
                    <a:pt x="619430" y="405965"/>
                  </a:lnTo>
                  <a:lnTo>
                    <a:pt x="603504" y="409194"/>
                  </a:lnTo>
                  <a:lnTo>
                    <a:pt x="40893" y="409194"/>
                  </a:lnTo>
                  <a:lnTo>
                    <a:pt x="24967" y="405965"/>
                  </a:lnTo>
                  <a:lnTo>
                    <a:pt x="11969" y="397176"/>
                  </a:lnTo>
                  <a:lnTo>
                    <a:pt x="3210" y="384173"/>
                  </a:lnTo>
                  <a:lnTo>
                    <a:pt x="0" y="368300"/>
                  </a:lnTo>
                  <a:lnTo>
                    <a:pt x="0" y="40894"/>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3" name="Google Shape;493;p60"/>
            <p:cNvSpPr/>
            <p:nvPr/>
          </p:nvSpPr>
          <p:spPr>
            <a:xfrm>
              <a:off x="6330187" y="2875787"/>
              <a:ext cx="644525" cy="409575"/>
            </a:xfrm>
            <a:custGeom>
              <a:rect b="b" l="l" r="r" t="t"/>
              <a:pathLst>
                <a:path extrusionOk="0" h="409575" w="644525">
                  <a:moveTo>
                    <a:pt x="603504" y="0"/>
                  </a:moveTo>
                  <a:lnTo>
                    <a:pt x="40894" y="0"/>
                  </a:lnTo>
                  <a:lnTo>
                    <a:pt x="24967" y="3228"/>
                  </a:lnTo>
                  <a:lnTo>
                    <a:pt x="11969" y="12017"/>
                  </a:lnTo>
                  <a:lnTo>
                    <a:pt x="3210" y="25020"/>
                  </a:lnTo>
                  <a:lnTo>
                    <a:pt x="0" y="40894"/>
                  </a:lnTo>
                  <a:lnTo>
                    <a:pt x="0" y="368300"/>
                  </a:lnTo>
                  <a:lnTo>
                    <a:pt x="3210" y="384226"/>
                  </a:lnTo>
                  <a:lnTo>
                    <a:pt x="11969" y="397224"/>
                  </a:lnTo>
                  <a:lnTo>
                    <a:pt x="24967" y="405983"/>
                  </a:lnTo>
                  <a:lnTo>
                    <a:pt x="40894" y="409194"/>
                  </a:lnTo>
                  <a:lnTo>
                    <a:pt x="603504" y="409194"/>
                  </a:lnTo>
                  <a:lnTo>
                    <a:pt x="619430" y="405983"/>
                  </a:lnTo>
                  <a:lnTo>
                    <a:pt x="632428" y="397224"/>
                  </a:lnTo>
                  <a:lnTo>
                    <a:pt x="641187" y="384226"/>
                  </a:lnTo>
                  <a:lnTo>
                    <a:pt x="644397" y="368300"/>
                  </a:lnTo>
                  <a:lnTo>
                    <a:pt x="644397" y="40894"/>
                  </a:lnTo>
                  <a:lnTo>
                    <a:pt x="641187" y="25020"/>
                  </a:lnTo>
                  <a:lnTo>
                    <a:pt x="632428" y="12017"/>
                  </a:lnTo>
                  <a:lnTo>
                    <a:pt x="619430" y="3228"/>
                  </a:lnTo>
                  <a:lnTo>
                    <a:pt x="603504"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60"/>
            <p:cNvSpPr/>
            <p:nvPr/>
          </p:nvSpPr>
          <p:spPr>
            <a:xfrm>
              <a:off x="6330187" y="2875787"/>
              <a:ext cx="644525" cy="409575"/>
            </a:xfrm>
            <a:custGeom>
              <a:rect b="b" l="l" r="r" t="t"/>
              <a:pathLst>
                <a:path extrusionOk="0" h="409575" w="644525">
                  <a:moveTo>
                    <a:pt x="0" y="40894"/>
                  </a:moveTo>
                  <a:lnTo>
                    <a:pt x="3210" y="25020"/>
                  </a:lnTo>
                  <a:lnTo>
                    <a:pt x="11969" y="12017"/>
                  </a:lnTo>
                  <a:lnTo>
                    <a:pt x="24967" y="3228"/>
                  </a:lnTo>
                  <a:lnTo>
                    <a:pt x="40894" y="0"/>
                  </a:lnTo>
                  <a:lnTo>
                    <a:pt x="603504" y="0"/>
                  </a:lnTo>
                  <a:lnTo>
                    <a:pt x="619430" y="3228"/>
                  </a:lnTo>
                  <a:lnTo>
                    <a:pt x="632428" y="12017"/>
                  </a:lnTo>
                  <a:lnTo>
                    <a:pt x="641187" y="25020"/>
                  </a:lnTo>
                  <a:lnTo>
                    <a:pt x="644397" y="40894"/>
                  </a:lnTo>
                  <a:lnTo>
                    <a:pt x="644397" y="368300"/>
                  </a:lnTo>
                  <a:lnTo>
                    <a:pt x="641187" y="384226"/>
                  </a:lnTo>
                  <a:lnTo>
                    <a:pt x="632428" y="397224"/>
                  </a:lnTo>
                  <a:lnTo>
                    <a:pt x="619430" y="405983"/>
                  </a:lnTo>
                  <a:lnTo>
                    <a:pt x="603504" y="409194"/>
                  </a:lnTo>
                  <a:lnTo>
                    <a:pt x="40894" y="409194"/>
                  </a:lnTo>
                  <a:lnTo>
                    <a:pt x="24967" y="405983"/>
                  </a:lnTo>
                  <a:lnTo>
                    <a:pt x="11969" y="397224"/>
                  </a:lnTo>
                  <a:lnTo>
                    <a:pt x="3210" y="384226"/>
                  </a:lnTo>
                  <a:lnTo>
                    <a:pt x="0" y="368300"/>
                  </a:lnTo>
                  <a:lnTo>
                    <a:pt x="0" y="40894"/>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95" name="Google Shape;495;p60"/>
          <p:cNvSpPr txBox="1"/>
          <p:nvPr/>
        </p:nvSpPr>
        <p:spPr>
          <a:xfrm>
            <a:off x="6399021" y="2966084"/>
            <a:ext cx="508634"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Cambria"/>
                <a:ea typeface="Cambria"/>
                <a:cs typeface="Cambria"/>
                <a:sym typeface="Cambria"/>
              </a:rPr>
              <a:t>Parent</a:t>
            </a:r>
            <a:endParaRPr sz="1200">
              <a:solidFill>
                <a:schemeClr val="dk1"/>
              </a:solidFill>
              <a:latin typeface="Cambria"/>
              <a:ea typeface="Cambria"/>
              <a:cs typeface="Cambria"/>
              <a:sym typeface="Cambria"/>
            </a:endParaRPr>
          </a:p>
        </p:txBody>
      </p:sp>
      <p:grpSp>
        <p:nvGrpSpPr>
          <p:cNvPr id="496" name="Google Shape;496;p60"/>
          <p:cNvGrpSpPr/>
          <p:nvPr/>
        </p:nvGrpSpPr>
        <p:grpSpPr>
          <a:xfrm>
            <a:off x="6258559" y="3404361"/>
            <a:ext cx="716153" cy="477647"/>
            <a:chOff x="6258559" y="3404361"/>
            <a:chExt cx="716153" cy="477647"/>
          </a:xfrm>
        </p:grpSpPr>
        <p:sp>
          <p:nvSpPr>
            <p:cNvPr id="497" name="Google Shape;497;p60"/>
            <p:cNvSpPr/>
            <p:nvPr/>
          </p:nvSpPr>
          <p:spPr>
            <a:xfrm>
              <a:off x="6258559" y="3404361"/>
              <a:ext cx="644525" cy="409575"/>
            </a:xfrm>
            <a:custGeom>
              <a:rect b="b" l="l" r="r" t="t"/>
              <a:pathLst>
                <a:path extrusionOk="0" h="409575" w="644525">
                  <a:moveTo>
                    <a:pt x="603504" y="0"/>
                  </a:moveTo>
                  <a:lnTo>
                    <a:pt x="40893" y="0"/>
                  </a:lnTo>
                  <a:lnTo>
                    <a:pt x="24967" y="3230"/>
                  </a:lnTo>
                  <a:lnTo>
                    <a:pt x="11969" y="12033"/>
                  </a:lnTo>
                  <a:lnTo>
                    <a:pt x="3210" y="25074"/>
                  </a:lnTo>
                  <a:lnTo>
                    <a:pt x="0" y="41021"/>
                  </a:lnTo>
                  <a:lnTo>
                    <a:pt x="0" y="368300"/>
                  </a:lnTo>
                  <a:lnTo>
                    <a:pt x="3210" y="384226"/>
                  </a:lnTo>
                  <a:lnTo>
                    <a:pt x="11969" y="397224"/>
                  </a:lnTo>
                  <a:lnTo>
                    <a:pt x="24967" y="405983"/>
                  </a:lnTo>
                  <a:lnTo>
                    <a:pt x="40893" y="409194"/>
                  </a:lnTo>
                  <a:lnTo>
                    <a:pt x="603504" y="409194"/>
                  </a:lnTo>
                  <a:lnTo>
                    <a:pt x="619430" y="405983"/>
                  </a:lnTo>
                  <a:lnTo>
                    <a:pt x="632428" y="397224"/>
                  </a:lnTo>
                  <a:lnTo>
                    <a:pt x="641187" y="384226"/>
                  </a:lnTo>
                  <a:lnTo>
                    <a:pt x="644397" y="368300"/>
                  </a:lnTo>
                  <a:lnTo>
                    <a:pt x="644397" y="41021"/>
                  </a:lnTo>
                  <a:lnTo>
                    <a:pt x="641187" y="25074"/>
                  </a:lnTo>
                  <a:lnTo>
                    <a:pt x="632428" y="12033"/>
                  </a:lnTo>
                  <a:lnTo>
                    <a:pt x="619430" y="3230"/>
                  </a:lnTo>
                  <a:lnTo>
                    <a:pt x="603504"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60"/>
            <p:cNvSpPr/>
            <p:nvPr/>
          </p:nvSpPr>
          <p:spPr>
            <a:xfrm>
              <a:off x="6258559" y="3404361"/>
              <a:ext cx="644525" cy="409575"/>
            </a:xfrm>
            <a:custGeom>
              <a:rect b="b" l="l" r="r" t="t"/>
              <a:pathLst>
                <a:path extrusionOk="0" h="409575" w="644525">
                  <a:moveTo>
                    <a:pt x="0" y="41021"/>
                  </a:moveTo>
                  <a:lnTo>
                    <a:pt x="3210" y="25074"/>
                  </a:lnTo>
                  <a:lnTo>
                    <a:pt x="11969" y="12033"/>
                  </a:lnTo>
                  <a:lnTo>
                    <a:pt x="24967" y="3230"/>
                  </a:lnTo>
                  <a:lnTo>
                    <a:pt x="40893" y="0"/>
                  </a:lnTo>
                  <a:lnTo>
                    <a:pt x="603504" y="0"/>
                  </a:lnTo>
                  <a:lnTo>
                    <a:pt x="619430" y="3230"/>
                  </a:lnTo>
                  <a:lnTo>
                    <a:pt x="632428" y="12033"/>
                  </a:lnTo>
                  <a:lnTo>
                    <a:pt x="641187" y="25074"/>
                  </a:lnTo>
                  <a:lnTo>
                    <a:pt x="644397" y="41021"/>
                  </a:lnTo>
                  <a:lnTo>
                    <a:pt x="644397" y="368300"/>
                  </a:lnTo>
                  <a:lnTo>
                    <a:pt x="641187" y="384226"/>
                  </a:lnTo>
                  <a:lnTo>
                    <a:pt x="632428" y="397224"/>
                  </a:lnTo>
                  <a:lnTo>
                    <a:pt x="619430" y="405983"/>
                  </a:lnTo>
                  <a:lnTo>
                    <a:pt x="603504" y="409194"/>
                  </a:lnTo>
                  <a:lnTo>
                    <a:pt x="40893" y="409194"/>
                  </a:lnTo>
                  <a:lnTo>
                    <a:pt x="24967" y="405983"/>
                  </a:lnTo>
                  <a:lnTo>
                    <a:pt x="11969" y="397224"/>
                  </a:lnTo>
                  <a:lnTo>
                    <a:pt x="3210" y="384226"/>
                  </a:lnTo>
                  <a:lnTo>
                    <a:pt x="0" y="368300"/>
                  </a:lnTo>
                  <a:lnTo>
                    <a:pt x="0" y="41021"/>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60"/>
            <p:cNvSpPr/>
            <p:nvPr/>
          </p:nvSpPr>
          <p:spPr>
            <a:xfrm>
              <a:off x="6330187" y="3472433"/>
              <a:ext cx="644525" cy="409575"/>
            </a:xfrm>
            <a:custGeom>
              <a:rect b="b" l="l" r="r" t="t"/>
              <a:pathLst>
                <a:path extrusionOk="0" h="409575" w="644525">
                  <a:moveTo>
                    <a:pt x="603504" y="0"/>
                  </a:moveTo>
                  <a:lnTo>
                    <a:pt x="40894" y="0"/>
                  </a:lnTo>
                  <a:lnTo>
                    <a:pt x="24967" y="3210"/>
                  </a:lnTo>
                  <a:lnTo>
                    <a:pt x="11969" y="11969"/>
                  </a:lnTo>
                  <a:lnTo>
                    <a:pt x="3210" y="24967"/>
                  </a:lnTo>
                  <a:lnTo>
                    <a:pt x="0" y="40893"/>
                  </a:lnTo>
                  <a:lnTo>
                    <a:pt x="0" y="368299"/>
                  </a:lnTo>
                  <a:lnTo>
                    <a:pt x="3210" y="384226"/>
                  </a:lnTo>
                  <a:lnTo>
                    <a:pt x="11969" y="397224"/>
                  </a:lnTo>
                  <a:lnTo>
                    <a:pt x="24967" y="405983"/>
                  </a:lnTo>
                  <a:lnTo>
                    <a:pt x="40894" y="409193"/>
                  </a:lnTo>
                  <a:lnTo>
                    <a:pt x="603504" y="409193"/>
                  </a:lnTo>
                  <a:lnTo>
                    <a:pt x="619430" y="405983"/>
                  </a:lnTo>
                  <a:lnTo>
                    <a:pt x="632428" y="397224"/>
                  </a:lnTo>
                  <a:lnTo>
                    <a:pt x="641187" y="384226"/>
                  </a:lnTo>
                  <a:lnTo>
                    <a:pt x="644397" y="368299"/>
                  </a:lnTo>
                  <a:lnTo>
                    <a:pt x="644397" y="40893"/>
                  </a:lnTo>
                  <a:lnTo>
                    <a:pt x="641187" y="24967"/>
                  </a:lnTo>
                  <a:lnTo>
                    <a:pt x="632428" y="11969"/>
                  </a:lnTo>
                  <a:lnTo>
                    <a:pt x="619430" y="3210"/>
                  </a:lnTo>
                  <a:lnTo>
                    <a:pt x="603504"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60"/>
            <p:cNvSpPr/>
            <p:nvPr/>
          </p:nvSpPr>
          <p:spPr>
            <a:xfrm>
              <a:off x="6330187" y="3472433"/>
              <a:ext cx="644525" cy="409575"/>
            </a:xfrm>
            <a:custGeom>
              <a:rect b="b" l="l" r="r" t="t"/>
              <a:pathLst>
                <a:path extrusionOk="0" h="409575" w="644525">
                  <a:moveTo>
                    <a:pt x="0" y="40893"/>
                  </a:moveTo>
                  <a:lnTo>
                    <a:pt x="3210" y="24967"/>
                  </a:lnTo>
                  <a:lnTo>
                    <a:pt x="11969" y="11969"/>
                  </a:lnTo>
                  <a:lnTo>
                    <a:pt x="24967" y="3210"/>
                  </a:lnTo>
                  <a:lnTo>
                    <a:pt x="40894" y="0"/>
                  </a:lnTo>
                  <a:lnTo>
                    <a:pt x="603504" y="0"/>
                  </a:lnTo>
                  <a:lnTo>
                    <a:pt x="619430" y="3210"/>
                  </a:lnTo>
                  <a:lnTo>
                    <a:pt x="632428" y="11969"/>
                  </a:lnTo>
                  <a:lnTo>
                    <a:pt x="641187" y="24967"/>
                  </a:lnTo>
                  <a:lnTo>
                    <a:pt x="644397" y="40893"/>
                  </a:lnTo>
                  <a:lnTo>
                    <a:pt x="644397" y="368299"/>
                  </a:lnTo>
                  <a:lnTo>
                    <a:pt x="641187" y="384226"/>
                  </a:lnTo>
                  <a:lnTo>
                    <a:pt x="632428" y="397224"/>
                  </a:lnTo>
                  <a:lnTo>
                    <a:pt x="619430" y="405983"/>
                  </a:lnTo>
                  <a:lnTo>
                    <a:pt x="603504" y="409193"/>
                  </a:lnTo>
                  <a:lnTo>
                    <a:pt x="40894" y="409193"/>
                  </a:lnTo>
                  <a:lnTo>
                    <a:pt x="24967" y="405983"/>
                  </a:lnTo>
                  <a:lnTo>
                    <a:pt x="11969" y="397224"/>
                  </a:lnTo>
                  <a:lnTo>
                    <a:pt x="3210" y="384226"/>
                  </a:lnTo>
                  <a:lnTo>
                    <a:pt x="0" y="368299"/>
                  </a:lnTo>
                  <a:lnTo>
                    <a:pt x="0" y="4089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1" name="Google Shape;501;p60"/>
          <p:cNvSpPr txBox="1"/>
          <p:nvPr/>
        </p:nvSpPr>
        <p:spPr>
          <a:xfrm>
            <a:off x="6446265" y="3562857"/>
            <a:ext cx="413384"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Cambria"/>
                <a:ea typeface="Cambria"/>
                <a:cs typeface="Cambria"/>
                <a:sym typeface="Cambria"/>
              </a:rPr>
              <a:t>Child</a:t>
            </a:r>
            <a:endParaRPr sz="1200">
              <a:solidFill>
                <a:schemeClr val="dk1"/>
              </a:solidFill>
              <a:latin typeface="Cambria"/>
              <a:ea typeface="Cambria"/>
              <a:cs typeface="Cambria"/>
              <a:sym typeface="Cambria"/>
            </a:endParaRPr>
          </a:p>
        </p:txBody>
      </p:sp>
      <p:grpSp>
        <p:nvGrpSpPr>
          <p:cNvPr id="502" name="Google Shape;502;p60"/>
          <p:cNvGrpSpPr/>
          <p:nvPr/>
        </p:nvGrpSpPr>
        <p:grpSpPr>
          <a:xfrm>
            <a:off x="7046214" y="2807842"/>
            <a:ext cx="716153" cy="477520"/>
            <a:chOff x="7046214" y="2807842"/>
            <a:chExt cx="716153" cy="477520"/>
          </a:xfrm>
        </p:grpSpPr>
        <p:sp>
          <p:nvSpPr>
            <p:cNvPr id="503" name="Google Shape;503;p60"/>
            <p:cNvSpPr/>
            <p:nvPr/>
          </p:nvSpPr>
          <p:spPr>
            <a:xfrm>
              <a:off x="7046214" y="2807842"/>
              <a:ext cx="644525" cy="409575"/>
            </a:xfrm>
            <a:custGeom>
              <a:rect b="b" l="l" r="r" t="t"/>
              <a:pathLst>
                <a:path extrusionOk="0" h="409575" w="644525">
                  <a:moveTo>
                    <a:pt x="603503" y="0"/>
                  </a:moveTo>
                  <a:lnTo>
                    <a:pt x="40893" y="0"/>
                  </a:lnTo>
                  <a:lnTo>
                    <a:pt x="24967" y="3210"/>
                  </a:lnTo>
                  <a:lnTo>
                    <a:pt x="11969" y="11969"/>
                  </a:lnTo>
                  <a:lnTo>
                    <a:pt x="3210" y="24967"/>
                  </a:lnTo>
                  <a:lnTo>
                    <a:pt x="0" y="40894"/>
                  </a:lnTo>
                  <a:lnTo>
                    <a:pt x="0" y="368300"/>
                  </a:lnTo>
                  <a:lnTo>
                    <a:pt x="3210" y="384173"/>
                  </a:lnTo>
                  <a:lnTo>
                    <a:pt x="11969" y="397176"/>
                  </a:lnTo>
                  <a:lnTo>
                    <a:pt x="24967" y="405965"/>
                  </a:lnTo>
                  <a:lnTo>
                    <a:pt x="40893" y="409194"/>
                  </a:lnTo>
                  <a:lnTo>
                    <a:pt x="603503" y="409194"/>
                  </a:lnTo>
                  <a:lnTo>
                    <a:pt x="619430" y="405965"/>
                  </a:lnTo>
                  <a:lnTo>
                    <a:pt x="632428" y="397176"/>
                  </a:lnTo>
                  <a:lnTo>
                    <a:pt x="641187" y="384173"/>
                  </a:lnTo>
                  <a:lnTo>
                    <a:pt x="644397" y="368300"/>
                  </a:lnTo>
                  <a:lnTo>
                    <a:pt x="644397" y="40894"/>
                  </a:lnTo>
                  <a:lnTo>
                    <a:pt x="641187" y="24967"/>
                  </a:lnTo>
                  <a:lnTo>
                    <a:pt x="632428" y="11969"/>
                  </a:lnTo>
                  <a:lnTo>
                    <a:pt x="619430" y="3210"/>
                  </a:lnTo>
                  <a:lnTo>
                    <a:pt x="603503"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60"/>
            <p:cNvSpPr/>
            <p:nvPr/>
          </p:nvSpPr>
          <p:spPr>
            <a:xfrm>
              <a:off x="7046214" y="2807842"/>
              <a:ext cx="644525" cy="409575"/>
            </a:xfrm>
            <a:custGeom>
              <a:rect b="b" l="l" r="r" t="t"/>
              <a:pathLst>
                <a:path extrusionOk="0" h="409575" w="644525">
                  <a:moveTo>
                    <a:pt x="0" y="40894"/>
                  </a:moveTo>
                  <a:lnTo>
                    <a:pt x="3210" y="24967"/>
                  </a:lnTo>
                  <a:lnTo>
                    <a:pt x="11969" y="11969"/>
                  </a:lnTo>
                  <a:lnTo>
                    <a:pt x="24967" y="3210"/>
                  </a:lnTo>
                  <a:lnTo>
                    <a:pt x="40893" y="0"/>
                  </a:lnTo>
                  <a:lnTo>
                    <a:pt x="603503" y="0"/>
                  </a:lnTo>
                  <a:lnTo>
                    <a:pt x="619430" y="3210"/>
                  </a:lnTo>
                  <a:lnTo>
                    <a:pt x="632428" y="11969"/>
                  </a:lnTo>
                  <a:lnTo>
                    <a:pt x="641187" y="24967"/>
                  </a:lnTo>
                  <a:lnTo>
                    <a:pt x="644397" y="40894"/>
                  </a:lnTo>
                  <a:lnTo>
                    <a:pt x="644397" y="368300"/>
                  </a:lnTo>
                  <a:lnTo>
                    <a:pt x="641187" y="384173"/>
                  </a:lnTo>
                  <a:lnTo>
                    <a:pt x="632428" y="397176"/>
                  </a:lnTo>
                  <a:lnTo>
                    <a:pt x="619430" y="405965"/>
                  </a:lnTo>
                  <a:lnTo>
                    <a:pt x="603503" y="409194"/>
                  </a:lnTo>
                  <a:lnTo>
                    <a:pt x="40893" y="409194"/>
                  </a:lnTo>
                  <a:lnTo>
                    <a:pt x="24967" y="405965"/>
                  </a:lnTo>
                  <a:lnTo>
                    <a:pt x="11969" y="397176"/>
                  </a:lnTo>
                  <a:lnTo>
                    <a:pt x="3210" y="384173"/>
                  </a:lnTo>
                  <a:lnTo>
                    <a:pt x="0" y="368300"/>
                  </a:lnTo>
                  <a:lnTo>
                    <a:pt x="0" y="40894"/>
                  </a:lnTo>
                  <a:close/>
                </a:path>
              </a:pathLst>
            </a:custGeom>
            <a:noFill/>
            <a:ln cap="flat" cmpd="sng" w="25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60"/>
            <p:cNvSpPr/>
            <p:nvPr/>
          </p:nvSpPr>
          <p:spPr>
            <a:xfrm>
              <a:off x="7117842" y="2875787"/>
              <a:ext cx="644525" cy="409575"/>
            </a:xfrm>
            <a:custGeom>
              <a:rect b="b" l="l" r="r" t="t"/>
              <a:pathLst>
                <a:path extrusionOk="0" h="409575" w="644525">
                  <a:moveTo>
                    <a:pt x="603503" y="0"/>
                  </a:moveTo>
                  <a:lnTo>
                    <a:pt x="40893" y="0"/>
                  </a:lnTo>
                  <a:lnTo>
                    <a:pt x="24967" y="3228"/>
                  </a:lnTo>
                  <a:lnTo>
                    <a:pt x="11969" y="12017"/>
                  </a:lnTo>
                  <a:lnTo>
                    <a:pt x="3210" y="25020"/>
                  </a:lnTo>
                  <a:lnTo>
                    <a:pt x="0" y="40894"/>
                  </a:lnTo>
                  <a:lnTo>
                    <a:pt x="0" y="368300"/>
                  </a:lnTo>
                  <a:lnTo>
                    <a:pt x="3210" y="384226"/>
                  </a:lnTo>
                  <a:lnTo>
                    <a:pt x="11969" y="397224"/>
                  </a:lnTo>
                  <a:lnTo>
                    <a:pt x="24967" y="405983"/>
                  </a:lnTo>
                  <a:lnTo>
                    <a:pt x="40893" y="409194"/>
                  </a:lnTo>
                  <a:lnTo>
                    <a:pt x="603503" y="409194"/>
                  </a:lnTo>
                  <a:lnTo>
                    <a:pt x="619430" y="405983"/>
                  </a:lnTo>
                  <a:lnTo>
                    <a:pt x="632428" y="397224"/>
                  </a:lnTo>
                  <a:lnTo>
                    <a:pt x="641187" y="384226"/>
                  </a:lnTo>
                  <a:lnTo>
                    <a:pt x="644398" y="368300"/>
                  </a:lnTo>
                  <a:lnTo>
                    <a:pt x="644398" y="40894"/>
                  </a:lnTo>
                  <a:lnTo>
                    <a:pt x="641187" y="25020"/>
                  </a:lnTo>
                  <a:lnTo>
                    <a:pt x="632428" y="12017"/>
                  </a:lnTo>
                  <a:lnTo>
                    <a:pt x="619430" y="3228"/>
                  </a:lnTo>
                  <a:lnTo>
                    <a:pt x="603503"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60"/>
            <p:cNvSpPr/>
            <p:nvPr/>
          </p:nvSpPr>
          <p:spPr>
            <a:xfrm>
              <a:off x="7117842" y="2875787"/>
              <a:ext cx="644525" cy="409575"/>
            </a:xfrm>
            <a:custGeom>
              <a:rect b="b" l="l" r="r" t="t"/>
              <a:pathLst>
                <a:path extrusionOk="0" h="409575" w="644525">
                  <a:moveTo>
                    <a:pt x="0" y="40894"/>
                  </a:moveTo>
                  <a:lnTo>
                    <a:pt x="3210" y="25020"/>
                  </a:lnTo>
                  <a:lnTo>
                    <a:pt x="11969" y="12017"/>
                  </a:lnTo>
                  <a:lnTo>
                    <a:pt x="24967" y="3228"/>
                  </a:lnTo>
                  <a:lnTo>
                    <a:pt x="40893" y="0"/>
                  </a:lnTo>
                  <a:lnTo>
                    <a:pt x="603503" y="0"/>
                  </a:lnTo>
                  <a:lnTo>
                    <a:pt x="619430" y="3228"/>
                  </a:lnTo>
                  <a:lnTo>
                    <a:pt x="632428" y="12017"/>
                  </a:lnTo>
                  <a:lnTo>
                    <a:pt x="641187" y="25020"/>
                  </a:lnTo>
                  <a:lnTo>
                    <a:pt x="644398" y="40894"/>
                  </a:lnTo>
                  <a:lnTo>
                    <a:pt x="644398" y="368300"/>
                  </a:lnTo>
                  <a:lnTo>
                    <a:pt x="641187" y="384226"/>
                  </a:lnTo>
                  <a:lnTo>
                    <a:pt x="632428" y="397224"/>
                  </a:lnTo>
                  <a:lnTo>
                    <a:pt x="619430" y="405983"/>
                  </a:lnTo>
                  <a:lnTo>
                    <a:pt x="603503" y="409194"/>
                  </a:lnTo>
                  <a:lnTo>
                    <a:pt x="40893" y="409194"/>
                  </a:lnTo>
                  <a:lnTo>
                    <a:pt x="24967" y="405983"/>
                  </a:lnTo>
                  <a:lnTo>
                    <a:pt x="11969" y="397224"/>
                  </a:lnTo>
                  <a:lnTo>
                    <a:pt x="3210" y="384226"/>
                  </a:lnTo>
                  <a:lnTo>
                    <a:pt x="0" y="368300"/>
                  </a:lnTo>
                  <a:lnTo>
                    <a:pt x="0" y="40894"/>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7" name="Google Shape;507;p60"/>
          <p:cNvSpPr txBox="1"/>
          <p:nvPr/>
        </p:nvSpPr>
        <p:spPr>
          <a:xfrm>
            <a:off x="7223506" y="2966084"/>
            <a:ext cx="435609" cy="208279"/>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200">
                <a:solidFill>
                  <a:schemeClr val="dk1"/>
                </a:solidFill>
                <a:latin typeface="Cambria"/>
                <a:ea typeface="Cambria"/>
                <a:cs typeface="Cambria"/>
                <a:sym typeface="Cambria"/>
              </a:rPr>
              <a:t>Uncle</a:t>
            </a:r>
            <a:endParaRPr sz="1200">
              <a:solidFill>
                <a:schemeClr val="dk1"/>
              </a:solidFill>
              <a:latin typeface="Cambria"/>
              <a:ea typeface="Cambria"/>
              <a:cs typeface="Cambria"/>
              <a:sym typeface="Cambri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1"/>
          <p:cNvSpPr txBox="1"/>
          <p:nvPr>
            <p:ph type="title"/>
          </p:nvPr>
        </p:nvSpPr>
        <p:spPr>
          <a:xfrm>
            <a:off x="535940" y="896239"/>
            <a:ext cx="610362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RECAUTION WHILE DOWN CASTING</a:t>
            </a:r>
            <a:endParaRPr sz="2400"/>
          </a:p>
        </p:txBody>
      </p:sp>
      <p:sp>
        <p:nvSpPr>
          <p:cNvPr id="513" name="Google Shape;513;p61"/>
          <p:cNvSpPr txBox="1"/>
          <p:nvPr/>
        </p:nvSpPr>
        <p:spPr>
          <a:xfrm>
            <a:off x="535940" y="1628978"/>
            <a:ext cx="7259320" cy="3044190"/>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We need to first check if the object is of that type.</a:t>
            </a:r>
            <a:endParaRPr sz="2400">
              <a:solidFill>
                <a:schemeClr val="dk1"/>
              </a:solidFill>
              <a:latin typeface="Cambria"/>
              <a:ea typeface="Cambria"/>
              <a:cs typeface="Cambria"/>
              <a:sym typeface="Cambria"/>
            </a:endParaRPr>
          </a:p>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How?</a:t>
            </a:r>
            <a:endParaRPr sz="2400">
              <a:solidFill>
                <a:schemeClr val="dk1"/>
              </a:solidFill>
              <a:latin typeface="Cambria"/>
              <a:ea typeface="Cambria"/>
              <a:cs typeface="Cambria"/>
              <a:sym typeface="Cambria"/>
            </a:endParaRPr>
          </a:p>
          <a:p>
            <a:pPr indent="-273685" lvl="1" marL="652780" marR="5080" rtl="0" algn="l">
              <a:lnSpc>
                <a:spcPct val="100000"/>
              </a:lnSpc>
              <a:spcBef>
                <a:spcPts val="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a:t>
            </a:r>
            <a:r>
              <a:rPr b="1" i="0" lang="en-US" sz="2100" u="none" cap="none" strike="noStrike">
                <a:solidFill>
                  <a:schemeClr val="dk1"/>
                </a:solidFill>
                <a:latin typeface="Cambria"/>
                <a:ea typeface="Cambria"/>
                <a:cs typeface="Cambria"/>
                <a:sym typeface="Cambria"/>
              </a:rPr>
              <a:t>java instanceof operator </a:t>
            </a:r>
            <a:r>
              <a:rPr b="0" i="0" lang="en-US" sz="2100" u="none" cap="none" strike="noStrike">
                <a:solidFill>
                  <a:schemeClr val="dk1"/>
                </a:solidFill>
                <a:latin typeface="Cambria"/>
                <a:ea typeface="Cambria"/>
                <a:cs typeface="Cambria"/>
                <a:sym typeface="Cambria"/>
              </a:rPr>
              <a:t>is used to test  whether the object is an instance of the specified type  (class or subclass or interface).</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getClass() method return the “class [ClassName]”</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getClass().getName() return the class name.</a:t>
            </a:r>
            <a:endParaRPr b="0" i="0" sz="2100" u="none" cap="none" strike="noStrike">
              <a:solidFill>
                <a:schemeClr val="dk1"/>
              </a:solidFill>
              <a:latin typeface="Cambria"/>
              <a:ea typeface="Cambria"/>
              <a:cs typeface="Cambria"/>
              <a:sym typeface="Cambria"/>
            </a:endParaRPr>
          </a:p>
          <a:p>
            <a:pPr indent="0" lvl="1" marL="457200" marR="0" rtl="0" algn="l">
              <a:lnSpc>
                <a:spcPct val="100000"/>
              </a:lnSpc>
              <a:spcBef>
                <a:spcPts val="0"/>
              </a:spcBef>
              <a:spcAft>
                <a:spcPts val="0"/>
              </a:spcAft>
              <a:buClr>
                <a:srgbClr val="FD8537"/>
              </a:buClr>
              <a:buSzPts val="2150"/>
              <a:buFont typeface="Quattrocento Sans"/>
              <a:buNone/>
            </a:pPr>
            <a:r>
              <a:t/>
            </a:r>
            <a:endParaRPr b="0" i="0" sz="2150" u="none" cap="none" strike="noStrike">
              <a:solidFill>
                <a:schemeClr val="dk1"/>
              </a:solidFill>
              <a:latin typeface="Cambria"/>
              <a:ea typeface="Cambria"/>
              <a:cs typeface="Cambria"/>
              <a:sym typeface="Cambria"/>
            </a:endParaRPr>
          </a:p>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Let’s revisit example of polymorphism.</a:t>
            </a:r>
            <a:endParaRPr sz="2400">
              <a:solidFill>
                <a:schemeClr val="dk1"/>
              </a:solidFill>
              <a:latin typeface="Cambria"/>
              <a:ea typeface="Cambria"/>
              <a:cs typeface="Cambria"/>
              <a:sym typeface="Cambria"/>
            </a:endParaRPr>
          </a:p>
        </p:txBody>
      </p:sp>
      <p:sp>
        <p:nvSpPr>
          <p:cNvPr id="514" name="Google Shape;514;p61"/>
          <p:cNvSpPr txBox="1"/>
          <p:nvPr/>
        </p:nvSpPr>
        <p:spPr>
          <a:xfrm>
            <a:off x="535940" y="4969002"/>
            <a:ext cx="7258684" cy="155067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public class TestPolymorphism {</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public static void main(String[] args) {</a:t>
            </a:r>
            <a:endParaRPr sz="1400">
              <a:solidFill>
                <a:schemeClr val="dk1"/>
              </a:solidFill>
              <a:latin typeface="Cambria"/>
              <a:ea typeface="Cambria"/>
              <a:cs typeface="Cambria"/>
              <a:sym typeface="Cambria"/>
            </a:endParaRPr>
          </a:p>
          <a:p>
            <a:pPr indent="0" lvl="0" marL="744220" marR="0" rtl="0" algn="l">
              <a:lnSpc>
                <a:spcPct val="100000"/>
              </a:lnSpc>
              <a:spcBef>
                <a:spcPts val="5"/>
              </a:spcBef>
              <a:spcAft>
                <a:spcPts val="0"/>
              </a:spcAft>
              <a:buNone/>
            </a:pPr>
            <a:r>
              <a:rPr lang="en-US" sz="1400">
                <a:solidFill>
                  <a:schemeClr val="dk1"/>
                </a:solidFill>
                <a:latin typeface="Cambria"/>
                <a:ea typeface="Cambria"/>
                <a:cs typeface="Cambria"/>
                <a:sym typeface="Cambria"/>
              </a:rPr>
              <a:t>Animal a = new Bird();</a:t>
            </a:r>
            <a:endParaRPr sz="1400">
              <a:solidFill>
                <a:schemeClr val="dk1"/>
              </a:solidFill>
              <a:latin typeface="Cambria"/>
              <a:ea typeface="Cambria"/>
              <a:cs typeface="Cambria"/>
              <a:sym typeface="Cambria"/>
            </a:endParaRPr>
          </a:p>
          <a:p>
            <a:pPr indent="-192405" lvl="0" marL="927100" marR="5080" rtl="0" algn="l">
              <a:lnSpc>
                <a:spcPct val="102899"/>
              </a:lnSpc>
              <a:spcBef>
                <a:spcPts val="145"/>
              </a:spcBef>
              <a:spcAft>
                <a:spcPts val="0"/>
              </a:spcAft>
              <a:buNone/>
            </a:pPr>
            <a:r>
              <a:rPr b="1" lang="en-US" sz="1400">
                <a:solidFill>
                  <a:schemeClr val="dk1"/>
                </a:solidFill>
                <a:latin typeface="Cambria"/>
                <a:ea typeface="Cambria"/>
                <a:cs typeface="Cambria"/>
                <a:sym typeface="Cambria"/>
              </a:rPr>
              <a:t>if (a instanceof Bird) </a:t>
            </a:r>
            <a:r>
              <a:rPr lang="en-US" sz="1400">
                <a:solidFill>
                  <a:schemeClr val="dk1"/>
                </a:solidFill>
                <a:latin typeface="Cambria"/>
                <a:ea typeface="Cambria"/>
                <a:cs typeface="Cambria"/>
                <a:sym typeface="Cambria"/>
              </a:rPr>
              <a:t>// can also use if (a.getClass().getName().equals("Bird"))  ((Bird)a).fly(); //  OK</a:t>
            </a:r>
            <a:endParaRPr sz="1400">
              <a:solidFill>
                <a:schemeClr val="dk1"/>
              </a:solidFill>
              <a:latin typeface="Cambria"/>
              <a:ea typeface="Cambria"/>
              <a:cs typeface="Cambria"/>
              <a:sym typeface="Cambria"/>
            </a:endParaRPr>
          </a:p>
          <a:p>
            <a:pPr indent="0" lvl="0" marL="37973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a:p>
            <a:pPr indent="0" lvl="0" marL="12700" marR="0" rtl="0" algn="l">
              <a:lnSpc>
                <a:spcPct val="100000"/>
              </a:lnSpc>
              <a:spcBef>
                <a:spcPts val="0"/>
              </a:spcBef>
              <a:spcAft>
                <a:spcPts val="0"/>
              </a:spcAft>
              <a:buNone/>
            </a:pPr>
            <a:r>
              <a:rPr lang="en-US" sz="1400">
                <a:solidFill>
                  <a:schemeClr val="dk1"/>
                </a:solidFill>
                <a:latin typeface="Cambria"/>
                <a:ea typeface="Cambria"/>
                <a:cs typeface="Cambria"/>
                <a:sym typeface="Cambria"/>
              </a:rPr>
              <a:t>}</a:t>
            </a:r>
            <a:endParaRPr sz="1400">
              <a:solidFill>
                <a:schemeClr val="dk1"/>
              </a:solidFill>
              <a:latin typeface="Cambria"/>
              <a:ea typeface="Cambria"/>
              <a:cs typeface="Cambria"/>
              <a:sym typeface="Cambri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2"/>
          <p:cNvSpPr txBox="1"/>
          <p:nvPr>
            <p:ph type="title"/>
          </p:nvPr>
        </p:nvSpPr>
        <p:spPr>
          <a:xfrm>
            <a:off x="535940" y="928242"/>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Why we need Subclass Polymorphism</a:t>
            </a:r>
            <a:endParaRPr/>
          </a:p>
        </p:txBody>
      </p:sp>
      <p:sp>
        <p:nvSpPr>
          <p:cNvPr id="520" name="Google Shape;520;p62"/>
          <p:cNvSpPr txBox="1"/>
          <p:nvPr>
            <p:ph idx="1" type="body"/>
          </p:nvPr>
        </p:nvSpPr>
        <p:spPr>
          <a:xfrm>
            <a:off x="535940" y="1628900"/>
            <a:ext cx="7998460" cy="3323987"/>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800"/>
              <a:t>Scenario: Graphics Editor Application</a:t>
            </a:r>
            <a:endParaRPr/>
          </a:p>
          <a:p>
            <a:pPr indent="0" lvl="0" marL="0" rtl="0" algn="l">
              <a:spcBef>
                <a:spcPts val="0"/>
              </a:spcBef>
              <a:spcAft>
                <a:spcPts val="0"/>
              </a:spcAft>
              <a:buNone/>
            </a:pPr>
            <a:br>
              <a:rPr b="0" lang="en-US" sz="1800"/>
            </a:br>
            <a:r>
              <a:rPr b="0" lang="en-US" sz="1800"/>
              <a:t>Imagine you're building a graphics editor application that allows users to draw, manipulate, and display different shapes. The application should support various shapes such as circles, rectangles, triangles, and squares, and it should allow new shapes to be added in the future without modifying existing code. </a:t>
            </a:r>
            <a:br>
              <a:rPr b="0" lang="en-US" sz="1800"/>
            </a:br>
            <a:br>
              <a:rPr b="0" lang="en-US" sz="1800"/>
            </a:br>
            <a:r>
              <a:rPr lang="en-US" sz="1800"/>
              <a:t>Requirements:</a:t>
            </a:r>
            <a:endParaRPr/>
          </a:p>
          <a:p>
            <a:pPr indent="-171450" lvl="0" marL="285750" rtl="0" algn="l">
              <a:spcBef>
                <a:spcPts val="0"/>
              </a:spcBef>
              <a:spcAft>
                <a:spcPts val="0"/>
              </a:spcAft>
              <a:buClr>
                <a:schemeClr val="dk1"/>
              </a:buClr>
              <a:buSzPts val="1800"/>
              <a:buFont typeface="Arial"/>
              <a:buNone/>
            </a:pPr>
            <a:r>
              <a:t/>
            </a:r>
            <a:endParaRPr sz="1800"/>
          </a:p>
          <a:p>
            <a:pPr indent="-285750" lvl="0" marL="285750" rtl="0" algn="l">
              <a:spcBef>
                <a:spcPts val="0"/>
              </a:spcBef>
              <a:spcAft>
                <a:spcPts val="0"/>
              </a:spcAft>
              <a:buClr>
                <a:schemeClr val="dk1"/>
              </a:buClr>
              <a:buSzPts val="1800"/>
              <a:buFont typeface="Arial"/>
              <a:buChar char="•"/>
            </a:pPr>
            <a:r>
              <a:rPr b="0" lang="en-US" sz="1800"/>
              <a:t>Draw Shapes: The application must be able to draw any shape.</a:t>
            </a:r>
            <a:endParaRPr/>
          </a:p>
          <a:p>
            <a:pPr indent="-285750" lvl="0" marL="285750" rtl="0" algn="l">
              <a:spcBef>
                <a:spcPts val="0"/>
              </a:spcBef>
              <a:spcAft>
                <a:spcPts val="0"/>
              </a:spcAft>
              <a:buClr>
                <a:schemeClr val="dk1"/>
              </a:buClr>
              <a:buSzPts val="1800"/>
              <a:buFont typeface="Arial"/>
              <a:buChar char="•"/>
            </a:pPr>
            <a:r>
              <a:rPr b="0" lang="en-US" sz="1800"/>
              <a:t>Add New Shapes: New shapes should be easily added without changing the core logic of the application.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3"/>
          <p:cNvSpPr txBox="1"/>
          <p:nvPr>
            <p:ph type="title"/>
          </p:nvPr>
        </p:nvSpPr>
        <p:spPr>
          <a:xfrm>
            <a:off x="457200" y="137366"/>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Solving the problem without Subclass Polymorphism</a:t>
            </a:r>
            <a:endParaRPr/>
          </a:p>
        </p:txBody>
      </p:sp>
      <p:pic>
        <p:nvPicPr>
          <p:cNvPr id="526" name="Google Shape;526;p63"/>
          <p:cNvPicPr preferRelativeResize="0"/>
          <p:nvPr/>
        </p:nvPicPr>
        <p:blipFill rotWithShape="1">
          <a:blip r:embed="rId3">
            <a:alphaModFix/>
          </a:blip>
          <a:srcRect b="0" l="0" r="0" t="0"/>
          <a:stretch/>
        </p:blipFill>
        <p:spPr>
          <a:xfrm>
            <a:off x="770506" y="685800"/>
            <a:ext cx="3551228" cy="5890770"/>
          </a:xfrm>
          <a:prstGeom prst="rect">
            <a:avLst/>
          </a:prstGeom>
          <a:noFill/>
          <a:ln>
            <a:noFill/>
          </a:ln>
        </p:spPr>
      </p:pic>
      <p:pic>
        <p:nvPicPr>
          <p:cNvPr id="527" name="Google Shape;527;p63"/>
          <p:cNvPicPr preferRelativeResize="0"/>
          <p:nvPr/>
        </p:nvPicPr>
        <p:blipFill rotWithShape="1">
          <a:blip r:embed="rId4">
            <a:alphaModFix/>
          </a:blip>
          <a:srcRect b="0" l="0" r="0" t="0"/>
          <a:stretch/>
        </p:blipFill>
        <p:spPr>
          <a:xfrm>
            <a:off x="4419600" y="1066833"/>
            <a:ext cx="4458086" cy="512870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4"/>
          <p:cNvSpPr txBox="1"/>
          <p:nvPr>
            <p:ph type="title"/>
          </p:nvPr>
        </p:nvSpPr>
        <p:spPr>
          <a:xfrm>
            <a:off x="457200" y="137366"/>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Solving the problem with Subclass Polymorphism</a:t>
            </a:r>
            <a:endParaRPr/>
          </a:p>
        </p:txBody>
      </p:sp>
      <p:pic>
        <p:nvPicPr>
          <p:cNvPr id="533" name="Google Shape;533;p64"/>
          <p:cNvPicPr preferRelativeResize="0"/>
          <p:nvPr/>
        </p:nvPicPr>
        <p:blipFill rotWithShape="1">
          <a:blip r:embed="rId3">
            <a:alphaModFix/>
          </a:blip>
          <a:srcRect b="0" l="0" r="0" t="0"/>
          <a:stretch/>
        </p:blipFill>
        <p:spPr>
          <a:xfrm>
            <a:off x="770506" y="685800"/>
            <a:ext cx="3551228" cy="5890770"/>
          </a:xfrm>
          <a:prstGeom prst="rect">
            <a:avLst/>
          </a:prstGeom>
          <a:noFill/>
          <a:ln>
            <a:noFill/>
          </a:ln>
        </p:spPr>
      </p:pic>
      <p:pic>
        <p:nvPicPr>
          <p:cNvPr id="534" name="Google Shape;534;p64"/>
          <p:cNvPicPr preferRelativeResize="0"/>
          <p:nvPr/>
        </p:nvPicPr>
        <p:blipFill rotWithShape="1">
          <a:blip r:embed="rId4">
            <a:alphaModFix/>
          </a:blip>
          <a:srcRect b="0" l="0" r="0" t="0"/>
          <a:stretch/>
        </p:blipFill>
        <p:spPr>
          <a:xfrm>
            <a:off x="4689888" y="2270897"/>
            <a:ext cx="3665538" cy="272057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5"/>
          <p:cNvSpPr txBox="1"/>
          <p:nvPr>
            <p:ph type="title"/>
          </p:nvPr>
        </p:nvSpPr>
        <p:spPr>
          <a:xfrm>
            <a:off x="535940" y="896239"/>
            <a:ext cx="484759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OLYMORPHISM </a:t>
            </a:r>
            <a:r>
              <a:rPr lang="en-US" sz="3000"/>
              <a:t>– B</a:t>
            </a:r>
            <a:r>
              <a:rPr lang="en-US" sz="2400"/>
              <a:t>ENEFITS</a:t>
            </a:r>
            <a:endParaRPr sz="2400"/>
          </a:p>
        </p:txBody>
      </p:sp>
      <p:sp>
        <p:nvSpPr>
          <p:cNvPr id="540" name="Google Shape;540;p65"/>
          <p:cNvSpPr txBox="1"/>
          <p:nvPr/>
        </p:nvSpPr>
        <p:spPr>
          <a:xfrm>
            <a:off x="535940" y="3458946"/>
            <a:ext cx="7569834" cy="3044190"/>
          </a:xfrm>
          <a:prstGeom prst="rect">
            <a:avLst/>
          </a:prstGeom>
          <a:noFill/>
          <a:ln>
            <a:noFill/>
          </a:ln>
        </p:spPr>
        <p:txBody>
          <a:bodyPr anchorCtr="0" anchor="t" bIns="0" lIns="0" spcFirstLastPara="1" rIns="0" wrap="square" tIns="88900">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Assume the above hierarchy.</a:t>
            </a:r>
            <a:endParaRPr sz="20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Consider each class has a draw() method to draw the specific</a:t>
            </a:r>
            <a:endParaRPr sz="20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000">
                <a:solidFill>
                  <a:schemeClr val="dk1"/>
                </a:solidFill>
                <a:latin typeface="Cambria"/>
                <a:ea typeface="Cambria"/>
                <a:cs typeface="Cambria"/>
                <a:sym typeface="Cambria"/>
              </a:rPr>
              <a:t>shape.</a:t>
            </a:r>
            <a:endParaRPr sz="2000">
              <a:solidFill>
                <a:schemeClr val="dk1"/>
              </a:solidFill>
              <a:latin typeface="Cambria"/>
              <a:ea typeface="Cambria"/>
              <a:cs typeface="Cambria"/>
              <a:sym typeface="Cambria"/>
            </a:endParaRPr>
          </a:p>
          <a:p>
            <a:pPr indent="-273050" lvl="0" marL="285115" marR="5080" rtl="0" algn="l">
              <a:lnSpc>
                <a:spcPct val="100000"/>
              </a:lnSpc>
              <a:spcBef>
                <a:spcPts val="60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Also consider a method that will take a Shape reference  variable (which can hold a shape object or any of its subclass’s  object) as argument and call the draw method. E.g.</a:t>
            </a:r>
            <a:endParaRPr sz="2000">
              <a:solidFill>
                <a:schemeClr val="dk1"/>
              </a:solidFill>
              <a:latin typeface="Cambria"/>
              <a:ea typeface="Cambria"/>
              <a:cs typeface="Cambria"/>
              <a:sym typeface="Cambria"/>
            </a:endParaRPr>
          </a:p>
          <a:p>
            <a:pPr indent="0" lvl="0" marL="469900" marR="0" rtl="0" algn="l">
              <a:lnSpc>
                <a:spcPct val="100000"/>
              </a:lnSpc>
              <a:spcBef>
                <a:spcPts val="605"/>
              </a:spcBef>
              <a:spcAft>
                <a:spcPts val="0"/>
              </a:spcAft>
              <a:buNone/>
            </a:pPr>
            <a:r>
              <a:rPr lang="en-US" sz="1600">
                <a:solidFill>
                  <a:schemeClr val="dk1"/>
                </a:solidFill>
                <a:latin typeface="Cambria"/>
                <a:ea typeface="Cambria"/>
                <a:cs typeface="Cambria"/>
                <a:sym typeface="Cambria"/>
              </a:rPr>
              <a:t>static void drawShape(Shape shape){</a:t>
            </a:r>
            <a:endParaRPr sz="1600">
              <a:solidFill>
                <a:schemeClr val="dk1"/>
              </a:solidFill>
              <a:latin typeface="Cambria"/>
              <a:ea typeface="Cambria"/>
              <a:cs typeface="Cambria"/>
              <a:sym typeface="Cambria"/>
            </a:endParaRPr>
          </a:p>
          <a:p>
            <a:pPr indent="0" lvl="0" marL="742950" marR="0" rtl="0" algn="l">
              <a:lnSpc>
                <a:spcPct val="100000"/>
              </a:lnSpc>
              <a:spcBef>
                <a:spcPts val="600"/>
              </a:spcBef>
              <a:spcAft>
                <a:spcPts val="0"/>
              </a:spcAft>
              <a:buNone/>
            </a:pPr>
            <a:r>
              <a:rPr lang="en-US" sz="1600">
                <a:solidFill>
                  <a:schemeClr val="dk1"/>
                </a:solidFill>
                <a:latin typeface="Cambria"/>
                <a:ea typeface="Cambria"/>
                <a:cs typeface="Cambria"/>
                <a:sym typeface="Cambria"/>
              </a:rPr>
              <a:t>shape.draw();</a:t>
            </a:r>
            <a:endParaRPr sz="1600">
              <a:solidFill>
                <a:schemeClr val="dk1"/>
              </a:solidFill>
              <a:latin typeface="Cambria"/>
              <a:ea typeface="Cambria"/>
              <a:cs typeface="Cambria"/>
              <a:sym typeface="Cambria"/>
            </a:endParaRPr>
          </a:p>
          <a:p>
            <a:pPr indent="0" lvl="0" marL="469900" marR="0" rtl="0" algn="l">
              <a:lnSpc>
                <a:spcPct val="100000"/>
              </a:lnSpc>
              <a:spcBef>
                <a:spcPts val="600"/>
              </a:spcBef>
              <a:spcAft>
                <a:spcPts val="0"/>
              </a:spcAft>
              <a:buNone/>
            </a:pPr>
            <a:r>
              <a:rPr lang="en-US" sz="1600">
                <a:solidFill>
                  <a:schemeClr val="dk1"/>
                </a:solidFill>
                <a:latin typeface="Cambria"/>
                <a:ea typeface="Cambria"/>
                <a:cs typeface="Cambria"/>
                <a:sym typeface="Cambria"/>
              </a:rPr>
              <a:t>}</a:t>
            </a:r>
            <a:endParaRPr sz="1600">
              <a:solidFill>
                <a:schemeClr val="dk1"/>
              </a:solidFill>
              <a:latin typeface="Cambria"/>
              <a:ea typeface="Cambria"/>
              <a:cs typeface="Cambria"/>
              <a:sym typeface="Cambria"/>
            </a:endParaRPr>
          </a:p>
        </p:txBody>
      </p:sp>
      <p:grpSp>
        <p:nvGrpSpPr>
          <p:cNvPr id="541" name="Google Shape;541;p65"/>
          <p:cNvGrpSpPr/>
          <p:nvPr/>
        </p:nvGrpSpPr>
        <p:grpSpPr>
          <a:xfrm>
            <a:off x="2178939" y="1601597"/>
            <a:ext cx="4172458" cy="1305814"/>
            <a:chOff x="2178939" y="1601597"/>
            <a:chExt cx="4172458" cy="1305814"/>
          </a:xfrm>
        </p:grpSpPr>
        <p:sp>
          <p:nvSpPr>
            <p:cNvPr id="542" name="Google Shape;542;p65"/>
            <p:cNvSpPr/>
            <p:nvPr/>
          </p:nvSpPr>
          <p:spPr>
            <a:xfrm>
              <a:off x="4976241" y="2701036"/>
              <a:ext cx="3810" cy="205104"/>
            </a:xfrm>
            <a:custGeom>
              <a:rect b="b" l="l" r="r" t="t"/>
              <a:pathLst>
                <a:path extrusionOk="0" h="205105" w="3810">
                  <a:moveTo>
                    <a:pt x="3556" y="0"/>
                  </a:moveTo>
                  <a:lnTo>
                    <a:pt x="3556" y="139573"/>
                  </a:lnTo>
                  <a:lnTo>
                    <a:pt x="0" y="139573"/>
                  </a:lnTo>
                  <a:lnTo>
                    <a:pt x="0" y="204850"/>
                  </a:lnTo>
                </a:path>
              </a:pathLst>
            </a:custGeom>
            <a:noFill/>
            <a:ln cap="flat" cmpd="sng" w="25375">
              <a:solidFill>
                <a:srgbClr val="E679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65"/>
            <p:cNvSpPr/>
            <p:nvPr/>
          </p:nvSpPr>
          <p:spPr>
            <a:xfrm>
              <a:off x="3039872" y="2048891"/>
              <a:ext cx="3311525" cy="205104"/>
            </a:xfrm>
            <a:custGeom>
              <a:rect b="b" l="l" r="r" t="t"/>
              <a:pathLst>
                <a:path extrusionOk="0" h="205105" w="3311525">
                  <a:moveTo>
                    <a:pt x="1847214" y="0"/>
                  </a:moveTo>
                  <a:lnTo>
                    <a:pt x="1847214" y="139573"/>
                  </a:lnTo>
                  <a:lnTo>
                    <a:pt x="1939925" y="139573"/>
                  </a:lnTo>
                  <a:lnTo>
                    <a:pt x="1939925" y="204850"/>
                  </a:lnTo>
                </a:path>
                <a:path extrusionOk="0" h="205105" w="3311525">
                  <a:moveTo>
                    <a:pt x="1847214" y="0"/>
                  </a:moveTo>
                  <a:lnTo>
                    <a:pt x="1847214" y="139573"/>
                  </a:lnTo>
                  <a:lnTo>
                    <a:pt x="3311525" y="139573"/>
                  </a:lnTo>
                  <a:lnTo>
                    <a:pt x="3311525" y="204850"/>
                  </a:lnTo>
                </a:path>
                <a:path extrusionOk="0" h="205105" w="3311525">
                  <a:moveTo>
                    <a:pt x="1847214" y="0"/>
                  </a:moveTo>
                  <a:lnTo>
                    <a:pt x="1847214" y="139573"/>
                  </a:lnTo>
                  <a:lnTo>
                    <a:pt x="0" y="139573"/>
                  </a:lnTo>
                  <a:lnTo>
                    <a:pt x="0" y="204850"/>
                  </a:lnTo>
                </a:path>
              </a:pathLst>
            </a:custGeom>
            <a:noFill/>
            <a:ln cap="flat" cmpd="sng" w="25400">
              <a:solidFill>
                <a:srgbClr val="CA6A2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65"/>
            <p:cNvSpPr/>
            <p:nvPr/>
          </p:nvSpPr>
          <p:spPr>
            <a:xfrm>
              <a:off x="4534916" y="1601597"/>
              <a:ext cx="704850" cy="447675"/>
            </a:xfrm>
            <a:custGeom>
              <a:rect b="b" l="l" r="r" t="t"/>
              <a:pathLst>
                <a:path extrusionOk="0" h="447675" w="704850">
                  <a:moveTo>
                    <a:pt x="659638" y="0"/>
                  </a:moveTo>
                  <a:lnTo>
                    <a:pt x="44704" y="0"/>
                  </a:lnTo>
                  <a:lnTo>
                    <a:pt x="27324" y="3522"/>
                  </a:lnTo>
                  <a:lnTo>
                    <a:pt x="13112" y="13128"/>
                  </a:lnTo>
                  <a:lnTo>
                    <a:pt x="3520" y="27378"/>
                  </a:lnTo>
                  <a:lnTo>
                    <a:pt x="0" y="44830"/>
                  </a:lnTo>
                  <a:lnTo>
                    <a:pt x="0" y="402589"/>
                  </a:lnTo>
                  <a:lnTo>
                    <a:pt x="3520" y="420022"/>
                  </a:lnTo>
                  <a:lnTo>
                    <a:pt x="13112" y="434228"/>
                  </a:lnTo>
                  <a:lnTo>
                    <a:pt x="27324" y="443791"/>
                  </a:lnTo>
                  <a:lnTo>
                    <a:pt x="44704" y="447293"/>
                  </a:lnTo>
                  <a:lnTo>
                    <a:pt x="659638" y="447293"/>
                  </a:lnTo>
                  <a:lnTo>
                    <a:pt x="677070" y="443791"/>
                  </a:lnTo>
                  <a:lnTo>
                    <a:pt x="691276" y="434228"/>
                  </a:lnTo>
                  <a:lnTo>
                    <a:pt x="700839" y="420022"/>
                  </a:lnTo>
                  <a:lnTo>
                    <a:pt x="704342" y="402589"/>
                  </a:lnTo>
                  <a:lnTo>
                    <a:pt x="704342" y="44830"/>
                  </a:lnTo>
                  <a:lnTo>
                    <a:pt x="700839" y="27378"/>
                  </a:lnTo>
                  <a:lnTo>
                    <a:pt x="691276" y="13128"/>
                  </a:lnTo>
                  <a:lnTo>
                    <a:pt x="677070" y="3522"/>
                  </a:lnTo>
                  <a:lnTo>
                    <a:pt x="659638"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65"/>
            <p:cNvSpPr/>
            <p:nvPr/>
          </p:nvSpPr>
          <p:spPr>
            <a:xfrm>
              <a:off x="4534916" y="1601597"/>
              <a:ext cx="704850" cy="447675"/>
            </a:xfrm>
            <a:custGeom>
              <a:rect b="b" l="l" r="r" t="t"/>
              <a:pathLst>
                <a:path extrusionOk="0" h="447675" w="704850">
                  <a:moveTo>
                    <a:pt x="0" y="44830"/>
                  </a:moveTo>
                  <a:lnTo>
                    <a:pt x="3520" y="27378"/>
                  </a:lnTo>
                  <a:lnTo>
                    <a:pt x="13112" y="13128"/>
                  </a:lnTo>
                  <a:lnTo>
                    <a:pt x="27324" y="3522"/>
                  </a:lnTo>
                  <a:lnTo>
                    <a:pt x="44704" y="0"/>
                  </a:lnTo>
                  <a:lnTo>
                    <a:pt x="659638" y="0"/>
                  </a:lnTo>
                  <a:lnTo>
                    <a:pt x="677070" y="3522"/>
                  </a:lnTo>
                  <a:lnTo>
                    <a:pt x="691276" y="13128"/>
                  </a:lnTo>
                  <a:lnTo>
                    <a:pt x="700839" y="27378"/>
                  </a:lnTo>
                  <a:lnTo>
                    <a:pt x="704342" y="44830"/>
                  </a:lnTo>
                  <a:lnTo>
                    <a:pt x="704342" y="402589"/>
                  </a:lnTo>
                  <a:lnTo>
                    <a:pt x="700839" y="420022"/>
                  </a:lnTo>
                  <a:lnTo>
                    <a:pt x="691276" y="434228"/>
                  </a:lnTo>
                  <a:lnTo>
                    <a:pt x="677070" y="443791"/>
                  </a:lnTo>
                  <a:lnTo>
                    <a:pt x="659638" y="447293"/>
                  </a:lnTo>
                  <a:lnTo>
                    <a:pt x="44704" y="447293"/>
                  </a:lnTo>
                  <a:lnTo>
                    <a:pt x="27324" y="443791"/>
                  </a:lnTo>
                  <a:lnTo>
                    <a:pt x="13112" y="434228"/>
                  </a:lnTo>
                  <a:lnTo>
                    <a:pt x="3520" y="420022"/>
                  </a:lnTo>
                  <a:lnTo>
                    <a:pt x="0" y="402589"/>
                  </a:lnTo>
                  <a:lnTo>
                    <a:pt x="0" y="44830"/>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65"/>
            <p:cNvSpPr/>
            <p:nvPr/>
          </p:nvSpPr>
          <p:spPr>
            <a:xfrm>
              <a:off x="4613148" y="1676019"/>
              <a:ext cx="704850" cy="447675"/>
            </a:xfrm>
            <a:custGeom>
              <a:rect b="b" l="l" r="r" t="t"/>
              <a:pathLst>
                <a:path extrusionOk="0" h="447675" w="704850">
                  <a:moveTo>
                    <a:pt x="659764" y="0"/>
                  </a:moveTo>
                  <a:lnTo>
                    <a:pt x="44830" y="0"/>
                  </a:lnTo>
                  <a:lnTo>
                    <a:pt x="27378" y="3502"/>
                  </a:lnTo>
                  <a:lnTo>
                    <a:pt x="13128" y="13065"/>
                  </a:lnTo>
                  <a:lnTo>
                    <a:pt x="3522" y="27271"/>
                  </a:lnTo>
                  <a:lnTo>
                    <a:pt x="0" y="44703"/>
                  </a:lnTo>
                  <a:lnTo>
                    <a:pt x="0" y="402589"/>
                  </a:lnTo>
                  <a:lnTo>
                    <a:pt x="3522" y="419969"/>
                  </a:lnTo>
                  <a:lnTo>
                    <a:pt x="13128" y="434181"/>
                  </a:lnTo>
                  <a:lnTo>
                    <a:pt x="27378" y="443773"/>
                  </a:lnTo>
                  <a:lnTo>
                    <a:pt x="44830" y="447293"/>
                  </a:lnTo>
                  <a:lnTo>
                    <a:pt x="659764" y="447293"/>
                  </a:lnTo>
                  <a:lnTo>
                    <a:pt x="677144" y="443773"/>
                  </a:lnTo>
                  <a:lnTo>
                    <a:pt x="691356" y="434181"/>
                  </a:lnTo>
                  <a:lnTo>
                    <a:pt x="700948" y="419969"/>
                  </a:lnTo>
                  <a:lnTo>
                    <a:pt x="704468" y="402589"/>
                  </a:lnTo>
                  <a:lnTo>
                    <a:pt x="704468" y="44703"/>
                  </a:lnTo>
                  <a:lnTo>
                    <a:pt x="700948" y="27271"/>
                  </a:lnTo>
                  <a:lnTo>
                    <a:pt x="691356" y="13065"/>
                  </a:lnTo>
                  <a:lnTo>
                    <a:pt x="677144" y="3502"/>
                  </a:lnTo>
                  <a:lnTo>
                    <a:pt x="659764"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65"/>
            <p:cNvSpPr/>
            <p:nvPr/>
          </p:nvSpPr>
          <p:spPr>
            <a:xfrm>
              <a:off x="4613148" y="1676019"/>
              <a:ext cx="704850" cy="447675"/>
            </a:xfrm>
            <a:custGeom>
              <a:rect b="b" l="l" r="r" t="t"/>
              <a:pathLst>
                <a:path extrusionOk="0" h="447675" w="704850">
                  <a:moveTo>
                    <a:pt x="0" y="44703"/>
                  </a:moveTo>
                  <a:lnTo>
                    <a:pt x="3522" y="27271"/>
                  </a:lnTo>
                  <a:lnTo>
                    <a:pt x="13128" y="13065"/>
                  </a:lnTo>
                  <a:lnTo>
                    <a:pt x="27378" y="3502"/>
                  </a:lnTo>
                  <a:lnTo>
                    <a:pt x="44830" y="0"/>
                  </a:lnTo>
                  <a:lnTo>
                    <a:pt x="659764" y="0"/>
                  </a:lnTo>
                  <a:lnTo>
                    <a:pt x="677144" y="3502"/>
                  </a:lnTo>
                  <a:lnTo>
                    <a:pt x="691356" y="13065"/>
                  </a:lnTo>
                  <a:lnTo>
                    <a:pt x="700948" y="27271"/>
                  </a:lnTo>
                  <a:lnTo>
                    <a:pt x="704468" y="44703"/>
                  </a:lnTo>
                  <a:lnTo>
                    <a:pt x="704468" y="402589"/>
                  </a:lnTo>
                  <a:lnTo>
                    <a:pt x="700948" y="419969"/>
                  </a:lnTo>
                  <a:lnTo>
                    <a:pt x="691356" y="434181"/>
                  </a:lnTo>
                  <a:lnTo>
                    <a:pt x="677144" y="443773"/>
                  </a:lnTo>
                  <a:lnTo>
                    <a:pt x="659764" y="447293"/>
                  </a:lnTo>
                  <a:lnTo>
                    <a:pt x="44830" y="447293"/>
                  </a:lnTo>
                  <a:lnTo>
                    <a:pt x="27378" y="443773"/>
                  </a:lnTo>
                  <a:lnTo>
                    <a:pt x="13128" y="434181"/>
                  </a:lnTo>
                  <a:lnTo>
                    <a:pt x="3522" y="419969"/>
                  </a:lnTo>
                  <a:lnTo>
                    <a:pt x="0" y="402589"/>
                  </a:lnTo>
                  <a:lnTo>
                    <a:pt x="0" y="4470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65"/>
            <p:cNvSpPr/>
            <p:nvPr/>
          </p:nvSpPr>
          <p:spPr>
            <a:xfrm>
              <a:off x="2178939" y="2701036"/>
              <a:ext cx="1810385" cy="206375"/>
            </a:xfrm>
            <a:custGeom>
              <a:rect b="b" l="l" r="r" t="t"/>
              <a:pathLst>
                <a:path extrusionOk="0" h="206375" w="1810385">
                  <a:moveTo>
                    <a:pt x="860933" y="0"/>
                  </a:moveTo>
                  <a:lnTo>
                    <a:pt x="860933" y="141097"/>
                  </a:lnTo>
                  <a:lnTo>
                    <a:pt x="1810258" y="141097"/>
                  </a:lnTo>
                  <a:lnTo>
                    <a:pt x="1810258" y="206375"/>
                  </a:lnTo>
                </a:path>
                <a:path extrusionOk="0" h="206375" w="1810385">
                  <a:moveTo>
                    <a:pt x="860933" y="0"/>
                  </a:moveTo>
                  <a:lnTo>
                    <a:pt x="860933" y="204850"/>
                  </a:lnTo>
                </a:path>
                <a:path extrusionOk="0" h="206375" w="1810385">
                  <a:moveTo>
                    <a:pt x="860933" y="0"/>
                  </a:moveTo>
                  <a:lnTo>
                    <a:pt x="860933" y="139573"/>
                  </a:lnTo>
                  <a:lnTo>
                    <a:pt x="0" y="139573"/>
                  </a:lnTo>
                  <a:lnTo>
                    <a:pt x="0" y="204850"/>
                  </a:lnTo>
                </a:path>
              </a:pathLst>
            </a:custGeom>
            <a:noFill/>
            <a:ln cap="flat" cmpd="sng" w="25400">
              <a:solidFill>
                <a:srgbClr val="E679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9" name="Google Shape;549;p65"/>
          <p:cNvSpPr txBox="1"/>
          <p:nvPr/>
        </p:nvSpPr>
        <p:spPr>
          <a:xfrm>
            <a:off x="4771390" y="1801748"/>
            <a:ext cx="38862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Cambria"/>
                <a:ea typeface="Cambria"/>
                <a:cs typeface="Cambria"/>
                <a:sym typeface="Cambria"/>
              </a:rPr>
              <a:t>Shape</a:t>
            </a:r>
            <a:endParaRPr sz="1000">
              <a:solidFill>
                <a:schemeClr val="dk1"/>
              </a:solidFill>
              <a:latin typeface="Cambria"/>
              <a:ea typeface="Cambria"/>
              <a:cs typeface="Cambria"/>
              <a:sym typeface="Cambria"/>
            </a:endParaRPr>
          </a:p>
        </p:txBody>
      </p:sp>
      <p:grpSp>
        <p:nvGrpSpPr>
          <p:cNvPr id="550" name="Google Shape;550;p65"/>
          <p:cNvGrpSpPr/>
          <p:nvPr/>
        </p:nvGrpSpPr>
        <p:grpSpPr>
          <a:xfrm>
            <a:off x="2687701" y="2253742"/>
            <a:ext cx="783082" cy="522097"/>
            <a:chOff x="2687701" y="2253742"/>
            <a:chExt cx="783082" cy="522097"/>
          </a:xfrm>
        </p:grpSpPr>
        <p:sp>
          <p:nvSpPr>
            <p:cNvPr id="551" name="Google Shape;551;p65"/>
            <p:cNvSpPr/>
            <p:nvPr/>
          </p:nvSpPr>
          <p:spPr>
            <a:xfrm>
              <a:off x="2687701" y="2253742"/>
              <a:ext cx="704850" cy="447675"/>
            </a:xfrm>
            <a:custGeom>
              <a:rect b="b" l="l" r="r" t="t"/>
              <a:pathLst>
                <a:path extrusionOk="0" h="447675" w="704850">
                  <a:moveTo>
                    <a:pt x="659638" y="0"/>
                  </a:moveTo>
                  <a:lnTo>
                    <a:pt x="44704" y="0"/>
                  </a:lnTo>
                  <a:lnTo>
                    <a:pt x="27271" y="3520"/>
                  </a:lnTo>
                  <a:lnTo>
                    <a:pt x="13065" y="13112"/>
                  </a:lnTo>
                  <a:lnTo>
                    <a:pt x="3502" y="27324"/>
                  </a:lnTo>
                  <a:lnTo>
                    <a:pt x="0" y="44704"/>
                  </a:lnTo>
                  <a:lnTo>
                    <a:pt x="0" y="402590"/>
                  </a:lnTo>
                  <a:lnTo>
                    <a:pt x="3502" y="420022"/>
                  </a:lnTo>
                  <a:lnTo>
                    <a:pt x="13065" y="434228"/>
                  </a:lnTo>
                  <a:lnTo>
                    <a:pt x="27271" y="443791"/>
                  </a:lnTo>
                  <a:lnTo>
                    <a:pt x="44704" y="447294"/>
                  </a:lnTo>
                  <a:lnTo>
                    <a:pt x="659638" y="447294"/>
                  </a:lnTo>
                  <a:lnTo>
                    <a:pt x="677017" y="443791"/>
                  </a:lnTo>
                  <a:lnTo>
                    <a:pt x="691229" y="434228"/>
                  </a:lnTo>
                  <a:lnTo>
                    <a:pt x="700821" y="420022"/>
                  </a:lnTo>
                  <a:lnTo>
                    <a:pt x="704341" y="402590"/>
                  </a:lnTo>
                  <a:lnTo>
                    <a:pt x="704341" y="44704"/>
                  </a:lnTo>
                  <a:lnTo>
                    <a:pt x="700821" y="27324"/>
                  </a:lnTo>
                  <a:lnTo>
                    <a:pt x="691229" y="13112"/>
                  </a:lnTo>
                  <a:lnTo>
                    <a:pt x="677017" y="3520"/>
                  </a:lnTo>
                  <a:lnTo>
                    <a:pt x="659638"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65"/>
            <p:cNvSpPr/>
            <p:nvPr/>
          </p:nvSpPr>
          <p:spPr>
            <a:xfrm>
              <a:off x="2687701" y="2253742"/>
              <a:ext cx="704850" cy="447675"/>
            </a:xfrm>
            <a:custGeom>
              <a:rect b="b" l="l" r="r" t="t"/>
              <a:pathLst>
                <a:path extrusionOk="0" h="447675" w="704850">
                  <a:moveTo>
                    <a:pt x="0" y="44704"/>
                  </a:moveTo>
                  <a:lnTo>
                    <a:pt x="3502" y="27324"/>
                  </a:lnTo>
                  <a:lnTo>
                    <a:pt x="13065" y="13112"/>
                  </a:lnTo>
                  <a:lnTo>
                    <a:pt x="27271" y="3520"/>
                  </a:lnTo>
                  <a:lnTo>
                    <a:pt x="44704" y="0"/>
                  </a:lnTo>
                  <a:lnTo>
                    <a:pt x="659638" y="0"/>
                  </a:lnTo>
                  <a:lnTo>
                    <a:pt x="677017" y="3520"/>
                  </a:lnTo>
                  <a:lnTo>
                    <a:pt x="691229" y="13112"/>
                  </a:lnTo>
                  <a:lnTo>
                    <a:pt x="700821" y="27324"/>
                  </a:lnTo>
                  <a:lnTo>
                    <a:pt x="704341" y="44704"/>
                  </a:lnTo>
                  <a:lnTo>
                    <a:pt x="704341" y="402590"/>
                  </a:lnTo>
                  <a:lnTo>
                    <a:pt x="700821" y="420022"/>
                  </a:lnTo>
                  <a:lnTo>
                    <a:pt x="691229" y="434228"/>
                  </a:lnTo>
                  <a:lnTo>
                    <a:pt x="677017" y="443791"/>
                  </a:lnTo>
                  <a:lnTo>
                    <a:pt x="659638" y="447294"/>
                  </a:lnTo>
                  <a:lnTo>
                    <a:pt x="44704" y="447294"/>
                  </a:lnTo>
                  <a:lnTo>
                    <a:pt x="27271" y="443791"/>
                  </a:lnTo>
                  <a:lnTo>
                    <a:pt x="13065" y="434228"/>
                  </a:lnTo>
                  <a:lnTo>
                    <a:pt x="3502" y="420022"/>
                  </a:lnTo>
                  <a:lnTo>
                    <a:pt x="0" y="402590"/>
                  </a:lnTo>
                  <a:lnTo>
                    <a:pt x="0" y="44704"/>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65"/>
            <p:cNvSpPr/>
            <p:nvPr/>
          </p:nvSpPr>
          <p:spPr>
            <a:xfrm>
              <a:off x="2765933" y="2328164"/>
              <a:ext cx="704850" cy="447675"/>
            </a:xfrm>
            <a:custGeom>
              <a:rect b="b" l="l" r="r" t="t"/>
              <a:pathLst>
                <a:path extrusionOk="0" h="447675" w="704850">
                  <a:moveTo>
                    <a:pt x="659638" y="0"/>
                  </a:moveTo>
                  <a:lnTo>
                    <a:pt x="44704" y="0"/>
                  </a:lnTo>
                  <a:lnTo>
                    <a:pt x="27324" y="3502"/>
                  </a:lnTo>
                  <a:lnTo>
                    <a:pt x="13112" y="13065"/>
                  </a:lnTo>
                  <a:lnTo>
                    <a:pt x="3520" y="27271"/>
                  </a:lnTo>
                  <a:lnTo>
                    <a:pt x="0" y="44703"/>
                  </a:lnTo>
                  <a:lnTo>
                    <a:pt x="0" y="402463"/>
                  </a:lnTo>
                  <a:lnTo>
                    <a:pt x="3520" y="419915"/>
                  </a:lnTo>
                  <a:lnTo>
                    <a:pt x="13112" y="434165"/>
                  </a:lnTo>
                  <a:lnTo>
                    <a:pt x="27324" y="443771"/>
                  </a:lnTo>
                  <a:lnTo>
                    <a:pt x="44704" y="447294"/>
                  </a:lnTo>
                  <a:lnTo>
                    <a:pt x="659638" y="447294"/>
                  </a:lnTo>
                  <a:lnTo>
                    <a:pt x="677070" y="443771"/>
                  </a:lnTo>
                  <a:lnTo>
                    <a:pt x="691276" y="434165"/>
                  </a:lnTo>
                  <a:lnTo>
                    <a:pt x="700839" y="419915"/>
                  </a:lnTo>
                  <a:lnTo>
                    <a:pt x="704342" y="402463"/>
                  </a:lnTo>
                  <a:lnTo>
                    <a:pt x="704342" y="44703"/>
                  </a:lnTo>
                  <a:lnTo>
                    <a:pt x="700839" y="27271"/>
                  </a:lnTo>
                  <a:lnTo>
                    <a:pt x="691276" y="13065"/>
                  </a:lnTo>
                  <a:lnTo>
                    <a:pt x="677070" y="3502"/>
                  </a:lnTo>
                  <a:lnTo>
                    <a:pt x="659638"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65"/>
            <p:cNvSpPr/>
            <p:nvPr/>
          </p:nvSpPr>
          <p:spPr>
            <a:xfrm>
              <a:off x="2765933" y="2328164"/>
              <a:ext cx="704850" cy="447675"/>
            </a:xfrm>
            <a:custGeom>
              <a:rect b="b" l="l" r="r" t="t"/>
              <a:pathLst>
                <a:path extrusionOk="0" h="447675" w="704850">
                  <a:moveTo>
                    <a:pt x="0" y="44703"/>
                  </a:moveTo>
                  <a:lnTo>
                    <a:pt x="3520" y="27271"/>
                  </a:lnTo>
                  <a:lnTo>
                    <a:pt x="13112" y="13065"/>
                  </a:lnTo>
                  <a:lnTo>
                    <a:pt x="27324" y="3502"/>
                  </a:lnTo>
                  <a:lnTo>
                    <a:pt x="44704" y="0"/>
                  </a:lnTo>
                  <a:lnTo>
                    <a:pt x="659638" y="0"/>
                  </a:lnTo>
                  <a:lnTo>
                    <a:pt x="677070" y="3502"/>
                  </a:lnTo>
                  <a:lnTo>
                    <a:pt x="691276" y="13065"/>
                  </a:lnTo>
                  <a:lnTo>
                    <a:pt x="700839" y="27271"/>
                  </a:lnTo>
                  <a:lnTo>
                    <a:pt x="704342" y="44703"/>
                  </a:lnTo>
                  <a:lnTo>
                    <a:pt x="704342" y="402463"/>
                  </a:lnTo>
                  <a:lnTo>
                    <a:pt x="700839" y="419915"/>
                  </a:lnTo>
                  <a:lnTo>
                    <a:pt x="691276" y="434165"/>
                  </a:lnTo>
                  <a:lnTo>
                    <a:pt x="677070" y="443771"/>
                  </a:lnTo>
                  <a:lnTo>
                    <a:pt x="659638" y="447294"/>
                  </a:lnTo>
                  <a:lnTo>
                    <a:pt x="44704" y="447294"/>
                  </a:lnTo>
                  <a:lnTo>
                    <a:pt x="27324" y="443771"/>
                  </a:lnTo>
                  <a:lnTo>
                    <a:pt x="13112" y="434165"/>
                  </a:lnTo>
                  <a:lnTo>
                    <a:pt x="3520" y="419915"/>
                  </a:lnTo>
                  <a:lnTo>
                    <a:pt x="0" y="402463"/>
                  </a:lnTo>
                  <a:lnTo>
                    <a:pt x="0" y="4470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5" name="Google Shape;555;p65"/>
          <p:cNvSpPr txBox="1"/>
          <p:nvPr/>
        </p:nvSpPr>
        <p:spPr>
          <a:xfrm>
            <a:off x="2855214" y="2454097"/>
            <a:ext cx="52514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Cambria"/>
                <a:ea typeface="Cambria"/>
                <a:cs typeface="Cambria"/>
                <a:sym typeface="Cambria"/>
              </a:rPr>
              <a:t>Triangle</a:t>
            </a:r>
            <a:endParaRPr sz="1000">
              <a:solidFill>
                <a:schemeClr val="dk1"/>
              </a:solidFill>
              <a:latin typeface="Cambria"/>
              <a:ea typeface="Cambria"/>
              <a:cs typeface="Cambria"/>
              <a:sym typeface="Cambria"/>
            </a:endParaRPr>
          </a:p>
        </p:txBody>
      </p:sp>
      <p:grpSp>
        <p:nvGrpSpPr>
          <p:cNvPr id="556" name="Google Shape;556;p65"/>
          <p:cNvGrpSpPr/>
          <p:nvPr/>
        </p:nvGrpSpPr>
        <p:grpSpPr>
          <a:xfrm>
            <a:off x="1826767" y="2905886"/>
            <a:ext cx="783082" cy="522097"/>
            <a:chOff x="1826767" y="2905886"/>
            <a:chExt cx="783082" cy="522097"/>
          </a:xfrm>
        </p:grpSpPr>
        <p:sp>
          <p:nvSpPr>
            <p:cNvPr id="557" name="Google Shape;557;p65"/>
            <p:cNvSpPr/>
            <p:nvPr/>
          </p:nvSpPr>
          <p:spPr>
            <a:xfrm>
              <a:off x="1826767" y="2905886"/>
              <a:ext cx="704850" cy="447675"/>
            </a:xfrm>
            <a:custGeom>
              <a:rect b="b" l="l" r="r" t="t"/>
              <a:pathLst>
                <a:path extrusionOk="0" h="447675" w="704850">
                  <a:moveTo>
                    <a:pt x="659638" y="0"/>
                  </a:moveTo>
                  <a:lnTo>
                    <a:pt x="44704" y="0"/>
                  </a:lnTo>
                  <a:lnTo>
                    <a:pt x="27271" y="3520"/>
                  </a:lnTo>
                  <a:lnTo>
                    <a:pt x="13065" y="13112"/>
                  </a:lnTo>
                  <a:lnTo>
                    <a:pt x="3502" y="27324"/>
                  </a:lnTo>
                  <a:lnTo>
                    <a:pt x="0" y="44703"/>
                  </a:lnTo>
                  <a:lnTo>
                    <a:pt x="0" y="402589"/>
                  </a:lnTo>
                  <a:lnTo>
                    <a:pt x="3502" y="420022"/>
                  </a:lnTo>
                  <a:lnTo>
                    <a:pt x="13065" y="434228"/>
                  </a:lnTo>
                  <a:lnTo>
                    <a:pt x="27271" y="443791"/>
                  </a:lnTo>
                  <a:lnTo>
                    <a:pt x="44704" y="447293"/>
                  </a:lnTo>
                  <a:lnTo>
                    <a:pt x="659638" y="447293"/>
                  </a:lnTo>
                  <a:lnTo>
                    <a:pt x="677017" y="443791"/>
                  </a:lnTo>
                  <a:lnTo>
                    <a:pt x="691229" y="434228"/>
                  </a:lnTo>
                  <a:lnTo>
                    <a:pt x="700821" y="420022"/>
                  </a:lnTo>
                  <a:lnTo>
                    <a:pt x="704342" y="402589"/>
                  </a:lnTo>
                  <a:lnTo>
                    <a:pt x="704342" y="44703"/>
                  </a:lnTo>
                  <a:lnTo>
                    <a:pt x="700821" y="27324"/>
                  </a:lnTo>
                  <a:lnTo>
                    <a:pt x="691229" y="13112"/>
                  </a:lnTo>
                  <a:lnTo>
                    <a:pt x="677017" y="3520"/>
                  </a:lnTo>
                  <a:lnTo>
                    <a:pt x="659638"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65"/>
            <p:cNvSpPr/>
            <p:nvPr/>
          </p:nvSpPr>
          <p:spPr>
            <a:xfrm>
              <a:off x="1826767" y="2905886"/>
              <a:ext cx="704850" cy="447675"/>
            </a:xfrm>
            <a:custGeom>
              <a:rect b="b" l="l" r="r" t="t"/>
              <a:pathLst>
                <a:path extrusionOk="0" h="447675" w="704850">
                  <a:moveTo>
                    <a:pt x="0" y="44703"/>
                  </a:moveTo>
                  <a:lnTo>
                    <a:pt x="3502" y="27324"/>
                  </a:lnTo>
                  <a:lnTo>
                    <a:pt x="13065" y="13112"/>
                  </a:lnTo>
                  <a:lnTo>
                    <a:pt x="27271" y="3520"/>
                  </a:lnTo>
                  <a:lnTo>
                    <a:pt x="44704" y="0"/>
                  </a:lnTo>
                  <a:lnTo>
                    <a:pt x="659638" y="0"/>
                  </a:lnTo>
                  <a:lnTo>
                    <a:pt x="677017" y="3520"/>
                  </a:lnTo>
                  <a:lnTo>
                    <a:pt x="691229" y="13112"/>
                  </a:lnTo>
                  <a:lnTo>
                    <a:pt x="700821" y="27324"/>
                  </a:lnTo>
                  <a:lnTo>
                    <a:pt x="704342" y="44703"/>
                  </a:lnTo>
                  <a:lnTo>
                    <a:pt x="704342" y="402589"/>
                  </a:lnTo>
                  <a:lnTo>
                    <a:pt x="700821" y="420022"/>
                  </a:lnTo>
                  <a:lnTo>
                    <a:pt x="691229" y="434228"/>
                  </a:lnTo>
                  <a:lnTo>
                    <a:pt x="677017" y="443791"/>
                  </a:lnTo>
                  <a:lnTo>
                    <a:pt x="659638" y="447293"/>
                  </a:lnTo>
                  <a:lnTo>
                    <a:pt x="44704" y="447293"/>
                  </a:lnTo>
                  <a:lnTo>
                    <a:pt x="27271" y="443791"/>
                  </a:lnTo>
                  <a:lnTo>
                    <a:pt x="13065" y="434228"/>
                  </a:lnTo>
                  <a:lnTo>
                    <a:pt x="3502" y="420022"/>
                  </a:lnTo>
                  <a:lnTo>
                    <a:pt x="0" y="402589"/>
                  </a:lnTo>
                  <a:lnTo>
                    <a:pt x="0" y="44703"/>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65"/>
            <p:cNvSpPr/>
            <p:nvPr/>
          </p:nvSpPr>
          <p:spPr>
            <a:xfrm>
              <a:off x="1904999" y="2980308"/>
              <a:ext cx="704850" cy="447675"/>
            </a:xfrm>
            <a:custGeom>
              <a:rect b="b" l="l" r="r" t="t"/>
              <a:pathLst>
                <a:path extrusionOk="0" h="447675" w="704850">
                  <a:moveTo>
                    <a:pt x="659638" y="0"/>
                  </a:moveTo>
                  <a:lnTo>
                    <a:pt x="44704" y="0"/>
                  </a:lnTo>
                  <a:lnTo>
                    <a:pt x="27324" y="3502"/>
                  </a:lnTo>
                  <a:lnTo>
                    <a:pt x="13112" y="13065"/>
                  </a:lnTo>
                  <a:lnTo>
                    <a:pt x="3520" y="27271"/>
                  </a:lnTo>
                  <a:lnTo>
                    <a:pt x="0" y="44703"/>
                  </a:lnTo>
                  <a:lnTo>
                    <a:pt x="0" y="402463"/>
                  </a:lnTo>
                  <a:lnTo>
                    <a:pt x="3520" y="419915"/>
                  </a:lnTo>
                  <a:lnTo>
                    <a:pt x="13112" y="434165"/>
                  </a:lnTo>
                  <a:lnTo>
                    <a:pt x="27324" y="443771"/>
                  </a:lnTo>
                  <a:lnTo>
                    <a:pt x="44704" y="447293"/>
                  </a:lnTo>
                  <a:lnTo>
                    <a:pt x="659638" y="447293"/>
                  </a:lnTo>
                  <a:lnTo>
                    <a:pt x="677070" y="443771"/>
                  </a:lnTo>
                  <a:lnTo>
                    <a:pt x="691276" y="434165"/>
                  </a:lnTo>
                  <a:lnTo>
                    <a:pt x="700839" y="419915"/>
                  </a:lnTo>
                  <a:lnTo>
                    <a:pt x="704342" y="402463"/>
                  </a:lnTo>
                  <a:lnTo>
                    <a:pt x="704342" y="44703"/>
                  </a:lnTo>
                  <a:lnTo>
                    <a:pt x="700839" y="27271"/>
                  </a:lnTo>
                  <a:lnTo>
                    <a:pt x="691276" y="13065"/>
                  </a:lnTo>
                  <a:lnTo>
                    <a:pt x="677070" y="3502"/>
                  </a:lnTo>
                  <a:lnTo>
                    <a:pt x="659638"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65"/>
            <p:cNvSpPr/>
            <p:nvPr/>
          </p:nvSpPr>
          <p:spPr>
            <a:xfrm>
              <a:off x="1904999" y="2980308"/>
              <a:ext cx="704850" cy="447675"/>
            </a:xfrm>
            <a:custGeom>
              <a:rect b="b" l="l" r="r" t="t"/>
              <a:pathLst>
                <a:path extrusionOk="0" h="447675" w="704850">
                  <a:moveTo>
                    <a:pt x="0" y="44703"/>
                  </a:moveTo>
                  <a:lnTo>
                    <a:pt x="3520" y="27271"/>
                  </a:lnTo>
                  <a:lnTo>
                    <a:pt x="13112" y="13065"/>
                  </a:lnTo>
                  <a:lnTo>
                    <a:pt x="27324" y="3502"/>
                  </a:lnTo>
                  <a:lnTo>
                    <a:pt x="44704" y="0"/>
                  </a:lnTo>
                  <a:lnTo>
                    <a:pt x="659638" y="0"/>
                  </a:lnTo>
                  <a:lnTo>
                    <a:pt x="677070" y="3502"/>
                  </a:lnTo>
                  <a:lnTo>
                    <a:pt x="691276" y="13065"/>
                  </a:lnTo>
                  <a:lnTo>
                    <a:pt x="700839" y="27271"/>
                  </a:lnTo>
                  <a:lnTo>
                    <a:pt x="704342" y="44703"/>
                  </a:lnTo>
                  <a:lnTo>
                    <a:pt x="704342" y="402463"/>
                  </a:lnTo>
                  <a:lnTo>
                    <a:pt x="700839" y="419915"/>
                  </a:lnTo>
                  <a:lnTo>
                    <a:pt x="691276" y="434165"/>
                  </a:lnTo>
                  <a:lnTo>
                    <a:pt x="677070" y="443771"/>
                  </a:lnTo>
                  <a:lnTo>
                    <a:pt x="659638" y="447293"/>
                  </a:lnTo>
                  <a:lnTo>
                    <a:pt x="44704" y="447293"/>
                  </a:lnTo>
                  <a:lnTo>
                    <a:pt x="27324" y="443771"/>
                  </a:lnTo>
                  <a:lnTo>
                    <a:pt x="13112" y="434165"/>
                  </a:lnTo>
                  <a:lnTo>
                    <a:pt x="3520" y="419915"/>
                  </a:lnTo>
                  <a:lnTo>
                    <a:pt x="0" y="402463"/>
                  </a:lnTo>
                  <a:lnTo>
                    <a:pt x="0" y="4470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1" name="Google Shape;561;p65"/>
          <p:cNvSpPr txBox="1"/>
          <p:nvPr/>
        </p:nvSpPr>
        <p:spPr>
          <a:xfrm>
            <a:off x="1994154" y="3037712"/>
            <a:ext cx="525145" cy="314960"/>
          </a:xfrm>
          <a:prstGeom prst="rect">
            <a:avLst/>
          </a:prstGeom>
          <a:noFill/>
          <a:ln>
            <a:noFill/>
          </a:ln>
        </p:spPr>
        <p:txBody>
          <a:bodyPr anchorCtr="0" anchor="t" bIns="0" lIns="0" spcFirstLastPara="1" rIns="0" wrap="square" tIns="29200">
            <a:spAutoFit/>
          </a:bodyPr>
          <a:lstStyle/>
          <a:p>
            <a:pPr indent="86360" lvl="0" marL="12700" marR="5080" rtl="0" algn="l">
              <a:lnSpc>
                <a:spcPct val="108000"/>
              </a:lnSpc>
              <a:spcBef>
                <a:spcPts val="0"/>
              </a:spcBef>
              <a:spcAft>
                <a:spcPts val="0"/>
              </a:spcAft>
              <a:buNone/>
            </a:pPr>
            <a:r>
              <a:rPr lang="en-US" sz="1000">
                <a:solidFill>
                  <a:schemeClr val="dk1"/>
                </a:solidFill>
                <a:latin typeface="Cambria"/>
                <a:ea typeface="Cambria"/>
                <a:cs typeface="Cambria"/>
                <a:sym typeface="Cambria"/>
              </a:rPr>
              <a:t>Right  Triangle</a:t>
            </a:r>
            <a:endParaRPr sz="1000">
              <a:solidFill>
                <a:schemeClr val="dk1"/>
              </a:solidFill>
              <a:latin typeface="Cambria"/>
              <a:ea typeface="Cambria"/>
              <a:cs typeface="Cambria"/>
              <a:sym typeface="Cambria"/>
            </a:endParaRPr>
          </a:p>
        </p:txBody>
      </p:sp>
      <p:grpSp>
        <p:nvGrpSpPr>
          <p:cNvPr id="562" name="Google Shape;562;p65"/>
          <p:cNvGrpSpPr/>
          <p:nvPr/>
        </p:nvGrpSpPr>
        <p:grpSpPr>
          <a:xfrm>
            <a:off x="2687701" y="2905886"/>
            <a:ext cx="783082" cy="522097"/>
            <a:chOff x="2687701" y="2905886"/>
            <a:chExt cx="783082" cy="522097"/>
          </a:xfrm>
        </p:grpSpPr>
        <p:sp>
          <p:nvSpPr>
            <p:cNvPr id="563" name="Google Shape;563;p65"/>
            <p:cNvSpPr/>
            <p:nvPr/>
          </p:nvSpPr>
          <p:spPr>
            <a:xfrm>
              <a:off x="2687701" y="2905886"/>
              <a:ext cx="704850" cy="447675"/>
            </a:xfrm>
            <a:custGeom>
              <a:rect b="b" l="l" r="r" t="t"/>
              <a:pathLst>
                <a:path extrusionOk="0" h="447675" w="704850">
                  <a:moveTo>
                    <a:pt x="659638" y="0"/>
                  </a:moveTo>
                  <a:lnTo>
                    <a:pt x="44704" y="0"/>
                  </a:lnTo>
                  <a:lnTo>
                    <a:pt x="27271" y="3520"/>
                  </a:lnTo>
                  <a:lnTo>
                    <a:pt x="13065" y="13112"/>
                  </a:lnTo>
                  <a:lnTo>
                    <a:pt x="3502" y="27324"/>
                  </a:lnTo>
                  <a:lnTo>
                    <a:pt x="0" y="44703"/>
                  </a:lnTo>
                  <a:lnTo>
                    <a:pt x="0" y="402589"/>
                  </a:lnTo>
                  <a:lnTo>
                    <a:pt x="3502" y="420022"/>
                  </a:lnTo>
                  <a:lnTo>
                    <a:pt x="13065" y="434228"/>
                  </a:lnTo>
                  <a:lnTo>
                    <a:pt x="27271" y="443791"/>
                  </a:lnTo>
                  <a:lnTo>
                    <a:pt x="44704" y="447293"/>
                  </a:lnTo>
                  <a:lnTo>
                    <a:pt x="659638" y="447293"/>
                  </a:lnTo>
                  <a:lnTo>
                    <a:pt x="677017" y="443791"/>
                  </a:lnTo>
                  <a:lnTo>
                    <a:pt x="691229" y="434228"/>
                  </a:lnTo>
                  <a:lnTo>
                    <a:pt x="700821" y="420022"/>
                  </a:lnTo>
                  <a:lnTo>
                    <a:pt x="704341" y="402589"/>
                  </a:lnTo>
                  <a:lnTo>
                    <a:pt x="704341" y="44703"/>
                  </a:lnTo>
                  <a:lnTo>
                    <a:pt x="700821" y="27324"/>
                  </a:lnTo>
                  <a:lnTo>
                    <a:pt x="691229" y="13112"/>
                  </a:lnTo>
                  <a:lnTo>
                    <a:pt x="677017" y="3520"/>
                  </a:lnTo>
                  <a:lnTo>
                    <a:pt x="659638"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65"/>
            <p:cNvSpPr/>
            <p:nvPr/>
          </p:nvSpPr>
          <p:spPr>
            <a:xfrm>
              <a:off x="2687701" y="2905886"/>
              <a:ext cx="704850" cy="447675"/>
            </a:xfrm>
            <a:custGeom>
              <a:rect b="b" l="l" r="r" t="t"/>
              <a:pathLst>
                <a:path extrusionOk="0" h="447675" w="704850">
                  <a:moveTo>
                    <a:pt x="0" y="44703"/>
                  </a:moveTo>
                  <a:lnTo>
                    <a:pt x="3502" y="27324"/>
                  </a:lnTo>
                  <a:lnTo>
                    <a:pt x="13065" y="13112"/>
                  </a:lnTo>
                  <a:lnTo>
                    <a:pt x="27271" y="3520"/>
                  </a:lnTo>
                  <a:lnTo>
                    <a:pt x="44704" y="0"/>
                  </a:lnTo>
                  <a:lnTo>
                    <a:pt x="659638" y="0"/>
                  </a:lnTo>
                  <a:lnTo>
                    <a:pt x="677017" y="3520"/>
                  </a:lnTo>
                  <a:lnTo>
                    <a:pt x="691229" y="13112"/>
                  </a:lnTo>
                  <a:lnTo>
                    <a:pt x="700821" y="27324"/>
                  </a:lnTo>
                  <a:lnTo>
                    <a:pt x="704341" y="44703"/>
                  </a:lnTo>
                  <a:lnTo>
                    <a:pt x="704341" y="402589"/>
                  </a:lnTo>
                  <a:lnTo>
                    <a:pt x="700821" y="420022"/>
                  </a:lnTo>
                  <a:lnTo>
                    <a:pt x="691229" y="434228"/>
                  </a:lnTo>
                  <a:lnTo>
                    <a:pt x="677017" y="443791"/>
                  </a:lnTo>
                  <a:lnTo>
                    <a:pt x="659638" y="447293"/>
                  </a:lnTo>
                  <a:lnTo>
                    <a:pt x="44704" y="447293"/>
                  </a:lnTo>
                  <a:lnTo>
                    <a:pt x="27271" y="443791"/>
                  </a:lnTo>
                  <a:lnTo>
                    <a:pt x="13065" y="434228"/>
                  </a:lnTo>
                  <a:lnTo>
                    <a:pt x="3502" y="420022"/>
                  </a:lnTo>
                  <a:lnTo>
                    <a:pt x="0" y="402589"/>
                  </a:lnTo>
                  <a:lnTo>
                    <a:pt x="0" y="44703"/>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65"/>
            <p:cNvSpPr/>
            <p:nvPr/>
          </p:nvSpPr>
          <p:spPr>
            <a:xfrm>
              <a:off x="2765933" y="2980308"/>
              <a:ext cx="704850" cy="447675"/>
            </a:xfrm>
            <a:custGeom>
              <a:rect b="b" l="l" r="r" t="t"/>
              <a:pathLst>
                <a:path extrusionOk="0" h="447675" w="704850">
                  <a:moveTo>
                    <a:pt x="659638" y="0"/>
                  </a:moveTo>
                  <a:lnTo>
                    <a:pt x="44704" y="0"/>
                  </a:lnTo>
                  <a:lnTo>
                    <a:pt x="27324" y="3502"/>
                  </a:lnTo>
                  <a:lnTo>
                    <a:pt x="13112" y="13065"/>
                  </a:lnTo>
                  <a:lnTo>
                    <a:pt x="3520" y="27271"/>
                  </a:lnTo>
                  <a:lnTo>
                    <a:pt x="0" y="44703"/>
                  </a:lnTo>
                  <a:lnTo>
                    <a:pt x="0" y="402463"/>
                  </a:lnTo>
                  <a:lnTo>
                    <a:pt x="3520" y="419915"/>
                  </a:lnTo>
                  <a:lnTo>
                    <a:pt x="13112" y="434165"/>
                  </a:lnTo>
                  <a:lnTo>
                    <a:pt x="27324" y="443771"/>
                  </a:lnTo>
                  <a:lnTo>
                    <a:pt x="44704" y="447293"/>
                  </a:lnTo>
                  <a:lnTo>
                    <a:pt x="659638" y="447293"/>
                  </a:lnTo>
                  <a:lnTo>
                    <a:pt x="677070" y="443771"/>
                  </a:lnTo>
                  <a:lnTo>
                    <a:pt x="691276" y="434165"/>
                  </a:lnTo>
                  <a:lnTo>
                    <a:pt x="700839" y="419915"/>
                  </a:lnTo>
                  <a:lnTo>
                    <a:pt x="704342" y="402463"/>
                  </a:lnTo>
                  <a:lnTo>
                    <a:pt x="704342" y="44703"/>
                  </a:lnTo>
                  <a:lnTo>
                    <a:pt x="700839" y="27271"/>
                  </a:lnTo>
                  <a:lnTo>
                    <a:pt x="691276" y="13065"/>
                  </a:lnTo>
                  <a:lnTo>
                    <a:pt x="677070" y="3502"/>
                  </a:lnTo>
                  <a:lnTo>
                    <a:pt x="659638"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65"/>
            <p:cNvSpPr/>
            <p:nvPr/>
          </p:nvSpPr>
          <p:spPr>
            <a:xfrm>
              <a:off x="2765933" y="2980308"/>
              <a:ext cx="704850" cy="447675"/>
            </a:xfrm>
            <a:custGeom>
              <a:rect b="b" l="l" r="r" t="t"/>
              <a:pathLst>
                <a:path extrusionOk="0" h="447675" w="704850">
                  <a:moveTo>
                    <a:pt x="0" y="44703"/>
                  </a:moveTo>
                  <a:lnTo>
                    <a:pt x="3520" y="27271"/>
                  </a:lnTo>
                  <a:lnTo>
                    <a:pt x="13112" y="13065"/>
                  </a:lnTo>
                  <a:lnTo>
                    <a:pt x="27324" y="3502"/>
                  </a:lnTo>
                  <a:lnTo>
                    <a:pt x="44704" y="0"/>
                  </a:lnTo>
                  <a:lnTo>
                    <a:pt x="659638" y="0"/>
                  </a:lnTo>
                  <a:lnTo>
                    <a:pt x="677070" y="3502"/>
                  </a:lnTo>
                  <a:lnTo>
                    <a:pt x="691276" y="13065"/>
                  </a:lnTo>
                  <a:lnTo>
                    <a:pt x="700839" y="27271"/>
                  </a:lnTo>
                  <a:lnTo>
                    <a:pt x="704342" y="44703"/>
                  </a:lnTo>
                  <a:lnTo>
                    <a:pt x="704342" y="402463"/>
                  </a:lnTo>
                  <a:lnTo>
                    <a:pt x="700839" y="419915"/>
                  </a:lnTo>
                  <a:lnTo>
                    <a:pt x="691276" y="434165"/>
                  </a:lnTo>
                  <a:lnTo>
                    <a:pt x="677070" y="443771"/>
                  </a:lnTo>
                  <a:lnTo>
                    <a:pt x="659638" y="447293"/>
                  </a:lnTo>
                  <a:lnTo>
                    <a:pt x="44704" y="447293"/>
                  </a:lnTo>
                  <a:lnTo>
                    <a:pt x="27324" y="443771"/>
                  </a:lnTo>
                  <a:lnTo>
                    <a:pt x="13112" y="434165"/>
                  </a:lnTo>
                  <a:lnTo>
                    <a:pt x="3520" y="419915"/>
                  </a:lnTo>
                  <a:lnTo>
                    <a:pt x="0" y="402463"/>
                  </a:lnTo>
                  <a:lnTo>
                    <a:pt x="0" y="4470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7" name="Google Shape;567;p65"/>
          <p:cNvSpPr txBox="1"/>
          <p:nvPr/>
        </p:nvSpPr>
        <p:spPr>
          <a:xfrm>
            <a:off x="2849117" y="3037712"/>
            <a:ext cx="539750" cy="314960"/>
          </a:xfrm>
          <a:prstGeom prst="rect">
            <a:avLst/>
          </a:prstGeom>
          <a:noFill/>
          <a:ln>
            <a:noFill/>
          </a:ln>
        </p:spPr>
        <p:txBody>
          <a:bodyPr anchorCtr="0" anchor="t" bIns="0" lIns="0" spcFirstLastPara="1" rIns="0" wrap="square" tIns="29200">
            <a:spAutoFit/>
          </a:bodyPr>
          <a:lstStyle/>
          <a:p>
            <a:pPr indent="-6350" lvl="0" marL="18415" marR="5080" rtl="0" algn="l">
              <a:lnSpc>
                <a:spcPct val="108000"/>
              </a:lnSpc>
              <a:spcBef>
                <a:spcPts val="0"/>
              </a:spcBef>
              <a:spcAft>
                <a:spcPts val="0"/>
              </a:spcAft>
              <a:buNone/>
            </a:pPr>
            <a:r>
              <a:rPr lang="en-US" sz="1000">
                <a:solidFill>
                  <a:schemeClr val="dk1"/>
                </a:solidFill>
                <a:latin typeface="Cambria"/>
                <a:ea typeface="Cambria"/>
                <a:cs typeface="Cambria"/>
                <a:sym typeface="Cambria"/>
              </a:rPr>
              <a:t>Isosceles  Triangle</a:t>
            </a:r>
            <a:endParaRPr sz="1000">
              <a:solidFill>
                <a:schemeClr val="dk1"/>
              </a:solidFill>
              <a:latin typeface="Cambria"/>
              <a:ea typeface="Cambria"/>
              <a:cs typeface="Cambria"/>
              <a:sym typeface="Cambria"/>
            </a:endParaRPr>
          </a:p>
        </p:txBody>
      </p:sp>
      <p:grpSp>
        <p:nvGrpSpPr>
          <p:cNvPr id="568" name="Google Shape;568;p65"/>
          <p:cNvGrpSpPr/>
          <p:nvPr/>
        </p:nvGrpSpPr>
        <p:grpSpPr>
          <a:xfrm>
            <a:off x="3636898" y="2907410"/>
            <a:ext cx="783209" cy="521970"/>
            <a:chOff x="3636898" y="2907410"/>
            <a:chExt cx="783209" cy="521970"/>
          </a:xfrm>
        </p:grpSpPr>
        <p:sp>
          <p:nvSpPr>
            <p:cNvPr id="569" name="Google Shape;569;p65"/>
            <p:cNvSpPr/>
            <p:nvPr/>
          </p:nvSpPr>
          <p:spPr>
            <a:xfrm>
              <a:off x="3636898" y="2907410"/>
              <a:ext cx="704850" cy="447675"/>
            </a:xfrm>
            <a:custGeom>
              <a:rect b="b" l="l" r="r" t="t"/>
              <a:pathLst>
                <a:path extrusionOk="0" h="447675" w="704850">
                  <a:moveTo>
                    <a:pt x="659764" y="0"/>
                  </a:moveTo>
                  <a:lnTo>
                    <a:pt x="44830" y="0"/>
                  </a:lnTo>
                  <a:lnTo>
                    <a:pt x="27378" y="3502"/>
                  </a:lnTo>
                  <a:lnTo>
                    <a:pt x="13128" y="13065"/>
                  </a:lnTo>
                  <a:lnTo>
                    <a:pt x="3522" y="27271"/>
                  </a:lnTo>
                  <a:lnTo>
                    <a:pt x="0" y="44703"/>
                  </a:lnTo>
                  <a:lnTo>
                    <a:pt x="0" y="402463"/>
                  </a:lnTo>
                  <a:lnTo>
                    <a:pt x="3522" y="419915"/>
                  </a:lnTo>
                  <a:lnTo>
                    <a:pt x="13128" y="434165"/>
                  </a:lnTo>
                  <a:lnTo>
                    <a:pt x="27378" y="443771"/>
                  </a:lnTo>
                  <a:lnTo>
                    <a:pt x="44830" y="447293"/>
                  </a:lnTo>
                  <a:lnTo>
                    <a:pt x="659764" y="447293"/>
                  </a:lnTo>
                  <a:lnTo>
                    <a:pt x="677144" y="443771"/>
                  </a:lnTo>
                  <a:lnTo>
                    <a:pt x="691356" y="434165"/>
                  </a:lnTo>
                  <a:lnTo>
                    <a:pt x="700948" y="419915"/>
                  </a:lnTo>
                  <a:lnTo>
                    <a:pt x="704468" y="402463"/>
                  </a:lnTo>
                  <a:lnTo>
                    <a:pt x="704468" y="44703"/>
                  </a:lnTo>
                  <a:lnTo>
                    <a:pt x="700948" y="27271"/>
                  </a:lnTo>
                  <a:lnTo>
                    <a:pt x="691356" y="13065"/>
                  </a:lnTo>
                  <a:lnTo>
                    <a:pt x="677144" y="3502"/>
                  </a:lnTo>
                  <a:lnTo>
                    <a:pt x="659764"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65"/>
            <p:cNvSpPr/>
            <p:nvPr/>
          </p:nvSpPr>
          <p:spPr>
            <a:xfrm>
              <a:off x="3636898" y="2907410"/>
              <a:ext cx="704850" cy="447675"/>
            </a:xfrm>
            <a:custGeom>
              <a:rect b="b" l="l" r="r" t="t"/>
              <a:pathLst>
                <a:path extrusionOk="0" h="447675" w="704850">
                  <a:moveTo>
                    <a:pt x="0" y="44703"/>
                  </a:moveTo>
                  <a:lnTo>
                    <a:pt x="3522" y="27271"/>
                  </a:lnTo>
                  <a:lnTo>
                    <a:pt x="13128" y="13065"/>
                  </a:lnTo>
                  <a:lnTo>
                    <a:pt x="27378" y="3502"/>
                  </a:lnTo>
                  <a:lnTo>
                    <a:pt x="44830" y="0"/>
                  </a:lnTo>
                  <a:lnTo>
                    <a:pt x="659764" y="0"/>
                  </a:lnTo>
                  <a:lnTo>
                    <a:pt x="677144" y="3502"/>
                  </a:lnTo>
                  <a:lnTo>
                    <a:pt x="691356" y="13065"/>
                  </a:lnTo>
                  <a:lnTo>
                    <a:pt x="700948" y="27271"/>
                  </a:lnTo>
                  <a:lnTo>
                    <a:pt x="704468" y="44703"/>
                  </a:lnTo>
                  <a:lnTo>
                    <a:pt x="704468" y="402463"/>
                  </a:lnTo>
                  <a:lnTo>
                    <a:pt x="700948" y="419915"/>
                  </a:lnTo>
                  <a:lnTo>
                    <a:pt x="691356" y="434165"/>
                  </a:lnTo>
                  <a:lnTo>
                    <a:pt x="677144" y="443771"/>
                  </a:lnTo>
                  <a:lnTo>
                    <a:pt x="659764" y="447293"/>
                  </a:lnTo>
                  <a:lnTo>
                    <a:pt x="44830" y="447293"/>
                  </a:lnTo>
                  <a:lnTo>
                    <a:pt x="27378" y="443771"/>
                  </a:lnTo>
                  <a:lnTo>
                    <a:pt x="13128" y="434165"/>
                  </a:lnTo>
                  <a:lnTo>
                    <a:pt x="3522" y="419915"/>
                  </a:lnTo>
                  <a:lnTo>
                    <a:pt x="0" y="402463"/>
                  </a:lnTo>
                  <a:lnTo>
                    <a:pt x="0" y="44703"/>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65"/>
            <p:cNvSpPr/>
            <p:nvPr/>
          </p:nvSpPr>
          <p:spPr>
            <a:xfrm>
              <a:off x="3715257" y="2981705"/>
              <a:ext cx="704850" cy="447675"/>
            </a:xfrm>
            <a:custGeom>
              <a:rect b="b" l="l" r="r" t="t"/>
              <a:pathLst>
                <a:path extrusionOk="0" h="447675" w="704850">
                  <a:moveTo>
                    <a:pt x="659638" y="0"/>
                  </a:moveTo>
                  <a:lnTo>
                    <a:pt x="44703" y="0"/>
                  </a:lnTo>
                  <a:lnTo>
                    <a:pt x="27271" y="3520"/>
                  </a:lnTo>
                  <a:lnTo>
                    <a:pt x="13065" y="13112"/>
                  </a:lnTo>
                  <a:lnTo>
                    <a:pt x="3502" y="27324"/>
                  </a:lnTo>
                  <a:lnTo>
                    <a:pt x="0" y="44704"/>
                  </a:lnTo>
                  <a:lnTo>
                    <a:pt x="0" y="402590"/>
                  </a:lnTo>
                  <a:lnTo>
                    <a:pt x="3502" y="419969"/>
                  </a:lnTo>
                  <a:lnTo>
                    <a:pt x="13065" y="434181"/>
                  </a:lnTo>
                  <a:lnTo>
                    <a:pt x="27271" y="443773"/>
                  </a:lnTo>
                  <a:lnTo>
                    <a:pt x="44703" y="447294"/>
                  </a:lnTo>
                  <a:lnTo>
                    <a:pt x="659638" y="447294"/>
                  </a:lnTo>
                  <a:lnTo>
                    <a:pt x="677017" y="443773"/>
                  </a:lnTo>
                  <a:lnTo>
                    <a:pt x="691229" y="434181"/>
                  </a:lnTo>
                  <a:lnTo>
                    <a:pt x="700821" y="419969"/>
                  </a:lnTo>
                  <a:lnTo>
                    <a:pt x="704341" y="402590"/>
                  </a:lnTo>
                  <a:lnTo>
                    <a:pt x="704341" y="44704"/>
                  </a:lnTo>
                  <a:lnTo>
                    <a:pt x="700821" y="27324"/>
                  </a:lnTo>
                  <a:lnTo>
                    <a:pt x="691229" y="13112"/>
                  </a:lnTo>
                  <a:lnTo>
                    <a:pt x="677017" y="3520"/>
                  </a:lnTo>
                  <a:lnTo>
                    <a:pt x="659638"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65"/>
            <p:cNvSpPr/>
            <p:nvPr/>
          </p:nvSpPr>
          <p:spPr>
            <a:xfrm>
              <a:off x="3715257" y="2981705"/>
              <a:ext cx="704850" cy="447675"/>
            </a:xfrm>
            <a:custGeom>
              <a:rect b="b" l="l" r="r" t="t"/>
              <a:pathLst>
                <a:path extrusionOk="0" h="447675" w="704850">
                  <a:moveTo>
                    <a:pt x="0" y="44704"/>
                  </a:moveTo>
                  <a:lnTo>
                    <a:pt x="3502" y="27324"/>
                  </a:lnTo>
                  <a:lnTo>
                    <a:pt x="13065" y="13112"/>
                  </a:lnTo>
                  <a:lnTo>
                    <a:pt x="27271" y="3520"/>
                  </a:lnTo>
                  <a:lnTo>
                    <a:pt x="44703" y="0"/>
                  </a:lnTo>
                  <a:lnTo>
                    <a:pt x="659638" y="0"/>
                  </a:lnTo>
                  <a:lnTo>
                    <a:pt x="677017" y="3520"/>
                  </a:lnTo>
                  <a:lnTo>
                    <a:pt x="691229" y="13112"/>
                  </a:lnTo>
                  <a:lnTo>
                    <a:pt x="700821" y="27324"/>
                  </a:lnTo>
                  <a:lnTo>
                    <a:pt x="704341" y="44704"/>
                  </a:lnTo>
                  <a:lnTo>
                    <a:pt x="704341" y="402590"/>
                  </a:lnTo>
                  <a:lnTo>
                    <a:pt x="700821" y="419969"/>
                  </a:lnTo>
                  <a:lnTo>
                    <a:pt x="691229" y="434181"/>
                  </a:lnTo>
                  <a:lnTo>
                    <a:pt x="677017" y="443773"/>
                  </a:lnTo>
                  <a:lnTo>
                    <a:pt x="659638" y="447294"/>
                  </a:lnTo>
                  <a:lnTo>
                    <a:pt x="44703" y="447294"/>
                  </a:lnTo>
                  <a:lnTo>
                    <a:pt x="27271" y="443773"/>
                  </a:lnTo>
                  <a:lnTo>
                    <a:pt x="13065" y="434181"/>
                  </a:lnTo>
                  <a:lnTo>
                    <a:pt x="3502" y="419969"/>
                  </a:lnTo>
                  <a:lnTo>
                    <a:pt x="0" y="402590"/>
                  </a:lnTo>
                  <a:lnTo>
                    <a:pt x="0" y="44704"/>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3" name="Google Shape;573;p65"/>
          <p:cNvSpPr txBox="1"/>
          <p:nvPr/>
        </p:nvSpPr>
        <p:spPr>
          <a:xfrm>
            <a:off x="3804665" y="3039236"/>
            <a:ext cx="525145" cy="314960"/>
          </a:xfrm>
          <a:prstGeom prst="rect">
            <a:avLst/>
          </a:prstGeom>
          <a:noFill/>
          <a:ln>
            <a:noFill/>
          </a:ln>
        </p:spPr>
        <p:txBody>
          <a:bodyPr anchorCtr="0" anchor="t" bIns="0" lIns="0" spcFirstLastPara="1" rIns="0" wrap="square" tIns="29200">
            <a:spAutoFit/>
          </a:bodyPr>
          <a:lstStyle/>
          <a:p>
            <a:pPr indent="80645" lvl="0" marL="12700" marR="5080" rtl="0" algn="l">
              <a:lnSpc>
                <a:spcPct val="108000"/>
              </a:lnSpc>
              <a:spcBef>
                <a:spcPts val="0"/>
              </a:spcBef>
              <a:spcAft>
                <a:spcPts val="0"/>
              </a:spcAft>
              <a:buNone/>
            </a:pPr>
            <a:r>
              <a:rPr lang="en-US" sz="1000">
                <a:solidFill>
                  <a:schemeClr val="dk1"/>
                </a:solidFill>
                <a:latin typeface="Cambria"/>
                <a:ea typeface="Cambria"/>
                <a:cs typeface="Cambria"/>
                <a:sym typeface="Cambria"/>
              </a:rPr>
              <a:t>Acute  Triangle</a:t>
            </a:r>
            <a:endParaRPr sz="1000">
              <a:solidFill>
                <a:schemeClr val="dk1"/>
              </a:solidFill>
              <a:latin typeface="Cambria"/>
              <a:ea typeface="Cambria"/>
              <a:cs typeface="Cambria"/>
              <a:sym typeface="Cambria"/>
            </a:endParaRPr>
          </a:p>
        </p:txBody>
      </p:sp>
      <p:grpSp>
        <p:nvGrpSpPr>
          <p:cNvPr id="574" name="Google Shape;574;p65"/>
          <p:cNvGrpSpPr/>
          <p:nvPr/>
        </p:nvGrpSpPr>
        <p:grpSpPr>
          <a:xfrm>
            <a:off x="5999098" y="2253742"/>
            <a:ext cx="783209" cy="522097"/>
            <a:chOff x="5999098" y="2253742"/>
            <a:chExt cx="783209" cy="522097"/>
          </a:xfrm>
        </p:grpSpPr>
        <p:sp>
          <p:nvSpPr>
            <p:cNvPr id="575" name="Google Shape;575;p65"/>
            <p:cNvSpPr/>
            <p:nvPr/>
          </p:nvSpPr>
          <p:spPr>
            <a:xfrm>
              <a:off x="5999098" y="2253742"/>
              <a:ext cx="704850" cy="447675"/>
            </a:xfrm>
            <a:custGeom>
              <a:rect b="b" l="l" r="r" t="t"/>
              <a:pathLst>
                <a:path extrusionOk="0" h="447675" w="704850">
                  <a:moveTo>
                    <a:pt x="659765" y="0"/>
                  </a:moveTo>
                  <a:lnTo>
                    <a:pt x="44830" y="0"/>
                  </a:lnTo>
                  <a:lnTo>
                    <a:pt x="27378" y="3520"/>
                  </a:lnTo>
                  <a:lnTo>
                    <a:pt x="13128" y="13112"/>
                  </a:lnTo>
                  <a:lnTo>
                    <a:pt x="3522" y="27324"/>
                  </a:lnTo>
                  <a:lnTo>
                    <a:pt x="0" y="44704"/>
                  </a:lnTo>
                  <a:lnTo>
                    <a:pt x="0" y="402590"/>
                  </a:lnTo>
                  <a:lnTo>
                    <a:pt x="3522" y="420022"/>
                  </a:lnTo>
                  <a:lnTo>
                    <a:pt x="13128" y="434228"/>
                  </a:lnTo>
                  <a:lnTo>
                    <a:pt x="27378" y="443791"/>
                  </a:lnTo>
                  <a:lnTo>
                    <a:pt x="44830" y="447294"/>
                  </a:lnTo>
                  <a:lnTo>
                    <a:pt x="659765" y="447294"/>
                  </a:lnTo>
                  <a:lnTo>
                    <a:pt x="677144" y="443791"/>
                  </a:lnTo>
                  <a:lnTo>
                    <a:pt x="691356" y="434228"/>
                  </a:lnTo>
                  <a:lnTo>
                    <a:pt x="700948" y="420022"/>
                  </a:lnTo>
                  <a:lnTo>
                    <a:pt x="704469" y="402590"/>
                  </a:lnTo>
                  <a:lnTo>
                    <a:pt x="704469" y="44704"/>
                  </a:lnTo>
                  <a:lnTo>
                    <a:pt x="700948" y="27324"/>
                  </a:lnTo>
                  <a:lnTo>
                    <a:pt x="691356" y="13112"/>
                  </a:lnTo>
                  <a:lnTo>
                    <a:pt x="677144" y="3520"/>
                  </a:lnTo>
                  <a:lnTo>
                    <a:pt x="659765"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65"/>
            <p:cNvSpPr/>
            <p:nvPr/>
          </p:nvSpPr>
          <p:spPr>
            <a:xfrm>
              <a:off x="5999098" y="2253742"/>
              <a:ext cx="704850" cy="447675"/>
            </a:xfrm>
            <a:custGeom>
              <a:rect b="b" l="l" r="r" t="t"/>
              <a:pathLst>
                <a:path extrusionOk="0" h="447675" w="704850">
                  <a:moveTo>
                    <a:pt x="0" y="44704"/>
                  </a:moveTo>
                  <a:lnTo>
                    <a:pt x="3522" y="27324"/>
                  </a:lnTo>
                  <a:lnTo>
                    <a:pt x="13128" y="13112"/>
                  </a:lnTo>
                  <a:lnTo>
                    <a:pt x="27378" y="3520"/>
                  </a:lnTo>
                  <a:lnTo>
                    <a:pt x="44830" y="0"/>
                  </a:lnTo>
                  <a:lnTo>
                    <a:pt x="659765" y="0"/>
                  </a:lnTo>
                  <a:lnTo>
                    <a:pt x="677144" y="3520"/>
                  </a:lnTo>
                  <a:lnTo>
                    <a:pt x="691356" y="13112"/>
                  </a:lnTo>
                  <a:lnTo>
                    <a:pt x="700948" y="27324"/>
                  </a:lnTo>
                  <a:lnTo>
                    <a:pt x="704469" y="44704"/>
                  </a:lnTo>
                  <a:lnTo>
                    <a:pt x="704469" y="402590"/>
                  </a:lnTo>
                  <a:lnTo>
                    <a:pt x="700948" y="420022"/>
                  </a:lnTo>
                  <a:lnTo>
                    <a:pt x="691356" y="434228"/>
                  </a:lnTo>
                  <a:lnTo>
                    <a:pt x="677144" y="443791"/>
                  </a:lnTo>
                  <a:lnTo>
                    <a:pt x="659765" y="447294"/>
                  </a:lnTo>
                  <a:lnTo>
                    <a:pt x="44830" y="447294"/>
                  </a:lnTo>
                  <a:lnTo>
                    <a:pt x="27378" y="443791"/>
                  </a:lnTo>
                  <a:lnTo>
                    <a:pt x="13128" y="434228"/>
                  </a:lnTo>
                  <a:lnTo>
                    <a:pt x="3522" y="420022"/>
                  </a:lnTo>
                  <a:lnTo>
                    <a:pt x="0" y="402590"/>
                  </a:lnTo>
                  <a:lnTo>
                    <a:pt x="0" y="44704"/>
                  </a:lnTo>
                  <a:close/>
                </a:path>
              </a:pathLst>
            </a:custGeom>
            <a:noFill/>
            <a:ln cap="flat" cmpd="sng" w="253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65"/>
            <p:cNvSpPr/>
            <p:nvPr/>
          </p:nvSpPr>
          <p:spPr>
            <a:xfrm>
              <a:off x="6077457" y="2328164"/>
              <a:ext cx="704850" cy="447675"/>
            </a:xfrm>
            <a:custGeom>
              <a:rect b="b" l="l" r="r" t="t"/>
              <a:pathLst>
                <a:path extrusionOk="0" h="447675" w="704850">
                  <a:moveTo>
                    <a:pt x="659638" y="0"/>
                  </a:moveTo>
                  <a:lnTo>
                    <a:pt x="44703" y="0"/>
                  </a:lnTo>
                  <a:lnTo>
                    <a:pt x="27271" y="3502"/>
                  </a:lnTo>
                  <a:lnTo>
                    <a:pt x="13065" y="13065"/>
                  </a:lnTo>
                  <a:lnTo>
                    <a:pt x="3502" y="27271"/>
                  </a:lnTo>
                  <a:lnTo>
                    <a:pt x="0" y="44703"/>
                  </a:lnTo>
                  <a:lnTo>
                    <a:pt x="0" y="402463"/>
                  </a:lnTo>
                  <a:lnTo>
                    <a:pt x="3502" y="419915"/>
                  </a:lnTo>
                  <a:lnTo>
                    <a:pt x="13065" y="434165"/>
                  </a:lnTo>
                  <a:lnTo>
                    <a:pt x="27271" y="443771"/>
                  </a:lnTo>
                  <a:lnTo>
                    <a:pt x="44703" y="447294"/>
                  </a:lnTo>
                  <a:lnTo>
                    <a:pt x="659638" y="447294"/>
                  </a:lnTo>
                  <a:lnTo>
                    <a:pt x="677017" y="443771"/>
                  </a:lnTo>
                  <a:lnTo>
                    <a:pt x="691229" y="434165"/>
                  </a:lnTo>
                  <a:lnTo>
                    <a:pt x="700821" y="419915"/>
                  </a:lnTo>
                  <a:lnTo>
                    <a:pt x="704341" y="402463"/>
                  </a:lnTo>
                  <a:lnTo>
                    <a:pt x="704341" y="44703"/>
                  </a:lnTo>
                  <a:lnTo>
                    <a:pt x="700821" y="27271"/>
                  </a:lnTo>
                  <a:lnTo>
                    <a:pt x="691229" y="13065"/>
                  </a:lnTo>
                  <a:lnTo>
                    <a:pt x="677017" y="3502"/>
                  </a:lnTo>
                  <a:lnTo>
                    <a:pt x="659638"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65"/>
            <p:cNvSpPr/>
            <p:nvPr/>
          </p:nvSpPr>
          <p:spPr>
            <a:xfrm>
              <a:off x="6077457" y="2328164"/>
              <a:ext cx="704850" cy="447675"/>
            </a:xfrm>
            <a:custGeom>
              <a:rect b="b" l="l" r="r" t="t"/>
              <a:pathLst>
                <a:path extrusionOk="0" h="447675" w="704850">
                  <a:moveTo>
                    <a:pt x="0" y="44703"/>
                  </a:moveTo>
                  <a:lnTo>
                    <a:pt x="3502" y="27271"/>
                  </a:lnTo>
                  <a:lnTo>
                    <a:pt x="13065" y="13065"/>
                  </a:lnTo>
                  <a:lnTo>
                    <a:pt x="27271" y="3502"/>
                  </a:lnTo>
                  <a:lnTo>
                    <a:pt x="44703" y="0"/>
                  </a:lnTo>
                  <a:lnTo>
                    <a:pt x="659638" y="0"/>
                  </a:lnTo>
                  <a:lnTo>
                    <a:pt x="677017" y="3502"/>
                  </a:lnTo>
                  <a:lnTo>
                    <a:pt x="691229" y="13065"/>
                  </a:lnTo>
                  <a:lnTo>
                    <a:pt x="700821" y="27271"/>
                  </a:lnTo>
                  <a:lnTo>
                    <a:pt x="704341" y="44703"/>
                  </a:lnTo>
                  <a:lnTo>
                    <a:pt x="704341" y="402463"/>
                  </a:lnTo>
                  <a:lnTo>
                    <a:pt x="700821" y="419915"/>
                  </a:lnTo>
                  <a:lnTo>
                    <a:pt x="691229" y="434165"/>
                  </a:lnTo>
                  <a:lnTo>
                    <a:pt x="677017" y="443771"/>
                  </a:lnTo>
                  <a:lnTo>
                    <a:pt x="659638" y="447294"/>
                  </a:lnTo>
                  <a:lnTo>
                    <a:pt x="44703" y="447294"/>
                  </a:lnTo>
                  <a:lnTo>
                    <a:pt x="27271" y="443771"/>
                  </a:lnTo>
                  <a:lnTo>
                    <a:pt x="13065" y="434165"/>
                  </a:lnTo>
                  <a:lnTo>
                    <a:pt x="3502" y="419915"/>
                  </a:lnTo>
                  <a:lnTo>
                    <a:pt x="0" y="402463"/>
                  </a:lnTo>
                  <a:lnTo>
                    <a:pt x="0" y="4470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9" name="Google Shape;579;p65"/>
          <p:cNvSpPr txBox="1"/>
          <p:nvPr/>
        </p:nvSpPr>
        <p:spPr>
          <a:xfrm>
            <a:off x="6127496" y="2454097"/>
            <a:ext cx="60579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Cambria"/>
                <a:ea typeface="Cambria"/>
                <a:cs typeface="Cambria"/>
                <a:sym typeface="Cambria"/>
              </a:rPr>
              <a:t>Rectangle</a:t>
            </a:r>
            <a:endParaRPr sz="1000">
              <a:solidFill>
                <a:schemeClr val="dk1"/>
              </a:solidFill>
              <a:latin typeface="Cambria"/>
              <a:ea typeface="Cambria"/>
              <a:cs typeface="Cambria"/>
              <a:sym typeface="Cambria"/>
            </a:endParaRPr>
          </a:p>
        </p:txBody>
      </p:sp>
      <p:grpSp>
        <p:nvGrpSpPr>
          <p:cNvPr id="580" name="Google Shape;580;p65"/>
          <p:cNvGrpSpPr/>
          <p:nvPr/>
        </p:nvGrpSpPr>
        <p:grpSpPr>
          <a:xfrm>
            <a:off x="4627498" y="2253742"/>
            <a:ext cx="783209" cy="522097"/>
            <a:chOff x="4627498" y="2253742"/>
            <a:chExt cx="783209" cy="522097"/>
          </a:xfrm>
        </p:grpSpPr>
        <p:sp>
          <p:nvSpPr>
            <p:cNvPr id="581" name="Google Shape;581;p65"/>
            <p:cNvSpPr/>
            <p:nvPr/>
          </p:nvSpPr>
          <p:spPr>
            <a:xfrm>
              <a:off x="4627498" y="2253742"/>
              <a:ext cx="704850" cy="447675"/>
            </a:xfrm>
            <a:custGeom>
              <a:rect b="b" l="l" r="r" t="t"/>
              <a:pathLst>
                <a:path extrusionOk="0" h="447675" w="704850">
                  <a:moveTo>
                    <a:pt x="659764" y="0"/>
                  </a:moveTo>
                  <a:lnTo>
                    <a:pt x="44830" y="0"/>
                  </a:lnTo>
                  <a:lnTo>
                    <a:pt x="27378" y="3520"/>
                  </a:lnTo>
                  <a:lnTo>
                    <a:pt x="13128" y="13112"/>
                  </a:lnTo>
                  <a:lnTo>
                    <a:pt x="3522" y="27324"/>
                  </a:lnTo>
                  <a:lnTo>
                    <a:pt x="0" y="44704"/>
                  </a:lnTo>
                  <a:lnTo>
                    <a:pt x="0" y="402590"/>
                  </a:lnTo>
                  <a:lnTo>
                    <a:pt x="3522" y="420022"/>
                  </a:lnTo>
                  <a:lnTo>
                    <a:pt x="13128" y="434228"/>
                  </a:lnTo>
                  <a:lnTo>
                    <a:pt x="27378" y="443791"/>
                  </a:lnTo>
                  <a:lnTo>
                    <a:pt x="44830" y="447294"/>
                  </a:lnTo>
                  <a:lnTo>
                    <a:pt x="659764" y="447294"/>
                  </a:lnTo>
                  <a:lnTo>
                    <a:pt x="677144" y="443791"/>
                  </a:lnTo>
                  <a:lnTo>
                    <a:pt x="691356" y="434228"/>
                  </a:lnTo>
                  <a:lnTo>
                    <a:pt x="700948" y="420022"/>
                  </a:lnTo>
                  <a:lnTo>
                    <a:pt x="704468" y="402590"/>
                  </a:lnTo>
                  <a:lnTo>
                    <a:pt x="704468" y="44704"/>
                  </a:lnTo>
                  <a:lnTo>
                    <a:pt x="700948" y="27324"/>
                  </a:lnTo>
                  <a:lnTo>
                    <a:pt x="691356" y="13112"/>
                  </a:lnTo>
                  <a:lnTo>
                    <a:pt x="677144" y="3520"/>
                  </a:lnTo>
                  <a:lnTo>
                    <a:pt x="659764"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65"/>
            <p:cNvSpPr/>
            <p:nvPr/>
          </p:nvSpPr>
          <p:spPr>
            <a:xfrm>
              <a:off x="4627498" y="2253742"/>
              <a:ext cx="704850" cy="447675"/>
            </a:xfrm>
            <a:custGeom>
              <a:rect b="b" l="l" r="r" t="t"/>
              <a:pathLst>
                <a:path extrusionOk="0" h="447675" w="704850">
                  <a:moveTo>
                    <a:pt x="0" y="44704"/>
                  </a:moveTo>
                  <a:lnTo>
                    <a:pt x="3522" y="27324"/>
                  </a:lnTo>
                  <a:lnTo>
                    <a:pt x="13128" y="13112"/>
                  </a:lnTo>
                  <a:lnTo>
                    <a:pt x="27378" y="3520"/>
                  </a:lnTo>
                  <a:lnTo>
                    <a:pt x="44830" y="0"/>
                  </a:lnTo>
                  <a:lnTo>
                    <a:pt x="659764" y="0"/>
                  </a:lnTo>
                  <a:lnTo>
                    <a:pt x="677144" y="3520"/>
                  </a:lnTo>
                  <a:lnTo>
                    <a:pt x="691356" y="13112"/>
                  </a:lnTo>
                  <a:lnTo>
                    <a:pt x="700948" y="27324"/>
                  </a:lnTo>
                  <a:lnTo>
                    <a:pt x="704468" y="44704"/>
                  </a:lnTo>
                  <a:lnTo>
                    <a:pt x="704468" y="402590"/>
                  </a:lnTo>
                  <a:lnTo>
                    <a:pt x="700948" y="420022"/>
                  </a:lnTo>
                  <a:lnTo>
                    <a:pt x="691356" y="434228"/>
                  </a:lnTo>
                  <a:lnTo>
                    <a:pt x="677144" y="443791"/>
                  </a:lnTo>
                  <a:lnTo>
                    <a:pt x="659764" y="447294"/>
                  </a:lnTo>
                  <a:lnTo>
                    <a:pt x="44830" y="447294"/>
                  </a:lnTo>
                  <a:lnTo>
                    <a:pt x="27378" y="443791"/>
                  </a:lnTo>
                  <a:lnTo>
                    <a:pt x="13128" y="434228"/>
                  </a:lnTo>
                  <a:lnTo>
                    <a:pt x="3522" y="420022"/>
                  </a:lnTo>
                  <a:lnTo>
                    <a:pt x="0" y="402590"/>
                  </a:lnTo>
                  <a:lnTo>
                    <a:pt x="0" y="44704"/>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65"/>
            <p:cNvSpPr/>
            <p:nvPr/>
          </p:nvSpPr>
          <p:spPr>
            <a:xfrm>
              <a:off x="4705857" y="2328164"/>
              <a:ext cx="704850" cy="447675"/>
            </a:xfrm>
            <a:custGeom>
              <a:rect b="b" l="l" r="r" t="t"/>
              <a:pathLst>
                <a:path extrusionOk="0" h="447675" w="704850">
                  <a:moveTo>
                    <a:pt x="659638" y="0"/>
                  </a:moveTo>
                  <a:lnTo>
                    <a:pt x="44703" y="0"/>
                  </a:lnTo>
                  <a:lnTo>
                    <a:pt x="27271" y="3502"/>
                  </a:lnTo>
                  <a:lnTo>
                    <a:pt x="13065" y="13065"/>
                  </a:lnTo>
                  <a:lnTo>
                    <a:pt x="3502" y="27271"/>
                  </a:lnTo>
                  <a:lnTo>
                    <a:pt x="0" y="44703"/>
                  </a:lnTo>
                  <a:lnTo>
                    <a:pt x="0" y="402463"/>
                  </a:lnTo>
                  <a:lnTo>
                    <a:pt x="3502" y="419915"/>
                  </a:lnTo>
                  <a:lnTo>
                    <a:pt x="13065" y="434165"/>
                  </a:lnTo>
                  <a:lnTo>
                    <a:pt x="27271" y="443771"/>
                  </a:lnTo>
                  <a:lnTo>
                    <a:pt x="44703" y="447294"/>
                  </a:lnTo>
                  <a:lnTo>
                    <a:pt x="659638" y="447294"/>
                  </a:lnTo>
                  <a:lnTo>
                    <a:pt x="677017" y="443771"/>
                  </a:lnTo>
                  <a:lnTo>
                    <a:pt x="691229" y="434165"/>
                  </a:lnTo>
                  <a:lnTo>
                    <a:pt x="700821" y="419915"/>
                  </a:lnTo>
                  <a:lnTo>
                    <a:pt x="704341" y="402463"/>
                  </a:lnTo>
                  <a:lnTo>
                    <a:pt x="704341" y="44703"/>
                  </a:lnTo>
                  <a:lnTo>
                    <a:pt x="700821" y="27271"/>
                  </a:lnTo>
                  <a:lnTo>
                    <a:pt x="691229" y="13065"/>
                  </a:lnTo>
                  <a:lnTo>
                    <a:pt x="677017" y="3502"/>
                  </a:lnTo>
                  <a:lnTo>
                    <a:pt x="659638"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65"/>
            <p:cNvSpPr/>
            <p:nvPr/>
          </p:nvSpPr>
          <p:spPr>
            <a:xfrm>
              <a:off x="4705857" y="2328164"/>
              <a:ext cx="704850" cy="447675"/>
            </a:xfrm>
            <a:custGeom>
              <a:rect b="b" l="l" r="r" t="t"/>
              <a:pathLst>
                <a:path extrusionOk="0" h="447675" w="704850">
                  <a:moveTo>
                    <a:pt x="0" y="44703"/>
                  </a:moveTo>
                  <a:lnTo>
                    <a:pt x="3502" y="27271"/>
                  </a:lnTo>
                  <a:lnTo>
                    <a:pt x="13065" y="13065"/>
                  </a:lnTo>
                  <a:lnTo>
                    <a:pt x="27271" y="3502"/>
                  </a:lnTo>
                  <a:lnTo>
                    <a:pt x="44703" y="0"/>
                  </a:lnTo>
                  <a:lnTo>
                    <a:pt x="659638" y="0"/>
                  </a:lnTo>
                  <a:lnTo>
                    <a:pt x="677017" y="3502"/>
                  </a:lnTo>
                  <a:lnTo>
                    <a:pt x="691229" y="13065"/>
                  </a:lnTo>
                  <a:lnTo>
                    <a:pt x="700821" y="27271"/>
                  </a:lnTo>
                  <a:lnTo>
                    <a:pt x="704341" y="44703"/>
                  </a:lnTo>
                  <a:lnTo>
                    <a:pt x="704341" y="402463"/>
                  </a:lnTo>
                  <a:lnTo>
                    <a:pt x="700821" y="419915"/>
                  </a:lnTo>
                  <a:lnTo>
                    <a:pt x="691229" y="434165"/>
                  </a:lnTo>
                  <a:lnTo>
                    <a:pt x="677017" y="443771"/>
                  </a:lnTo>
                  <a:lnTo>
                    <a:pt x="659638" y="447294"/>
                  </a:lnTo>
                  <a:lnTo>
                    <a:pt x="44703" y="447294"/>
                  </a:lnTo>
                  <a:lnTo>
                    <a:pt x="27271" y="443771"/>
                  </a:lnTo>
                  <a:lnTo>
                    <a:pt x="13065" y="434165"/>
                  </a:lnTo>
                  <a:lnTo>
                    <a:pt x="3502" y="419915"/>
                  </a:lnTo>
                  <a:lnTo>
                    <a:pt x="0" y="402463"/>
                  </a:lnTo>
                  <a:lnTo>
                    <a:pt x="0" y="4470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85" name="Google Shape;585;p65"/>
          <p:cNvSpPr txBox="1"/>
          <p:nvPr/>
        </p:nvSpPr>
        <p:spPr>
          <a:xfrm>
            <a:off x="4906771" y="2454097"/>
            <a:ext cx="302895"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Cambria"/>
                <a:ea typeface="Cambria"/>
                <a:cs typeface="Cambria"/>
                <a:sym typeface="Cambria"/>
              </a:rPr>
              <a:t>Oval</a:t>
            </a:r>
            <a:endParaRPr sz="1000">
              <a:solidFill>
                <a:schemeClr val="dk1"/>
              </a:solidFill>
              <a:latin typeface="Cambria"/>
              <a:ea typeface="Cambria"/>
              <a:cs typeface="Cambria"/>
              <a:sym typeface="Cambria"/>
            </a:endParaRPr>
          </a:p>
        </p:txBody>
      </p:sp>
      <p:grpSp>
        <p:nvGrpSpPr>
          <p:cNvPr id="586" name="Google Shape;586;p65"/>
          <p:cNvGrpSpPr/>
          <p:nvPr/>
        </p:nvGrpSpPr>
        <p:grpSpPr>
          <a:xfrm>
            <a:off x="4624070" y="2905886"/>
            <a:ext cx="783209" cy="522097"/>
            <a:chOff x="4624070" y="2905886"/>
            <a:chExt cx="783209" cy="522097"/>
          </a:xfrm>
        </p:grpSpPr>
        <p:sp>
          <p:nvSpPr>
            <p:cNvPr id="587" name="Google Shape;587;p65"/>
            <p:cNvSpPr/>
            <p:nvPr/>
          </p:nvSpPr>
          <p:spPr>
            <a:xfrm>
              <a:off x="4624070" y="2905886"/>
              <a:ext cx="704850" cy="447675"/>
            </a:xfrm>
            <a:custGeom>
              <a:rect b="b" l="l" r="r" t="t"/>
              <a:pathLst>
                <a:path extrusionOk="0" h="447675" w="704850">
                  <a:moveTo>
                    <a:pt x="659638" y="0"/>
                  </a:moveTo>
                  <a:lnTo>
                    <a:pt x="44703" y="0"/>
                  </a:lnTo>
                  <a:lnTo>
                    <a:pt x="27324" y="3520"/>
                  </a:lnTo>
                  <a:lnTo>
                    <a:pt x="13112" y="13112"/>
                  </a:lnTo>
                  <a:lnTo>
                    <a:pt x="3520" y="27324"/>
                  </a:lnTo>
                  <a:lnTo>
                    <a:pt x="0" y="44703"/>
                  </a:lnTo>
                  <a:lnTo>
                    <a:pt x="0" y="402589"/>
                  </a:lnTo>
                  <a:lnTo>
                    <a:pt x="3520" y="420022"/>
                  </a:lnTo>
                  <a:lnTo>
                    <a:pt x="13112" y="434228"/>
                  </a:lnTo>
                  <a:lnTo>
                    <a:pt x="27324" y="443791"/>
                  </a:lnTo>
                  <a:lnTo>
                    <a:pt x="44703" y="447293"/>
                  </a:lnTo>
                  <a:lnTo>
                    <a:pt x="659638" y="447293"/>
                  </a:lnTo>
                  <a:lnTo>
                    <a:pt x="677090" y="443791"/>
                  </a:lnTo>
                  <a:lnTo>
                    <a:pt x="691340" y="434228"/>
                  </a:lnTo>
                  <a:lnTo>
                    <a:pt x="700946" y="420022"/>
                  </a:lnTo>
                  <a:lnTo>
                    <a:pt x="704468" y="402589"/>
                  </a:lnTo>
                  <a:lnTo>
                    <a:pt x="704468" y="44703"/>
                  </a:lnTo>
                  <a:lnTo>
                    <a:pt x="700946" y="27324"/>
                  </a:lnTo>
                  <a:lnTo>
                    <a:pt x="691340" y="13112"/>
                  </a:lnTo>
                  <a:lnTo>
                    <a:pt x="677090" y="3520"/>
                  </a:lnTo>
                  <a:lnTo>
                    <a:pt x="659638"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65"/>
            <p:cNvSpPr/>
            <p:nvPr/>
          </p:nvSpPr>
          <p:spPr>
            <a:xfrm>
              <a:off x="4624070" y="2905886"/>
              <a:ext cx="704850" cy="447675"/>
            </a:xfrm>
            <a:custGeom>
              <a:rect b="b" l="l" r="r" t="t"/>
              <a:pathLst>
                <a:path extrusionOk="0" h="447675" w="704850">
                  <a:moveTo>
                    <a:pt x="0" y="44703"/>
                  </a:moveTo>
                  <a:lnTo>
                    <a:pt x="3520" y="27324"/>
                  </a:lnTo>
                  <a:lnTo>
                    <a:pt x="13112" y="13112"/>
                  </a:lnTo>
                  <a:lnTo>
                    <a:pt x="27324" y="3520"/>
                  </a:lnTo>
                  <a:lnTo>
                    <a:pt x="44703" y="0"/>
                  </a:lnTo>
                  <a:lnTo>
                    <a:pt x="659638" y="0"/>
                  </a:lnTo>
                  <a:lnTo>
                    <a:pt x="677090" y="3520"/>
                  </a:lnTo>
                  <a:lnTo>
                    <a:pt x="691340" y="13112"/>
                  </a:lnTo>
                  <a:lnTo>
                    <a:pt x="700946" y="27324"/>
                  </a:lnTo>
                  <a:lnTo>
                    <a:pt x="704468" y="44703"/>
                  </a:lnTo>
                  <a:lnTo>
                    <a:pt x="704468" y="402589"/>
                  </a:lnTo>
                  <a:lnTo>
                    <a:pt x="700946" y="420022"/>
                  </a:lnTo>
                  <a:lnTo>
                    <a:pt x="691340" y="434228"/>
                  </a:lnTo>
                  <a:lnTo>
                    <a:pt x="677090" y="443791"/>
                  </a:lnTo>
                  <a:lnTo>
                    <a:pt x="659638" y="447293"/>
                  </a:lnTo>
                  <a:lnTo>
                    <a:pt x="44703" y="447293"/>
                  </a:lnTo>
                  <a:lnTo>
                    <a:pt x="27324" y="443791"/>
                  </a:lnTo>
                  <a:lnTo>
                    <a:pt x="13112" y="434228"/>
                  </a:lnTo>
                  <a:lnTo>
                    <a:pt x="3520" y="420022"/>
                  </a:lnTo>
                  <a:lnTo>
                    <a:pt x="0" y="402589"/>
                  </a:lnTo>
                  <a:lnTo>
                    <a:pt x="0" y="44703"/>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65"/>
            <p:cNvSpPr/>
            <p:nvPr/>
          </p:nvSpPr>
          <p:spPr>
            <a:xfrm>
              <a:off x="4702429" y="2980308"/>
              <a:ext cx="704850" cy="447675"/>
            </a:xfrm>
            <a:custGeom>
              <a:rect b="b" l="l" r="r" t="t"/>
              <a:pathLst>
                <a:path extrusionOk="0" h="447675" w="704850">
                  <a:moveTo>
                    <a:pt x="659638" y="0"/>
                  </a:moveTo>
                  <a:lnTo>
                    <a:pt x="44704" y="0"/>
                  </a:lnTo>
                  <a:lnTo>
                    <a:pt x="27271" y="3502"/>
                  </a:lnTo>
                  <a:lnTo>
                    <a:pt x="13065" y="13065"/>
                  </a:lnTo>
                  <a:lnTo>
                    <a:pt x="3502" y="27271"/>
                  </a:lnTo>
                  <a:lnTo>
                    <a:pt x="0" y="44703"/>
                  </a:lnTo>
                  <a:lnTo>
                    <a:pt x="0" y="402463"/>
                  </a:lnTo>
                  <a:lnTo>
                    <a:pt x="3502" y="419915"/>
                  </a:lnTo>
                  <a:lnTo>
                    <a:pt x="13065" y="434165"/>
                  </a:lnTo>
                  <a:lnTo>
                    <a:pt x="27271" y="443771"/>
                  </a:lnTo>
                  <a:lnTo>
                    <a:pt x="44704" y="447293"/>
                  </a:lnTo>
                  <a:lnTo>
                    <a:pt x="659638" y="447293"/>
                  </a:lnTo>
                  <a:lnTo>
                    <a:pt x="677017" y="443771"/>
                  </a:lnTo>
                  <a:lnTo>
                    <a:pt x="691229" y="434165"/>
                  </a:lnTo>
                  <a:lnTo>
                    <a:pt x="700821" y="419915"/>
                  </a:lnTo>
                  <a:lnTo>
                    <a:pt x="704342" y="402463"/>
                  </a:lnTo>
                  <a:lnTo>
                    <a:pt x="704342" y="44703"/>
                  </a:lnTo>
                  <a:lnTo>
                    <a:pt x="700821" y="27271"/>
                  </a:lnTo>
                  <a:lnTo>
                    <a:pt x="691229" y="13065"/>
                  </a:lnTo>
                  <a:lnTo>
                    <a:pt x="677017" y="3502"/>
                  </a:lnTo>
                  <a:lnTo>
                    <a:pt x="659638"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65"/>
            <p:cNvSpPr/>
            <p:nvPr/>
          </p:nvSpPr>
          <p:spPr>
            <a:xfrm>
              <a:off x="4702429" y="2980308"/>
              <a:ext cx="704850" cy="447675"/>
            </a:xfrm>
            <a:custGeom>
              <a:rect b="b" l="l" r="r" t="t"/>
              <a:pathLst>
                <a:path extrusionOk="0" h="447675" w="704850">
                  <a:moveTo>
                    <a:pt x="0" y="44703"/>
                  </a:moveTo>
                  <a:lnTo>
                    <a:pt x="3502" y="27271"/>
                  </a:lnTo>
                  <a:lnTo>
                    <a:pt x="13065" y="13065"/>
                  </a:lnTo>
                  <a:lnTo>
                    <a:pt x="27271" y="3502"/>
                  </a:lnTo>
                  <a:lnTo>
                    <a:pt x="44704" y="0"/>
                  </a:lnTo>
                  <a:lnTo>
                    <a:pt x="659638" y="0"/>
                  </a:lnTo>
                  <a:lnTo>
                    <a:pt x="677017" y="3502"/>
                  </a:lnTo>
                  <a:lnTo>
                    <a:pt x="691229" y="13065"/>
                  </a:lnTo>
                  <a:lnTo>
                    <a:pt x="700821" y="27271"/>
                  </a:lnTo>
                  <a:lnTo>
                    <a:pt x="704342" y="44703"/>
                  </a:lnTo>
                  <a:lnTo>
                    <a:pt x="704342" y="402463"/>
                  </a:lnTo>
                  <a:lnTo>
                    <a:pt x="700821" y="419915"/>
                  </a:lnTo>
                  <a:lnTo>
                    <a:pt x="691229" y="434165"/>
                  </a:lnTo>
                  <a:lnTo>
                    <a:pt x="677017" y="443771"/>
                  </a:lnTo>
                  <a:lnTo>
                    <a:pt x="659638" y="447293"/>
                  </a:lnTo>
                  <a:lnTo>
                    <a:pt x="44704" y="447293"/>
                  </a:lnTo>
                  <a:lnTo>
                    <a:pt x="27271" y="443771"/>
                  </a:lnTo>
                  <a:lnTo>
                    <a:pt x="13065" y="434165"/>
                  </a:lnTo>
                  <a:lnTo>
                    <a:pt x="3502" y="419915"/>
                  </a:lnTo>
                  <a:lnTo>
                    <a:pt x="0" y="402463"/>
                  </a:lnTo>
                  <a:lnTo>
                    <a:pt x="0" y="4470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1" name="Google Shape;591;p65"/>
          <p:cNvSpPr txBox="1"/>
          <p:nvPr/>
        </p:nvSpPr>
        <p:spPr>
          <a:xfrm>
            <a:off x="4868036" y="3106673"/>
            <a:ext cx="372110" cy="1778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000">
                <a:solidFill>
                  <a:schemeClr val="dk1"/>
                </a:solidFill>
                <a:latin typeface="Cambria"/>
                <a:ea typeface="Cambria"/>
                <a:cs typeface="Cambria"/>
                <a:sym typeface="Cambria"/>
              </a:rPr>
              <a:t>Circle</a:t>
            </a:r>
            <a:endParaRPr sz="1000">
              <a:solidFill>
                <a:schemeClr val="dk1"/>
              </a:solidFill>
              <a:latin typeface="Cambria"/>
              <a:ea typeface="Cambria"/>
              <a:cs typeface="Cambria"/>
              <a:sym typeface="Cambria"/>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6"/>
          <p:cNvSpPr txBox="1"/>
          <p:nvPr>
            <p:ph type="title"/>
          </p:nvPr>
        </p:nvSpPr>
        <p:spPr>
          <a:xfrm>
            <a:off x="535940" y="896239"/>
            <a:ext cx="484759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OLYMORPHISM </a:t>
            </a:r>
            <a:r>
              <a:rPr lang="en-US" sz="3000"/>
              <a:t>– B</a:t>
            </a:r>
            <a:r>
              <a:rPr lang="en-US" sz="2400"/>
              <a:t>ENEFITS</a:t>
            </a:r>
            <a:endParaRPr sz="2400"/>
          </a:p>
        </p:txBody>
      </p:sp>
      <p:sp>
        <p:nvSpPr>
          <p:cNvPr id="597" name="Google Shape;597;p66"/>
          <p:cNvSpPr txBox="1"/>
          <p:nvPr/>
        </p:nvSpPr>
        <p:spPr>
          <a:xfrm>
            <a:off x="535940" y="1628978"/>
            <a:ext cx="7153275" cy="3675379"/>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What will happen if you call the method using a</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Triangle object or a Circle object.</a:t>
            </a:r>
            <a:endParaRPr sz="2400">
              <a:solidFill>
                <a:schemeClr val="dk1"/>
              </a:solidFill>
              <a:latin typeface="Cambria"/>
              <a:ea typeface="Cambria"/>
              <a:cs typeface="Cambria"/>
              <a:sym typeface="Cambria"/>
            </a:endParaRPr>
          </a:p>
          <a:p>
            <a:pPr indent="0" lvl="0" marL="285115" marR="5080" rtl="0" algn="l">
              <a:lnSpc>
                <a:spcPct val="101899"/>
              </a:lnSpc>
              <a:spcBef>
                <a:spcPts val="175"/>
              </a:spcBef>
              <a:spcAft>
                <a:spcPts val="0"/>
              </a:spcAft>
              <a:buNone/>
            </a:pPr>
            <a:r>
              <a:rPr lang="en-US" sz="1600">
                <a:solidFill>
                  <a:schemeClr val="dk1"/>
                </a:solidFill>
                <a:latin typeface="Cambria"/>
                <a:ea typeface="Cambria"/>
                <a:cs typeface="Cambria"/>
                <a:sym typeface="Cambria"/>
              </a:rPr>
              <a:t>drawShape(new Triangle()); // will call the draw method of Triangle class  drawShape(new Circle()); // will call the draw method of Circle class</a:t>
            </a:r>
            <a:endParaRPr sz="1600">
              <a:solidFill>
                <a:schemeClr val="dk1"/>
              </a:solidFill>
              <a:latin typeface="Cambria"/>
              <a:ea typeface="Cambria"/>
              <a:cs typeface="Cambria"/>
              <a:sym typeface="Cambria"/>
            </a:endParaRPr>
          </a:p>
          <a:p>
            <a:pPr indent="0" lvl="0" marL="0" marR="0" rtl="0" algn="l">
              <a:lnSpc>
                <a:spcPct val="100000"/>
              </a:lnSpc>
              <a:spcBef>
                <a:spcPts val="35"/>
              </a:spcBef>
              <a:spcAft>
                <a:spcPts val="0"/>
              </a:spcAft>
              <a:buNone/>
            </a:pPr>
            <a:r>
              <a:t/>
            </a:r>
            <a:endParaRPr sz="2750">
              <a:solidFill>
                <a:schemeClr val="dk1"/>
              </a:solidFill>
              <a:latin typeface="Cambria"/>
              <a:ea typeface="Cambria"/>
              <a:cs typeface="Cambria"/>
              <a:sym typeface="Cambria"/>
            </a:endParaRPr>
          </a:p>
          <a:p>
            <a:pPr indent="-273685" lvl="1" marL="652780" marR="358140" rtl="0" algn="l">
              <a:lnSpc>
                <a:spcPct val="100000"/>
              </a:lnSpc>
              <a:spcBef>
                <a:spcPts val="0"/>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same invocation can produce “many forms” of  results</a:t>
            </a:r>
            <a:endParaRPr b="0" i="0" sz="2100" u="none" cap="none" strike="noStrike">
              <a:solidFill>
                <a:schemeClr val="dk1"/>
              </a:solidFill>
              <a:latin typeface="Cambria"/>
              <a:ea typeface="Cambria"/>
              <a:cs typeface="Cambria"/>
              <a:sym typeface="Cambria"/>
            </a:endParaRPr>
          </a:p>
          <a:p>
            <a:pPr indent="-273685" lvl="1" marL="652780" marR="26543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We can override method in subclasses and which  implementation to be used is decided at runtime  depending upon the situation (i.e., data type of the  real object)</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7"/>
          <p:cNvSpPr txBox="1"/>
          <p:nvPr>
            <p:ph type="title"/>
          </p:nvPr>
        </p:nvSpPr>
        <p:spPr>
          <a:xfrm>
            <a:off x="535940" y="896239"/>
            <a:ext cx="476377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OLYMORPHISM </a:t>
            </a:r>
            <a:r>
              <a:rPr lang="en-US" sz="3000"/>
              <a:t>- B</a:t>
            </a:r>
            <a:r>
              <a:rPr lang="en-US" sz="2400"/>
              <a:t>ENEFITS</a:t>
            </a:r>
            <a:endParaRPr sz="2400"/>
          </a:p>
        </p:txBody>
      </p:sp>
      <p:sp>
        <p:nvSpPr>
          <p:cNvPr id="603" name="Google Shape;603;p67"/>
          <p:cNvSpPr txBox="1"/>
          <p:nvPr/>
        </p:nvSpPr>
        <p:spPr>
          <a:xfrm>
            <a:off x="535940" y="1628978"/>
            <a:ext cx="7230745" cy="3357879"/>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Polymorphism enables programmers to deal with</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generalities and</a:t>
            </a:r>
            <a:endParaRPr sz="2400">
              <a:solidFill>
                <a:schemeClr val="dk1"/>
              </a:solidFill>
              <a:latin typeface="Cambria"/>
              <a:ea typeface="Cambria"/>
              <a:cs typeface="Cambria"/>
              <a:sym typeface="Cambria"/>
            </a:endParaRPr>
          </a:p>
          <a:p>
            <a:pPr indent="-273685" lvl="1" marL="652780" marR="833119"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let the execution-time environment handle the  specifics.</a:t>
            </a:r>
            <a:endParaRPr b="0" i="0" sz="2100" u="none" cap="none" strike="noStrike">
              <a:solidFill>
                <a:schemeClr val="dk1"/>
              </a:solidFill>
              <a:latin typeface="Cambria"/>
              <a:ea typeface="Cambria"/>
              <a:cs typeface="Cambria"/>
              <a:sym typeface="Cambria"/>
            </a:endParaRPr>
          </a:p>
          <a:p>
            <a:pPr indent="-273050" lvl="0" marL="285115" marR="14351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Programmers can command objects to behave in  manners appropriate to those objects,</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without knowing the types of the objects</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9"/>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(as long as the objects belong to the same inheritance</a:t>
            </a:r>
            <a:endParaRPr b="0" i="0" sz="2100" u="none" cap="none" strike="noStrike">
              <a:solidFill>
                <a:schemeClr val="dk1"/>
              </a:solidFill>
              <a:latin typeface="Cambria"/>
              <a:ea typeface="Cambria"/>
              <a:cs typeface="Cambria"/>
              <a:sym typeface="Cambria"/>
            </a:endParaRPr>
          </a:p>
          <a:p>
            <a:pPr indent="0" lvl="0" marL="652780" marR="0" rtl="0" algn="l">
              <a:lnSpc>
                <a:spcPct val="100000"/>
              </a:lnSpc>
              <a:spcBef>
                <a:spcPts val="0"/>
              </a:spcBef>
              <a:spcAft>
                <a:spcPts val="0"/>
              </a:spcAft>
              <a:buNone/>
            </a:pPr>
            <a:r>
              <a:rPr lang="en-US" sz="2100">
                <a:solidFill>
                  <a:schemeClr val="dk1"/>
                </a:solidFill>
                <a:latin typeface="Cambria"/>
                <a:ea typeface="Cambria"/>
                <a:cs typeface="Cambria"/>
                <a:sym typeface="Cambria"/>
              </a:rPr>
              <a:t>hierarchy).</a:t>
            </a:r>
            <a:endParaRPr sz="2100">
              <a:solidFill>
                <a:schemeClr val="dk1"/>
              </a:solidFill>
              <a:latin typeface="Cambria"/>
              <a:ea typeface="Cambria"/>
              <a:cs typeface="Cambria"/>
              <a:sym typeface="Cambri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8"/>
          <p:cNvSpPr txBox="1"/>
          <p:nvPr>
            <p:ph type="title"/>
          </p:nvPr>
        </p:nvSpPr>
        <p:spPr>
          <a:xfrm>
            <a:off x="535940" y="896239"/>
            <a:ext cx="476377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P</a:t>
            </a:r>
            <a:r>
              <a:rPr lang="en-US" sz="2400"/>
              <a:t>OLYMORPHISM </a:t>
            </a:r>
            <a:r>
              <a:rPr lang="en-US" sz="3000"/>
              <a:t>- B</a:t>
            </a:r>
            <a:r>
              <a:rPr lang="en-US" sz="2400"/>
              <a:t>ENEFITS</a:t>
            </a:r>
            <a:endParaRPr sz="2400"/>
          </a:p>
        </p:txBody>
      </p:sp>
      <p:sp>
        <p:nvSpPr>
          <p:cNvPr id="609" name="Google Shape;609;p68"/>
          <p:cNvSpPr txBox="1"/>
          <p:nvPr/>
        </p:nvSpPr>
        <p:spPr>
          <a:xfrm>
            <a:off x="535940" y="1598117"/>
            <a:ext cx="7174230" cy="880744"/>
          </a:xfrm>
          <a:prstGeom prst="rect">
            <a:avLst/>
          </a:prstGeom>
          <a:noFill/>
          <a:ln>
            <a:noFill/>
          </a:ln>
        </p:spPr>
        <p:txBody>
          <a:bodyPr anchorCtr="0" anchor="t" bIns="0" lIns="0" spcFirstLastPara="1" rIns="0" wrap="square" tIns="43175">
            <a:spAutoFit/>
          </a:bodyPr>
          <a:lstStyle/>
          <a:p>
            <a:pPr indent="-273050" lvl="0" marL="285115" marR="5080" rtl="0" algn="l">
              <a:lnSpc>
                <a:spcPct val="901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Now think : - What needs to change in the old hierarchy or  </a:t>
            </a:r>
            <a:r>
              <a:rPr b="1" i="1" lang="en-US" sz="1600">
                <a:solidFill>
                  <a:schemeClr val="dk1"/>
                </a:solidFill>
                <a:latin typeface="Cambria"/>
                <a:ea typeface="Cambria"/>
                <a:cs typeface="Cambria"/>
                <a:sym typeface="Cambria"/>
              </a:rPr>
              <a:t>drawShape(Shape shape) </a:t>
            </a:r>
            <a:r>
              <a:rPr lang="en-US" sz="2000">
                <a:solidFill>
                  <a:schemeClr val="dk1"/>
                </a:solidFill>
                <a:latin typeface="Cambria"/>
                <a:ea typeface="Cambria"/>
                <a:cs typeface="Cambria"/>
                <a:sym typeface="Cambria"/>
              </a:rPr>
              <a:t>method, if you add a new subtype  “Square” as shown below.</a:t>
            </a:r>
            <a:endParaRPr sz="2000">
              <a:solidFill>
                <a:schemeClr val="dk1"/>
              </a:solidFill>
              <a:latin typeface="Cambria"/>
              <a:ea typeface="Cambria"/>
              <a:cs typeface="Cambria"/>
              <a:sym typeface="Cambria"/>
            </a:endParaRPr>
          </a:p>
        </p:txBody>
      </p:sp>
      <p:sp>
        <p:nvSpPr>
          <p:cNvPr id="610" name="Google Shape;610;p68"/>
          <p:cNvSpPr txBox="1"/>
          <p:nvPr/>
        </p:nvSpPr>
        <p:spPr>
          <a:xfrm>
            <a:off x="535940" y="4544415"/>
            <a:ext cx="7214870" cy="2037714"/>
          </a:xfrm>
          <a:prstGeom prst="rect">
            <a:avLst/>
          </a:prstGeom>
          <a:noFill/>
          <a:ln>
            <a:noFill/>
          </a:ln>
        </p:spPr>
        <p:txBody>
          <a:bodyPr anchorCtr="0" anchor="t" bIns="0" lIns="0" spcFirstLastPara="1" rIns="0" wrap="square" tIns="73650">
            <a:spAutoFit/>
          </a:bodyPr>
          <a:lstStyle/>
          <a:p>
            <a:pPr indent="-273050" lvl="0" marL="285115" marR="0" rtl="0" algn="l">
              <a:lnSpc>
                <a:spcPct val="100000"/>
              </a:lnSpc>
              <a:spcBef>
                <a:spcPts val="0"/>
              </a:spcBef>
              <a:spcAft>
                <a:spcPts val="0"/>
              </a:spcAft>
              <a:buClr>
                <a:srgbClr val="FD8537"/>
              </a:buClr>
              <a:buSzPts val="1400"/>
              <a:buFont typeface="Noto Sans Symbols"/>
              <a:buChar char="🞆"/>
            </a:pPr>
            <a:r>
              <a:rPr lang="en-US" sz="2000">
                <a:solidFill>
                  <a:schemeClr val="dk1"/>
                </a:solidFill>
                <a:latin typeface="Cambria"/>
                <a:ea typeface="Cambria"/>
                <a:cs typeface="Cambria"/>
                <a:sym typeface="Cambria"/>
              </a:rPr>
              <a:t>Polymorphism Promotes Extensibility</a:t>
            </a:r>
            <a:endParaRPr sz="2000">
              <a:solidFill>
                <a:schemeClr val="dk1"/>
              </a:solidFill>
              <a:latin typeface="Cambria"/>
              <a:ea typeface="Cambria"/>
              <a:cs typeface="Cambria"/>
              <a:sym typeface="Cambria"/>
            </a:endParaRPr>
          </a:p>
          <a:p>
            <a:pPr indent="-273685" lvl="1" marL="652780" marR="287020" rtl="0" algn="l">
              <a:lnSpc>
                <a:spcPct val="100000"/>
              </a:lnSpc>
              <a:spcBef>
                <a:spcPts val="480"/>
              </a:spcBef>
              <a:spcAft>
                <a:spcPts val="0"/>
              </a:spcAft>
              <a:buClr>
                <a:srgbClr val="FD8537"/>
              </a:buClr>
              <a:buSzPts val="1600"/>
              <a:buFont typeface="Quattrocento Sans"/>
              <a:buChar char="⚫"/>
            </a:pPr>
            <a:r>
              <a:rPr b="0" i="0" lang="en-US" sz="2000" u="none" cap="none" strike="noStrike">
                <a:solidFill>
                  <a:schemeClr val="dk1"/>
                </a:solidFill>
                <a:latin typeface="Cambria"/>
                <a:ea typeface="Cambria"/>
                <a:cs typeface="Cambria"/>
                <a:sym typeface="Cambria"/>
              </a:rPr>
              <a:t>New object types that can respond to existing method  calls can be</a:t>
            </a:r>
            <a:endParaRPr b="0" i="0" sz="2000" u="none" cap="none" strike="noStrike">
              <a:solidFill>
                <a:schemeClr val="dk1"/>
              </a:solidFill>
              <a:latin typeface="Cambria"/>
              <a:ea typeface="Cambria"/>
              <a:cs typeface="Cambria"/>
              <a:sym typeface="Cambria"/>
            </a:endParaRPr>
          </a:p>
          <a:p>
            <a:pPr indent="-182880" lvl="2" marL="927100" marR="5080" rtl="0" algn="l">
              <a:lnSpc>
                <a:spcPct val="108124"/>
              </a:lnSpc>
              <a:spcBef>
                <a:spcPts val="409"/>
              </a:spcBef>
              <a:spcAft>
                <a:spcPts val="0"/>
              </a:spcAft>
              <a:buClr>
                <a:srgbClr val="DF752E"/>
              </a:buClr>
              <a:buSzPts val="950"/>
              <a:buFont typeface="Noto Sans Symbols"/>
              <a:buChar char="🞆"/>
            </a:pPr>
            <a:r>
              <a:rPr b="0" i="0" lang="en-US" sz="1600" u="none" cap="none" strike="noStrike">
                <a:solidFill>
                  <a:schemeClr val="dk1"/>
                </a:solidFill>
                <a:latin typeface="Cambria"/>
                <a:ea typeface="Cambria"/>
                <a:cs typeface="Cambria"/>
                <a:sym typeface="Cambria"/>
              </a:rPr>
              <a:t>incorporated into a system </a:t>
            </a:r>
            <a:r>
              <a:rPr b="1" i="0" lang="en-US" sz="1600" u="none" cap="none" strike="noStrike">
                <a:solidFill>
                  <a:schemeClr val="dk1"/>
                </a:solidFill>
                <a:latin typeface="Cambria"/>
                <a:ea typeface="Cambria"/>
                <a:cs typeface="Cambria"/>
                <a:sym typeface="Cambria"/>
              </a:rPr>
              <a:t>without requiring </a:t>
            </a:r>
            <a:r>
              <a:rPr b="0" i="0" lang="en-US" sz="1600" u="none" cap="none" strike="noStrike">
                <a:solidFill>
                  <a:schemeClr val="dk1"/>
                </a:solidFill>
                <a:latin typeface="Cambria"/>
                <a:ea typeface="Cambria"/>
                <a:cs typeface="Cambria"/>
                <a:sym typeface="Cambria"/>
              </a:rPr>
              <a:t>modification of the  base system.</a:t>
            </a:r>
            <a:endParaRPr b="0" i="0" sz="1600" u="none" cap="none" strike="noStrike">
              <a:solidFill>
                <a:schemeClr val="dk1"/>
              </a:solidFill>
              <a:latin typeface="Cambria"/>
              <a:ea typeface="Cambria"/>
              <a:cs typeface="Cambria"/>
              <a:sym typeface="Cambria"/>
            </a:endParaRPr>
          </a:p>
          <a:p>
            <a:pPr indent="-182880" lvl="2" marL="927100" marR="773430" rtl="0" algn="l">
              <a:lnSpc>
                <a:spcPct val="108124"/>
              </a:lnSpc>
              <a:spcBef>
                <a:spcPts val="380"/>
              </a:spcBef>
              <a:spcAft>
                <a:spcPts val="0"/>
              </a:spcAft>
              <a:buClr>
                <a:srgbClr val="DF752E"/>
              </a:buClr>
              <a:buSzPts val="950"/>
              <a:buFont typeface="Noto Sans Symbols"/>
              <a:buChar char="🞆"/>
            </a:pPr>
            <a:r>
              <a:rPr b="0" i="0" lang="en-US" sz="1600" u="none" cap="none" strike="noStrike">
                <a:solidFill>
                  <a:schemeClr val="dk1"/>
                </a:solidFill>
                <a:latin typeface="Cambria"/>
                <a:ea typeface="Cambria"/>
                <a:cs typeface="Cambria"/>
                <a:sym typeface="Cambria"/>
              </a:rPr>
              <a:t>Only client code </a:t>
            </a:r>
            <a:r>
              <a:rPr b="1" i="0" lang="en-US" sz="1600" u="none" cap="none" strike="noStrike">
                <a:solidFill>
                  <a:schemeClr val="dk1"/>
                </a:solidFill>
                <a:latin typeface="Cambria"/>
                <a:ea typeface="Cambria"/>
                <a:cs typeface="Cambria"/>
                <a:sym typeface="Cambria"/>
              </a:rPr>
              <a:t>that instantiates new objects must be  modified </a:t>
            </a:r>
            <a:r>
              <a:rPr b="0" i="0" lang="en-US" sz="1600" u="none" cap="none" strike="noStrike">
                <a:solidFill>
                  <a:schemeClr val="dk1"/>
                </a:solidFill>
                <a:latin typeface="Cambria"/>
                <a:ea typeface="Cambria"/>
                <a:cs typeface="Cambria"/>
                <a:sym typeface="Cambria"/>
              </a:rPr>
              <a:t>to accommodate new types.</a:t>
            </a:r>
            <a:endParaRPr b="0" i="0" sz="1600" u="none" cap="none" strike="noStrike">
              <a:solidFill>
                <a:schemeClr val="dk1"/>
              </a:solidFill>
              <a:latin typeface="Cambria"/>
              <a:ea typeface="Cambria"/>
              <a:cs typeface="Cambria"/>
              <a:sym typeface="Cambria"/>
            </a:endParaRPr>
          </a:p>
        </p:txBody>
      </p:sp>
      <p:grpSp>
        <p:nvGrpSpPr>
          <p:cNvPr id="611" name="Google Shape;611;p68"/>
          <p:cNvGrpSpPr/>
          <p:nvPr/>
        </p:nvGrpSpPr>
        <p:grpSpPr>
          <a:xfrm>
            <a:off x="1820798" y="2515997"/>
            <a:ext cx="4875530" cy="1413510"/>
            <a:chOff x="1820798" y="2515997"/>
            <a:chExt cx="4875530" cy="1413510"/>
          </a:xfrm>
        </p:grpSpPr>
        <p:sp>
          <p:nvSpPr>
            <p:cNvPr id="612" name="Google Shape;612;p68"/>
            <p:cNvSpPr/>
            <p:nvPr/>
          </p:nvSpPr>
          <p:spPr>
            <a:xfrm>
              <a:off x="4769357" y="3707257"/>
              <a:ext cx="2540" cy="222250"/>
            </a:xfrm>
            <a:custGeom>
              <a:rect b="b" l="l" r="r" t="t"/>
              <a:pathLst>
                <a:path extrusionOk="0" h="222250" w="2539">
                  <a:moveTo>
                    <a:pt x="1079" y="-12700"/>
                  </a:moveTo>
                  <a:lnTo>
                    <a:pt x="1079" y="234696"/>
                  </a:lnTo>
                </a:path>
              </a:pathLst>
            </a:custGeom>
            <a:noFill/>
            <a:ln cap="flat" cmpd="sng" w="27550">
              <a:solidFill>
                <a:srgbClr val="E679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68"/>
            <p:cNvSpPr/>
            <p:nvPr/>
          </p:nvSpPr>
          <p:spPr>
            <a:xfrm>
              <a:off x="4767452" y="3000629"/>
              <a:ext cx="1905" cy="222250"/>
            </a:xfrm>
            <a:custGeom>
              <a:rect b="b" l="l" r="r" t="t"/>
              <a:pathLst>
                <a:path extrusionOk="0" h="222250" w="1904">
                  <a:moveTo>
                    <a:pt x="952" y="-12700"/>
                  </a:moveTo>
                  <a:lnTo>
                    <a:pt x="952" y="234696"/>
                  </a:lnTo>
                </a:path>
              </a:pathLst>
            </a:custGeom>
            <a:noFill/>
            <a:ln cap="flat" cmpd="sng" w="27300">
              <a:solidFill>
                <a:srgbClr val="CA6A2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68"/>
            <p:cNvSpPr/>
            <p:nvPr/>
          </p:nvSpPr>
          <p:spPr>
            <a:xfrm>
              <a:off x="2677413" y="3000629"/>
              <a:ext cx="4018915" cy="222250"/>
            </a:xfrm>
            <a:custGeom>
              <a:rect b="b" l="l" r="r" t="t"/>
              <a:pathLst>
                <a:path extrusionOk="0" h="222250" w="4018915">
                  <a:moveTo>
                    <a:pt x="2090039" y="0"/>
                  </a:moveTo>
                  <a:lnTo>
                    <a:pt x="2090039" y="151257"/>
                  </a:lnTo>
                  <a:lnTo>
                    <a:pt x="4018915" y="151257"/>
                  </a:lnTo>
                  <a:lnTo>
                    <a:pt x="4018915" y="221996"/>
                  </a:lnTo>
                </a:path>
                <a:path extrusionOk="0" h="222250" w="4018915">
                  <a:moveTo>
                    <a:pt x="2090039" y="0"/>
                  </a:moveTo>
                  <a:lnTo>
                    <a:pt x="2090039" y="151257"/>
                  </a:lnTo>
                  <a:lnTo>
                    <a:pt x="0" y="151257"/>
                  </a:lnTo>
                  <a:lnTo>
                    <a:pt x="0" y="221996"/>
                  </a:lnTo>
                </a:path>
              </a:pathLst>
            </a:custGeom>
            <a:noFill/>
            <a:ln cap="flat" cmpd="sng" w="25400">
              <a:solidFill>
                <a:srgbClr val="CA6A2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68"/>
            <p:cNvSpPr/>
            <p:nvPr/>
          </p:nvSpPr>
          <p:spPr>
            <a:xfrm>
              <a:off x="4385817" y="2515997"/>
              <a:ext cx="763270" cy="485140"/>
            </a:xfrm>
            <a:custGeom>
              <a:rect b="b" l="l" r="r" t="t"/>
              <a:pathLst>
                <a:path extrusionOk="0" h="485139" w="763270">
                  <a:moveTo>
                    <a:pt x="714756" y="0"/>
                  </a:moveTo>
                  <a:lnTo>
                    <a:pt x="48387" y="0"/>
                  </a:lnTo>
                  <a:lnTo>
                    <a:pt x="29575" y="3810"/>
                  </a:lnTo>
                  <a:lnTo>
                    <a:pt x="14192" y="14192"/>
                  </a:lnTo>
                  <a:lnTo>
                    <a:pt x="3810" y="29575"/>
                  </a:lnTo>
                  <a:lnTo>
                    <a:pt x="0" y="48387"/>
                  </a:lnTo>
                  <a:lnTo>
                    <a:pt x="0" y="436117"/>
                  </a:lnTo>
                  <a:lnTo>
                    <a:pt x="3810" y="455003"/>
                  </a:lnTo>
                  <a:lnTo>
                    <a:pt x="14192" y="470423"/>
                  </a:lnTo>
                  <a:lnTo>
                    <a:pt x="29575" y="480820"/>
                  </a:lnTo>
                  <a:lnTo>
                    <a:pt x="48387" y="484631"/>
                  </a:lnTo>
                  <a:lnTo>
                    <a:pt x="714756" y="484631"/>
                  </a:lnTo>
                  <a:lnTo>
                    <a:pt x="733621" y="480820"/>
                  </a:lnTo>
                  <a:lnTo>
                    <a:pt x="748998" y="470423"/>
                  </a:lnTo>
                  <a:lnTo>
                    <a:pt x="759350" y="455003"/>
                  </a:lnTo>
                  <a:lnTo>
                    <a:pt x="763143" y="436117"/>
                  </a:lnTo>
                  <a:lnTo>
                    <a:pt x="763143" y="48387"/>
                  </a:lnTo>
                  <a:lnTo>
                    <a:pt x="759350" y="29575"/>
                  </a:lnTo>
                  <a:lnTo>
                    <a:pt x="748998" y="14192"/>
                  </a:lnTo>
                  <a:lnTo>
                    <a:pt x="733621" y="3810"/>
                  </a:lnTo>
                  <a:lnTo>
                    <a:pt x="714756"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6" name="Google Shape;616;p68"/>
            <p:cNvSpPr/>
            <p:nvPr/>
          </p:nvSpPr>
          <p:spPr>
            <a:xfrm>
              <a:off x="4385817" y="2515997"/>
              <a:ext cx="763270" cy="485140"/>
            </a:xfrm>
            <a:custGeom>
              <a:rect b="b" l="l" r="r" t="t"/>
              <a:pathLst>
                <a:path extrusionOk="0" h="485139" w="763270">
                  <a:moveTo>
                    <a:pt x="0" y="48387"/>
                  </a:moveTo>
                  <a:lnTo>
                    <a:pt x="3810" y="29575"/>
                  </a:lnTo>
                  <a:lnTo>
                    <a:pt x="14192" y="14192"/>
                  </a:lnTo>
                  <a:lnTo>
                    <a:pt x="29575" y="3810"/>
                  </a:lnTo>
                  <a:lnTo>
                    <a:pt x="48387" y="0"/>
                  </a:lnTo>
                  <a:lnTo>
                    <a:pt x="714756" y="0"/>
                  </a:lnTo>
                  <a:lnTo>
                    <a:pt x="733621" y="3810"/>
                  </a:lnTo>
                  <a:lnTo>
                    <a:pt x="748998" y="14192"/>
                  </a:lnTo>
                  <a:lnTo>
                    <a:pt x="759350" y="29575"/>
                  </a:lnTo>
                  <a:lnTo>
                    <a:pt x="763143" y="48387"/>
                  </a:lnTo>
                  <a:lnTo>
                    <a:pt x="763143" y="436117"/>
                  </a:lnTo>
                  <a:lnTo>
                    <a:pt x="759350" y="455003"/>
                  </a:lnTo>
                  <a:lnTo>
                    <a:pt x="748998" y="470423"/>
                  </a:lnTo>
                  <a:lnTo>
                    <a:pt x="733621" y="480820"/>
                  </a:lnTo>
                  <a:lnTo>
                    <a:pt x="714756" y="484631"/>
                  </a:lnTo>
                  <a:lnTo>
                    <a:pt x="48387" y="484631"/>
                  </a:lnTo>
                  <a:lnTo>
                    <a:pt x="29575" y="480820"/>
                  </a:lnTo>
                  <a:lnTo>
                    <a:pt x="14192" y="470423"/>
                  </a:lnTo>
                  <a:lnTo>
                    <a:pt x="3810" y="455003"/>
                  </a:lnTo>
                  <a:lnTo>
                    <a:pt x="0" y="436117"/>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68"/>
            <p:cNvSpPr/>
            <p:nvPr/>
          </p:nvSpPr>
          <p:spPr>
            <a:xfrm>
              <a:off x="4470653" y="2596515"/>
              <a:ext cx="763270" cy="485140"/>
            </a:xfrm>
            <a:custGeom>
              <a:rect b="b" l="l" r="r" t="t"/>
              <a:pathLst>
                <a:path extrusionOk="0" h="485139" w="763270">
                  <a:moveTo>
                    <a:pt x="714756" y="0"/>
                  </a:moveTo>
                  <a:lnTo>
                    <a:pt x="48387" y="0"/>
                  </a:lnTo>
                  <a:lnTo>
                    <a:pt x="29521" y="3811"/>
                  </a:lnTo>
                  <a:lnTo>
                    <a:pt x="14144" y="14208"/>
                  </a:lnTo>
                  <a:lnTo>
                    <a:pt x="3792" y="29628"/>
                  </a:lnTo>
                  <a:lnTo>
                    <a:pt x="0" y="48513"/>
                  </a:lnTo>
                  <a:lnTo>
                    <a:pt x="0" y="436245"/>
                  </a:lnTo>
                  <a:lnTo>
                    <a:pt x="3792" y="455056"/>
                  </a:lnTo>
                  <a:lnTo>
                    <a:pt x="14144" y="470439"/>
                  </a:lnTo>
                  <a:lnTo>
                    <a:pt x="29521" y="480822"/>
                  </a:lnTo>
                  <a:lnTo>
                    <a:pt x="48387" y="484632"/>
                  </a:lnTo>
                  <a:lnTo>
                    <a:pt x="714756" y="484632"/>
                  </a:lnTo>
                  <a:lnTo>
                    <a:pt x="733567" y="480822"/>
                  </a:lnTo>
                  <a:lnTo>
                    <a:pt x="748950" y="470439"/>
                  </a:lnTo>
                  <a:lnTo>
                    <a:pt x="759333" y="455056"/>
                  </a:lnTo>
                  <a:lnTo>
                    <a:pt x="763143" y="436245"/>
                  </a:lnTo>
                  <a:lnTo>
                    <a:pt x="763143" y="48513"/>
                  </a:lnTo>
                  <a:lnTo>
                    <a:pt x="759333" y="29628"/>
                  </a:lnTo>
                  <a:lnTo>
                    <a:pt x="748950" y="14208"/>
                  </a:lnTo>
                  <a:lnTo>
                    <a:pt x="733567" y="3811"/>
                  </a:lnTo>
                  <a:lnTo>
                    <a:pt x="714756"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68"/>
            <p:cNvSpPr/>
            <p:nvPr/>
          </p:nvSpPr>
          <p:spPr>
            <a:xfrm>
              <a:off x="4470653" y="2596515"/>
              <a:ext cx="763270" cy="485140"/>
            </a:xfrm>
            <a:custGeom>
              <a:rect b="b" l="l" r="r" t="t"/>
              <a:pathLst>
                <a:path extrusionOk="0" h="485139" w="763270">
                  <a:moveTo>
                    <a:pt x="0" y="48513"/>
                  </a:moveTo>
                  <a:lnTo>
                    <a:pt x="3792" y="29628"/>
                  </a:lnTo>
                  <a:lnTo>
                    <a:pt x="14144" y="14208"/>
                  </a:lnTo>
                  <a:lnTo>
                    <a:pt x="29521" y="3811"/>
                  </a:lnTo>
                  <a:lnTo>
                    <a:pt x="48387" y="0"/>
                  </a:lnTo>
                  <a:lnTo>
                    <a:pt x="714756" y="0"/>
                  </a:lnTo>
                  <a:lnTo>
                    <a:pt x="733567" y="3811"/>
                  </a:lnTo>
                  <a:lnTo>
                    <a:pt x="748950" y="14208"/>
                  </a:lnTo>
                  <a:lnTo>
                    <a:pt x="759333" y="29628"/>
                  </a:lnTo>
                  <a:lnTo>
                    <a:pt x="763143" y="48513"/>
                  </a:lnTo>
                  <a:lnTo>
                    <a:pt x="763143" y="436245"/>
                  </a:lnTo>
                  <a:lnTo>
                    <a:pt x="759333" y="455056"/>
                  </a:lnTo>
                  <a:lnTo>
                    <a:pt x="748950" y="470439"/>
                  </a:lnTo>
                  <a:lnTo>
                    <a:pt x="733567" y="480822"/>
                  </a:lnTo>
                  <a:lnTo>
                    <a:pt x="714756" y="484632"/>
                  </a:lnTo>
                  <a:lnTo>
                    <a:pt x="48387" y="484632"/>
                  </a:lnTo>
                  <a:lnTo>
                    <a:pt x="29521" y="480822"/>
                  </a:lnTo>
                  <a:lnTo>
                    <a:pt x="14144" y="470439"/>
                  </a:lnTo>
                  <a:lnTo>
                    <a:pt x="3792" y="455056"/>
                  </a:lnTo>
                  <a:lnTo>
                    <a:pt x="0" y="436245"/>
                  </a:lnTo>
                  <a:lnTo>
                    <a:pt x="0" y="4851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68"/>
            <p:cNvSpPr/>
            <p:nvPr/>
          </p:nvSpPr>
          <p:spPr>
            <a:xfrm>
              <a:off x="1820798" y="3707257"/>
              <a:ext cx="4875530" cy="222250"/>
            </a:xfrm>
            <a:custGeom>
              <a:rect b="b" l="l" r="r" t="t"/>
              <a:pathLst>
                <a:path extrusionOk="0" h="222250" w="4875530">
                  <a:moveTo>
                    <a:pt x="856614" y="0"/>
                  </a:moveTo>
                  <a:lnTo>
                    <a:pt x="856614" y="151257"/>
                  </a:lnTo>
                  <a:lnTo>
                    <a:pt x="1789429" y="151257"/>
                  </a:lnTo>
                  <a:lnTo>
                    <a:pt x="1789429" y="221996"/>
                  </a:lnTo>
                </a:path>
                <a:path extrusionOk="0" h="222250" w="4875530">
                  <a:moveTo>
                    <a:pt x="856614" y="0"/>
                  </a:moveTo>
                  <a:lnTo>
                    <a:pt x="856614" y="221996"/>
                  </a:lnTo>
                </a:path>
                <a:path extrusionOk="0" h="222250" w="4875530">
                  <a:moveTo>
                    <a:pt x="856614" y="0"/>
                  </a:moveTo>
                  <a:lnTo>
                    <a:pt x="856614" y="151257"/>
                  </a:lnTo>
                  <a:lnTo>
                    <a:pt x="0" y="151257"/>
                  </a:lnTo>
                  <a:lnTo>
                    <a:pt x="0" y="221996"/>
                  </a:lnTo>
                </a:path>
                <a:path extrusionOk="0" h="222250" w="4875530">
                  <a:moveTo>
                    <a:pt x="4875530" y="0"/>
                  </a:moveTo>
                  <a:lnTo>
                    <a:pt x="4875530" y="221996"/>
                  </a:lnTo>
                </a:path>
              </a:pathLst>
            </a:custGeom>
            <a:noFill/>
            <a:ln cap="flat" cmpd="sng" w="25400">
              <a:solidFill>
                <a:srgbClr val="E6793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0" name="Google Shape;620;p68"/>
          <p:cNvSpPr txBox="1"/>
          <p:nvPr/>
        </p:nvSpPr>
        <p:spPr>
          <a:xfrm>
            <a:off x="4638294" y="2731388"/>
            <a:ext cx="427990" cy="1936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100">
                <a:solidFill>
                  <a:schemeClr val="dk1"/>
                </a:solidFill>
                <a:latin typeface="Cambria"/>
                <a:ea typeface="Cambria"/>
                <a:cs typeface="Cambria"/>
                <a:sym typeface="Cambria"/>
              </a:rPr>
              <a:t>Shape</a:t>
            </a:r>
            <a:endParaRPr sz="1100">
              <a:solidFill>
                <a:schemeClr val="dk1"/>
              </a:solidFill>
              <a:latin typeface="Cambria"/>
              <a:ea typeface="Cambria"/>
              <a:cs typeface="Cambria"/>
              <a:sym typeface="Cambria"/>
            </a:endParaRPr>
          </a:p>
        </p:txBody>
      </p:sp>
      <p:grpSp>
        <p:nvGrpSpPr>
          <p:cNvPr id="621" name="Google Shape;621;p68"/>
          <p:cNvGrpSpPr/>
          <p:nvPr/>
        </p:nvGrpSpPr>
        <p:grpSpPr>
          <a:xfrm>
            <a:off x="2295779" y="3222625"/>
            <a:ext cx="848106" cy="565658"/>
            <a:chOff x="2295779" y="3222625"/>
            <a:chExt cx="848106" cy="565658"/>
          </a:xfrm>
        </p:grpSpPr>
        <p:sp>
          <p:nvSpPr>
            <p:cNvPr id="622" name="Google Shape;622;p68"/>
            <p:cNvSpPr/>
            <p:nvPr/>
          </p:nvSpPr>
          <p:spPr>
            <a:xfrm>
              <a:off x="2295779" y="3222625"/>
              <a:ext cx="763270" cy="485140"/>
            </a:xfrm>
            <a:custGeom>
              <a:rect b="b" l="l" r="r" t="t"/>
              <a:pathLst>
                <a:path extrusionOk="0" h="485139" w="763269">
                  <a:moveTo>
                    <a:pt x="714756" y="0"/>
                  </a:moveTo>
                  <a:lnTo>
                    <a:pt x="48513" y="0"/>
                  </a:lnTo>
                  <a:lnTo>
                    <a:pt x="29628" y="3810"/>
                  </a:lnTo>
                  <a:lnTo>
                    <a:pt x="14208" y="14192"/>
                  </a:lnTo>
                  <a:lnTo>
                    <a:pt x="3811" y="29575"/>
                  </a:lnTo>
                  <a:lnTo>
                    <a:pt x="0" y="48387"/>
                  </a:lnTo>
                  <a:lnTo>
                    <a:pt x="0" y="436118"/>
                  </a:lnTo>
                  <a:lnTo>
                    <a:pt x="3811" y="455003"/>
                  </a:lnTo>
                  <a:lnTo>
                    <a:pt x="14208" y="470423"/>
                  </a:lnTo>
                  <a:lnTo>
                    <a:pt x="29628" y="480820"/>
                  </a:lnTo>
                  <a:lnTo>
                    <a:pt x="48513" y="484631"/>
                  </a:lnTo>
                  <a:lnTo>
                    <a:pt x="714756" y="484631"/>
                  </a:lnTo>
                  <a:lnTo>
                    <a:pt x="733641" y="480820"/>
                  </a:lnTo>
                  <a:lnTo>
                    <a:pt x="749061" y="470423"/>
                  </a:lnTo>
                  <a:lnTo>
                    <a:pt x="759458" y="455003"/>
                  </a:lnTo>
                  <a:lnTo>
                    <a:pt x="763269" y="436118"/>
                  </a:lnTo>
                  <a:lnTo>
                    <a:pt x="763269" y="48387"/>
                  </a:lnTo>
                  <a:lnTo>
                    <a:pt x="759458" y="29575"/>
                  </a:lnTo>
                  <a:lnTo>
                    <a:pt x="749061" y="14192"/>
                  </a:lnTo>
                  <a:lnTo>
                    <a:pt x="733641" y="3810"/>
                  </a:lnTo>
                  <a:lnTo>
                    <a:pt x="714756"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68"/>
            <p:cNvSpPr/>
            <p:nvPr/>
          </p:nvSpPr>
          <p:spPr>
            <a:xfrm>
              <a:off x="2295779" y="3222625"/>
              <a:ext cx="763270" cy="485140"/>
            </a:xfrm>
            <a:custGeom>
              <a:rect b="b" l="l" r="r" t="t"/>
              <a:pathLst>
                <a:path extrusionOk="0" h="485139" w="763269">
                  <a:moveTo>
                    <a:pt x="0" y="48387"/>
                  </a:moveTo>
                  <a:lnTo>
                    <a:pt x="3811" y="29575"/>
                  </a:lnTo>
                  <a:lnTo>
                    <a:pt x="14208" y="14192"/>
                  </a:lnTo>
                  <a:lnTo>
                    <a:pt x="29628" y="3810"/>
                  </a:lnTo>
                  <a:lnTo>
                    <a:pt x="48513" y="0"/>
                  </a:lnTo>
                  <a:lnTo>
                    <a:pt x="714756" y="0"/>
                  </a:lnTo>
                  <a:lnTo>
                    <a:pt x="733641" y="3810"/>
                  </a:lnTo>
                  <a:lnTo>
                    <a:pt x="749061" y="14192"/>
                  </a:lnTo>
                  <a:lnTo>
                    <a:pt x="759458" y="29575"/>
                  </a:lnTo>
                  <a:lnTo>
                    <a:pt x="763269" y="48387"/>
                  </a:lnTo>
                  <a:lnTo>
                    <a:pt x="763269" y="436118"/>
                  </a:lnTo>
                  <a:lnTo>
                    <a:pt x="759458" y="455003"/>
                  </a:lnTo>
                  <a:lnTo>
                    <a:pt x="749061" y="470423"/>
                  </a:lnTo>
                  <a:lnTo>
                    <a:pt x="733641" y="480820"/>
                  </a:lnTo>
                  <a:lnTo>
                    <a:pt x="714756" y="484631"/>
                  </a:lnTo>
                  <a:lnTo>
                    <a:pt x="48513" y="484631"/>
                  </a:lnTo>
                  <a:lnTo>
                    <a:pt x="29628" y="480820"/>
                  </a:lnTo>
                  <a:lnTo>
                    <a:pt x="14208" y="470423"/>
                  </a:lnTo>
                  <a:lnTo>
                    <a:pt x="3811"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68"/>
            <p:cNvSpPr/>
            <p:nvPr/>
          </p:nvSpPr>
          <p:spPr>
            <a:xfrm>
              <a:off x="2380615" y="3303143"/>
              <a:ext cx="763270" cy="485140"/>
            </a:xfrm>
            <a:custGeom>
              <a:rect b="b" l="l" r="r" t="t"/>
              <a:pathLst>
                <a:path extrusionOk="0" h="485139" w="763269">
                  <a:moveTo>
                    <a:pt x="714756" y="0"/>
                  </a:moveTo>
                  <a:lnTo>
                    <a:pt x="48514" y="0"/>
                  </a:lnTo>
                  <a:lnTo>
                    <a:pt x="29628" y="3811"/>
                  </a:lnTo>
                  <a:lnTo>
                    <a:pt x="14208" y="14208"/>
                  </a:lnTo>
                  <a:lnTo>
                    <a:pt x="3811" y="29628"/>
                  </a:lnTo>
                  <a:lnTo>
                    <a:pt x="0" y="48514"/>
                  </a:lnTo>
                  <a:lnTo>
                    <a:pt x="0" y="436245"/>
                  </a:lnTo>
                  <a:lnTo>
                    <a:pt x="3811" y="455056"/>
                  </a:lnTo>
                  <a:lnTo>
                    <a:pt x="14208" y="470439"/>
                  </a:lnTo>
                  <a:lnTo>
                    <a:pt x="29628" y="480822"/>
                  </a:lnTo>
                  <a:lnTo>
                    <a:pt x="48514" y="484632"/>
                  </a:lnTo>
                  <a:lnTo>
                    <a:pt x="714756" y="484632"/>
                  </a:lnTo>
                  <a:lnTo>
                    <a:pt x="733641" y="480822"/>
                  </a:lnTo>
                  <a:lnTo>
                    <a:pt x="749061" y="470439"/>
                  </a:lnTo>
                  <a:lnTo>
                    <a:pt x="759458" y="455056"/>
                  </a:lnTo>
                  <a:lnTo>
                    <a:pt x="763270" y="436245"/>
                  </a:lnTo>
                  <a:lnTo>
                    <a:pt x="763270" y="48514"/>
                  </a:lnTo>
                  <a:lnTo>
                    <a:pt x="759458" y="29628"/>
                  </a:lnTo>
                  <a:lnTo>
                    <a:pt x="749061" y="14208"/>
                  </a:lnTo>
                  <a:lnTo>
                    <a:pt x="733641" y="3811"/>
                  </a:lnTo>
                  <a:lnTo>
                    <a:pt x="714756"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68"/>
            <p:cNvSpPr/>
            <p:nvPr/>
          </p:nvSpPr>
          <p:spPr>
            <a:xfrm>
              <a:off x="2380615" y="3303143"/>
              <a:ext cx="763270" cy="485140"/>
            </a:xfrm>
            <a:custGeom>
              <a:rect b="b" l="l" r="r" t="t"/>
              <a:pathLst>
                <a:path extrusionOk="0" h="485139" w="763269">
                  <a:moveTo>
                    <a:pt x="0" y="48514"/>
                  </a:moveTo>
                  <a:lnTo>
                    <a:pt x="3811" y="29628"/>
                  </a:lnTo>
                  <a:lnTo>
                    <a:pt x="14208" y="14208"/>
                  </a:lnTo>
                  <a:lnTo>
                    <a:pt x="29628" y="3811"/>
                  </a:lnTo>
                  <a:lnTo>
                    <a:pt x="48514" y="0"/>
                  </a:lnTo>
                  <a:lnTo>
                    <a:pt x="714756" y="0"/>
                  </a:lnTo>
                  <a:lnTo>
                    <a:pt x="733641" y="3811"/>
                  </a:lnTo>
                  <a:lnTo>
                    <a:pt x="749061" y="14208"/>
                  </a:lnTo>
                  <a:lnTo>
                    <a:pt x="759458" y="29628"/>
                  </a:lnTo>
                  <a:lnTo>
                    <a:pt x="763270" y="48514"/>
                  </a:lnTo>
                  <a:lnTo>
                    <a:pt x="763270" y="436245"/>
                  </a:lnTo>
                  <a:lnTo>
                    <a:pt x="759458" y="455056"/>
                  </a:lnTo>
                  <a:lnTo>
                    <a:pt x="749061" y="470439"/>
                  </a:lnTo>
                  <a:lnTo>
                    <a:pt x="733641" y="480822"/>
                  </a:lnTo>
                  <a:lnTo>
                    <a:pt x="714756" y="484632"/>
                  </a:lnTo>
                  <a:lnTo>
                    <a:pt x="48514" y="484632"/>
                  </a:lnTo>
                  <a:lnTo>
                    <a:pt x="29628" y="480822"/>
                  </a:lnTo>
                  <a:lnTo>
                    <a:pt x="14208" y="470439"/>
                  </a:lnTo>
                  <a:lnTo>
                    <a:pt x="3811" y="455056"/>
                  </a:lnTo>
                  <a:lnTo>
                    <a:pt x="0" y="436245"/>
                  </a:lnTo>
                  <a:lnTo>
                    <a:pt x="0" y="48514"/>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6" name="Google Shape;626;p68"/>
          <p:cNvSpPr txBox="1"/>
          <p:nvPr/>
        </p:nvSpPr>
        <p:spPr>
          <a:xfrm>
            <a:off x="2473198" y="3438270"/>
            <a:ext cx="577215" cy="1936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100">
                <a:solidFill>
                  <a:schemeClr val="dk1"/>
                </a:solidFill>
                <a:latin typeface="Cambria"/>
                <a:ea typeface="Cambria"/>
                <a:cs typeface="Cambria"/>
                <a:sym typeface="Cambria"/>
              </a:rPr>
              <a:t>Triangle</a:t>
            </a:r>
            <a:endParaRPr sz="1100">
              <a:solidFill>
                <a:schemeClr val="dk1"/>
              </a:solidFill>
              <a:latin typeface="Cambria"/>
              <a:ea typeface="Cambria"/>
              <a:cs typeface="Cambria"/>
              <a:sym typeface="Cambria"/>
            </a:endParaRPr>
          </a:p>
        </p:txBody>
      </p:sp>
      <p:grpSp>
        <p:nvGrpSpPr>
          <p:cNvPr id="627" name="Google Shape;627;p68"/>
          <p:cNvGrpSpPr/>
          <p:nvPr/>
        </p:nvGrpSpPr>
        <p:grpSpPr>
          <a:xfrm>
            <a:off x="1439163" y="3929253"/>
            <a:ext cx="848106" cy="565658"/>
            <a:chOff x="1439163" y="3929253"/>
            <a:chExt cx="848106" cy="565658"/>
          </a:xfrm>
        </p:grpSpPr>
        <p:sp>
          <p:nvSpPr>
            <p:cNvPr id="628" name="Google Shape;628;p68"/>
            <p:cNvSpPr/>
            <p:nvPr/>
          </p:nvSpPr>
          <p:spPr>
            <a:xfrm>
              <a:off x="1439163" y="3929253"/>
              <a:ext cx="763270" cy="485140"/>
            </a:xfrm>
            <a:custGeom>
              <a:rect b="b" l="l" r="r" t="t"/>
              <a:pathLst>
                <a:path extrusionOk="0" h="485139" w="763269">
                  <a:moveTo>
                    <a:pt x="714756" y="0"/>
                  </a:moveTo>
                  <a:lnTo>
                    <a:pt x="48514" y="0"/>
                  </a:lnTo>
                  <a:lnTo>
                    <a:pt x="29628" y="3810"/>
                  </a:lnTo>
                  <a:lnTo>
                    <a:pt x="14208" y="14192"/>
                  </a:lnTo>
                  <a:lnTo>
                    <a:pt x="3811" y="29575"/>
                  </a:lnTo>
                  <a:lnTo>
                    <a:pt x="0" y="48387"/>
                  </a:lnTo>
                  <a:lnTo>
                    <a:pt x="0" y="436118"/>
                  </a:lnTo>
                  <a:lnTo>
                    <a:pt x="3811" y="455003"/>
                  </a:lnTo>
                  <a:lnTo>
                    <a:pt x="14208" y="470423"/>
                  </a:lnTo>
                  <a:lnTo>
                    <a:pt x="29628" y="480820"/>
                  </a:lnTo>
                  <a:lnTo>
                    <a:pt x="48514" y="484632"/>
                  </a:lnTo>
                  <a:lnTo>
                    <a:pt x="714756" y="484632"/>
                  </a:lnTo>
                  <a:lnTo>
                    <a:pt x="733641" y="480820"/>
                  </a:lnTo>
                  <a:lnTo>
                    <a:pt x="749061" y="470423"/>
                  </a:lnTo>
                  <a:lnTo>
                    <a:pt x="759458" y="455003"/>
                  </a:lnTo>
                  <a:lnTo>
                    <a:pt x="763269" y="436118"/>
                  </a:lnTo>
                  <a:lnTo>
                    <a:pt x="763269" y="48387"/>
                  </a:lnTo>
                  <a:lnTo>
                    <a:pt x="759458" y="29575"/>
                  </a:lnTo>
                  <a:lnTo>
                    <a:pt x="749061" y="14192"/>
                  </a:lnTo>
                  <a:lnTo>
                    <a:pt x="733641" y="3810"/>
                  </a:lnTo>
                  <a:lnTo>
                    <a:pt x="714756"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68"/>
            <p:cNvSpPr/>
            <p:nvPr/>
          </p:nvSpPr>
          <p:spPr>
            <a:xfrm>
              <a:off x="1439163" y="3929253"/>
              <a:ext cx="763270" cy="485140"/>
            </a:xfrm>
            <a:custGeom>
              <a:rect b="b" l="l" r="r" t="t"/>
              <a:pathLst>
                <a:path extrusionOk="0" h="485139" w="763269">
                  <a:moveTo>
                    <a:pt x="0" y="48387"/>
                  </a:moveTo>
                  <a:lnTo>
                    <a:pt x="3811" y="29575"/>
                  </a:lnTo>
                  <a:lnTo>
                    <a:pt x="14208" y="14192"/>
                  </a:lnTo>
                  <a:lnTo>
                    <a:pt x="29628" y="3810"/>
                  </a:lnTo>
                  <a:lnTo>
                    <a:pt x="48514" y="0"/>
                  </a:lnTo>
                  <a:lnTo>
                    <a:pt x="714756" y="0"/>
                  </a:lnTo>
                  <a:lnTo>
                    <a:pt x="733641" y="3810"/>
                  </a:lnTo>
                  <a:lnTo>
                    <a:pt x="749061" y="14192"/>
                  </a:lnTo>
                  <a:lnTo>
                    <a:pt x="759458" y="29575"/>
                  </a:lnTo>
                  <a:lnTo>
                    <a:pt x="763269" y="48387"/>
                  </a:lnTo>
                  <a:lnTo>
                    <a:pt x="763269" y="436118"/>
                  </a:lnTo>
                  <a:lnTo>
                    <a:pt x="759458" y="455003"/>
                  </a:lnTo>
                  <a:lnTo>
                    <a:pt x="749061" y="470423"/>
                  </a:lnTo>
                  <a:lnTo>
                    <a:pt x="733641" y="480820"/>
                  </a:lnTo>
                  <a:lnTo>
                    <a:pt x="714756" y="484632"/>
                  </a:lnTo>
                  <a:lnTo>
                    <a:pt x="48514" y="484632"/>
                  </a:lnTo>
                  <a:lnTo>
                    <a:pt x="29628" y="480820"/>
                  </a:lnTo>
                  <a:lnTo>
                    <a:pt x="14208" y="470423"/>
                  </a:lnTo>
                  <a:lnTo>
                    <a:pt x="3811"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68"/>
            <p:cNvSpPr/>
            <p:nvPr/>
          </p:nvSpPr>
          <p:spPr>
            <a:xfrm>
              <a:off x="1523999" y="4009771"/>
              <a:ext cx="763270" cy="485140"/>
            </a:xfrm>
            <a:custGeom>
              <a:rect b="b" l="l" r="r" t="t"/>
              <a:pathLst>
                <a:path extrusionOk="0" h="485139" w="763269">
                  <a:moveTo>
                    <a:pt x="714756" y="0"/>
                  </a:moveTo>
                  <a:lnTo>
                    <a:pt x="48513" y="0"/>
                  </a:lnTo>
                  <a:lnTo>
                    <a:pt x="29628" y="3811"/>
                  </a:lnTo>
                  <a:lnTo>
                    <a:pt x="14208" y="14208"/>
                  </a:lnTo>
                  <a:lnTo>
                    <a:pt x="3811" y="29628"/>
                  </a:lnTo>
                  <a:lnTo>
                    <a:pt x="0" y="48513"/>
                  </a:lnTo>
                  <a:lnTo>
                    <a:pt x="0" y="436117"/>
                  </a:lnTo>
                  <a:lnTo>
                    <a:pt x="3811" y="455003"/>
                  </a:lnTo>
                  <a:lnTo>
                    <a:pt x="14208" y="470423"/>
                  </a:lnTo>
                  <a:lnTo>
                    <a:pt x="29628" y="480820"/>
                  </a:lnTo>
                  <a:lnTo>
                    <a:pt x="48513" y="484631"/>
                  </a:lnTo>
                  <a:lnTo>
                    <a:pt x="714756" y="484631"/>
                  </a:lnTo>
                  <a:lnTo>
                    <a:pt x="733641" y="480820"/>
                  </a:lnTo>
                  <a:lnTo>
                    <a:pt x="749061" y="470423"/>
                  </a:lnTo>
                  <a:lnTo>
                    <a:pt x="759458" y="455003"/>
                  </a:lnTo>
                  <a:lnTo>
                    <a:pt x="763269" y="436117"/>
                  </a:lnTo>
                  <a:lnTo>
                    <a:pt x="763269" y="48513"/>
                  </a:lnTo>
                  <a:lnTo>
                    <a:pt x="759458" y="29628"/>
                  </a:lnTo>
                  <a:lnTo>
                    <a:pt x="749061" y="14208"/>
                  </a:lnTo>
                  <a:lnTo>
                    <a:pt x="733641" y="3811"/>
                  </a:lnTo>
                  <a:lnTo>
                    <a:pt x="714756"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68"/>
            <p:cNvSpPr/>
            <p:nvPr/>
          </p:nvSpPr>
          <p:spPr>
            <a:xfrm>
              <a:off x="1523999" y="4009771"/>
              <a:ext cx="763270" cy="485140"/>
            </a:xfrm>
            <a:custGeom>
              <a:rect b="b" l="l" r="r" t="t"/>
              <a:pathLst>
                <a:path extrusionOk="0" h="485139" w="763269">
                  <a:moveTo>
                    <a:pt x="0" y="48513"/>
                  </a:moveTo>
                  <a:lnTo>
                    <a:pt x="3811" y="29628"/>
                  </a:lnTo>
                  <a:lnTo>
                    <a:pt x="14208" y="14208"/>
                  </a:lnTo>
                  <a:lnTo>
                    <a:pt x="29628" y="3811"/>
                  </a:lnTo>
                  <a:lnTo>
                    <a:pt x="48513" y="0"/>
                  </a:lnTo>
                  <a:lnTo>
                    <a:pt x="714756" y="0"/>
                  </a:lnTo>
                  <a:lnTo>
                    <a:pt x="733641" y="3811"/>
                  </a:lnTo>
                  <a:lnTo>
                    <a:pt x="749061" y="14208"/>
                  </a:lnTo>
                  <a:lnTo>
                    <a:pt x="759458" y="29628"/>
                  </a:lnTo>
                  <a:lnTo>
                    <a:pt x="763269" y="48513"/>
                  </a:lnTo>
                  <a:lnTo>
                    <a:pt x="763269" y="436117"/>
                  </a:lnTo>
                  <a:lnTo>
                    <a:pt x="759458" y="455003"/>
                  </a:lnTo>
                  <a:lnTo>
                    <a:pt x="749061" y="470423"/>
                  </a:lnTo>
                  <a:lnTo>
                    <a:pt x="733641" y="480820"/>
                  </a:lnTo>
                  <a:lnTo>
                    <a:pt x="714756" y="484631"/>
                  </a:lnTo>
                  <a:lnTo>
                    <a:pt x="48513" y="484631"/>
                  </a:lnTo>
                  <a:lnTo>
                    <a:pt x="29628" y="480820"/>
                  </a:lnTo>
                  <a:lnTo>
                    <a:pt x="14208" y="470423"/>
                  </a:lnTo>
                  <a:lnTo>
                    <a:pt x="3811" y="455003"/>
                  </a:lnTo>
                  <a:lnTo>
                    <a:pt x="0" y="436117"/>
                  </a:lnTo>
                  <a:lnTo>
                    <a:pt x="0" y="4851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2" name="Google Shape;632;p68"/>
          <p:cNvSpPr txBox="1"/>
          <p:nvPr/>
        </p:nvSpPr>
        <p:spPr>
          <a:xfrm>
            <a:off x="1616455" y="4069460"/>
            <a:ext cx="577215" cy="346075"/>
          </a:xfrm>
          <a:prstGeom prst="rect">
            <a:avLst/>
          </a:prstGeom>
          <a:noFill/>
          <a:ln>
            <a:noFill/>
          </a:ln>
        </p:spPr>
        <p:txBody>
          <a:bodyPr anchorCtr="0" anchor="t" bIns="0" lIns="0" spcFirstLastPara="1" rIns="0" wrap="square" tIns="30475">
            <a:spAutoFit/>
          </a:bodyPr>
          <a:lstStyle/>
          <a:p>
            <a:pPr indent="95885" lvl="0" marL="12700" marR="5080" rtl="0" algn="l">
              <a:lnSpc>
                <a:spcPct val="109090"/>
              </a:lnSpc>
              <a:spcBef>
                <a:spcPts val="0"/>
              </a:spcBef>
              <a:spcAft>
                <a:spcPts val="0"/>
              </a:spcAft>
              <a:buNone/>
            </a:pPr>
            <a:r>
              <a:rPr lang="en-US" sz="1100">
                <a:solidFill>
                  <a:schemeClr val="dk1"/>
                </a:solidFill>
                <a:latin typeface="Cambria"/>
                <a:ea typeface="Cambria"/>
                <a:cs typeface="Cambria"/>
                <a:sym typeface="Cambria"/>
              </a:rPr>
              <a:t>Right  Triangle</a:t>
            </a:r>
            <a:endParaRPr sz="1100">
              <a:solidFill>
                <a:schemeClr val="dk1"/>
              </a:solidFill>
              <a:latin typeface="Cambria"/>
              <a:ea typeface="Cambria"/>
              <a:cs typeface="Cambria"/>
              <a:sym typeface="Cambria"/>
            </a:endParaRPr>
          </a:p>
        </p:txBody>
      </p:sp>
      <p:grpSp>
        <p:nvGrpSpPr>
          <p:cNvPr id="633" name="Google Shape;633;p68"/>
          <p:cNvGrpSpPr/>
          <p:nvPr/>
        </p:nvGrpSpPr>
        <p:grpSpPr>
          <a:xfrm>
            <a:off x="2295779" y="3929253"/>
            <a:ext cx="848106" cy="565658"/>
            <a:chOff x="2295779" y="3929253"/>
            <a:chExt cx="848106" cy="565658"/>
          </a:xfrm>
        </p:grpSpPr>
        <p:sp>
          <p:nvSpPr>
            <p:cNvPr id="634" name="Google Shape;634;p68"/>
            <p:cNvSpPr/>
            <p:nvPr/>
          </p:nvSpPr>
          <p:spPr>
            <a:xfrm>
              <a:off x="2295779" y="3929253"/>
              <a:ext cx="763270" cy="485140"/>
            </a:xfrm>
            <a:custGeom>
              <a:rect b="b" l="l" r="r" t="t"/>
              <a:pathLst>
                <a:path extrusionOk="0" h="485139" w="763269">
                  <a:moveTo>
                    <a:pt x="714756" y="0"/>
                  </a:moveTo>
                  <a:lnTo>
                    <a:pt x="48513" y="0"/>
                  </a:lnTo>
                  <a:lnTo>
                    <a:pt x="29628" y="3810"/>
                  </a:lnTo>
                  <a:lnTo>
                    <a:pt x="14208" y="14192"/>
                  </a:lnTo>
                  <a:lnTo>
                    <a:pt x="3811" y="29575"/>
                  </a:lnTo>
                  <a:lnTo>
                    <a:pt x="0" y="48387"/>
                  </a:lnTo>
                  <a:lnTo>
                    <a:pt x="0" y="436118"/>
                  </a:lnTo>
                  <a:lnTo>
                    <a:pt x="3811" y="455003"/>
                  </a:lnTo>
                  <a:lnTo>
                    <a:pt x="14208" y="470423"/>
                  </a:lnTo>
                  <a:lnTo>
                    <a:pt x="29628" y="480820"/>
                  </a:lnTo>
                  <a:lnTo>
                    <a:pt x="48513" y="484632"/>
                  </a:lnTo>
                  <a:lnTo>
                    <a:pt x="714756" y="484632"/>
                  </a:lnTo>
                  <a:lnTo>
                    <a:pt x="733641" y="480820"/>
                  </a:lnTo>
                  <a:lnTo>
                    <a:pt x="749061" y="470423"/>
                  </a:lnTo>
                  <a:lnTo>
                    <a:pt x="759458" y="455003"/>
                  </a:lnTo>
                  <a:lnTo>
                    <a:pt x="763269" y="436118"/>
                  </a:lnTo>
                  <a:lnTo>
                    <a:pt x="763269" y="48387"/>
                  </a:lnTo>
                  <a:lnTo>
                    <a:pt x="759458" y="29575"/>
                  </a:lnTo>
                  <a:lnTo>
                    <a:pt x="749061" y="14192"/>
                  </a:lnTo>
                  <a:lnTo>
                    <a:pt x="733641" y="3810"/>
                  </a:lnTo>
                  <a:lnTo>
                    <a:pt x="714756"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68"/>
            <p:cNvSpPr/>
            <p:nvPr/>
          </p:nvSpPr>
          <p:spPr>
            <a:xfrm>
              <a:off x="2295779" y="3929253"/>
              <a:ext cx="763270" cy="485140"/>
            </a:xfrm>
            <a:custGeom>
              <a:rect b="b" l="l" r="r" t="t"/>
              <a:pathLst>
                <a:path extrusionOk="0" h="485139" w="763269">
                  <a:moveTo>
                    <a:pt x="0" y="48387"/>
                  </a:moveTo>
                  <a:lnTo>
                    <a:pt x="3811" y="29575"/>
                  </a:lnTo>
                  <a:lnTo>
                    <a:pt x="14208" y="14192"/>
                  </a:lnTo>
                  <a:lnTo>
                    <a:pt x="29628" y="3810"/>
                  </a:lnTo>
                  <a:lnTo>
                    <a:pt x="48513" y="0"/>
                  </a:lnTo>
                  <a:lnTo>
                    <a:pt x="714756" y="0"/>
                  </a:lnTo>
                  <a:lnTo>
                    <a:pt x="733641" y="3810"/>
                  </a:lnTo>
                  <a:lnTo>
                    <a:pt x="749061" y="14192"/>
                  </a:lnTo>
                  <a:lnTo>
                    <a:pt x="759458" y="29575"/>
                  </a:lnTo>
                  <a:lnTo>
                    <a:pt x="763269" y="48387"/>
                  </a:lnTo>
                  <a:lnTo>
                    <a:pt x="763269" y="436118"/>
                  </a:lnTo>
                  <a:lnTo>
                    <a:pt x="759458" y="455003"/>
                  </a:lnTo>
                  <a:lnTo>
                    <a:pt x="749061" y="470423"/>
                  </a:lnTo>
                  <a:lnTo>
                    <a:pt x="733641" y="480820"/>
                  </a:lnTo>
                  <a:lnTo>
                    <a:pt x="714756" y="484632"/>
                  </a:lnTo>
                  <a:lnTo>
                    <a:pt x="48513" y="484632"/>
                  </a:lnTo>
                  <a:lnTo>
                    <a:pt x="29628" y="480820"/>
                  </a:lnTo>
                  <a:lnTo>
                    <a:pt x="14208" y="470423"/>
                  </a:lnTo>
                  <a:lnTo>
                    <a:pt x="3811"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68"/>
            <p:cNvSpPr/>
            <p:nvPr/>
          </p:nvSpPr>
          <p:spPr>
            <a:xfrm>
              <a:off x="2380615" y="4009771"/>
              <a:ext cx="763270" cy="485140"/>
            </a:xfrm>
            <a:custGeom>
              <a:rect b="b" l="l" r="r" t="t"/>
              <a:pathLst>
                <a:path extrusionOk="0" h="485139" w="763269">
                  <a:moveTo>
                    <a:pt x="714756" y="0"/>
                  </a:moveTo>
                  <a:lnTo>
                    <a:pt x="48514" y="0"/>
                  </a:lnTo>
                  <a:lnTo>
                    <a:pt x="29628" y="3811"/>
                  </a:lnTo>
                  <a:lnTo>
                    <a:pt x="14208" y="14208"/>
                  </a:lnTo>
                  <a:lnTo>
                    <a:pt x="3811" y="29628"/>
                  </a:lnTo>
                  <a:lnTo>
                    <a:pt x="0" y="48513"/>
                  </a:lnTo>
                  <a:lnTo>
                    <a:pt x="0" y="436117"/>
                  </a:lnTo>
                  <a:lnTo>
                    <a:pt x="3811" y="455003"/>
                  </a:lnTo>
                  <a:lnTo>
                    <a:pt x="14208" y="470423"/>
                  </a:lnTo>
                  <a:lnTo>
                    <a:pt x="29628" y="480820"/>
                  </a:lnTo>
                  <a:lnTo>
                    <a:pt x="48514" y="484631"/>
                  </a:lnTo>
                  <a:lnTo>
                    <a:pt x="714756" y="484631"/>
                  </a:lnTo>
                  <a:lnTo>
                    <a:pt x="733641" y="480820"/>
                  </a:lnTo>
                  <a:lnTo>
                    <a:pt x="749061" y="470423"/>
                  </a:lnTo>
                  <a:lnTo>
                    <a:pt x="759458" y="455003"/>
                  </a:lnTo>
                  <a:lnTo>
                    <a:pt x="763270" y="436117"/>
                  </a:lnTo>
                  <a:lnTo>
                    <a:pt x="763270" y="48513"/>
                  </a:lnTo>
                  <a:lnTo>
                    <a:pt x="759458" y="29628"/>
                  </a:lnTo>
                  <a:lnTo>
                    <a:pt x="749061" y="14208"/>
                  </a:lnTo>
                  <a:lnTo>
                    <a:pt x="733641" y="3811"/>
                  </a:lnTo>
                  <a:lnTo>
                    <a:pt x="714756"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68"/>
            <p:cNvSpPr/>
            <p:nvPr/>
          </p:nvSpPr>
          <p:spPr>
            <a:xfrm>
              <a:off x="2380615" y="4009771"/>
              <a:ext cx="763270" cy="485140"/>
            </a:xfrm>
            <a:custGeom>
              <a:rect b="b" l="l" r="r" t="t"/>
              <a:pathLst>
                <a:path extrusionOk="0" h="485139" w="763269">
                  <a:moveTo>
                    <a:pt x="0" y="48513"/>
                  </a:moveTo>
                  <a:lnTo>
                    <a:pt x="3811" y="29628"/>
                  </a:lnTo>
                  <a:lnTo>
                    <a:pt x="14208" y="14208"/>
                  </a:lnTo>
                  <a:lnTo>
                    <a:pt x="29628" y="3811"/>
                  </a:lnTo>
                  <a:lnTo>
                    <a:pt x="48514" y="0"/>
                  </a:lnTo>
                  <a:lnTo>
                    <a:pt x="714756" y="0"/>
                  </a:lnTo>
                  <a:lnTo>
                    <a:pt x="733641" y="3811"/>
                  </a:lnTo>
                  <a:lnTo>
                    <a:pt x="749061" y="14208"/>
                  </a:lnTo>
                  <a:lnTo>
                    <a:pt x="759458" y="29628"/>
                  </a:lnTo>
                  <a:lnTo>
                    <a:pt x="763270" y="48513"/>
                  </a:lnTo>
                  <a:lnTo>
                    <a:pt x="763270" y="436117"/>
                  </a:lnTo>
                  <a:lnTo>
                    <a:pt x="759458" y="455003"/>
                  </a:lnTo>
                  <a:lnTo>
                    <a:pt x="749061" y="470423"/>
                  </a:lnTo>
                  <a:lnTo>
                    <a:pt x="733641" y="480820"/>
                  </a:lnTo>
                  <a:lnTo>
                    <a:pt x="714756" y="484631"/>
                  </a:lnTo>
                  <a:lnTo>
                    <a:pt x="48514" y="484631"/>
                  </a:lnTo>
                  <a:lnTo>
                    <a:pt x="29628" y="480820"/>
                  </a:lnTo>
                  <a:lnTo>
                    <a:pt x="14208" y="470423"/>
                  </a:lnTo>
                  <a:lnTo>
                    <a:pt x="3811" y="455003"/>
                  </a:lnTo>
                  <a:lnTo>
                    <a:pt x="0" y="436117"/>
                  </a:lnTo>
                  <a:lnTo>
                    <a:pt x="0" y="4851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8" name="Google Shape;638;p68"/>
          <p:cNvSpPr txBox="1"/>
          <p:nvPr/>
        </p:nvSpPr>
        <p:spPr>
          <a:xfrm>
            <a:off x="2464054" y="4069460"/>
            <a:ext cx="594360" cy="346075"/>
          </a:xfrm>
          <a:prstGeom prst="rect">
            <a:avLst/>
          </a:prstGeom>
          <a:noFill/>
          <a:ln>
            <a:noFill/>
          </a:ln>
        </p:spPr>
        <p:txBody>
          <a:bodyPr anchorCtr="0" anchor="t" bIns="0" lIns="0" spcFirstLastPara="1" rIns="0" wrap="square" tIns="30475">
            <a:spAutoFit/>
          </a:bodyPr>
          <a:lstStyle/>
          <a:p>
            <a:pPr indent="-9525" lvl="0" marL="21590" marR="5080" rtl="0" algn="l">
              <a:lnSpc>
                <a:spcPct val="109090"/>
              </a:lnSpc>
              <a:spcBef>
                <a:spcPts val="0"/>
              </a:spcBef>
              <a:spcAft>
                <a:spcPts val="0"/>
              </a:spcAft>
              <a:buNone/>
            </a:pPr>
            <a:r>
              <a:rPr lang="en-US" sz="1100">
                <a:solidFill>
                  <a:schemeClr val="dk1"/>
                </a:solidFill>
                <a:latin typeface="Cambria"/>
                <a:ea typeface="Cambria"/>
                <a:cs typeface="Cambria"/>
                <a:sym typeface="Cambria"/>
              </a:rPr>
              <a:t>Isosceles  Triangle</a:t>
            </a:r>
            <a:endParaRPr sz="1100">
              <a:solidFill>
                <a:schemeClr val="dk1"/>
              </a:solidFill>
              <a:latin typeface="Cambria"/>
              <a:ea typeface="Cambria"/>
              <a:cs typeface="Cambria"/>
              <a:sym typeface="Cambria"/>
            </a:endParaRPr>
          </a:p>
        </p:txBody>
      </p:sp>
      <p:grpSp>
        <p:nvGrpSpPr>
          <p:cNvPr id="639" name="Google Shape;639;p68"/>
          <p:cNvGrpSpPr/>
          <p:nvPr/>
        </p:nvGrpSpPr>
        <p:grpSpPr>
          <a:xfrm>
            <a:off x="3228594" y="3929253"/>
            <a:ext cx="848106" cy="565658"/>
            <a:chOff x="3228594" y="3929253"/>
            <a:chExt cx="848106" cy="565658"/>
          </a:xfrm>
        </p:grpSpPr>
        <p:sp>
          <p:nvSpPr>
            <p:cNvPr id="640" name="Google Shape;640;p68"/>
            <p:cNvSpPr/>
            <p:nvPr/>
          </p:nvSpPr>
          <p:spPr>
            <a:xfrm>
              <a:off x="3228594" y="3929253"/>
              <a:ext cx="763270" cy="485140"/>
            </a:xfrm>
            <a:custGeom>
              <a:rect b="b" l="l" r="r" t="t"/>
              <a:pathLst>
                <a:path extrusionOk="0" h="485139" w="763270">
                  <a:moveTo>
                    <a:pt x="714756" y="0"/>
                  </a:moveTo>
                  <a:lnTo>
                    <a:pt x="48514" y="0"/>
                  </a:lnTo>
                  <a:lnTo>
                    <a:pt x="29628" y="3810"/>
                  </a:lnTo>
                  <a:lnTo>
                    <a:pt x="14208" y="14192"/>
                  </a:lnTo>
                  <a:lnTo>
                    <a:pt x="3811" y="29575"/>
                  </a:lnTo>
                  <a:lnTo>
                    <a:pt x="0" y="48387"/>
                  </a:lnTo>
                  <a:lnTo>
                    <a:pt x="0" y="436118"/>
                  </a:lnTo>
                  <a:lnTo>
                    <a:pt x="3811" y="455003"/>
                  </a:lnTo>
                  <a:lnTo>
                    <a:pt x="14208" y="470423"/>
                  </a:lnTo>
                  <a:lnTo>
                    <a:pt x="29628" y="480820"/>
                  </a:lnTo>
                  <a:lnTo>
                    <a:pt x="48514" y="484632"/>
                  </a:lnTo>
                  <a:lnTo>
                    <a:pt x="714756" y="484632"/>
                  </a:lnTo>
                  <a:lnTo>
                    <a:pt x="733641" y="480820"/>
                  </a:lnTo>
                  <a:lnTo>
                    <a:pt x="749061" y="470423"/>
                  </a:lnTo>
                  <a:lnTo>
                    <a:pt x="759458" y="455003"/>
                  </a:lnTo>
                  <a:lnTo>
                    <a:pt x="763269" y="436118"/>
                  </a:lnTo>
                  <a:lnTo>
                    <a:pt x="763269" y="48387"/>
                  </a:lnTo>
                  <a:lnTo>
                    <a:pt x="759458" y="29575"/>
                  </a:lnTo>
                  <a:lnTo>
                    <a:pt x="749061" y="14192"/>
                  </a:lnTo>
                  <a:lnTo>
                    <a:pt x="733641" y="3810"/>
                  </a:lnTo>
                  <a:lnTo>
                    <a:pt x="714756"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68"/>
            <p:cNvSpPr/>
            <p:nvPr/>
          </p:nvSpPr>
          <p:spPr>
            <a:xfrm>
              <a:off x="3228594" y="3929253"/>
              <a:ext cx="763270" cy="485140"/>
            </a:xfrm>
            <a:custGeom>
              <a:rect b="b" l="l" r="r" t="t"/>
              <a:pathLst>
                <a:path extrusionOk="0" h="485139" w="763270">
                  <a:moveTo>
                    <a:pt x="0" y="48387"/>
                  </a:moveTo>
                  <a:lnTo>
                    <a:pt x="3811" y="29575"/>
                  </a:lnTo>
                  <a:lnTo>
                    <a:pt x="14208" y="14192"/>
                  </a:lnTo>
                  <a:lnTo>
                    <a:pt x="29628" y="3810"/>
                  </a:lnTo>
                  <a:lnTo>
                    <a:pt x="48514" y="0"/>
                  </a:lnTo>
                  <a:lnTo>
                    <a:pt x="714756" y="0"/>
                  </a:lnTo>
                  <a:lnTo>
                    <a:pt x="733641" y="3810"/>
                  </a:lnTo>
                  <a:lnTo>
                    <a:pt x="749061" y="14192"/>
                  </a:lnTo>
                  <a:lnTo>
                    <a:pt x="759458" y="29575"/>
                  </a:lnTo>
                  <a:lnTo>
                    <a:pt x="763269" y="48387"/>
                  </a:lnTo>
                  <a:lnTo>
                    <a:pt x="763269" y="436118"/>
                  </a:lnTo>
                  <a:lnTo>
                    <a:pt x="759458" y="455003"/>
                  </a:lnTo>
                  <a:lnTo>
                    <a:pt x="749061" y="470423"/>
                  </a:lnTo>
                  <a:lnTo>
                    <a:pt x="733641" y="480820"/>
                  </a:lnTo>
                  <a:lnTo>
                    <a:pt x="714756" y="484632"/>
                  </a:lnTo>
                  <a:lnTo>
                    <a:pt x="48514" y="484632"/>
                  </a:lnTo>
                  <a:lnTo>
                    <a:pt x="29628" y="480820"/>
                  </a:lnTo>
                  <a:lnTo>
                    <a:pt x="14208" y="470423"/>
                  </a:lnTo>
                  <a:lnTo>
                    <a:pt x="3811"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68"/>
            <p:cNvSpPr/>
            <p:nvPr/>
          </p:nvSpPr>
          <p:spPr>
            <a:xfrm>
              <a:off x="3313430" y="4009771"/>
              <a:ext cx="763270" cy="485140"/>
            </a:xfrm>
            <a:custGeom>
              <a:rect b="b" l="l" r="r" t="t"/>
              <a:pathLst>
                <a:path extrusionOk="0" h="485139" w="763270">
                  <a:moveTo>
                    <a:pt x="714756" y="0"/>
                  </a:moveTo>
                  <a:lnTo>
                    <a:pt x="48514" y="0"/>
                  </a:lnTo>
                  <a:lnTo>
                    <a:pt x="29628" y="3811"/>
                  </a:lnTo>
                  <a:lnTo>
                    <a:pt x="14208" y="14208"/>
                  </a:lnTo>
                  <a:lnTo>
                    <a:pt x="3811" y="29628"/>
                  </a:lnTo>
                  <a:lnTo>
                    <a:pt x="0" y="48513"/>
                  </a:lnTo>
                  <a:lnTo>
                    <a:pt x="0" y="436117"/>
                  </a:lnTo>
                  <a:lnTo>
                    <a:pt x="3811" y="455003"/>
                  </a:lnTo>
                  <a:lnTo>
                    <a:pt x="14208" y="470423"/>
                  </a:lnTo>
                  <a:lnTo>
                    <a:pt x="29628" y="480820"/>
                  </a:lnTo>
                  <a:lnTo>
                    <a:pt x="48514" y="484631"/>
                  </a:lnTo>
                  <a:lnTo>
                    <a:pt x="714756" y="484631"/>
                  </a:lnTo>
                  <a:lnTo>
                    <a:pt x="733641" y="480820"/>
                  </a:lnTo>
                  <a:lnTo>
                    <a:pt x="749061" y="470423"/>
                  </a:lnTo>
                  <a:lnTo>
                    <a:pt x="759458" y="455003"/>
                  </a:lnTo>
                  <a:lnTo>
                    <a:pt x="763270" y="436117"/>
                  </a:lnTo>
                  <a:lnTo>
                    <a:pt x="763270" y="48513"/>
                  </a:lnTo>
                  <a:lnTo>
                    <a:pt x="759458" y="29628"/>
                  </a:lnTo>
                  <a:lnTo>
                    <a:pt x="749061" y="14208"/>
                  </a:lnTo>
                  <a:lnTo>
                    <a:pt x="733641" y="3811"/>
                  </a:lnTo>
                  <a:lnTo>
                    <a:pt x="714756"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68"/>
            <p:cNvSpPr/>
            <p:nvPr/>
          </p:nvSpPr>
          <p:spPr>
            <a:xfrm>
              <a:off x="3313430" y="4009771"/>
              <a:ext cx="763270" cy="485140"/>
            </a:xfrm>
            <a:custGeom>
              <a:rect b="b" l="l" r="r" t="t"/>
              <a:pathLst>
                <a:path extrusionOk="0" h="485139" w="763270">
                  <a:moveTo>
                    <a:pt x="0" y="48513"/>
                  </a:moveTo>
                  <a:lnTo>
                    <a:pt x="3811" y="29628"/>
                  </a:lnTo>
                  <a:lnTo>
                    <a:pt x="14208" y="14208"/>
                  </a:lnTo>
                  <a:lnTo>
                    <a:pt x="29628" y="3811"/>
                  </a:lnTo>
                  <a:lnTo>
                    <a:pt x="48514" y="0"/>
                  </a:lnTo>
                  <a:lnTo>
                    <a:pt x="714756" y="0"/>
                  </a:lnTo>
                  <a:lnTo>
                    <a:pt x="733641" y="3811"/>
                  </a:lnTo>
                  <a:lnTo>
                    <a:pt x="749061" y="14208"/>
                  </a:lnTo>
                  <a:lnTo>
                    <a:pt x="759458" y="29628"/>
                  </a:lnTo>
                  <a:lnTo>
                    <a:pt x="763270" y="48513"/>
                  </a:lnTo>
                  <a:lnTo>
                    <a:pt x="763270" y="436117"/>
                  </a:lnTo>
                  <a:lnTo>
                    <a:pt x="759458" y="455003"/>
                  </a:lnTo>
                  <a:lnTo>
                    <a:pt x="749061" y="470423"/>
                  </a:lnTo>
                  <a:lnTo>
                    <a:pt x="733641" y="480820"/>
                  </a:lnTo>
                  <a:lnTo>
                    <a:pt x="714756" y="484631"/>
                  </a:lnTo>
                  <a:lnTo>
                    <a:pt x="48514" y="484631"/>
                  </a:lnTo>
                  <a:lnTo>
                    <a:pt x="29628" y="480820"/>
                  </a:lnTo>
                  <a:lnTo>
                    <a:pt x="14208" y="470423"/>
                  </a:lnTo>
                  <a:lnTo>
                    <a:pt x="3811" y="455003"/>
                  </a:lnTo>
                  <a:lnTo>
                    <a:pt x="0" y="436117"/>
                  </a:lnTo>
                  <a:lnTo>
                    <a:pt x="0" y="4851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4" name="Google Shape;644;p68"/>
          <p:cNvSpPr txBox="1"/>
          <p:nvPr/>
        </p:nvSpPr>
        <p:spPr>
          <a:xfrm>
            <a:off x="3406266" y="4069460"/>
            <a:ext cx="577215" cy="346075"/>
          </a:xfrm>
          <a:prstGeom prst="rect">
            <a:avLst/>
          </a:prstGeom>
          <a:noFill/>
          <a:ln>
            <a:noFill/>
          </a:ln>
        </p:spPr>
        <p:txBody>
          <a:bodyPr anchorCtr="0" anchor="t" bIns="0" lIns="0" spcFirstLastPara="1" rIns="0" wrap="square" tIns="30475">
            <a:spAutoFit/>
          </a:bodyPr>
          <a:lstStyle/>
          <a:p>
            <a:pPr indent="89535" lvl="0" marL="12700" marR="5080" rtl="0" algn="l">
              <a:lnSpc>
                <a:spcPct val="109090"/>
              </a:lnSpc>
              <a:spcBef>
                <a:spcPts val="0"/>
              </a:spcBef>
              <a:spcAft>
                <a:spcPts val="0"/>
              </a:spcAft>
              <a:buNone/>
            </a:pPr>
            <a:r>
              <a:rPr lang="en-US" sz="1100">
                <a:solidFill>
                  <a:schemeClr val="dk1"/>
                </a:solidFill>
                <a:latin typeface="Cambria"/>
                <a:ea typeface="Cambria"/>
                <a:cs typeface="Cambria"/>
                <a:sym typeface="Cambria"/>
              </a:rPr>
              <a:t>Acute  Triangle</a:t>
            </a:r>
            <a:endParaRPr sz="1100">
              <a:solidFill>
                <a:schemeClr val="dk1"/>
              </a:solidFill>
              <a:latin typeface="Cambria"/>
              <a:ea typeface="Cambria"/>
              <a:cs typeface="Cambria"/>
              <a:sym typeface="Cambria"/>
            </a:endParaRPr>
          </a:p>
        </p:txBody>
      </p:sp>
      <p:grpSp>
        <p:nvGrpSpPr>
          <p:cNvPr id="645" name="Google Shape;645;p68"/>
          <p:cNvGrpSpPr/>
          <p:nvPr/>
        </p:nvGrpSpPr>
        <p:grpSpPr>
          <a:xfrm>
            <a:off x="6314821" y="3222625"/>
            <a:ext cx="847979" cy="565658"/>
            <a:chOff x="6314821" y="3222625"/>
            <a:chExt cx="847979" cy="565658"/>
          </a:xfrm>
        </p:grpSpPr>
        <p:sp>
          <p:nvSpPr>
            <p:cNvPr id="646" name="Google Shape;646;p68"/>
            <p:cNvSpPr/>
            <p:nvPr/>
          </p:nvSpPr>
          <p:spPr>
            <a:xfrm>
              <a:off x="6314821" y="3222625"/>
              <a:ext cx="763270" cy="485140"/>
            </a:xfrm>
            <a:custGeom>
              <a:rect b="b" l="l" r="r" t="t"/>
              <a:pathLst>
                <a:path extrusionOk="0" h="485139" w="763270">
                  <a:moveTo>
                    <a:pt x="714755" y="0"/>
                  </a:moveTo>
                  <a:lnTo>
                    <a:pt x="48387" y="0"/>
                  </a:lnTo>
                  <a:lnTo>
                    <a:pt x="29575" y="3810"/>
                  </a:lnTo>
                  <a:lnTo>
                    <a:pt x="14192" y="14192"/>
                  </a:lnTo>
                  <a:lnTo>
                    <a:pt x="3810" y="29575"/>
                  </a:lnTo>
                  <a:lnTo>
                    <a:pt x="0" y="48387"/>
                  </a:lnTo>
                  <a:lnTo>
                    <a:pt x="0" y="436118"/>
                  </a:lnTo>
                  <a:lnTo>
                    <a:pt x="3810" y="455003"/>
                  </a:lnTo>
                  <a:lnTo>
                    <a:pt x="14192" y="470423"/>
                  </a:lnTo>
                  <a:lnTo>
                    <a:pt x="29575" y="480820"/>
                  </a:lnTo>
                  <a:lnTo>
                    <a:pt x="48387" y="484631"/>
                  </a:lnTo>
                  <a:lnTo>
                    <a:pt x="714755" y="484631"/>
                  </a:lnTo>
                  <a:lnTo>
                    <a:pt x="733567" y="480820"/>
                  </a:lnTo>
                  <a:lnTo>
                    <a:pt x="748950" y="470423"/>
                  </a:lnTo>
                  <a:lnTo>
                    <a:pt x="759333" y="455003"/>
                  </a:lnTo>
                  <a:lnTo>
                    <a:pt x="763143" y="436118"/>
                  </a:lnTo>
                  <a:lnTo>
                    <a:pt x="763143" y="48387"/>
                  </a:lnTo>
                  <a:lnTo>
                    <a:pt x="759333" y="29575"/>
                  </a:lnTo>
                  <a:lnTo>
                    <a:pt x="748950" y="14192"/>
                  </a:lnTo>
                  <a:lnTo>
                    <a:pt x="733567" y="3810"/>
                  </a:lnTo>
                  <a:lnTo>
                    <a:pt x="714755"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7" name="Google Shape;647;p68"/>
            <p:cNvSpPr/>
            <p:nvPr/>
          </p:nvSpPr>
          <p:spPr>
            <a:xfrm>
              <a:off x="6314821" y="3222625"/>
              <a:ext cx="763270" cy="485140"/>
            </a:xfrm>
            <a:custGeom>
              <a:rect b="b" l="l" r="r" t="t"/>
              <a:pathLst>
                <a:path extrusionOk="0" h="485139" w="763270">
                  <a:moveTo>
                    <a:pt x="0" y="48387"/>
                  </a:moveTo>
                  <a:lnTo>
                    <a:pt x="3810" y="29575"/>
                  </a:lnTo>
                  <a:lnTo>
                    <a:pt x="14192" y="14192"/>
                  </a:lnTo>
                  <a:lnTo>
                    <a:pt x="29575" y="3810"/>
                  </a:lnTo>
                  <a:lnTo>
                    <a:pt x="48387" y="0"/>
                  </a:lnTo>
                  <a:lnTo>
                    <a:pt x="714755" y="0"/>
                  </a:lnTo>
                  <a:lnTo>
                    <a:pt x="733567" y="3810"/>
                  </a:lnTo>
                  <a:lnTo>
                    <a:pt x="748950" y="14192"/>
                  </a:lnTo>
                  <a:lnTo>
                    <a:pt x="759333" y="29575"/>
                  </a:lnTo>
                  <a:lnTo>
                    <a:pt x="763143" y="48387"/>
                  </a:lnTo>
                  <a:lnTo>
                    <a:pt x="763143" y="436118"/>
                  </a:lnTo>
                  <a:lnTo>
                    <a:pt x="759333" y="455003"/>
                  </a:lnTo>
                  <a:lnTo>
                    <a:pt x="748950" y="470423"/>
                  </a:lnTo>
                  <a:lnTo>
                    <a:pt x="733567" y="480820"/>
                  </a:lnTo>
                  <a:lnTo>
                    <a:pt x="714755" y="484631"/>
                  </a:lnTo>
                  <a:lnTo>
                    <a:pt x="48387" y="484631"/>
                  </a:lnTo>
                  <a:lnTo>
                    <a:pt x="29575" y="480820"/>
                  </a:lnTo>
                  <a:lnTo>
                    <a:pt x="14192" y="470423"/>
                  </a:lnTo>
                  <a:lnTo>
                    <a:pt x="3810"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68"/>
            <p:cNvSpPr/>
            <p:nvPr/>
          </p:nvSpPr>
          <p:spPr>
            <a:xfrm>
              <a:off x="6399530" y="3303143"/>
              <a:ext cx="763270" cy="485140"/>
            </a:xfrm>
            <a:custGeom>
              <a:rect b="b" l="l" r="r" t="t"/>
              <a:pathLst>
                <a:path extrusionOk="0" h="485139" w="763270">
                  <a:moveTo>
                    <a:pt x="714755" y="0"/>
                  </a:moveTo>
                  <a:lnTo>
                    <a:pt x="48514" y="0"/>
                  </a:lnTo>
                  <a:lnTo>
                    <a:pt x="29628" y="3811"/>
                  </a:lnTo>
                  <a:lnTo>
                    <a:pt x="14208" y="14208"/>
                  </a:lnTo>
                  <a:lnTo>
                    <a:pt x="3811" y="29628"/>
                  </a:lnTo>
                  <a:lnTo>
                    <a:pt x="0" y="48514"/>
                  </a:lnTo>
                  <a:lnTo>
                    <a:pt x="0" y="436245"/>
                  </a:lnTo>
                  <a:lnTo>
                    <a:pt x="3811" y="455056"/>
                  </a:lnTo>
                  <a:lnTo>
                    <a:pt x="14208" y="470439"/>
                  </a:lnTo>
                  <a:lnTo>
                    <a:pt x="29628" y="480822"/>
                  </a:lnTo>
                  <a:lnTo>
                    <a:pt x="48514" y="484632"/>
                  </a:lnTo>
                  <a:lnTo>
                    <a:pt x="714755" y="484632"/>
                  </a:lnTo>
                  <a:lnTo>
                    <a:pt x="733641" y="480822"/>
                  </a:lnTo>
                  <a:lnTo>
                    <a:pt x="749061" y="470439"/>
                  </a:lnTo>
                  <a:lnTo>
                    <a:pt x="759458" y="455056"/>
                  </a:lnTo>
                  <a:lnTo>
                    <a:pt x="763270" y="436245"/>
                  </a:lnTo>
                  <a:lnTo>
                    <a:pt x="763270" y="48514"/>
                  </a:lnTo>
                  <a:lnTo>
                    <a:pt x="759458" y="29628"/>
                  </a:lnTo>
                  <a:lnTo>
                    <a:pt x="749061" y="14208"/>
                  </a:lnTo>
                  <a:lnTo>
                    <a:pt x="733641" y="3811"/>
                  </a:lnTo>
                  <a:lnTo>
                    <a:pt x="714755"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68"/>
            <p:cNvSpPr/>
            <p:nvPr/>
          </p:nvSpPr>
          <p:spPr>
            <a:xfrm>
              <a:off x="6399530" y="3303143"/>
              <a:ext cx="763270" cy="485140"/>
            </a:xfrm>
            <a:custGeom>
              <a:rect b="b" l="l" r="r" t="t"/>
              <a:pathLst>
                <a:path extrusionOk="0" h="485139" w="763270">
                  <a:moveTo>
                    <a:pt x="0" y="48514"/>
                  </a:moveTo>
                  <a:lnTo>
                    <a:pt x="3811" y="29628"/>
                  </a:lnTo>
                  <a:lnTo>
                    <a:pt x="14208" y="14208"/>
                  </a:lnTo>
                  <a:lnTo>
                    <a:pt x="29628" y="3811"/>
                  </a:lnTo>
                  <a:lnTo>
                    <a:pt x="48514" y="0"/>
                  </a:lnTo>
                  <a:lnTo>
                    <a:pt x="714755" y="0"/>
                  </a:lnTo>
                  <a:lnTo>
                    <a:pt x="733641" y="3811"/>
                  </a:lnTo>
                  <a:lnTo>
                    <a:pt x="749061" y="14208"/>
                  </a:lnTo>
                  <a:lnTo>
                    <a:pt x="759458" y="29628"/>
                  </a:lnTo>
                  <a:lnTo>
                    <a:pt x="763270" y="48514"/>
                  </a:lnTo>
                  <a:lnTo>
                    <a:pt x="763270" y="436245"/>
                  </a:lnTo>
                  <a:lnTo>
                    <a:pt x="759458" y="455056"/>
                  </a:lnTo>
                  <a:lnTo>
                    <a:pt x="749061" y="470439"/>
                  </a:lnTo>
                  <a:lnTo>
                    <a:pt x="733641" y="480822"/>
                  </a:lnTo>
                  <a:lnTo>
                    <a:pt x="714755" y="484632"/>
                  </a:lnTo>
                  <a:lnTo>
                    <a:pt x="48514" y="484632"/>
                  </a:lnTo>
                  <a:lnTo>
                    <a:pt x="29628" y="480822"/>
                  </a:lnTo>
                  <a:lnTo>
                    <a:pt x="14208" y="470439"/>
                  </a:lnTo>
                  <a:lnTo>
                    <a:pt x="3811" y="455056"/>
                  </a:lnTo>
                  <a:lnTo>
                    <a:pt x="0" y="436245"/>
                  </a:lnTo>
                  <a:lnTo>
                    <a:pt x="0" y="48514"/>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0" name="Google Shape;650;p68"/>
          <p:cNvSpPr txBox="1"/>
          <p:nvPr/>
        </p:nvSpPr>
        <p:spPr>
          <a:xfrm>
            <a:off x="6448805" y="3438270"/>
            <a:ext cx="665480" cy="1936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100">
                <a:solidFill>
                  <a:schemeClr val="dk1"/>
                </a:solidFill>
                <a:latin typeface="Cambria"/>
                <a:ea typeface="Cambria"/>
                <a:cs typeface="Cambria"/>
                <a:sym typeface="Cambria"/>
              </a:rPr>
              <a:t>Rectangle</a:t>
            </a:r>
            <a:endParaRPr sz="1100">
              <a:solidFill>
                <a:schemeClr val="dk1"/>
              </a:solidFill>
              <a:latin typeface="Cambria"/>
              <a:ea typeface="Cambria"/>
              <a:cs typeface="Cambria"/>
              <a:sym typeface="Cambria"/>
            </a:endParaRPr>
          </a:p>
        </p:txBody>
      </p:sp>
      <p:grpSp>
        <p:nvGrpSpPr>
          <p:cNvPr id="651" name="Google Shape;651;p68"/>
          <p:cNvGrpSpPr/>
          <p:nvPr/>
        </p:nvGrpSpPr>
        <p:grpSpPr>
          <a:xfrm>
            <a:off x="4387722" y="3222625"/>
            <a:ext cx="2775077" cy="1272285"/>
            <a:chOff x="4387722" y="3222625"/>
            <a:chExt cx="2775077" cy="1272285"/>
          </a:xfrm>
        </p:grpSpPr>
        <p:sp>
          <p:nvSpPr>
            <p:cNvPr id="652" name="Google Shape;652;p68"/>
            <p:cNvSpPr/>
            <p:nvPr/>
          </p:nvSpPr>
          <p:spPr>
            <a:xfrm>
              <a:off x="6314820" y="3929252"/>
              <a:ext cx="763270" cy="485140"/>
            </a:xfrm>
            <a:custGeom>
              <a:rect b="b" l="l" r="r" t="t"/>
              <a:pathLst>
                <a:path extrusionOk="0" h="485139" w="763270">
                  <a:moveTo>
                    <a:pt x="714755" y="0"/>
                  </a:moveTo>
                  <a:lnTo>
                    <a:pt x="48387" y="0"/>
                  </a:lnTo>
                  <a:lnTo>
                    <a:pt x="29575" y="3810"/>
                  </a:lnTo>
                  <a:lnTo>
                    <a:pt x="14192" y="14192"/>
                  </a:lnTo>
                  <a:lnTo>
                    <a:pt x="3810" y="29575"/>
                  </a:lnTo>
                  <a:lnTo>
                    <a:pt x="0" y="48387"/>
                  </a:lnTo>
                  <a:lnTo>
                    <a:pt x="0" y="436118"/>
                  </a:lnTo>
                  <a:lnTo>
                    <a:pt x="3810" y="455003"/>
                  </a:lnTo>
                  <a:lnTo>
                    <a:pt x="14192" y="470423"/>
                  </a:lnTo>
                  <a:lnTo>
                    <a:pt x="29575" y="480820"/>
                  </a:lnTo>
                  <a:lnTo>
                    <a:pt x="48387" y="484632"/>
                  </a:lnTo>
                  <a:lnTo>
                    <a:pt x="714755" y="484632"/>
                  </a:lnTo>
                  <a:lnTo>
                    <a:pt x="733567" y="480820"/>
                  </a:lnTo>
                  <a:lnTo>
                    <a:pt x="748950" y="470423"/>
                  </a:lnTo>
                  <a:lnTo>
                    <a:pt x="759333" y="455003"/>
                  </a:lnTo>
                  <a:lnTo>
                    <a:pt x="763143" y="436118"/>
                  </a:lnTo>
                  <a:lnTo>
                    <a:pt x="763143" y="48387"/>
                  </a:lnTo>
                  <a:lnTo>
                    <a:pt x="759333" y="29575"/>
                  </a:lnTo>
                  <a:lnTo>
                    <a:pt x="748950" y="14192"/>
                  </a:lnTo>
                  <a:lnTo>
                    <a:pt x="733567" y="3810"/>
                  </a:lnTo>
                  <a:lnTo>
                    <a:pt x="714755"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68"/>
            <p:cNvSpPr/>
            <p:nvPr/>
          </p:nvSpPr>
          <p:spPr>
            <a:xfrm>
              <a:off x="6314820" y="3929252"/>
              <a:ext cx="763270" cy="485140"/>
            </a:xfrm>
            <a:custGeom>
              <a:rect b="b" l="l" r="r" t="t"/>
              <a:pathLst>
                <a:path extrusionOk="0" h="485139" w="763270">
                  <a:moveTo>
                    <a:pt x="0" y="48387"/>
                  </a:moveTo>
                  <a:lnTo>
                    <a:pt x="3810" y="29575"/>
                  </a:lnTo>
                  <a:lnTo>
                    <a:pt x="14192" y="14192"/>
                  </a:lnTo>
                  <a:lnTo>
                    <a:pt x="29575" y="3810"/>
                  </a:lnTo>
                  <a:lnTo>
                    <a:pt x="48387" y="0"/>
                  </a:lnTo>
                  <a:lnTo>
                    <a:pt x="714755" y="0"/>
                  </a:lnTo>
                  <a:lnTo>
                    <a:pt x="733567" y="3810"/>
                  </a:lnTo>
                  <a:lnTo>
                    <a:pt x="748950" y="14192"/>
                  </a:lnTo>
                  <a:lnTo>
                    <a:pt x="759333" y="29575"/>
                  </a:lnTo>
                  <a:lnTo>
                    <a:pt x="763143" y="48387"/>
                  </a:lnTo>
                  <a:lnTo>
                    <a:pt x="763143" y="436118"/>
                  </a:lnTo>
                  <a:lnTo>
                    <a:pt x="759333" y="455003"/>
                  </a:lnTo>
                  <a:lnTo>
                    <a:pt x="748950" y="470423"/>
                  </a:lnTo>
                  <a:lnTo>
                    <a:pt x="733567" y="480820"/>
                  </a:lnTo>
                  <a:lnTo>
                    <a:pt x="714755" y="484632"/>
                  </a:lnTo>
                  <a:lnTo>
                    <a:pt x="48387" y="484632"/>
                  </a:lnTo>
                  <a:lnTo>
                    <a:pt x="29575" y="480820"/>
                  </a:lnTo>
                  <a:lnTo>
                    <a:pt x="14192" y="470423"/>
                  </a:lnTo>
                  <a:lnTo>
                    <a:pt x="3810"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68"/>
            <p:cNvSpPr/>
            <p:nvPr/>
          </p:nvSpPr>
          <p:spPr>
            <a:xfrm>
              <a:off x="6399529" y="4009770"/>
              <a:ext cx="763270" cy="485140"/>
            </a:xfrm>
            <a:custGeom>
              <a:rect b="b" l="l" r="r" t="t"/>
              <a:pathLst>
                <a:path extrusionOk="0" h="485139" w="763270">
                  <a:moveTo>
                    <a:pt x="714755" y="0"/>
                  </a:moveTo>
                  <a:lnTo>
                    <a:pt x="48514" y="0"/>
                  </a:lnTo>
                  <a:lnTo>
                    <a:pt x="29628" y="3811"/>
                  </a:lnTo>
                  <a:lnTo>
                    <a:pt x="14208" y="14208"/>
                  </a:lnTo>
                  <a:lnTo>
                    <a:pt x="3811" y="29628"/>
                  </a:lnTo>
                  <a:lnTo>
                    <a:pt x="0" y="48513"/>
                  </a:lnTo>
                  <a:lnTo>
                    <a:pt x="0" y="436117"/>
                  </a:lnTo>
                  <a:lnTo>
                    <a:pt x="3811" y="455003"/>
                  </a:lnTo>
                  <a:lnTo>
                    <a:pt x="14208" y="470423"/>
                  </a:lnTo>
                  <a:lnTo>
                    <a:pt x="29628" y="480820"/>
                  </a:lnTo>
                  <a:lnTo>
                    <a:pt x="48514" y="484631"/>
                  </a:lnTo>
                  <a:lnTo>
                    <a:pt x="714755" y="484631"/>
                  </a:lnTo>
                  <a:lnTo>
                    <a:pt x="733641" y="480820"/>
                  </a:lnTo>
                  <a:lnTo>
                    <a:pt x="749061" y="470423"/>
                  </a:lnTo>
                  <a:lnTo>
                    <a:pt x="759458" y="455003"/>
                  </a:lnTo>
                  <a:lnTo>
                    <a:pt x="763270" y="436117"/>
                  </a:lnTo>
                  <a:lnTo>
                    <a:pt x="763270" y="48513"/>
                  </a:lnTo>
                  <a:lnTo>
                    <a:pt x="759458" y="29628"/>
                  </a:lnTo>
                  <a:lnTo>
                    <a:pt x="749061" y="14208"/>
                  </a:lnTo>
                  <a:lnTo>
                    <a:pt x="733641" y="3811"/>
                  </a:lnTo>
                  <a:lnTo>
                    <a:pt x="714755"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68"/>
            <p:cNvSpPr/>
            <p:nvPr/>
          </p:nvSpPr>
          <p:spPr>
            <a:xfrm>
              <a:off x="6399529" y="4009770"/>
              <a:ext cx="763270" cy="485140"/>
            </a:xfrm>
            <a:custGeom>
              <a:rect b="b" l="l" r="r" t="t"/>
              <a:pathLst>
                <a:path extrusionOk="0" h="485139" w="763270">
                  <a:moveTo>
                    <a:pt x="0" y="48513"/>
                  </a:moveTo>
                  <a:lnTo>
                    <a:pt x="3811" y="29628"/>
                  </a:lnTo>
                  <a:lnTo>
                    <a:pt x="14208" y="14208"/>
                  </a:lnTo>
                  <a:lnTo>
                    <a:pt x="29628" y="3811"/>
                  </a:lnTo>
                  <a:lnTo>
                    <a:pt x="48514" y="0"/>
                  </a:lnTo>
                  <a:lnTo>
                    <a:pt x="714755" y="0"/>
                  </a:lnTo>
                  <a:lnTo>
                    <a:pt x="733641" y="3811"/>
                  </a:lnTo>
                  <a:lnTo>
                    <a:pt x="749061" y="14208"/>
                  </a:lnTo>
                  <a:lnTo>
                    <a:pt x="759458" y="29628"/>
                  </a:lnTo>
                  <a:lnTo>
                    <a:pt x="763270" y="48513"/>
                  </a:lnTo>
                  <a:lnTo>
                    <a:pt x="763270" y="436117"/>
                  </a:lnTo>
                  <a:lnTo>
                    <a:pt x="759458" y="455003"/>
                  </a:lnTo>
                  <a:lnTo>
                    <a:pt x="749061" y="470423"/>
                  </a:lnTo>
                  <a:lnTo>
                    <a:pt x="733641" y="480820"/>
                  </a:lnTo>
                  <a:lnTo>
                    <a:pt x="714755" y="484631"/>
                  </a:lnTo>
                  <a:lnTo>
                    <a:pt x="48514" y="484631"/>
                  </a:lnTo>
                  <a:lnTo>
                    <a:pt x="29628" y="480820"/>
                  </a:lnTo>
                  <a:lnTo>
                    <a:pt x="14208" y="470423"/>
                  </a:lnTo>
                  <a:lnTo>
                    <a:pt x="3811" y="455003"/>
                  </a:lnTo>
                  <a:lnTo>
                    <a:pt x="0" y="436117"/>
                  </a:lnTo>
                  <a:lnTo>
                    <a:pt x="0" y="4851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68"/>
            <p:cNvSpPr/>
            <p:nvPr/>
          </p:nvSpPr>
          <p:spPr>
            <a:xfrm>
              <a:off x="4387722" y="3222625"/>
              <a:ext cx="763270" cy="485140"/>
            </a:xfrm>
            <a:custGeom>
              <a:rect b="b" l="l" r="r" t="t"/>
              <a:pathLst>
                <a:path extrusionOk="0" h="485139" w="763270">
                  <a:moveTo>
                    <a:pt x="714755" y="0"/>
                  </a:moveTo>
                  <a:lnTo>
                    <a:pt x="48513" y="0"/>
                  </a:lnTo>
                  <a:lnTo>
                    <a:pt x="29628" y="3810"/>
                  </a:lnTo>
                  <a:lnTo>
                    <a:pt x="14208" y="14192"/>
                  </a:lnTo>
                  <a:lnTo>
                    <a:pt x="3811" y="29575"/>
                  </a:lnTo>
                  <a:lnTo>
                    <a:pt x="0" y="48387"/>
                  </a:lnTo>
                  <a:lnTo>
                    <a:pt x="0" y="436118"/>
                  </a:lnTo>
                  <a:lnTo>
                    <a:pt x="3811" y="455003"/>
                  </a:lnTo>
                  <a:lnTo>
                    <a:pt x="14208" y="470423"/>
                  </a:lnTo>
                  <a:lnTo>
                    <a:pt x="29628" y="480820"/>
                  </a:lnTo>
                  <a:lnTo>
                    <a:pt x="48513" y="484631"/>
                  </a:lnTo>
                  <a:lnTo>
                    <a:pt x="714755" y="484631"/>
                  </a:lnTo>
                  <a:lnTo>
                    <a:pt x="733641" y="480820"/>
                  </a:lnTo>
                  <a:lnTo>
                    <a:pt x="749061" y="470423"/>
                  </a:lnTo>
                  <a:lnTo>
                    <a:pt x="759458" y="455003"/>
                  </a:lnTo>
                  <a:lnTo>
                    <a:pt x="763269" y="436118"/>
                  </a:lnTo>
                  <a:lnTo>
                    <a:pt x="763269" y="48387"/>
                  </a:lnTo>
                  <a:lnTo>
                    <a:pt x="759458" y="29575"/>
                  </a:lnTo>
                  <a:lnTo>
                    <a:pt x="749061" y="14192"/>
                  </a:lnTo>
                  <a:lnTo>
                    <a:pt x="733641" y="3810"/>
                  </a:lnTo>
                  <a:lnTo>
                    <a:pt x="714755"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68"/>
            <p:cNvSpPr/>
            <p:nvPr/>
          </p:nvSpPr>
          <p:spPr>
            <a:xfrm>
              <a:off x="4387722" y="3222625"/>
              <a:ext cx="763270" cy="485140"/>
            </a:xfrm>
            <a:custGeom>
              <a:rect b="b" l="l" r="r" t="t"/>
              <a:pathLst>
                <a:path extrusionOk="0" h="485139" w="763270">
                  <a:moveTo>
                    <a:pt x="0" y="48387"/>
                  </a:moveTo>
                  <a:lnTo>
                    <a:pt x="3811" y="29575"/>
                  </a:lnTo>
                  <a:lnTo>
                    <a:pt x="14208" y="14192"/>
                  </a:lnTo>
                  <a:lnTo>
                    <a:pt x="29628" y="3810"/>
                  </a:lnTo>
                  <a:lnTo>
                    <a:pt x="48513" y="0"/>
                  </a:lnTo>
                  <a:lnTo>
                    <a:pt x="714755" y="0"/>
                  </a:lnTo>
                  <a:lnTo>
                    <a:pt x="733641" y="3810"/>
                  </a:lnTo>
                  <a:lnTo>
                    <a:pt x="749061" y="14192"/>
                  </a:lnTo>
                  <a:lnTo>
                    <a:pt x="759458" y="29575"/>
                  </a:lnTo>
                  <a:lnTo>
                    <a:pt x="763269" y="48387"/>
                  </a:lnTo>
                  <a:lnTo>
                    <a:pt x="763269" y="436118"/>
                  </a:lnTo>
                  <a:lnTo>
                    <a:pt x="759458" y="455003"/>
                  </a:lnTo>
                  <a:lnTo>
                    <a:pt x="749061" y="470423"/>
                  </a:lnTo>
                  <a:lnTo>
                    <a:pt x="733641" y="480820"/>
                  </a:lnTo>
                  <a:lnTo>
                    <a:pt x="714755" y="484631"/>
                  </a:lnTo>
                  <a:lnTo>
                    <a:pt x="48513" y="484631"/>
                  </a:lnTo>
                  <a:lnTo>
                    <a:pt x="29628" y="480820"/>
                  </a:lnTo>
                  <a:lnTo>
                    <a:pt x="14208" y="470423"/>
                  </a:lnTo>
                  <a:lnTo>
                    <a:pt x="3811"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68"/>
            <p:cNvSpPr/>
            <p:nvPr/>
          </p:nvSpPr>
          <p:spPr>
            <a:xfrm>
              <a:off x="4472558" y="3303143"/>
              <a:ext cx="763270" cy="485140"/>
            </a:xfrm>
            <a:custGeom>
              <a:rect b="b" l="l" r="r" t="t"/>
              <a:pathLst>
                <a:path extrusionOk="0" h="485139" w="763270">
                  <a:moveTo>
                    <a:pt x="714755" y="0"/>
                  </a:moveTo>
                  <a:lnTo>
                    <a:pt x="48513" y="0"/>
                  </a:lnTo>
                  <a:lnTo>
                    <a:pt x="29628" y="3811"/>
                  </a:lnTo>
                  <a:lnTo>
                    <a:pt x="14208" y="14208"/>
                  </a:lnTo>
                  <a:lnTo>
                    <a:pt x="3811" y="29628"/>
                  </a:lnTo>
                  <a:lnTo>
                    <a:pt x="0" y="48514"/>
                  </a:lnTo>
                  <a:lnTo>
                    <a:pt x="0" y="436245"/>
                  </a:lnTo>
                  <a:lnTo>
                    <a:pt x="3811" y="455056"/>
                  </a:lnTo>
                  <a:lnTo>
                    <a:pt x="14208" y="470439"/>
                  </a:lnTo>
                  <a:lnTo>
                    <a:pt x="29628" y="480822"/>
                  </a:lnTo>
                  <a:lnTo>
                    <a:pt x="48513" y="484632"/>
                  </a:lnTo>
                  <a:lnTo>
                    <a:pt x="714755" y="484632"/>
                  </a:lnTo>
                  <a:lnTo>
                    <a:pt x="733641" y="480822"/>
                  </a:lnTo>
                  <a:lnTo>
                    <a:pt x="749061" y="470439"/>
                  </a:lnTo>
                  <a:lnTo>
                    <a:pt x="759458" y="455056"/>
                  </a:lnTo>
                  <a:lnTo>
                    <a:pt x="763269" y="436245"/>
                  </a:lnTo>
                  <a:lnTo>
                    <a:pt x="763269" y="48514"/>
                  </a:lnTo>
                  <a:lnTo>
                    <a:pt x="759458" y="29628"/>
                  </a:lnTo>
                  <a:lnTo>
                    <a:pt x="749061" y="14208"/>
                  </a:lnTo>
                  <a:lnTo>
                    <a:pt x="733641" y="3811"/>
                  </a:lnTo>
                  <a:lnTo>
                    <a:pt x="714755"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68"/>
            <p:cNvSpPr/>
            <p:nvPr/>
          </p:nvSpPr>
          <p:spPr>
            <a:xfrm>
              <a:off x="4472558" y="3303143"/>
              <a:ext cx="763270" cy="485140"/>
            </a:xfrm>
            <a:custGeom>
              <a:rect b="b" l="l" r="r" t="t"/>
              <a:pathLst>
                <a:path extrusionOk="0" h="485139" w="763270">
                  <a:moveTo>
                    <a:pt x="0" y="48514"/>
                  </a:moveTo>
                  <a:lnTo>
                    <a:pt x="3811" y="29628"/>
                  </a:lnTo>
                  <a:lnTo>
                    <a:pt x="14208" y="14208"/>
                  </a:lnTo>
                  <a:lnTo>
                    <a:pt x="29628" y="3811"/>
                  </a:lnTo>
                  <a:lnTo>
                    <a:pt x="48513" y="0"/>
                  </a:lnTo>
                  <a:lnTo>
                    <a:pt x="714755" y="0"/>
                  </a:lnTo>
                  <a:lnTo>
                    <a:pt x="733641" y="3811"/>
                  </a:lnTo>
                  <a:lnTo>
                    <a:pt x="749061" y="14208"/>
                  </a:lnTo>
                  <a:lnTo>
                    <a:pt x="759458" y="29628"/>
                  </a:lnTo>
                  <a:lnTo>
                    <a:pt x="763269" y="48514"/>
                  </a:lnTo>
                  <a:lnTo>
                    <a:pt x="763269" y="436245"/>
                  </a:lnTo>
                  <a:lnTo>
                    <a:pt x="759458" y="455056"/>
                  </a:lnTo>
                  <a:lnTo>
                    <a:pt x="749061" y="470439"/>
                  </a:lnTo>
                  <a:lnTo>
                    <a:pt x="733641" y="480822"/>
                  </a:lnTo>
                  <a:lnTo>
                    <a:pt x="714755" y="484632"/>
                  </a:lnTo>
                  <a:lnTo>
                    <a:pt x="48513" y="484632"/>
                  </a:lnTo>
                  <a:lnTo>
                    <a:pt x="29628" y="480822"/>
                  </a:lnTo>
                  <a:lnTo>
                    <a:pt x="14208" y="470439"/>
                  </a:lnTo>
                  <a:lnTo>
                    <a:pt x="3811" y="455056"/>
                  </a:lnTo>
                  <a:lnTo>
                    <a:pt x="0" y="436245"/>
                  </a:lnTo>
                  <a:lnTo>
                    <a:pt x="0" y="48514"/>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0" name="Google Shape;660;p68"/>
          <p:cNvSpPr txBox="1"/>
          <p:nvPr/>
        </p:nvSpPr>
        <p:spPr>
          <a:xfrm>
            <a:off x="4688840" y="3438270"/>
            <a:ext cx="332105" cy="1936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1100">
                <a:solidFill>
                  <a:schemeClr val="dk1"/>
                </a:solidFill>
                <a:latin typeface="Cambria"/>
                <a:ea typeface="Cambria"/>
                <a:cs typeface="Cambria"/>
                <a:sym typeface="Cambria"/>
              </a:rPr>
              <a:t>Oval</a:t>
            </a:r>
            <a:endParaRPr sz="1100">
              <a:solidFill>
                <a:schemeClr val="dk1"/>
              </a:solidFill>
              <a:latin typeface="Cambria"/>
              <a:ea typeface="Cambria"/>
              <a:cs typeface="Cambria"/>
              <a:sym typeface="Cambria"/>
            </a:endParaRPr>
          </a:p>
        </p:txBody>
      </p:sp>
      <p:grpSp>
        <p:nvGrpSpPr>
          <p:cNvPr id="661" name="Google Shape;661;p68"/>
          <p:cNvGrpSpPr/>
          <p:nvPr/>
        </p:nvGrpSpPr>
        <p:grpSpPr>
          <a:xfrm>
            <a:off x="4389882" y="3929253"/>
            <a:ext cx="848106" cy="565658"/>
            <a:chOff x="4389882" y="3929253"/>
            <a:chExt cx="848106" cy="565658"/>
          </a:xfrm>
        </p:grpSpPr>
        <p:sp>
          <p:nvSpPr>
            <p:cNvPr id="662" name="Google Shape;662;p68"/>
            <p:cNvSpPr/>
            <p:nvPr/>
          </p:nvSpPr>
          <p:spPr>
            <a:xfrm>
              <a:off x="4389882" y="3929253"/>
              <a:ext cx="763270" cy="485140"/>
            </a:xfrm>
            <a:custGeom>
              <a:rect b="b" l="l" r="r" t="t"/>
              <a:pathLst>
                <a:path extrusionOk="0" h="485139" w="763270">
                  <a:moveTo>
                    <a:pt x="714755" y="0"/>
                  </a:moveTo>
                  <a:lnTo>
                    <a:pt x="48387" y="0"/>
                  </a:lnTo>
                  <a:lnTo>
                    <a:pt x="29575" y="3810"/>
                  </a:lnTo>
                  <a:lnTo>
                    <a:pt x="14192" y="14192"/>
                  </a:lnTo>
                  <a:lnTo>
                    <a:pt x="3810" y="29575"/>
                  </a:lnTo>
                  <a:lnTo>
                    <a:pt x="0" y="48387"/>
                  </a:lnTo>
                  <a:lnTo>
                    <a:pt x="0" y="436118"/>
                  </a:lnTo>
                  <a:lnTo>
                    <a:pt x="3810" y="455003"/>
                  </a:lnTo>
                  <a:lnTo>
                    <a:pt x="14192" y="470423"/>
                  </a:lnTo>
                  <a:lnTo>
                    <a:pt x="29575" y="480820"/>
                  </a:lnTo>
                  <a:lnTo>
                    <a:pt x="48387" y="484632"/>
                  </a:lnTo>
                  <a:lnTo>
                    <a:pt x="714755" y="484632"/>
                  </a:lnTo>
                  <a:lnTo>
                    <a:pt x="733621" y="480820"/>
                  </a:lnTo>
                  <a:lnTo>
                    <a:pt x="748998" y="470423"/>
                  </a:lnTo>
                  <a:lnTo>
                    <a:pt x="759350" y="455003"/>
                  </a:lnTo>
                  <a:lnTo>
                    <a:pt x="763142" y="436118"/>
                  </a:lnTo>
                  <a:lnTo>
                    <a:pt x="763142" y="48387"/>
                  </a:lnTo>
                  <a:lnTo>
                    <a:pt x="759350" y="29575"/>
                  </a:lnTo>
                  <a:lnTo>
                    <a:pt x="748998" y="14192"/>
                  </a:lnTo>
                  <a:lnTo>
                    <a:pt x="733621" y="3810"/>
                  </a:lnTo>
                  <a:lnTo>
                    <a:pt x="714755" y="0"/>
                  </a:lnTo>
                  <a:close/>
                </a:path>
              </a:pathLst>
            </a:custGeom>
            <a:solidFill>
              <a:srgbClr val="FD8537"/>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68"/>
            <p:cNvSpPr/>
            <p:nvPr/>
          </p:nvSpPr>
          <p:spPr>
            <a:xfrm>
              <a:off x="4389882" y="3929253"/>
              <a:ext cx="763270" cy="485140"/>
            </a:xfrm>
            <a:custGeom>
              <a:rect b="b" l="l" r="r" t="t"/>
              <a:pathLst>
                <a:path extrusionOk="0" h="485139" w="763270">
                  <a:moveTo>
                    <a:pt x="0" y="48387"/>
                  </a:moveTo>
                  <a:lnTo>
                    <a:pt x="3810" y="29575"/>
                  </a:lnTo>
                  <a:lnTo>
                    <a:pt x="14192" y="14192"/>
                  </a:lnTo>
                  <a:lnTo>
                    <a:pt x="29575" y="3810"/>
                  </a:lnTo>
                  <a:lnTo>
                    <a:pt x="48387" y="0"/>
                  </a:lnTo>
                  <a:lnTo>
                    <a:pt x="714755" y="0"/>
                  </a:lnTo>
                  <a:lnTo>
                    <a:pt x="733621" y="3810"/>
                  </a:lnTo>
                  <a:lnTo>
                    <a:pt x="748998" y="14192"/>
                  </a:lnTo>
                  <a:lnTo>
                    <a:pt x="759350" y="29575"/>
                  </a:lnTo>
                  <a:lnTo>
                    <a:pt x="763142" y="48387"/>
                  </a:lnTo>
                  <a:lnTo>
                    <a:pt x="763142" y="436118"/>
                  </a:lnTo>
                  <a:lnTo>
                    <a:pt x="759350" y="455003"/>
                  </a:lnTo>
                  <a:lnTo>
                    <a:pt x="748998" y="470423"/>
                  </a:lnTo>
                  <a:lnTo>
                    <a:pt x="733621" y="480820"/>
                  </a:lnTo>
                  <a:lnTo>
                    <a:pt x="714755" y="484632"/>
                  </a:lnTo>
                  <a:lnTo>
                    <a:pt x="48387" y="484632"/>
                  </a:lnTo>
                  <a:lnTo>
                    <a:pt x="29575" y="480820"/>
                  </a:lnTo>
                  <a:lnTo>
                    <a:pt x="14192" y="470423"/>
                  </a:lnTo>
                  <a:lnTo>
                    <a:pt x="3810" y="455003"/>
                  </a:lnTo>
                  <a:lnTo>
                    <a:pt x="0" y="436118"/>
                  </a:lnTo>
                  <a:lnTo>
                    <a:pt x="0" y="48387"/>
                  </a:lnTo>
                  <a:close/>
                </a:path>
              </a:pathLst>
            </a:custGeom>
            <a:noFill/>
            <a:ln cap="flat" cmpd="sng" w="254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68"/>
            <p:cNvSpPr/>
            <p:nvPr/>
          </p:nvSpPr>
          <p:spPr>
            <a:xfrm>
              <a:off x="4474718" y="4009771"/>
              <a:ext cx="763270" cy="485140"/>
            </a:xfrm>
            <a:custGeom>
              <a:rect b="b" l="l" r="r" t="t"/>
              <a:pathLst>
                <a:path extrusionOk="0" h="485139" w="763270">
                  <a:moveTo>
                    <a:pt x="714756" y="0"/>
                  </a:moveTo>
                  <a:lnTo>
                    <a:pt x="48387" y="0"/>
                  </a:lnTo>
                  <a:lnTo>
                    <a:pt x="29521" y="3811"/>
                  </a:lnTo>
                  <a:lnTo>
                    <a:pt x="14144" y="14208"/>
                  </a:lnTo>
                  <a:lnTo>
                    <a:pt x="3792" y="29628"/>
                  </a:lnTo>
                  <a:lnTo>
                    <a:pt x="0" y="48513"/>
                  </a:lnTo>
                  <a:lnTo>
                    <a:pt x="0" y="436117"/>
                  </a:lnTo>
                  <a:lnTo>
                    <a:pt x="3792" y="455003"/>
                  </a:lnTo>
                  <a:lnTo>
                    <a:pt x="14144" y="470423"/>
                  </a:lnTo>
                  <a:lnTo>
                    <a:pt x="29521" y="480820"/>
                  </a:lnTo>
                  <a:lnTo>
                    <a:pt x="48387" y="484631"/>
                  </a:lnTo>
                  <a:lnTo>
                    <a:pt x="714756" y="484631"/>
                  </a:lnTo>
                  <a:lnTo>
                    <a:pt x="733567" y="480820"/>
                  </a:lnTo>
                  <a:lnTo>
                    <a:pt x="748950" y="470423"/>
                  </a:lnTo>
                  <a:lnTo>
                    <a:pt x="759333" y="455003"/>
                  </a:lnTo>
                  <a:lnTo>
                    <a:pt x="763143" y="436117"/>
                  </a:lnTo>
                  <a:lnTo>
                    <a:pt x="763143" y="48513"/>
                  </a:lnTo>
                  <a:lnTo>
                    <a:pt x="759333" y="29628"/>
                  </a:lnTo>
                  <a:lnTo>
                    <a:pt x="748950" y="14208"/>
                  </a:lnTo>
                  <a:lnTo>
                    <a:pt x="733567" y="3811"/>
                  </a:lnTo>
                  <a:lnTo>
                    <a:pt x="714756" y="0"/>
                  </a:lnTo>
                  <a:close/>
                </a:path>
              </a:pathLst>
            </a:custGeom>
            <a:solidFill>
              <a:srgbClr val="FFFFFF">
                <a:alpha val="89803"/>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68"/>
            <p:cNvSpPr/>
            <p:nvPr/>
          </p:nvSpPr>
          <p:spPr>
            <a:xfrm>
              <a:off x="4474718" y="4009771"/>
              <a:ext cx="763270" cy="485140"/>
            </a:xfrm>
            <a:custGeom>
              <a:rect b="b" l="l" r="r" t="t"/>
              <a:pathLst>
                <a:path extrusionOk="0" h="485139" w="763270">
                  <a:moveTo>
                    <a:pt x="0" y="48513"/>
                  </a:moveTo>
                  <a:lnTo>
                    <a:pt x="3792" y="29628"/>
                  </a:lnTo>
                  <a:lnTo>
                    <a:pt x="14144" y="14208"/>
                  </a:lnTo>
                  <a:lnTo>
                    <a:pt x="29521" y="3811"/>
                  </a:lnTo>
                  <a:lnTo>
                    <a:pt x="48387" y="0"/>
                  </a:lnTo>
                  <a:lnTo>
                    <a:pt x="714756" y="0"/>
                  </a:lnTo>
                  <a:lnTo>
                    <a:pt x="733567" y="3811"/>
                  </a:lnTo>
                  <a:lnTo>
                    <a:pt x="748950" y="14208"/>
                  </a:lnTo>
                  <a:lnTo>
                    <a:pt x="759333" y="29628"/>
                  </a:lnTo>
                  <a:lnTo>
                    <a:pt x="763143" y="48513"/>
                  </a:lnTo>
                  <a:lnTo>
                    <a:pt x="763143" y="436117"/>
                  </a:lnTo>
                  <a:lnTo>
                    <a:pt x="759333" y="455003"/>
                  </a:lnTo>
                  <a:lnTo>
                    <a:pt x="748950" y="470423"/>
                  </a:lnTo>
                  <a:lnTo>
                    <a:pt x="733567" y="480820"/>
                  </a:lnTo>
                  <a:lnTo>
                    <a:pt x="714756" y="484631"/>
                  </a:lnTo>
                  <a:lnTo>
                    <a:pt x="48387" y="484631"/>
                  </a:lnTo>
                  <a:lnTo>
                    <a:pt x="29521" y="480820"/>
                  </a:lnTo>
                  <a:lnTo>
                    <a:pt x="14144" y="470423"/>
                  </a:lnTo>
                  <a:lnTo>
                    <a:pt x="3792" y="455003"/>
                  </a:lnTo>
                  <a:lnTo>
                    <a:pt x="0" y="436117"/>
                  </a:lnTo>
                  <a:lnTo>
                    <a:pt x="0" y="48513"/>
                  </a:lnTo>
                  <a:close/>
                </a:path>
              </a:pathLst>
            </a:custGeom>
            <a:noFill/>
            <a:ln cap="flat" cmpd="sng" w="25400">
              <a:solidFill>
                <a:srgbClr val="FD853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6" name="Google Shape;666;p68"/>
          <p:cNvSpPr txBox="1"/>
          <p:nvPr/>
        </p:nvSpPr>
        <p:spPr>
          <a:xfrm>
            <a:off x="4651375" y="4145026"/>
            <a:ext cx="2374900" cy="1936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100">
                <a:solidFill>
                  <a:schemeClr val="dk1"/>
                </a:solidFill>
                <a:latin typeface="Cambria"/>
                <a:ea typeface="Cambria"/>
                <a:cs typeface="Cambria"/>
                <a:sym typeface="Cambria"/>
              </a:rPr>
              <a:t>Circle	Square</a:t>
            </a:r>
            <a:endParaRPr sz="1100">
              <a:solidFill>
                <a:schemeClr val="dk1"/>
              </a:solidFill>
              <a:latin typeface="Cambria"/>
              <a:ea typeface="Cambria"/>
              <a:cs typeface="Cambria"/>
              <a:sym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9"/>
          <p:cNvSpPr txBox="1"/>
          <p:nvPr>
            <p:ph type="title"/>
          </p:nvPr>
        </p:nvSpPr>
        <p:spPr>
          <a:xfrm>
            <a:off x="535940" y="896239"/>
            <a:ext cx="497459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S</a:t>
            </a:r>
            <a:r>
              <a:rPr lang="en-US" sz="2400"/>
              <a:t>TATIC </a:t>
            </a:r>
            <a:r>
              <a:rPr lang="en-US" sz="3000"/>
              <a:t>&amp; D</a:t>
            </a:r>
            <a:r>
              <a:rPr lang="en-US" sz="2400"/>
              <a:t>YNAMIC </a:t>
            </a:r>
            <a:r>
              <a:rPr lang="en-US" sz="3000"/>
              <a:t>B</a:t>
            </a:r>
            <a:r>
              <a:rPr lang="en-US" sz="2400"/>
              <a:t>INDING</a:t>
            </a:r>
            <a:endParaRPr sz="2400"/>
          </a:p>
        </p:txBody>
      </p:sp>
      <p:sp>
        <p:nvSpPr>
          <p:cNvPr id="672" name="Google Shape;672;p69"/>
          <p:cNvSpPr txBox="1"/>
          <p:nvPr/>
        </p:nvSpPr>
        <p:spPr>
          <a:xfrm>
            <a:off x="535940" y="1628978"/>
            <a:ext cx="6861809" cy="1967864"/>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Association of method definition to the method</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call is known as binding.</a:t>
            </a:r>
            <a:endParaRPr sz="24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2 types:</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static binding (also known as early binding).</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dynamic binding (also known as late binding).</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70"/>
          <p:cNvSpPr txBox="1"/>
          <p:nvPr>
            <p:ph type="title"/>
          </p:nvPr>
        </p:nvSpPr>
        <p:spPr>
          <a:xfrm>
            <a:off x="535940" y="896239"/>
            <a:ext cx="283908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S</a:t>
            </a:r>
            <a:r>
              <a:rPr lang="en-US" sz="2400"/>
              <a:t>TATIC </a:t>
            </a:r>
            <a:r>
              <a:rPr lang="en-US" sz="3000"/>
              <a:t>B</a:t>
            </a:r>
            <a:r>
              <a:rPr lang="en-US" sz="2400"/>
              <a:t>INDING</a:t>
            </a:r>
            <a:endParaRPr sz="2400"/>
          </a:p>
        </p:txBody>
      </p:sp>
      <p:sp>
        <p:nvSpPr>
          <p:cNvPr id="678" name="Google Shape;678;p70"/>
          <p:cNvSpPr txBox="1"/>
          <p:nvPr/>
        </p:nvSpPr>
        <p:spPr>
          <a:xfrm>
            <a:off x="535940" y="1628978"/>
            <a:ext cx="7291705" cy="4661535"/>
          </a:xfrm>
          <a:prstGeom prst="rect">
            <a:avLst/>
          </a:prstGeom>
          <a:noFill/>
          <a:ln>
            <a:noFill/>
          </a:ln>
        </p:spPr>
        <p:txBody>
          <a:bodyPr anchorCtr="0" anchor="t" bIns="0" lIns="0" spcFirstLastPara="1" rIns="0" wrap="square" tIns="127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The binding which can be resolved at compile</a:t>
            </a:r>
            <a:endParaRPr sz="2400">
              <a:solidFill>
                <a:schemeClr val="dk1"/>
              </a:solidFill>
              <a:latin typeface="Cambria"/>
              <a:ea typeface="Cambria"/>
              <a:cs typeface="Cambria"/>
              <a:sym typeface="Cambria"/>
            </a:endParaRPr>
          </a:p>
          <a:p>
            <a:pPr indent="0" lvl="0" marL="285115" marR="0" rtl="0" algn="l">
              <a:lnSpc>
                <a:spcPct val="100000"/>
              </a:lnSpc>
              <a:spcBef>
                <a:spcPts val="0"/>
              </a:spcBef>
              <a:spcAft>
                <a:spcPts val="0"/>
              </a:spcAft>
              <a:buNone/>
            </a:pPr>
            <a:r>
              <a:rPr lang="en-US" sz="2400">
                <a:solidFill>
                  <a:schemeClr val="dk1"/>
                </a:solidFill>
                <a:latin typeface="Cambria"/>
                <a:ea typeface="Cambria"/>
                <a:cs typeface="Cambria"/>
                <a:sym typeface="Cambria"/>
              </a:rPr>
              <a:t>time by compiler is known as static.	Or</a:t>
            </a:r>
            <a:endParaRPr sz="2400">
              <a:solidFill>
                <a:schemeClr val="dk1"/>
              </a:solidFill>
              <a:latin typeface="Cambria"/>
              <a:ea typeface="Cambria"/>
              <a:cs typeface="Cambria"/>
              <a:sym typeface="Cambria"/>
            </a:endParaRPr>
          </a:p>
          <a:p>
            <a:pPr indent="-273050" lvl="0" marL="285115" marR="528955"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When type of the object is determined at  compiled time(by the compiler), it is known as  static binding.</a:t>
            </a:r>
            <a:endParaRPr sz="2400">
              <a:solidFill>
                <a:schemeClr val="dk1"/>
              </a:solidFill>
              <a:latin typeface="Cambria"/>
              <a:ea typeface="Cambria"/>
              <a:cs typeface="Cambria"/>
              <a:sym typeface="Cambria"/>
            </a:endParaRPr>
          </a:p>
          <a:p>
            <a:pPr indent="-273050" lvl="0" marL="285115" marR="623570" rtl="0" algn="l">
              <a:lnSpc>
                <a:spcPct val="119583"/>
              </a:lnSpc>
              <a:spcBef>
                <a:spcPts val="705"/>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All the static, private and final methods have  always been bonded at </a:t>
            </a:r>
            <a:r>
              <a:rPr b="1" lang="en-US" sz="2400">
                <a:solidFill>
                  <a:schemeClr val="dk1"/>
                </a:solidFill>
                <a:latin typeface="Cambria"/>
                <a:ea typeface="Cambria"/>
                <a:cs typeface="Cambria"/>
                <a:sym typeface="Cambria"/>
              </a:rPr>
              <a:t>compile-time </a:t>
            </a:r>
            <a:r>
              <a:rPr lang="en-US" sz="2400">
                <a:solidFill>
                  <a:schemeClr val="dk1"/>
                </a:solidFill>
                <a:latin typeface="Cambria"/>
                <a:ea typeface="Cambria"/>
                <a:cs typeface="Cambria"/>
                <a:sym typeface="Cambria"/>
              </a:rPr>
              <a:t>.</a:t>
            </a:r>
            <a:endParaRPr sz="2400">
              <a:solidFill>
                <a:schemeClr val="dk1"/>
              </a:solidFill>
              <a:latin typeface="Cambria"/>
              <a:ea typeface="Cambria"/>
              <a:cs typeface="Cambria"/>
              <a:sym typeface="Cambria"/>
            </a:endParaRPr>
          </a:p>
          <a:p>
            <a:pPr indent="-273685" lvl="1" marL="652780" marR="0" rtl="0" algn="l">
              <a:lnSpc>
                <a:spcPct val="100000"/>
              </a:lnSpc>
              <a:spcBef>
                <a:spcPts val="42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Why?</a:t>
            </a:r>
            <a:endParaRPr b="0" i="0" sz="2100" u="none" cap="none" strike="noStrike">
              <a:solidFill>
                <a:schemeClr val="dk1"/>
              </a:solidFill>
              <a:latin typeface="Cambria"/>
              <a:ea typeface="Cambria"/>
              <a:cs typeface="Cambria"/>
              <a:sym typeface="Cambria"/>
            </a:endParaRPr>
          </a:p>
          <a:p>
            <a:pPr indent="-182880" lvl="2" marL="927100" marR="5080" rtl="0" algn="l">
              <a:lnSpc>
                <a:spcPct val="100000"/>
              </a:lnSpc>
              <a:spcBef>
                <a:spcPts val="445"/>
              </a:spcBef>
              <a:spcAft>
                <a:spcPts val="0"/>
              </a:spcAft>
              <a:buClr>
                <a:srgbClr val="DF752E"/>
              </a:buClr>
              <a:buSzPts val="1050"/>
              <a:buFont typeface="Noto Sans Symbols"/>
              <a:buChar char="🞆"/>
            </a:pPr>
            <a:r>
              <a:rPr b="0" i="0" lang="en-US" sz="1800" u="none" cap="none" strike="noStrike">
                <a:solidFill>
                  <a:schemeClr val="dk1"/>
                </a:solidFill>
                <a:latin typeface="Cambria"/>
                <a:ea typeface="Cambria"/>
                <a:cs typeface="Cambria"/>
                <a:sym typeface="Cambria"/>
              </a:rPr>
              <a:t>Compiler knows that all such methods cannot be overridden  and will always be accessed by object of local class.</a:t>
            </a:r>
            <a:endParaRPr b="0" i="0" sz="1800" u="none" cap="none" strike="noStrike">
              <a:solidFill>
                <a:schemeClr val="dk1"/>
              </a:solidFill>
              <a:latin typeface="Cambria"/>
              <a:ea typeface="Cambria"/>
              <a:cs typeface="Cambria"/>
              <a:sym typeface="Cambria"/>
            </a:endParaRPr>
          </a:p>
          <a:p>
            <a:pPr indent="-182880" lvl="2" marL="927100" marR="476884" rtl="0" algn="l">
              <a:lnSpc>
                <a:spcPct val="100000"/>
              </a:lnSpc>
              <a:spcBef>
                <a:spcPts val="434"/>
              </a:spcBef>
              <a:spcAft>
                <a:spcPts val="0"/>
              </a:spcAft>
              <a:buClr>
                <a:srgbClr val="DF752E"/>
              </a:buClr>
              <a:buSzPts val="1050"/>
              <a:buFont typeface="Noto Sans Symbols"/>
              <a:buChar char="🞆"/>
            </a:pPr>
            <a:r>
              <a:rPr b="0" i="0" lang="en-US" sz="1800" u="none" cap="none" strike="noStrike">
                <a:solidFill>
                  <a:schemeClr val="dk1"/>
                </a:solidFill>
                <a:latin typeface="Cambria"/>
                <a:ea typeface="Cambria"/>
                <a:cs typeface="Cambria"/>
                <a:sym typeface="Cambria"/>
              </a:rPr>
              <a:t>Hence compiler doesn’t have any difficulty to determine  object of class (local class for sure).</a:t>
            </a:r>
            <a:endParaRPr b="0" i="0" sz="1800" u="none" cap="none" strike="noStrike">
              <a:solidFill>
                <a:schemeClr val="dk1"/>
              </a:solidFill>
              <a:latin typeface="Cambria"/>
              <a:ea typeface="Cambria"/>
              <a:cs typeface="Cambria"/>
              <a:sym typeface="Cambria"/>
            </a:endParaRPr>
          </a:p>
          <a:p>
            <a:pPr indent="-183515" lvl="2" marL="927100" marR="0" rtl="0" algn="l">
              <a:lnSpc>
                <a:spcPct val="100000"/>
              </a:lnSpc>
              <a:spcBef>
                <a:spcPts val="430"/>
              </a:spcBef>
              <a:spcAft>
                <a:spcPts val="0"/>
              </a:spcAft>
              <a:buClr>
                <a:srgbClr val="DF752E"/>
              </a:buClr>
              <a:buSzPts val="1050"/>
              <a:buFont typeface="Noto Sans Symbols"/>
              <a:buChar char="🞆"/>
            </a:pPr>
            <a:r>
              <a:rPr b="0" i="0" lang="en-US" sz="1800" u="none" cap="none" strike="noStrike">
                <a:solidFill>
                  <a:schemeClr val="dk1"/>
                </a:solidFill>
                <a:latin typeface="Cambria"/>
                <a:ea typeface="Cambria"/>
                <a:cs typeface="Cambria"/>
                <a:sym typeface="Cambria"/>
              </a:rPr>
              <a:t>That’s the reason binding for such methods is static.</a:t>
            </a:r>
            <a:endParaRPr b="0" i="0" sz="1800" u="none" cap="none" strike="noStrike">
              <a:solidFill>
                <a:schemeClr val="dk1"/>
              </a:solidFill>
              <a:latin typeface="Cambria"/>
              <a:ea typeface="Cambria"/>
              <a:cs typeface="Cambria"/>
              <a:sym typeface="Cambri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1"/>
          <p:cNvSpPr txBox="1"/>
          <p:nvPr>
            <p:ph type="title"/>
          </p:nvPr>
        </p:nvSpPr>
        <p:spPr>
          <a:xfrm>
            <a:off x="535940" y="896239"/>
            <a:ext cx="3237865"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D</a:t>
            </a:r>
            <a:r>
              <a:rPr lang="en-US" sz="2400"/>
              <a:t>YNAMIC </a:t>
            </a:r>
            <a:r>
              <a:rPr lang="en-US" sz="3000"/>
              <a:t>B</a:t>
            </a:r>
            <a:r>
              <a:rPr lang="en-US" sz="2400"/>
              <a:t>INDING</a:t>
            </a:r>
            <a:endParaRPr sz="2400"/>
          </a:p>
        </p:txBody>
      </p:sp>
      <p:sp>
        <p:nvSpPr>
          <p:cNvPr id="684" name="Google Shape;684;p71"/>
          <p:cNvSpPr txBox="1"/>
          <p:nvPr/>
        </p:nvSpPr>
        <p:spPr>
          <a:xfrm>
            <a:off x="535940" y="1628978"/>
            <a:ext cx="7302500" cy="3677920"/>
          </a:xfrm>
          <a:prstGeom prst="rect">
            <a:avLst/>
          </a:prstGeom>
          <a:noFill/>
          <a:ln>
            <a:noFill/>
          </a:ln>
        </p:spPr>
        <p:txBody>
          <a:bodyPr anchorCtr="0" anchor="t" bIns="0" lIns="0" spcFirstLastPara="1" rIns="0" wrap="square" tIns="12700">
            <a:spAutoFit/>
          </a:bodyPr>
          <a:lstStyle/>
          <a:p>
            <a:pPr indent="-273050" lvl="0" marL="285115" marR="81280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When compiler is not able to resolve the  call/binding at compile time, such binding is  known as Dynamic or late Binding.</a:t>
            </a:r>
            <a:endParaRPr sz="24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Example:	Overriding</a:t>
            </a:r>
            <a:endParaRPr sz="2400">
              <a:solidFill>
                <a:schemeClr val="dk1"/>
              </a:solidFill>
              <a:latin typeface="Cambria"/>
              <a:ea typeface="Cambria"/>
              <a:cs typeface="Cambria"/>
              <a:sym typeface="Cambria"/>
            </a:endParaRPr>
          </a:p>
          <a:p>
            <a:pPr indent="-273685" lvl="1" marL="652780" marR="5080"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in overriding both parent and child classes have same  method.</a:t>
            </a:r>
            <a:endParaRPr b="0" i="0" sz="2100" u="none" cap="none" strike="noStrike">
              <a:solidFill>
                <a:schemeClr val="dk1"/>
              </a:solidFill>
              <a:latin typeface="Cambria"/>
              <a:ea typeface="Cambria"/>
              <a:cs typeface="Cambria"/>
              <a:sym typeface="Cambria"/>
            </a:endParaRPr>
          </a:p>
          <a:p>
            <a:pPr indent="-273685" lvl="1" marL="652780" marR="644525" rtl="0" algn="l">
              <a:lnSpc>
                <a:spcPct val="100000"/>
              </a:lnSpc>
              <a:spcBef>
                <a:spcPts val="505"/>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Thus while calling the overridden method, the  compiler gets confused between parent and child  class method.</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9"/>
              </a:spcBef>
              <a:spcAft>
                <a:spcPts val="0"/>
              </a:spcAft>
              <a:buClr>
                <a:srgbClr val="FD8537"/>
              </a:buClr>
              <a:buSzPts val="1650"/>
              <a:buFont typeface="Quattrocento Sans"/>
              <a:buChar char="⚫"/>
            </a:pPr>
            <a:r>
              <a:rPr b="0" i="0" lang="en-US" sz="2100" u="none" cap="none" strike="noStrike">
                <a:solidFill>
                  <a:schemeClr val="dk1"/>
                </a:solidFill>
                <a:latin typeface="Cambria"/>
                <a:ea typeface="Cambria"/>
                <a:cs typeface="Cambria"/>
                <a:sym typeface="Cambria"/>
              </a:rPr>
              <a:t>The method is decided during runtime.</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2"/>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Spring 2024 Question 2</a:t>
            </a:r>
            <a:endParaRPr/>
          </a:p>
        </p:txBody>
      </p:sp>
      <p:pic>
        <p:nvPicPr>
          <p:cNvPr id="690" name="Google Shape;690;p72"/>
          <p:cNvPicPr preferRelativeResize="0"/>
          <p:nvPr/>
        </p:nvPicPr>
        <p:blipFill rotWithShape="1">
          <a:blip r:embed="rId3">
            <a:alphaModFix/>
          </a:blip>
          <a:srcRect b="0" l="0" r="0" t="0"/>
          <a:stretch/>
        </p:blipFill>
        <p:spPr>
          <a:xfrm>
            <a:off x="151138" y="1371600"/>
            <a:ext cx="8841723" cy="5154891"/>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73"/>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Spring 2024 Question 2</a:t>
            </a:r>
            <a:endParaRPr/>
          </a:p>
        </p:txBody>
      </p:sp>
      <p:pic>
        <p:nvPicPr>
          <p:cNvPr id="696" name="Google Shape;696;p73"/>
          <p:cNvPicPr preferRelativeResize="0"/>
          <p:nvPr/>
        </p:nvPicPr>
        <p:blipFill rotWithShape="1">
          <a:blip r:embed="rId3">
            <a:alphaModFix/>
          </a:blip>
          <a:srcRect b="0" l="0" r="0" t="0"/>
          <a:stretch/>
        </p:blipFill>
        <p:spPr>
          <a:xfrm>
            <a:off x="274002" y="1371600"/>
            <a:ext cx="3933825" cy="4772025"/>
          </a:xfrm>
          <a:prstGeom prst="rect">
            <a:avLst/>
          </a:prstGeom>
          <a:noFill/>
          <a:ln>
            <a:noFill/>
          </a:ln>
        </p:spPr>
      </p:pic>
      <p:pic>
        <p:nvPicPr>
          <p:cNvPr id="697" name="Google Shape;697;p73"/>
          <p:cNvPicPr preferRelativeResize="0"/>
          <p:nvPr/>
        </p:nvPicPr>
        <p:blipFill rotWithShape="1">
          <a:blip r:embed="rId4">
            <a:alphaModFix/>
          </a:blip>
          <a:srcRect b="0" l="0" r="0" t="0"/>
          <a:stretch/>
        </p:blipFill>
        <p:spPr>
          <a:xfrm>
            <a:off x="4204357" y="1676400"/>
            <a:ext cx="4257675" cy="38671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4"/>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Spring 2024 Question 4</a:t>
            </a:r>
            <a:endParaRPr/>
          </a:p>
        </p:txBody>
      </p:sp>
      <p:pic>
        <p:nvPicPr>
          <p:cNvPr id="703" name="Google Shape;703;p74"/>
          <p:cNvPicPr preferRelativeResize="0"/>
          <p:nvPr/>
        </p:nvPicPr>
        <p:blipFill rotWithShape="1">
          <a:blip r:embed="rId3">
            <a:alphaModFix/>
          </a:blip>
          <a:srcRect b="0" l="0" r="0" t="0"/>
          <a:stretch/>
        </p:blipFill>
        <p:spPr>
          <a:xfrm>
            <a:off x="381000" y="1447800"/>
            <a:ext cx="8116003" cy="500677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5"/>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Spring 2024 Question 4</a:t>
            </a:r>
            <a:endParaRPr/>
          </a:p>
        </p:txBody>
      </p:sp>
      <p:pic>
        <p:nvPicPr>
          <p:cNvPr id="709" name="Google Shape;709;p75"/>
          <p:cNvPicPr preferRelativeResize="0"/>
          <p:nvPr/>
        </p:nvPicPr>
        <p:blipFill rotWithShape="1">
          <a:blip r:embed="rId3">
            <a:alphaModFix/>
          </a:blip>
          <a:srcRect b="0" l="0" r="0" t="0"/>
          <a:stretch/>
        </p:blipFill>
        <p:spPr>
          <a:xfrm>
            <a:off x="563532" y="1497162"/>
            <a:ext cx="8016935" cy="38636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76"/>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Spring 2024 Question 4</a:t>
            </a:r>
            <a:endParaRPr/>
          </a:p>
        </p:txBody>
      </p:sp>
      <p:pic>
        <p:nvPicPr>
          <p:cNvPr id="715" name="Google Shape;715;p76"/>
          <p:cNvPicPr preferRelativeResize="0"/>
          <p:nvPr/>
        </p:nvPicPr>
        <p:blipFill rotWithShape="1">
          <a:blip r:embed="rId3">
            <a:alphaModFix/>
          </a:blip>
          <a:srcRect b="0" l="0" r="0" t="0"/>
          <a:stretch/>
        </p:blipFill>
        <p:spPr>
          <a:xfrm>
            <a:off x="304800" y="1371600"/>
            <a:ext cx="8383604" cy="51054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77"/>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1(b)</a:t>
            </a:r>
            <a:endParaRPr/>
          </a:p>
        </p:txBody>
      </p:sp>
      <p:pic>
        <p:nvPicPr>
          <p:cNvPr id="721" name="Google Shape;721;p77"/>
          <p:cNvPicPr preferRelativeResize="0"/>
          <p:nvPr/>
        </p:nvPicPr>
        <p:blipFill rotWithShape="1">
          <a:blip r:embed="rId3">
            <a:alphaModFix/>
          </a:blip>
          <a:srcRect b="0" l="0" r="0" t="0"/>
          <a:stretch/>
        </p:blipFill>
        <p:spPr>
          <a:xfrm>
            <a:off x="76200" y="1676400"/>
            <a:ext cx="8783353" cy="46482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78"/>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1(b)</a:t>
            </a:r>
            <a:endParaRPr/>
          </a:p>
        </p:txBody>
      </p:sp>
      <p:pic>
        <p:nvPicPr>
          <p:cNvPr id="727" name="Google Shape;727;p78"/>
          <p:cNvPicPr preferRelativeResize="0"/>
          <p:nvPr/>
        </p:nvPicPr>
        <p:blipFill rotWithShape="1">
          <a:blip r:embed="rId3">
            <a:alphaModFix/>
          </a:blip>
          <a:srcRect b="0" l="0" r="0" t="0"/>
          <a:stretch/>
        </p:blipFill>
        <p:spPr>
          <a:xfrm>
            <a:off x="3429000" y="5041393"/>
            <a:ext cx="2514818" cy="1257409"/>
          </a:xfrm>
          <a:prstGeom prst="rect">
            <a:avLst/>
          </a:prstGeom>
          <a:noFill/>
          <a:ln>
            <a:noFill/>
          </a:ln>
        </p:spPr>
      </p:pic>
      <p:pic>
        <p:nvPicPr>
          <p:cNvPr id="728" name="Google Shape;728;p78"/>
          <p:cNvPicPr preferRelativeResize="0"/>
          <p:nvPr/>
        </p:nvPicPr>
        <p:blipFill rotWithShape="1">
          <a:blip r:embed="rId4">
            <a:alphaModFix/>
          </a:blip>
          <a:srcRect b="0" l="0" r="0" t="0"/>
          <a:stretch/>
        </p:blipFill>
        <p:spPr>
          <a:xfrm>
            <a:off x="811204" y="1219200"/>
            <a:ext cx="7521592" cy="3482642"/>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79"/>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3</a:t>
            </a:r>
            <a:endParaRPr/>
          </a:p>
        </p:txBody>
      </p:sp>
      <p:pic>
        <p:nvPicPr>
          <p:cNvPr id="734" name="Google Shape;734;p79"/>
          <p:cNvPicPr preferRelativeResize="0"/>
          <p:nvPr/>
        </p:nvPicPr>
        <p:blipFill rotWithShape="1">
          <a:blip r:embed="rId3">
            <a:alphaModFix/>
          </a:blip>
          <a:srcRect b="0" l="0" r="0" t="0"/>
          <a:stretch/>
        </p:blipFill>
        <p:spPr>
          <a:xfrm>
            <a:off x="457200" y="2057400"/>
            <a:ext cx="8397968" cy="289585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80"/>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3</a:t>
            </a:r>
            <a:endParaRPr/>
          </a:p>
        </p:txBody>
      </p:sp>
      <p:pic>
        <p:nvPicPr>
          <p:cNvPr id="740" name="Google Shape;740;p80"/>
          <p:cNvPicPr preferRelativeResize="0"/>
          <p:nvPr/>
        </p:nvPicPr>
        <p:blipFill rotWithShape="1">
          <a:blip r:embed="rId3">
            <a:alphaModFix/>
          </a:blip>
          <a:srcRect b="0" l="0" r="0" t="0"/>
          <a:stretch/>
        </p:blipFill>
        <p:spPr>
          <a:xfrm>
            <a:off x="609695" y="1066800"/>
            <a:ext cx="7445385" cy="570025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81"/>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3</a:t>
            </a:r>
            <a:endParaRPr/>
          </a:p>
        </p:txBody>
      </p:sp>
      <p:pic>
        <p:nvPicPr>
          <p:cNvPr id="746" name="Google Shape;746;p81"/>
          <p:cNvPicPr preferRelativeResize="0"/>
          <p:nvPr/>
        </p:nvPicPr>
        <p:blipFill rotWithShape="1">
          <a:blip r:embed="rId3">
            <a:alphaModFix/>
          </a:blip>
          <a:srcRect b="0" l="0" r="0" t="0"/>
          <a:stretch/>
        </p:blipFill>
        <p:spPr>
          <a:xfrm>
            <a:off x="1447800" y="1219200"/>
            <a:ext cx="5867400" cy="533486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82"/>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3</a:t>
            </a:r>
            <a:endParaRPr/>
          </a:p>
        </p:txBody>
      </p:sp>
      <p:pic>
        <p:nvPicPr>
          <p:cNvPr id="752" name="Google Shape;752;p82"/>
          <p:cNvPicPr preferRelativeResize="0"/>
          <p:nvPr/>
        </p:nvPicPr>
        <p:blipFill rotWithShape="1">
          <a:blip r:embed="rId3">
            <a:alphaModFix/>
          </a:blip>
          <a:srcRect b="0" l="0" r="0" t="0"/>
          <a:stretch/>
        </p:blipFill>
        <p:spPr>
          <a:xfrm>
            <a:off x="914400" y="1371600"/>
            <a:ext cx="6954384" cy="5002637"/>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83"/>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3</a:t>
            </a:r>
            <a:endParaRPr/>
          </a:p>
        </p:txBody>
      </p:sp>
      <p:pic>
        <p:nvPicPr>
          <p:cNvPr id="758" name="Google Shape;758;p83"/>
          <p:cNvPicPr preferRelativeResize="0"/>
          <p:nvPr/>
        </p:nvPicPr>
        <p:blipFill rotWithShape="1">
          <a:blip r:embed="rId3">
            <a:alphaModFix/>
          </a:blip>
          <a:srcRect b="0" l="0" r="0" t="0"/>
          <a:stretch/>
        </p:blipFill>
        <p:spPr>
          <a:xfrm>
            <a:off x="371573" y="1752600"/>
            <a:ext cx="8300720" cy="2041161"/>
          </a:xfrm>
          <a:prstGeom prst="rect">
            <a:avLst/>
          </a:prstGeom>
          <a:noFill/>
          <a:ln>
            <a:noFill/>
          </a:ln>
        </p:spPr>
      </p:pic>
      <p:pic>
        <p:nvPicPr>
          <p:cNvPr id="759" name="Google Shape;759;p83"/>
          <p:cNvPicPr preferRelativeResize="0"/>
          <p:nvPr/>
        </p:nvPicPr>
        <p:blipFill rotWithShape="1">
          <a:blip r:embed="rId4">
            <a:alphaModFix/>
          </a:blip>
          <a:srcRect b="0" l="0" r="0" t="0"/>
          <a:stretch/>
        </p:blipFill>
        <p:spPr>
          <a:xfrm>
            <a:off x="2080493" y="4495800"/>
            <a:ext cx="4983014" cy="9906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84"/>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4</a:t>
            </a:r>
            <a:endParaRPr/>
          </a:p>
        </p:txBody>
      </p:sp>
      <p:pic>
        <p:nvPicPr>
          <p:cNvPr id="765" name="Google Shape;765;p84"/>
          <p:cNvPicPr preferRelativeResize="0"/>
          <p:nvPr/>
        </p:nvPicPr>
        <p:blipFill rotWithShape="1">
          <a:blip r:embed="rId3">
            <a:alphaModFix/>
          </a:blip>
          <a:srcRect b="0" l="0" r="0" t="0"/>
          <a:stretch/>
        </p:blipFill>
        <p:spPr>
          <a:xfrm>
            <a:off x="228600" y="1447800"/>
            <a:ext cx="8405588" cy="4953429"/>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85"/>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4</a:t>
            </a:r>
            <a:endParaRPr/>
          </a:p>
        </p:txBody>
      </p:sp>
      <p:pic>
        <p:nvPicPr>
          <p:cNvPr id="771" name="Google Shape;771;p85"/>
          <p:cNvPicPr preferRelativeResize="0"/>
          <p:nvPr/>
        </p:nvPicPr>
        <p:blipFill rotWithShape="1">
          <a:blip r:embed="rId3">
            <a:alphaModFix/>
          </a:blip>
          <a:srcRect b="0" l="0" r="0" t="0"/>
          <a:stretch/>
        </p:blipFill>
        <p:spPr>
          <a:xfrm>
            <a:off x="418707" y="1994476"/>
            <a:ext cx="7891911" cy="2869047"/>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86"/>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4</a:t>
            </a:r>
            <a:endParaRPr/>
          </a:p>
        </p:txBody>
      </p:sp>
      <p:pic>
        <p:nvPicPr>
          <p:cNvPr id="777" name="Google Shape;777;p86"/>
          <p:cNvPicPr preferRelativeResize="0"/>
          <p:nvPr/>
        </p:nvPicPr>
        <p:blipFill rotWithShape="1">
          <a:blip r:embed="rId3">
            <a:alphaModFix/>
          </a:blip>
          <a:srcRect b="0" l="0" r="0" t="0"/>
          <a:stretch/>
        </p:blipFill>
        <p:spPr>
          <a:xfrm>
            <a:off x="1219200" y="1385169"/>
            <a:ext cx="6400800" cy="493943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87"/>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4</a:t>
            </a:r>
            <a:endParaRPr/>
          </a:p>
        </p:txBody>
      </p:sp>
      <p:pic>
        <p:nvPicPr>
          <p:cNvPr id="783" name="Google Shape;783;p87"/>
          <p:cNvPicPr preferRelativeResize="0"/>
          <p:nvPr/>
        </p:nvPicPr>
        <p:blipFill rotWithShape="1">
          <a:blip r:embed="rId3">
            <a:alphaModFix/>
          </a:blip>
          <a:srcRect b="0" l="0" r="0" t="0"/>
          <a:stretch/>
        </p:blipFill>
        <p:spPr>
          <a:xfrm>
            <a:off x="1790700" y="1295400"/>
            <a:ext cx="5562600" cy="547741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88"/>
          <p:cNvSpPr txBox="1"/>
          <p:nvPr>
            <p:ph type="title"/>
          </p:nvPr>
        </p:nvSpPr>
        <p:spPr>
          <a:xfrm>
            <a:off x="381000" y="533400"/>
            <a:ext cx="7653655" cy="34624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a:t>Fall 2023 Question 4</a:t>
            </a:r>
            <a:endParaRPr/>
          </a:p>
        </p:txBody>
      </p:sp>
      <p:pic>
        <p:nvPicPr>
          <p:cNvPr id="789" name="Google Shape;789;p88"/>
          <p:cNvPicPr preferRelativeResize="0"/>
          <p:nvPr/>
        </p:nvPicPr>
        <p:blipFill rotWithShape="1">
          <a:blip r:embed="rId3">
            <a:alphaModFix/>
          </a:blip>
          <a:srcRect b="0" l="0" r="0" t="0"/>
          <a:stretch/>
        </p:blipFill>
        <p:spPr>
          <a:xfrm>
            <a:off x="1521133" y="1905000"/>
            <a:ext cx="6101733" cy="1851715"/>
          </a:xfrm>
          <a:prstGeom prst="rect">
            <a:avLst/>
          </a:prstGeom>
          <a:noFill/>
          <a:ln>
            <a:noFill/>
          </a:ln>
        </p:spPr>
      </p:pic>
      <p:pic>
        <p:nvPicPr>
          <p:cNvPr id="790" name="Google Shape;790;p88"/>
          <p:cNvPicPr preferRelativeResize="0"/>
          <p:nvPr/>
        </p:nvPicPr>
        <p:blipFill rotWithShape="1">
          <a:blip r:embed="rId4">
            <a:alphaModFix/>
          </a:blip>
          <a:srcRect b="0" l="0" r="0" t="0"/>
          <a:stretch/>
        </p:blipFill>
        <p:spPr>
          <a:xfrm>
            <a:off x="3124200" y="4270975"/>
            <a:ext cx="2762660" cy="1022182"/>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89"/>
          <p:cNvSpPr txBox="1"/>
          <p:nvPr>
            <p:ph type="title"/>
          </p:nvPr>
        </p:nvSpPr>
        <p:spPr>
          <a:xfrm>
            <a:off x="535940" y="896239"/>
            <a:ext cx="2070100"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000"/>
              <a:t>R</a:t>
            </a:r>
            <a:r>
              <a:rPr lang="en-US" sz="2400"/>
              <a:t>EFERENCE</a:t>
            </a:r>
            <a:endParaRPr sz="2400"/>
          </a:p>
        </p:txBody>
      </p:sp>
      <p:sp>
        <p:nvSpPr>
          <p:cNvPr id="796" name="Google Shape;796;p89"/>
          <p:cNvSpPr txBox="1"/>
          <p:nvPr/>
        </p:nvSpPr>
        <p:spPr>
          <a:xfrm>
            <a:off x="535940" y="1552763"/>
            <a:ext cx="5837555" cy="2062480"/>
          </a:xfrm>
          <a:prstGeom prst="rect">
            <a:avLst/>
          </a:prstGeom>
          <a:noFill/>
          <a:ln>
            <a:noFill/>
          </a:ln>
        </p:spPr>
        <p:txBody>
          <a:bodyPr anchorCtr="0" anchor="t" bIns="0" lIns="0" spcFirstLastPara="1" rIns="0" wrap="square" tIns="88900">
            <a:spAutoFit/>
          </a:bodyPr>
          <a:lstStyle/>
          <a:p>
            <a:pPr indent="-273050" lvl="0" marL="285115" marR="0" rtl="0" algn="l">
              <a:lnSpc>
                <a:spcPct val="100000"/>
              </a:lnSpc>
              <a:spcBef>
                <a:spcPts val="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Java:Complete Reference Chapter 7,8</a:t>
            </a:r>
            <a:endParaRPr sz="2400">
              <a:solidFill>
                <a:schemeClr val="dk1"/>
              </a:solidFill>
              <a:latin typeface="Cambria"/>
              <a:ea typeface="Cambria"/>
              <a:cs typeface="Cambria"/>
              <a:sym typeface="Cambria"/>
            </a:endParaRPr>
          </a:p>
          <a:p>
            <a:pPr indent="-273050" lvl="0" marL="285115" marR="0" rtl="0" algn="l">
              <a:lnSpc>
                <a:spcPct val="100000"/>
              </a:lnSpc>
              <a:spcBef>
                <a:spcPts val="600"/>
              </a:spcBef>
              <a:spcAft>
                <a:spcPts val="0"/>
              </a:spcAft>
              <a:buClr>
                <a:srgbClr val="FD8537"/>
              </a:buClr>
              <a:buSzPts val="1650"/>
              <a:buFont typeface="Noto Sans Symbols"/>
              <a:buChar char="🞆"/>
            </a:pPr>
            <a:r>
              <a:rPr lang="en-US" sz="2400">
                <a:solidFill>
                  <a:schemeClr val="dk1"/>
                </a:solidFill>
                <a:latin typeface="Cambria"/>
                <a:ea typeface="Cambria"/>
                <a:cs typeface="Cambria"/>
                <a:sym typeface="Cambria"/>
              </a:rPr>
              <a:t>Online Reference:</a:t>
            </a:r>
            <a:endParaRPr sz="2400">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sng" cap="none" strike="noStrike">
                <a:solidFill>
                  <a:srgbClr val="D2601C"/>
                </a:solidFill>
                <a:latin typeface="Cambria"/>
                <a:ea typeface="Cambria"/>
                <a:cs typeface="Cambria"/>
                <a:sym typeface="Cambria"/>
                <a:hlinkClick r:id="rId3">
                  <a:extLst>
                    <a:ext uri="{A12FA001-AC4F-418D-AE19-62706E023703}">
                      <ahyp:hlinkClr val="tx"/>
                    </a:ext>
                  </a:extLst>
                </a:hlinkClick>
              </a:rPr>
              <a:t>http://www.javatpoint.com/super-keyword</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sng" cap="none" strike="noStrike">
                <a:solidFill>
                  <a:srgbClr val="D2601C"/>
                </a:solidFill>
                <a:latin typeface="Cambria"/>
                <a:ea typeface="Cambria"/>
                <a:cs typeface="Cambria"/>
                <a:sym typeface="Cambria"/>
                <a:hlinkClick r:id="rId4">
                  <a:extLst>
                    <a:ext uri="{A12FA001-AC4F-418D-AE19-62706E023703}">
                      <ahyp:hlinkClr val="tx"/>
                    </a:ext>
                  </a:extLst>
                </a:hlinkClick>
              </a:rPr>
              <a:t>https://www.tutorialspoint.com/java/</a:t>
            </a:r>
            <a:endParaRPr b="0" i="0" sz="2100" u="none" cap="none" strike="noStrike">
              <a:solidFill>
                <a:schemeClr val="dk1"/>
              </a:solidFill>
              <a:latin typeface="Cambria"/>
              <a:ea typeface="Cambria"/>
              <a:cs typeface="Cambria"/>
              <a:sym typeface="Cambria"/>
            </a:endParaRPr>
          </a:p>
          <a:p>
            <a:pPr indent="-273685" lvl="1" marL="652780" marR="0" rtl="0" algn="l">
              <a:lnSpc>
                <a:spcPct val="100000"/>
              </a:lnSpc>
              <a:spcBef>
                <a:spcPts val="505"/>
              </a:spcBef>
              <a:spcAft>
                <a:spcPts val="0"/>
              </a:spcAft>
              <a:buClr>
                <a:srgbClr val="FD8537"/>
              </a:buClr>
              <a:buSzPts val="1650"/>
              <a:buFont typeface="Quattrocento Sans"/>
              <a:buChar char="⚫"/>
            </a:pPr>
            <a:r>
              <a:rPr b="0" i="0" lang="en-US" sz="2100" u="sng" cap="none" strike="noStrike">
                <a:solidFill>
                  <a:srgbClr val="D2601C"/>
                </a:solidFill>
                <a:latin typeface="Cambria"/>
                <a:ea typeface="Cambria"/>
                <a:cs typeface="Cambria"/>
                <a:sym typeface="Cambria"/>
                <a:hlinkClick r:id="rId5">
                  <a:extLst>
                    <a:ext uri="{A12FA001-AC4F-418D-AE19-62706E023703}">
                      <ahyp:hlinkClr val="tx"/>
                    </a:ext>
                  </a:extLst>
                </a:hlinkClick>
              </a:rPr>
              <a:t>https://docs.oracle.com/javase/tutorial/</a:t>
            </a:r>
            <a:endParaRPr b="0" i="0" sz="2100" u="none" cap="none" strike="noStrike">
              <a:solidFill>
                <a:schemeClr val="dk1"/>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2601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2023-09-19T16:30:57Z</dcterms:created>
  <dc:creator>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2017-10-08T00:00:00Z</vt:filetime>
  </property>
  <property fmtid="{D5CDD505-2E9C-101B-9397-08002B2CF9AE}" pid="3" name="Creator">
    <vt:lpwstr>Microsoft® PowerPoint® 2010</vt:lpwstr>
  </property>
  <property fmtid="{D5CDD505-2E9C-101B-9397-08002B2CF9AE}" pid="4" name="LastSaved">
    <vt:filetime>2023-09-19T00:00:00Z</vt:filetime>
  </property>
</Properties>
</file>