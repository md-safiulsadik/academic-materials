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293" r:id="rId5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92934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365125"/>
          </a:xfrm>
          <a:custGeom>
            <a:avLst/>
            <a:gdLst/>
            <a:ahLst/>
            <a:cxnLst/>
            <a:rect l="l" t="t" r="r" b="b"/>
            <a:pathLst>
              <a:path w="9144000" h="365125">
                <a:moveTo>
                  <a:pt x="9144000" y="0"/>
                </a:moveTo>
                <a:lnTo>
                  <a:pt x="0" y="0"/>
                </a:lnTo>
                <a:lnTo>
                  <a:pt x="0" y="365125"/>
                </a:lnTo>
                <a:lnTo>
                  <a:pt x="9144000" y="365125"/>
                </a:lnTo>
                <a:lnTo>
                  <a:pt x="9144000" y="0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55117"/>
            <a:ext cx="8072119" cy="1123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D2523B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52923"/>
            <a:ext cx="7785100" cy="3942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92934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yyU3bXyc_oU" TargetMode="External"/><Relationship Id="rId2" Type="http://schemas.openxmlformats.org/officeDocument/2006/relationships/hyperlink" Target="https://www.youtube.com/watch?v=1Q4I63-hKc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3398901"/>
            <a:ext cx="7848600" cy="1905"/>
          </a:xfrm>
          <a:custGeom>
            <a:avLst/>
            <a:gdLst/>
            <a:ahLst/>
            <a:cxnLst/>
            <a:rect l="l" t="t" r="r" b="b"/>
            <a:pathLst>
              <a:path w="7848600" h="1904">
                <a:moveTo>
                  <a:pt x="0" y="0"/>
                </a:moveTo>
                <a:lnTo>
                  <a:pt x="7848600" y="1524"/>
                </a:lnTo>
              </a:path>
            </a:pathLst>
          </a:custGeom>
          <a:ln w="19050">
            <a:solidFill>
              <a:srgbClr val="D2523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4540" y="1518615"/>
            <a:ext cx="4972050" cy="1367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4400" spc="-95" dirty="0"/>
              <a:t>ABS</a:t>
            </a:r>
            <a:r>
              <a:rPr sz="4400" spc="-100" dirty="0"/>
              <a:t>TR</a:t>
            </a:r>
            <a:r>
              <a:rPr sz="4400" spc="-95" dirty="0"/>
              <a:t>A</a:t>
            </a:r>
            <a:r>
              <a:rPr sz="4400" spc="-110" dirty="0"/>
              <a:t>C</a:t>
            </a:r>
            <a:r>
              <a:rPr sz="4400" dirty="0"/>
              <a:t>T</a:t>
            </a:r>
            <a:r>
              <a:rPr sz="4400" spc="-260" dirty="0"/>
              <a:t> </a:t>
            </a:r>
            <a:r>
              <a:rPr sz="4400" spc="-100" dirty="0"/>
              <a:t>CL</a:t>
            </a:r>
            <a:r>
              <a:rPr sz="4400" spc="-95" dirty="0"/>
              <a:t>ASS</a:t>
            </a:r>
            <a:r>
              <a:rPr sz="4400" dirty="0"/>
              <a:t>,  </a:t>
            </a:r>
            <a:r>
              <a:rPr sz="4400" spc="-114" dirty="0"/>
              <a:t>INTERFACE</a:t>
            </a:r>
            <a:endParaRPr sz="440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BF49A50-FF0F-B7A1-B295-46126D44A84A}"/>
              </a:ext>
            </a:extLst>
          </p:cNvPr>
          <p:cNvSpPr txBox="1">
            <a:spLocks/>
          </p:cNvSpPr>
          <p:nvPr/>
        </p:nvSpPr>
        <p:spPr>
          <a:xfrm>
            <a:off x="533400" y="5304167"/>
            <a:ext cx="2622100" cy="94704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47016601-0C5B-4D06-D8A8-F78D6673212F}"/>
              </a:ext>
            </a:extLst>
          </p:cNvPr>
          <p:cNvSpPr txBox="1"/>
          <p:nvPr/>
        </p:nvSpPr>
        <p:spPr>
          <a:xfrm>
            <a:off x="5181600" y="6400800"/>
            <a:ext cx="37338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29323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Mean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40" dirty="0"/>
              <a:t> </a:t>
            </a:r>
            <a:r>
              <a:rPr sz="4000" spc="-105" dirty="0"/>
              <a:t>o</a:t>
            </a:r>
            <a:r>
              <a:rPr sz="4000" spc="-5" dirty="0"/>
              <a:t>f</a:t>
            </a:r>
            <a:r>
              <a:rPr sz="4000" spc="-365" dirty="0"/>
              <a:t> </a:t>
            </a: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7312025" cy="224599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Adjective</a:t>
            </a:r>
            <a:endParaRPr sz="2400">
              <a:latin typeface="Microsoft Sans Serif"/>
              <a:cs typeface="Microsoft Sans Serif"/>
            </a:endParaRPr>
          </a:p>
          <a:p>
            <a:pPr marL="469900" marR="6985" lvl="1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existing</a:t>
            </a:r>
            <a:r>
              <a:rPr sz="2000" spc="8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0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thought</a:t>
            </a:r>
            <a:r>
              <a:rPr sz="20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0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000" spc="9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000" spc="8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idea</a:t>
            </a:r>
            <a:r>
              <a:rPr sz="2000" spc="8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but</a:t>
            </a:r>
            <a:r>
              <a:rPr sz="2000" spc="8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000" spc="7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having</a:t>
            </a:r>
            <a:r>
              <a:rPr sz="20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physical</a:t>
            </a:r>
            <a:r>
              <a:rPr sz="2000" spc="9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or </a:t>
            </a:r>
            <a:r>
              <a:rPr sz="2000" spc="-5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sz="20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existence.</a:t>
            </a:r>
            <a:endParaRPr sz="20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Verb: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717675" algn="l"/>
                <a:tab pos="3178175" algn="l"/>
                <a:tab pos="4818380" algn="l"/>
                <a:tab pos="5332095" algn="l"/>
                <a:tab pos="679069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o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n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sid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r	some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hing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	t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h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tically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	or	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p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ra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ely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	fr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  (something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else).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444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Abstraction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614920" cy="309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 algn="just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 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is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process of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hiding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implementation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details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from the </a:t>
            </a:r>
            <a:r>
              <a:rPr sz="2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user,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only the functionality will 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be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 provided</a:t>
            </a:r>
            <a:r>
              <a:rPr sz="24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user.</a:t>
            </a:r>
            <a:endParaRPr sz="2400">
              <a:latin typeface="Microsoft Sans Serif"/>
              <a:cs typeface="Microsoft Sans Serif"/>
            </a:endParaRPr>
          </a:p>
          <a:p>
            <a:pPr marL="194945" marR="5080" indent="-182880" algn="just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In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other words,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user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will have the information on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FF0000"/>
                </a:solidFill>
                <a:latin typeface="Arial"/>
                <a:cs typeface="Arial"/>
              </a:rPr>
              <a:t>what</a:t>
            </a:r>
            <a:r>
              <a:rPr sz="2400" b="1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object</a:t>
            </a:r>
            <a:r>
              <a:rPr sz="24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does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instead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sz="2400" b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does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Java,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achieved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using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000" spc="-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sz="20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interfaces.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4441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Abstraction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285990" cy="4306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94615" indent="-27305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Wingdings"/>
              <a:buChar char=""/>
              <a:tabLst>
                <a:tab pos="28575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OOP</a:t>
            </a:r>
            <a:r>
              <a:rPr sz="2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(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Oriented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Programming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)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, 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facilitates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easy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conceptualization</a:t>
            </a:r>
            <a:r>
              <a:rPr sz="2400" spc="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real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world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into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software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program.</a:t>
            </a:r>
            <a:endParaRPr sz="2400">
              <a:latin typeface="Microsoft Sans Serif"/>
              <a:cs typeface="Microsoft Sans Serif"/>
            </a:endParaRPr>
          </a:p>
          <a:p>
            <a:pPr marL="285115" indent="-27305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Font typeface="Wingdings"/>
              <a:buChar char=""/>
              <a:tabLst>
                <a:tab pos="28575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Humans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manage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complexity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through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abstraction.</a:t>
            </a:r>
            <a:endParaRPr sz="2400">
              <a:latin typeface="Microsoft Sans Serif"/>
              <a:cs typeface="Microsoft Sans Serif"/>
            </a:endParaRPr>
          </a:p>
          <a:p>
            <a:pPr marL="652780" lvl="1" indent="-273685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Font typeface="Wingdings"/>
              <a:buChar char=""/>
              <a:tabLst>
                <a:tab pos="653415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Think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about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car.</a:t>
            </a:r>
            <a:endParaRPr sz="2000">
              <a:latin typeface="Microsoft Sans Serif"/>
              <a:cs typeface="Microsoft Sans Serif"/>
            </a:endParaRPr>
          </a:p>
          <a:p>
            <a:pPr marL="927100" marR="5080" lvl="2" indent="-273050">
              <a:lnSpc>
                <a:spcPct val="100000"/>
              </a:lnSpc>
              <a:spcBef>
                <a:spcPts val="439"/>
              </a:spcBef>
              <a:buClr>
                <a:srgbClr val="92A199"/>
              </a:buClr>
              <a:buSzPct val="88888"/>
              <a:buFont typeface="Wingdings"/>
              <a:buChar char=""/>
              <a:tabLst>
                <a:tab pos="927735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Do</a:t>
            </a:r>
            <a:r>
              <a:rPr sz="18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you</a:t>
            </a:r>
            <a:r>
              <a:rPr sz="18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think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car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set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tens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thousands</a:t>
            </a:r>
            <a:r>
              <a:rPr sz="18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individual </a:t>
            </a:r>
            <a:r>
              <a:rPr sz="1800" spc="-4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parts?</a:t>
            </a:r>
            <a:endParaRPr sz="1800">
              <a:latin typeface="Microsoft Sans Serif"/>
              <a:cs typeface="Microsoft Sans Serif"/>
            </a:endParaRPr>
          </a:p>
          <a:p>
            <a:pPr marL="927100" lvl="2" indent="-273685">
              <a:lnSpc>
                <a:spcPct val="100000"/>
              </a:lnSpc>
              <a:spcBef>
                <a:spcPts val="434"/>
              </a:spcBef>
              <a:buClr>
                <a:srgbClr val="92A199"/>
              </a:buClr>
              <a:buSzPct val="88888"/>
              <a:buFont typeface="Wingdings"/>
              <a:buChar char=""/>
              <a:tabLst>
                <a:tab pos="927735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No,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we</a:t>
            </a:r>
            <a:r>
              <a:rPr sz="18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think</a:t>
            </a:r>
            <a:r>
              <a:rPr sz="18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well-defined</a:t>
            </a:r>
            <a:r>
              <a:rPr sz="18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with</a:t>
            </a:r>
            <a:r>
              <a:rPr sz="18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its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own</a:t>
            </a:r>
            <a:r>
              <a:rPr sz="1800" spc="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unique</a:t>
            </a:r>
            <a:endParaRPr sz="18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sz="18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behavior.</a:t>
            </a:r>
            <a:endParaRPr sz="1800">
              <a:latin typeface="Microsoft Sans Serif"/>
              <a:cs typeface="Microsoft Sans Serif"/>
            </a:endParaRPr>
          </a:p>
          <a:p>
            <a:pPr marL="285115" marR="180975" indent="-273050">
              <a:lnSpc>
                <a:spcPct val="100000"/>
              </a:lnSpc>
              <a:spcBef>
                <a:spcPts val="560"/>
              </a:spcBef>
              <a:buClr>
                <a:srgbClr val="92A199"/>
              </a:buClr>
              <a:buSzPct val="85416"/>
              <a:buFont typeface="Wingdings"/>
              <a:buChar char=""/>
              <a:tabLst>
                <a:tab pos="285750" algn="l"/>
              </a:tabLst>
            </a:pP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This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allows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people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car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without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being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overwhelmed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complexity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parts 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form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car.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136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r>
              <a:rPr sz="4000" spc="-175" dirty="0"/>
              <a:t> </a:t>
            </a:r>
            <a:r>
              <a:rPr sz="4000" spc="-105" dirty="0"/>
              <a:t>C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s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7542530" cy="40868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superclasses</a:t>
            </a:r>
            <a:r>
              <a:rPr sz="2000" b="1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(called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Microsoft Sans Serif"/>
                <a:cs typeface="Microsoft Sans Serif"/>
              </a:rPr>
              <a:t>abstract</a:t>
            </a:r>
            <a:r>
              <a:rPr sz="20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superclasses)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endParaRPr sz="2000">
              <a:latin typeface="Microsoft Sans Serif"/>
              <a:cs typeface="Microsoft Sans Serif"/>
            </a:endParaRPr>
          </a:p>
          <a:p>
            <a:pPr marL="742950" lvl="2" indent="-182880">
              <a:lnSpc>
                <a:spcPct val="100000"/>
              </a:lnSpc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Cannot</a:t>
            </a:r>
            <a:r>
              <a:rPr sz="18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 instantiated</a:t>
            </a:r>
            <a:endParaRPr sz="1800">
              <a:latin typeface="Microsoft Sans Serif"/>
              <a:cs typeface="Microsoft Sans Serif"/>
            </a:endParaRPr>
          </a:p>
          <a:p>
            <a:pPr marL="742950" lvl="2" indent="-182880">
              <a:lnSpc>
                <a:spcPct val="100000"/>
              </a:lnSpc>
              <a:spcBef>
                <a:spcPts val="430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Incomplete</a:t>
            </a:r>
            <a:endParaRPr sz="1800">
              <a:latin typeface="Microsoft Sans Serif"/>
              <a:cs typeface="Microsoft Sans Serif"/>
            </a:endParaRPr>
          </a:p>
          <a:p>
            <a:pPr marL="1018540" lvl="3" indent="-183515">
              <a:lnSpc>
                <a:spcPct val="100000"/>
              </a:lnSpc>
              <a:spcBef>
                <a:spcPts val="395"/>
              </a:spcBef>
              <a:buClr>
                <a:srgbClr val="92A199"/>
              </a:buClr>
              <a:buChar char="•"/>
              <a:tabLst>
                <a:tab pos="1019175" algn="l"/>
              </a:tabLst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fill in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"missing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pieces“</a:t>
            </a:r>
            <a:endParaRPr sz="1600">
              <a:latin typeface="Microsoft Sans Serif"/>
              <a:cs typeface="Microsoft Sans Serif"/>
            </a:endParaRPr>
          </a:p>
          <a:p>
            <a:pPr marL="742950" lvl="2" indent="-182880">
              <a:lnSpc>
                <a:spcPct val="100000"/>
              </a:lnSpc>
              <a:spcBef>
                <a:spcPts val="425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Contains</a:t>
            </a:r>
            <a:r>
              <a:rPr sz="18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zero</a:t>
            </a:r>
            <a:r>
              <a:rPr sz="18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8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method.</a:t>
            </a:r>
            <a:endParaRPr sz="18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6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Contains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zero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u="heavy" spc="-5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Microsoft Sans Serif"/>
                <a:cs typeface="Microsoft Sans Serif"/>
              </a:rPr>
              <a:t>methods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sz="20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sz="20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Enforce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to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20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sz="2400" spc="7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subject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normal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rules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68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Purpo</a:t>
            </a:r>
            <a:r>
              <a:rPr sz="4000" spc="-100" dirty="0"/>
              <a:t>s</a:t>
            </a:r>
            <a:r>
              <a:rPr sz="4000" spc="-5" dirty="0"/>
              <a:t>e</a:t>
            </a:r>
            <a:r>
              <a:rPr sz="4000" spc="-155" dirty="0"/>
              <a:t> </a:t>
            </a:r>
            <a:r>
              <a:rPr sz="4000" spc="-105" dirty="0"/>
              <a:t>o</a:t>
            </a:r>
            <a:r>
              <a:rPr sz="4000" spc="-5" dirty="0"/>
              <a:t>f</a:t>
            </a:r>
            <a:r>
              <a:rPr sz="4000" spc="-380" dirty="0"/>
              <a:t> </a:t>
            </a: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r>
              <a:rPr sz="4000" spc="-175" dirty="0"/>
              <a:t> </a:t>
            </a:r>
            <a:r>
              <a:rPr sz="4000" spc="-105" dirty="0"/>
              <a:t>C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s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5"/>
            <a:ext cx="8054340" cy="25139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  <a:tab pos="400939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common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attributes	</a:t>
            </a:r>
            <a:r>
              <a:rPr sz="2400" spc="1045" dirty="0">
                <a:solidFill>
                  <a:srgbClr val="292934"/>
                </a:solidFill>
                <a:latin typeface="Microsoft Sans Serif"/>
                <a:cs typeface="Microsoft Sans Serif"/>
              </a:rPr>
              <a:t>…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common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behaviors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hierarchy</a:t>
            </a:r>
            <a:endParaRPr sz="2400">
              <a:latin typeface="Microsoft Sans Serif"/>
              <a:cs typeface="Microsoft Sans Serif"/>
            </a:endParaRPr>
          </a:p>
          <a:p>
            <a:pPr marL="194945" marR="9652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Via</a:t>
            </a:r>
            <a:r>
              <a:rPr sz="2400" spc="-9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method,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enforce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Restrict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creating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too general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create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real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objects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136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r>
              <a:rPr sz="4000" spc="-175" dirty="0"/>
              <a:t> </a:t>
            </a:r>
            <a:r>
              <a:rPr sz="4000" spc="-105" dirty="0"/>
              <a:t>C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s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3369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marR="1179195" indent="-227965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227965" algn="l"/>
                <a:tab pos="24130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superclasses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for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endParaRPr sz="2400">
              <a:latin typeface="Microsoft Sans Serif"/>
              <a:cs typeface="Microsoft Sans Serif"/>
            </a:endParaRPr>
          </a:p>
          <a:p>
            <a:pPr marR="1242060" algn="ctr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reference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</a:t>
            </a:r>
            <a:endParaRPr sz="2400">
              <a:latin typeface="Microsoft Sans Serif"/>
              <a:cs typeface="Microsoft Sans Serif"/>
            </a:endParaRPr>
          </a:p>
          <a:p>
            <a:pPr marL="241300" marR="5080" indent="-22860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Many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hierarchies</a:t>
            </a:r>
            <a:r>
              <a:rPr sz="2400" spc="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superclasses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occupying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top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few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levels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048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Ke</a:t>
            </a:r>
            <a:r>
              <a:rPr sz="4000" spc="-100" dirty="0"/>
              <a:t>y</a:t>
            </a:r>
            <a:r>
              <a:rPr sz="4000" spc="-105" dirty="0"/>
              <a:t>wor</a:t>
            </a:r>
            <a:r>
              <a:rPr sz="4000" spc="-5" dirty="0"/>
              <a:t>d</a:t>
            </a:r>
            <a:r>
              <a:rPr sz="4000" spc="-155" dirty="0"/>
              <a:t> </a:t>
            </a:r>
            <a:r>
              <a:rPr sz="4000" spc="-5" dirty="0"/>
              <a:t>-</a:t>
            </a:r>
            <a:r>
              <a:rPr sz="4000" spc="-150" dirty="0"/>
              <a:t> </a:t>
            </a: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31430"/>
            <a:ext cx="8051165" cy="242570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D2523B"/>
                </a:solidFill>
                <a:latin typeface="Courier New"/>
                <a:cs typeface="Courier New"/>
              </a:rPr>
              <a:t>abstract</a:t>
            </a:r>
            <a:endParaRPr sz="2400">
              <a:latin typeface="Courier New"/>
              <a:cs typeface="Courier New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Also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D2523B"/>
                </a:solidFill>
                <a:latin typeface="Courier New"/>
                <a:cs typeface="Courier New"/>
              </a:rPr>
              <a:t>abstract</a:t>
            </a:r>
            <a:endParaRPr sz="2400">
              <a:latin typeface="Courier New"/>
              <a:cs typeface="Courier New"/>
            </a:endParaRPr>
          </a:p>
          <a:p>
            <a:pPr marL="241300" marR="937894" indent="-228600">
              <a:lnSpc>
                <a:spcPct val="100000"/>
              </a:lnSpc>
              <a:spcBef>
                <a:spcPts val="740"/>
              </a:spcBef>
              <a:buClr>
                <a:srgbClr val="92A199"/>
              </a:buClr>
              <a:buSzPct val="85416"/>
              <a:buChar char="•"/>
              <a:tabLst>
                <a:tab pos="240665" algn="l"/>
                <a:tab pos="241300" algn="l"/>
              </a:tabLst>
            </a:pP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concrete</a:t>
            </a:r>
            <a:r>
              <a:rPr sz="2400" b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subclasses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inherited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>
              <a:lnSpc>
                <a:spcPts val="2560"/>
              </a:lnSpc>
              <a:spcBef>
                <a:spcPts val="44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If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subclass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doesn’t implement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superclass’s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0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methods,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 should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also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92934"/>
                </a:solidFill>
                <a:latin typeface="Lucida Console"/>
                <a:cs typeface="Lucida Console"/>
              </a:rPr>
              <a:t>abstract</a:t>
            </a:r>
            <a:endParaRPr sz="2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663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r>
              <a:rPr sz="4000" spc="-175" dirty="0"/>
              <a:t> </a:t>
            </a:r>
            <a:r>
              <a:rPr sz="4000" spc="-105" dirty="0"/>
              <a:t>C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s</a:t>
            </a:r>
            <a:r>
              <a:rPr sz="4000" spc="-90" dirty="0"/>
              <a:t>s</a:t>
            </a:r>
            <a:r>
              <a:rPr sz="4000" spc="1050" dirty="0"/>
              <a:t>–</a:t>
            </a:r>
            <a:r>
              <a:rPr sz="4000" spc="-165" dirty="0"/>
              <a:t> </a:t>
            </a:r>
            <a:r>
              <a:rPr sz="4000" spc="-105" dirty="0"/>
              <a:t>ho</a:t>
            </a:r>
            <a:r>
              <a:rPr sz="4000" spc="-5" dirty="0"/>
              <a:t>w</a:t>
            </a:r>
            <a:r>
              <a:rPr sz="4000" spc="-145" dirty="0"/>
              <a:t> </a:t>
            </a:r>
            <a:r>
              <a:rPr sz="4000" spc="-100" dirty="0"/>
              <a:t>t</a:t>
            </a:r>
            <a:r>
              <a:rPr sz="4000" spc="-5" dirty="0"/>
              <a:t>o</a:t>
            </a:r>
            <a:r>
              <a:rPr sz="4000" spc="-165" dirty="0"/>
              <a:t> </a:t>
            </a:r>
            <a:r>
              <a:rPr sz="4000" spc="-105" dirty="0"/>
              <a:t>de</a:t>
            </a:r>
            <a:r>
              <a:rPr sz="4000" spc="-100" dirty="0"/>
              <a:t>c</a:t>
            </a:r>
            <a:r>
              <a:rPr sz="4000" spc="-125" dirty="0"/>
              <a:t>l</a:t>
            </a:r>
            <a:r>
              <a:rPr sz="4000" spc="-105" dirty="0"/>
              <a:t>ar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7139940" cy="33483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6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NameOfClass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600" spc="-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number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sz="16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constructors,</a:t>
            </a:r>
            <a:r>
              <a:rPr sz="16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Zero(0)</a:t>
            </a:r>
            <a:r>
              <a:rPr sz="16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6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declarations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ts val="2400"/>
              </a:lnSpc>
            </a:pPr>
            <a:r>
              <a:rPr sz="20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Note:</a:t>
            </a:r>
            <a:endParaRPr sz="2000">
              <a:latin typeface="Arial"/>
              <a:cs typeface="Arial"/>
            </a:endParaRPr>
          </a:p>
          <a:p>
            <a:pPr marL="194945" marR="870585" indent="-182880">
              <a:lnSpc>
                <a:spcPts val="2880"/>
              </a:lnSpc>
              <a:spcBef>
                <a:spcPts val="9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has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features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normal/concrete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differences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ts val="2075"/>
              </a:lnSpc>
              <a:buClr>
                <a:srgbClr val="92A199"/>
              </a:buClr>
              <a:buSzPct val="83333"/>
              <a:buChar char="•"/>
              <a:tabLst>
                <a:tab pos="469900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 instantiated</a:t>
            </a:r>
            <a:endParaRPr sz="18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3333"/>
              <a:buChar char="•"/>
              <a:tabLst>
                <a:tab pos="469900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create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endParaRPr sz="18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buClr>
                <a:srgbClr val="92A199"/>
              </a:buClr>
              <a:buSzPct val="83333"/>
              <a:buChar char="•"/>
              <a:tabLst>
                <a:tab pos="469900" algn="l"/>
              </a:tabLst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contain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1800">
              <a:latin typeface="Microsoft Sans Serif"/>
              <a:cs typeface="Microsoft Sans Serif"/>
            </a:endParaRPr>
          </a:p>
          <a:p>
            <a:pPr marL="742950" lvl="2" indent="-182880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90625"/>
              <a:buChar char="•"/>
              <a:tabLst>
                <a:tab pos="742950" algn="l"/>
              </a:tabLst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there</a:t>
            </a:r>
            <a:r>
              <a:rPr sz="16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6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methods,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those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methods.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Abstract</a:t>
            </a:r>
            <a:r>
              <a:rPr spc="-195" dirty="0"/>
              <a:t> </a:t>
            </a:r>
            <a:r>
              <a:rPr spc="70" dirty="0"/>
              <a:t>Class–</a:t>
            </a:r>
            <a:r>
              <a:rPr spc="-190" dirty="0"/>
              <a:t> </a:t>
            </a:r>
            <a:r>
              <a:rPr spc="-85" dirty="0"/>
              <a:t>example</a:t>
            </a:r>
            <a:r>
              <a:rPr spc="-200" dirty="0"/>
              <a:t> </a:t>
            </a:r>
            <a:r>
              <a:rPr spc="-65" dirty="0"/>
              <a:t>(no</a:t>
            </a:r>
            <a:r>
              <a:rPr spc="-175" dirty="0"/>
              <a:t> </a:t>
            </a:r>
            <a:r>
              <a:rPr spc="-90" dirty="0"/>
              <a:t>abstract </a:t>
            </a:r>
            <a:r>
              <a:rPr spc="-940" dirty="0"/>
              <a:t> </a:t>
            </a:r>
            <a:r>
              <a:rPr spc="-85" dirty="0"/>
              <a:t>method)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8902"/>
            <a:ext cx="3704590" cy="423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abstrac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t</a:t>
            </a:r>
            <a:r>
              <a:rPr sz="12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cl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ss</a:t>
            </a:r>
            <a:r>
              <a:rPr sz="1200" b="1" spc="-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nim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l{</a:t>
            </a:r>
            <a:endParaRPr sz="1200">
              <a:latin typeface="Arial"/>
              <a:cs typeface="Arial"/>
            </a:endParaRPr>
          </a:p>
          <a:p>
            <a:pPr marL="286385" marR="2065020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sz="1200" spc="-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 </a:t>
            </a:r>
            <a:r>
              <a:rPr sz="1200" spc="-30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 name, color;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sz="12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286385" marR="2415540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-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Constructors </a:t>
            </a:r>
            <a:r>
              <a:rPr sz="1200" spc="-3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Animal(){</a:t>
            </a:r>
            <a:r>
              <a:rPr sz="12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sz="12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sz="12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2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color){</a:t>
            </a:r>
            <a:endParaRPr sz="12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this(name,color,</a:t>
            </a:r>
            <a:r>
              <a:rPr sz="1200" b="1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0.0);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560070" marR="5080" indent="-273685">
              <a:lnSpc>
                <a:spcPct val="100000"/>
              </a:lnSpc>
            </a:pP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sz="12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2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color,</a:t>
            </a:r>
            <a:r>
              <a:rPr sz="12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sz="12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weight){ </a:t>
            </a:r>
            <a:r>
              <a:rPr sz="1200" b="1" spc="-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this.name</a:t>
            </a:r>
            <a:r>
              <a:rPr sz="12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 name;</a:t>
            </a:r>
            <a:endParaRPr sz="1200">
              <a:latin typeface="Arial"/>
              <a:cs typeface="Arial"/>
            </a:endParaRPr>
          </a:p>
          <a:p>
            <a:pPr marL="560070" marR="1625600">
              <a:lnSpc>
                <a:spcPct val="100000"/>
              </a:lnSpc>
            </a:pP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this.color =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color;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 this.weight</a:t>
            </a:r>
            <a:r>
              <a:rPr sz="1200" b="1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2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2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2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eat(){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200" b="1" i="1" spc="-5" dirty="0">
                <a:solidFill>
                  <a:srgbClr val="292934"/>
                </a:solidFill>
                <a:latin typeface="Arial"/>
                <a:cs typeface="Arial"/>
              </a:rPr>
              <a:t>out.println(name</a:t>
            </a:r>
            <a:r>
              <a:rPr sz="1200" b="1" i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sz="1200" b="1" i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i="1" spc="-5" dirty="0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sz="1200" b="1" i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i="1" spc="-5" dirty="0">
                <a:solidFill>
                  <a:srgbClr val="292934"/>
                </a:solidFill>
                <a:latin typeface="Arial"/>
                <a:cs typeface="Arial"/>
              </a:rPr>
              <a:t>eats.");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90" dirty="0"/>
              <a:t>Abstract</a:t>
            </a:r>
            <a:r>
              <a:rPr spc="-195" dirty="0"/>
              <a:t> </a:t>
            </a:r>
            <a:r>
              <a:rPr spc="70" dirty="0"/>
              <a:t>Class–</a:t>
            </a:r>
            <a:r>
              <a:rPr spc="-190" dirty="0"/>
              <a:t> </a:t>
            </a:r>
            <a:r>
              <a:rPr spc="-95" dirty="0"/>
              <a:t>example(with</a:t>
            </a:r>
            <a:r>
              <a:rPr spc="-190" dirty="0"/>
              <a:t> </a:t>
            </a:r>
            <a:r>
              <a:rPr spc="-90" dirty="0"/>
              <a:t>abstract </a:t>
            </a:r>
            <a:r>
              <a:rPr spc="-940" dirty="0"/>
              <a:t> </a:t>
            </a:r>
            <a:r>
              <a:rPr spc="-85" dirty="0"/>
              <a:t>method)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8902"/>
            <a:ext cx="370459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abstrac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t</a:t>
            </a:r>
            <a:r>
              <a:rPr sz="12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cl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ss</a:t>
            </a:r>
            <a:r>
              <a:rPr sz="1200" b="1" spc="-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45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nim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l{</a:t>
            </a:r>
            <a:endParaRPr sz="1200">
              <a:latin typeface="Arial"/>
              <a:cs typeface="Arial"/>
            </a:endParaRPr>
          </a:p>
          <a:p>
            <a:pPr marL="286385" marR="2065020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sz="1200" spc="-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 </a:t>
            </a:r>
            <a:r>
              <a:rPr sz="1200" spc="-30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 name, color;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sz="12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250">
              <a:latin typeface="Arial"/>
              <a:cs typeface="Arial"/>
            </a:endParaRPr>
          </a:p>
          <a:p>
            <a:pPr marL="286385" marR="2415540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-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Constructors </a:t>
            </a:r>
            <a:r>
              <a:rPr sz="1200" spc="-3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Animal(){</a:t>
            </a:r>
            <a:r>
              <a:rPr sz="12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sz="12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sz="12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2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color){</a:t>
            </a:r>
            <a:endParaRPr sz="12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this(name,color,</a:t>
            </a:r>
            <a:r>
              <a:rPr sz="1200" b="1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0.0);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560070" marR="5080" indent="-273685">
              <a:lnSpc>
                <a:spcPct val="100000"/>
              </a:lnSpc>
            </a:pP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Animal(String</a:t>
            </a:r>
            <a:r>
              <a:rPr sz="12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2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color,</a:t>
            </a:r>
            <a:r>
              <a:rPr sz="12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double</a:t>
            </a:r>
            <a:r>
              <a:rPr sz="12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weight){ </a:t>
            </a:r>
            <a:r>
              <a:rPr sz="1200" b="1" spc="-3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this.name</a:t>
            </a:r>
            <a:r>
              <a:rPr sz="12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 name;</a:t>
            </a:r>
            <a:endParaRPr sz="1200">
              <a:latin typeface="Arial"/>
              <a:cs typeface="Arial"/>
            </a:endParaRPr>
          </a:p>
          <a:p>
            <a:pPr marL="560070" marR="1625600">
              <a:lnSpc>
                <a:spcPct val="100000"/>
              </a:lnSpc>
            </a:pP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this.color =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color;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 this.weight</a:t>
            </a:r>
            <a:r>
              <a:rPr sz="1200" b="1" spc="-3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2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weight;</a:t>
            </a:r>
            <a:endParaRPr sz="12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Concrete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2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2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eat(){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200" b="1" i="1" spc="-5" dirty="0">
                <a:solidFill>
                  <a:srgbClr val="292934"/>
                </a:solidFill>
                <a:latin typeface="Arial"/>
                <a:cs typeface="Arial"/>
              </a:rPr>
              <a:t>out.println(name</a:t>
            </a:r>
            <a:r>
              <a:rPr sz="1200" b="1" i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i="1" dirty="0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sz="1200" b="1" i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i="1" spc="-5" dirty="0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sz="1200" b="1" i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i="1" spc="-5" dirty="0">
                <a:solidFill>
                  <a:srgbClr val="292934"/>
                </a:solidFill>
                <a:latin typeface="Arial"/>
                <a:cs typeface="Arial"/>
              </a:rPr>
              <a:t>eats.");</a:t>
            </a:r>
            <a:endParaRPr sz="12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2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2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12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200" b="1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2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sz="1200" b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sz="1200" b="1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200" b="1" spc="-5" dirty="0">
                <a:solidFill>
                  <a:srgbClr val="292934"/>
                </a:solidFill>
                <a:latin typeface="Arial"/>
                <a:cs typeface="Arial"/>
              </a:rPr>
              <a:t>makeSound();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9112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E</a:t>
            </a:r>
            <a:r>
              <a:rPr sz="4000" spc="-100" dirty="0"/>
              <a:t>xt</a:t>
            </a:r>
            <a:r>
              <a:rPr sz="4000" spc="-105" dirty="0"/>
              <a:t>end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65" dirty="0"/>
              <a:t> </a:t>
            </a:r>
            <a:r>
              <a:rPr sz="4000" spc="-105" dirty="0"/>
              <a:t>a</a:t>
            </a:r>
            <a:r>
              <a:rPr sz="4000" spc="-5" dirty="0"/>
              <a:t>n</a:t>
            </a:r>
            <a:r>
              <a:rPr sz="4000" spc="-155" dirty="0"/>
              <a:t> </a:t>
            </a: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r>
              <a:rPr sz="4000" spc="-175" dirty="0"/>
              <a:t> </a:t>
            </a:r>
            <a:r>
              <a:rPr sz="4000" spc="-100" dirty="0"/>
              <a:t>c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s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5"/>
            <a:ext cx="7847330" cy="28060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-1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normally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endParaRPr sz="2400">
              <a:latin typeface="Microsoft Sans Serif"/>
              <a:cs typeface="Microsoft Sans Serif"/>
            </a:endParaRPr>
          </a:p>
          <a:p>
            <a:pPr marL="194945" marR="3556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When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2400" b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must </a:t>
            </a:r>
            <a:r>
              <a:rPr sz="2400" b="1" spc="-6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override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methods</a:t>
            </a:r>
            <a:r>
              <a:rPr sz="24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does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override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behaviors/methods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itself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29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Ex</a:t>
            </a:r>
            <a:r>
              <a:rPr spc="-105" dirty="0"/>
              <a:t>t</a:t>
            </a:r>
            <a:r>
              <a:rPr spc="-100" dirty="0"/>
              <a:t>end</a:t>
            </a:r>
            <a:r>
              <a:rPr spc="-114" dirty="0"/>
              <a:t>i</a:t>
            </a:r>
            <a:r>
              <a:rPr spc="-110" dirty="0"/>
              <a:t>n</a:t>
            </a:r>
            <a:r>
              <a:rPr spc="-5" dirty="0"/>
              <a:t>g</a:t>
            </a:r>
            <a:r>
              <a:rPr spc="-200" dirty="0"/>
              <a:t> </a:t>
            </a:r>
            <a:r>
              <a:rPr spc="-100" dirty="0"/>
              <a:t>a</a:t>
            </a:r>
            <a:r>
              <a:rPr spc="-5" dirty="0"/>
              <a:t>n</a:t>
            </a:r>
            <a:r>
              <a:rPr spc="-165" dirty="0"/>
              <a:t> </a:t>
            </a:r>
            <a:r>
              <a:rPr spc="-100" dirty="0"/>
              <a:t>abs</a:t>
            </a:r>
            <a:r>
              <a:rPr spc="-105" dirty="0"/>
              <a:t>t</a:t>
            </a:r>
            <a:r>
              <a:rPr spc="-95" dirty="0"/>
              <a:t>r</a:t>
            </a:r>
            <a:r>
              <a:rPr spc="-100" dirty="0"/>
              <a:t>ac</a:t>
            </a:r>
            <a:r>
              <a:rPr dirty="0"/>
              <a:t>t</a:t>
            </a:r>
            <a:r>
              <a:rPr spc="-195" dirty="0"/>
              <a:t> </a:t>
            </a:r>
            <a:r>
              <a:rPr spc="-100" dirty="0"/>
              <a:t>c</a:t>
            </a:r>
            <a:r>
              <a:rPr spc="-114" dirty="0"/>
              <a:t>l</a:t>
            </a:r>
            <a:r>
              <a:rPr spc="-100" dirty="0"/>
              <a:t>as</a:t>
            </a:r>
            <a:r>
              <a:rPr dirty="0"/>
              <a:t>s</a:t>
            </a:r>
            <a:r>
              <a:rPr spc="-175" dirty="0"/>
              <a:t> </a:t>
            </a:r>
            <a:r>
              <a:rPr dirty="0"/>
              <a:t>-</a:t>
            </a:r>
            <a:r>
              <a:rPr spc="-165" dirty="0"/>
              <a:t> </a:t>
            </a:r>
            <a:r>
              <a:rPr spc="-100" dirty="0"/>
              <a:t>exa</a:t>
            </a:r>
            <a:r>
              <a:rPr spc="-95" dirty="0"/>
              <a:t>m</a:t>
            </a:r>
            <a:r>
              <a:rPr spc="-100" dirty="0"/>
              <a:t>p</a:t>
            </a:r>
            <a:r>
              <a:rPr spc="-114" dirty="0"/>
              <a:t>l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3602990" cy="4903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988060" indent="-274320">
              <a:lnSpc>
                <a:spcPct val="100000"/>
              </a:lnSpc>
              <a:spcBef>
                <a:spcPts val="95"/>
              </a:spcBef>
            </a:pP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16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Bird</a:t>
            </a: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sz="1600" b="1" spc="-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Animal{ </a:t>
            </a:r>
            <a:r>
              <a:rPr sz="1600" b="1" spc="-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600" b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Bird()</a:t>
            </a:r>
            <a:r>
              <a:rPr sz="16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name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= "Bird";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6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5" dirty="0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sz="1600" b="1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makeSound()</a:t>
            </a:r>
            <a:r>
              <a:rPr sz="16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600" b="1" i="1" spc="-5" dirty="0">
                <a:solidFill>
                  <a:srgbClr val="292934"/>
                </a:solidFill>
                <a:latin typeface="Arial"/>
                <a:cs typeface="Arial"/>
              </a:rPr>
              <a:t>out.println("Chirp");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1700">
              <a:latin typeface="Microsoft Sans Serif"/>
              <a:cs typeface="Microsoft Sans Serif"/>
            </a:endParaRPr>
          </a:p>
          <a:p>
            <a:pPr marL="286385" marR="901065" indent="-274320">
              <a:lnSpc>
                <a:spcPct val="100000"/>
              </a:lnSpc>
            </a:pP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16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Tiger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sz="1600" b="1" spc="-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Animal{ </a:t>
            </a:r>
            <a:r>
              <a:rPr sz="1600" b="1" spc="-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600" b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Tiger()</a:t>
            </a:r>
            <a:r>
              <a:rPr sz="16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name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= 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"Tiger";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6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5" dirty="0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sz="1600" b="1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makeSound()</a:t>
            </a:r>
            <a:r>
              <a:rPr sz="16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600" b="1" i="1" spc="-5" dirty="0">
                <a:solidFill>
                  <a:srgbClr val="292934"/>
                </a:solidFill>
                <a:latin typeface="Arial"/>
                <a:cs typeface="Arial"/>
              </a:rPr>
              <a:t>out.println("Roar");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72961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Ex</a:t>
            </a:r>
            <a:r>
              <a:rPr spc="-105" dirty="0"/>
              <a:t>t</a:t>
            </a:r>
            <a:r>
              <a:rPr spc="-100" dirty="0"/>
              <a:t>end</a:t>
            </a:r>
            <a:r>
              <a:rPr spc="-114" dirty="0"/>
              <a:t>i</a:t>
            </a:r>
            <a:r>
              <a:rPr spc="-110" dirty="0"/>
              <a:t>n</a:t>
            </a:r>
            <a:r>
              <a:rPr spc="-5" dirty="0"/>
              <a:t>g</a:t>
            </a:r>
            <a:r>
              <a:rPr spc="-200" dirty="0"/>
              <a:t> </a:t>
            </a:r>
            <a:r>
              <a:rPr spc="-100" dirty="0"/>
              <a:t>a</a:t>
            </a:r>
            <a:r>
              <a:rPr spc="-5" dirty="0"/>
              <a:t>n</a:t>
            </a:r>
            <a:r>
              <a:rPr spc="-165" dirty="0"/>
              <a:t> </a:t>
            </a:r>
            <a:r>
              <a:rPr spc="-100" dirty="0"/>
              <a:t>abs</a:t>
            </a:r>
            <a:r>
              <a:rPr spc="-105" dirty="0"/>
              <a:t>t</a:t>
            </a:r>
            <a:r>
              <a:rPr spc="-95" dirty="0"/>
              <a:t>r</a:t>
            </a:r>
            <a:r>
              <a:rPr spc="-100" dirty="0"/>
              <a:t>ac</a:t>
            </a:r>
            <a:r>
              <a:rPr dirty="0"/>
              <a:t>t</a:t>
            </a:r>
            <a:r>
              <a:rPr spc="-195" dirty="0"/>
              <a:t> </a:t>
            </a:r>
            <a:r>
              <a:rPr spc="-100" dirty="0"/>
              <a:t>c</a:t>
            </a:r>
            <a:r>
              <a:rPr spc="-114" dirty="0"/>
              <a:t>l</a:t>
            </a:r>
            <a:r>
              <a:rPr spc="-100" dirty="0"/>
              <a:t>as</a:t>
            </a:r>
            <a:r>
              <a:rPr dirty="0"/>
              <a:t>s</a:t>
            </a:r>
            <a:r>
              <a:rPr spc="-175" dirty="0"/>
              <a:t> </a:t>
            </a:r>
            <a:r>
              <a:rPr dirty="0"/>
              <a:t>-</a:t>
            </a:r>
            <a:r>
              <a:rPr spc="-165" dirty="0"/>
              <a:t> </a:t>
            </a:r>
            <a:r>
              <a:rPr spc="-100" dirty="0"/>
              <a:t>exa</a:t>
            </a:r>
            <a:r>
              <a:rPr spc="-95" dirty="0"/>
              <a:t>m</a:t>
            </a:r>
            <a:r>
              <a:rPr spc="-100" dirty="0"/>
              <a:t>p</a:t>
            </a:r>
            <a:r>
              <a:rPr spc="-114" dirty="0"/>
              <a:t>l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9143"/>
            <a:ext cx="3975735" cy="295338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6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16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5" dirty="0">
                <a:solidFill>
                  <a:srgbClr val="292934"/>
                </a:solidFill>
                <a:latin typeface="Arial"/>
                <a:cs typeface="Arial"/>
              </a:rPr>
              <a:t>TestAbstractClass</a:t>
            </a:r>
            <a:r>
              <a:rPr sz="1600" b="1" spc="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390"/>
              </a:spcBef>
            </a:pP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16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static</a:t>
            </a:r>
            <a:r>
              <a:rPr sz="1600" b="1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15" dirty="0">
                <a:solidFill>
                  <a:srgbClr val="292934"/>
                </a:solidFill>
                <a:latin typeface="Arial"/>
                <a:cs typeface="Arial"/>
              </a:rPr>
              <a:t>void</a:t>
            </a:r>
            <a:r>
              <a:rPr sz="1600" b="1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main(String[]</a:t>
            </a:r>
            <a:r>
              <a:rPr sz="1600" b="1" spc="7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args)</a:t>
            </a:r>
            <a:r>
              <a:rPr sz="16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560070" marR="1295400" algn="just">
              <a:lnSpc>
                <a:spcPct val="12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 b =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new Bird(); </a:t>
            </a:r>
            <a:r>
              <a:rPr sz="1600" b="1" spc="-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Animal t = </a:t>
            </a:r>
            <a:r>
              <a:rPr sz="1600" b="1" spc="-5" dirty="0">
                <a:solidFill>
                  <a:srgbClr val="292934"/>
                </a:solidFill>
                <a:latin typeface="Arial"/>
                <a:cs typeface="Arial"/>
              </a:rPr>
              <a:t>new </a:t>
            </a: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Tiger(); </a:t>
            </a:r>
            <a:r>
              <a:rPr sz="1600" b="1" spc="-4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b.eat();</a:t>
            </a:r>
            <a:endParaRPr sz="1600">
              <a:latin typeface="Microsoft Sans Serif"/>
              <a:cs typeface="Microsoft Sans Serif"/>
            </a:endParaRPr>
          </a:p>
          <a:p>
            <a:pPr marL="560070" marR="1964689">
              <a:lnSpc>
                <a:spcPct val="12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t.eat(); 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b.ma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k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eSoun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d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(); 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t.makeSound();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9189" y="4617351"/>
            <a:ext cx="4990465" cy="123126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Output:</a:t>
            </a:r>
            <a:endParaRPr sz="1800">
              <a:latin typeface="Microsoft Sans Serif"/>
              <a:cs typeface="Microsoft Sans Serif"/>
            </a:endParaRPr>
          </a:p>
          <a:p>
            <a:pPr marL="91440" marR="4056379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eats. </a:t>
            </a:r>
            <a:r>
              <a:rPr sz="1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Tiger</a:t>
            </a:r>
            <a:r>
              <a:rPr sz="1400" spc="-7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eats. </a:t>
            </a:r>
            <a:r>
              <a:rPr sz="1400" spc="-3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Chirp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Roar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259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</a:t>
            </a:r>
            <a:r>
              <a:rPr sz="4000" spc="-5" dirty="0"/>
              <a:t>t</a:t>
            </a:r>
            <a:r>
              <a:rPr sz="4000" spc="-175" dirty="0"/>
              <a:t> </a:t>
            </a:r>
            <a:r>
              <a:rPr sz="4000" spc="-105" dirty="0"/>
              <a:t>C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s</a:t>
            </a:r>
            <a:r>
              <a:rPr sz="4000" spc="-5" dirty="0"/>
              <a:t>s</a:t>
            </a:r>
            <a:r>
              <a:rPr sz="4000" spc="-150" dirty="0"/>
              <a:t> </a:t>
            </a:r>
            <a:r>
              <a:rPr sz="4000" spc="1050" dirty="0"/>
              <a:t>–</a:t>
            </a:r>
            <a:r>
              <a:rPr sz="4000" spc="-155" dirty="0"/>
              <a:t> </a:t>
            </a:r>
            <a:r>
              <a:rPr sz="4000" spc="-105" dirty="0"/>
              <a:t>ano</a:t>
            </a:r>
            <a:r>
              <a:rPr sz="4000" spc="-100" dirty="0"/>
              <a:t>t</a:t>
            </a:r>
            <a:r>
              <a:rPr sz="4000" spc="-105" dirty="0"/>
              <a:t>he</a:t>
            </a:r>
            <a:r>
              <a:rPr sz="4000" spc="-5" dirty="0"/>
              <a:t>r</a:t>
            </a:r>
            <a:r>
              <a:rPr sz="4000" spc="-155" dirty="0"/>
              <a:t> </a:t>
            </a:r>
            <a:r>
              <a:rPr sz="4000" spc="-105" dirty="0"/>
              <a:t>e</a:t>
            </a:r>
            <a:r>
              <a:rPr sz="4000" spc="-100" dirty="0"/>
              <a:t>x</a:t>
            </a:r>
            <a:r>
              <a:rPr sz="4000" spc="-105" dirty="0"/>
              <a:t>amp</a:t>
            </a:r>
            <a:r>
              <a:rPr sz="4000" spc="-125" dirty="0"/>
              <a:t>l</a:t>
            </a:r>
            <a:r>
              <a:rPr sz="4000" spc="-5" dirty="0"/>
              <a:t>e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1154112" y="1860613"/>
            <a:ext cx="7084695" cy="3750945"/>
            <a:chOff x="1154112" y="1860613"/>
            <a:chExt cx="7084695" cy="37509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8343" y="2938272"/>
              <a:ext cx="7010400" cy="26730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4112" y="2863850"/>
              <a:ext cx="7007225" cy="26701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27503" y="1935480"/>
              <a:ext cx="1880616" cy="36880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93036" y="1912620"/>
              <a:ext cx="1813560" cy="48310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052700" y="1860613"/>
              <a:ext cx="1878330" cy="367030"/>
            </a:xfrm>
            <a:custGeom>
              <a:avLst/>
              <a:gdLst/>
              <a:ahLst/>
              <a:cxnLst/>
              <a:rect l="l" t="t" r="r" b="b"/>
              <a:pathLst>
                <a:path w="1878329" h="367030">
                  <a:moveTo>
                    <a:pt x="1877949" y="0"/>
                  </a:moveTo>
                  <a:lnTo>
                    <a:pt x="0" y="0"/>
                  </a:lnTo>
                  <a:lnTo>
                    <a:pt x="0" y="366712"/>
                  </a:lnTo>
                  <a:lnTo>
                    <a:pt x="1877949" y="366712"/>
                  </a:lnTo>
                  <a:lnTo>
                    <a:pt x="1877949" y="0"/>
                  </a:lnTo>
                  <a:close/>
                </a:path>
              </a:pathLst>
            </a:custGeom>
            <a:solidFill>
              <a:srgbClr val="D252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52701" y="1860613"/>
            <a:ext cx="1878330" cy="3670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Abstract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Class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64819" y="2193798"/>
            <a:ext cx="7417434" cy="3538854"/>
            <a:chOff x="464819" y="2193798"/>
            <a:chExt cx="7417434" cy="3538854"/>
          </a:xfrm>
        </p:grpSpPr>
        <p:sp>
          <p:nvSpPr>
            <p:cNvPr id="11" name="object 11"/>
            <p:cNvSpPr/>
            <p:nvPr/>
          </p:nvSpPr>
          <p:spPr>
            <a:xfrm>
              <a:off x="3462146" y="2193798"/>
              <a:ext cx="821055" cy="822960"/>
            </a:xfrm>
            <a:custGeom>
              <a:avLst/>
              <a:gdLst/>
              <a:ahLst/>
              <a:cxnLst/>
              <a:rect l="l" t="t" r="r" b="b"/>
              <a:pathLst>
                <a:path w="821054" h="822960">
                  <a:moveTo>
                    <a:pt x="727710" y="787907"/>
                  </a:moveTo>
                  <a:lnTo>
                    <a:pt x="725042" y="789431"/>
                  </a:lnTo>
                  <a:lnTo>
                    <a:pt x="724407" y="791972"/>
                  </a:lnTo>
                  <a:lnTo>
                    <a:pt x="723645" y="794512"/>
                  </a:lnTo>
                  <a:lnTo>
                    <a:pt x="725169" y="797178"/>
                  </a:lnTo>
                  <a:lnTo>
                    <a:pt x="727710" y="797813"/>
                  </a:lnTo>
                  <a:lnTo>
                    <a:pt x="820927" y="822451"/>
                  </a:lnTo>
                  <a:lnTo>
                    <a:pt x="820064" y="819150"/>
                  </a:lnTo>
                  <a:lnTo>
                    <a:pt x="810894" y="819150"/>
                  </a:lnTo>
                  <a:lnTo>
                    <a:pt x="798423" y="806653"/>
                  </a:lnTo>
                  <a:lnTo>
                    <a:pt x="730250" y="788669"/>
                  </a:lnTo>
                  <a:lnTo>
                    <a:pt x="727710" y="787907"/>
                  </a:lnTo>
                  <a:close/>
                </a:path>
                <a:path w="821054" h="822960">
                  <a:moveTo>
                    <a:pt x="798423" y="806653"/>
                  </a:moveTo>
                  <a:lnTo>
                    <a:pt x="810894" y="819150"/>
                  </a:lnTo>
                  <a:lnTo>
                    <a:pt x="813053" y="816990"/>
                  </a:lnTo>
                  <a:lnTo>
                    <a:pt x="809625" y="816990"/>
                  </a:lnTo>
                  <a:lnTo>
                    <a:pt x="807547" y="809060"/>
                  </a:lnTo>
                  <a:lnTo>
                    <a:pt x="798423" y="806653"/>
                  </a:lnTo>
                  <a:close/>
                </a:path>
                <a:path w="821054" h="822960">
                  <a:moveTo>
                    <a:pt x="793241" y="725169"/>
                  </a:moveTo>
                  <a:lnTo>
                    <a:pt x="788162" y="726439"/>
                  </a:lnTo>
                  <a:lnTo>
                    <a:pt x="786638" y="729106"/>
                  </a:lnTo>
                  <a:lnTo>
                    <a:pt x="787273" y="731647"/>
                  </a:lnTo>
                  <a:lnTo>
                    <a:pt x="805155" y="799924"/>
                  </a:lnTo>
                  <a:lnTo>
                    <a:pt x="817626" y="812418"/>
                  </a:lnTo>
                  <a:lnTo>
                    <a:pt x="810894" y="819150"/>
                  </a:lnTo>
                  <a:lnTo>
                    <a:pt x="820064" y="819150"/>
                  </a:lnTo>
                  <a:lnTo>
                    <a:pt x="796505" y="729106"/>
                  </a:lnTo>
                  <a:lnTo>
                    <a:pt x="795781" y="726693"/>
                  </a:lnTo>
                  <a:lnTo>
                    <a:pt x="793241" y="725169"/>
                  </a:lnTo>
                  <a:close/>
                </a:path>
                <a:path w="821054" h="822960">
                  <a:moveTo>
                    <a:pt x="807547" y="809060"/>
                  </a:moveTo>
                  <a:lnTo>
                    <a:pt x="809625" y="816990"/>
                  </a:lnTo>
                  <a:lnTo>
                    <a:pt x="815466" y="811149"/>
                  </a:lnTo>
                  <a:lnTo>
                    <a:pt x="807547" y="809060"/>
                  </a:lnTo>
                  <a:close/>
                </a:path>
                <a:path w="821054" h="822960">
                  <a:moveTo>
                    <a:pt x="805155" y="799924"/>
                  </a:moveTo>
                  <a:lnTo>
                    <a:pt x="807547" y="809060"/>
                  </a:lnTo>
                  <a:lnTo>
                    <a:pt x="815466" y="811149"/>
                  </a:lnTo>
                  <a:lnTo>
                    <a:pt x="809625" y="816990"/>
                  </a:lnTo>
                  <a:lnTo>
                    <a:pt x="813053" y="816990"/>
                  </a:lnTo>
                  <a:lnTo>
                    <a:pt x="817626" y="812418"/>
                  </a:lnTo>
                  <a:lnTo>
                    <a:pt x="805155" y="799924"/>
                  </a:lnTo>
                  <a:close/>
                </a:path>
                <a:path w="821054" h="822960">
                  <a:moveTo>
                    <a:pt x="6730" y="0"/>
                  </a:moveTo>
                  <a:lnTo>
                    <a:pt x="0" y="6603"/>
                  </a:lnTo>
                  <a:lnTo>
                    <a:pt x="798423" y="806653"/>
                  </a:lnTo>
                  <a:lnTo>
                    <a:pt x="807547" y="809060"/>
                  </a:lnTo>
                  <a:lnTo>
                    <a:pt x="805155" y="799924"/>
                  </a:lnTo>
                  <a:lnTo>
                    <a:pt x="673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08125" y="3754501"/>
              <a:ext cx="6369050" cy="1973580"/>
            </a:xfrm>
            <a:custGeom>
              <a:avLst/>
              <a:gdLst/>
              <a:ahLst/>
              <a:cxnLst/>
              <a:rect l="l" t="t" r="r" b="b"/>
              <a:pathLst>
                <a:path w="6369050" h="1973579">
                  <a:moveTo>
                    <a:pt x="0" y="328803"/>
                  </a:moveTo>
                  <a:lnTo>
                    <a:pt x="3564" y="280211"/>
                  </a:lnTo>
                  <a:lnTo>
                    <a:pt x="13920" y="233834"/>
                  </a:lnTo>
                  <a:lnTo>
                    <a:pt x="30559" y="190180"/>
                  </a:lnTo>
                  <a:lnTo>
                    <a:pt x="52973" y="149758"/>
                  </a:lnTo>
                  <a:lnTo>
                    <a:pt x="80655" y="113077"/>
                  </a:lnTo>
                  <a:lnTo>
                    <a:pt x="113097" y="80644"/>
                  </a:lnTo>
                  <a:lnTo>
                    <a:pt x="149791" y="52967"/>
                  </a:lnTo>
                  <a:lnTo>
                    <a:pt x="190229" y="30557"/>
                  </a:lnTo>
                  <a:lnTo>
                    <a:pt x="233903" y="13919"/>
                  </a:lnTo>
                  <a:lnTo>
                    <a:pt x="280306" y="3564"/>
                  </a:lnTo>
                  <a:lnTo>
                    <a:pt x="328930" y="0"/>
                  </a:lnTo>
                  <a:lnTo>
                    <a:pt x="6040120" y="0"/>
                  </a:lnTo>
                  <a:lnTo>
                    <a:pt x="6088743" y="3564"/>
                  </a:lnTo>
                  <a:lnTo>
                    <a:pt x="6135146" y="13919"/>
                  </a:lnTo>
                  <a:lnTo>
                    <a:pt x="6178820" y="30557"/>
                  </a:lnTo>
                  <a:lnTo>
                    <a:pt x="6219258" y="52967"/>
                  </a:lnTo>
                  <a:lnTo>
                    <a:pt x="6255952" y="80644"/>
                  </a:lnTo>
                  <a:lnTo>
                    <a:pt x="6288394" y="113077"/>
                  </a:lnTo>
                  <a:lnTo>
                    <a:pt x="6316076" y="149758"/>
                  </a:lnTo>
                  <a:lnTo>
                    <a:pt x="6338490" y="190180"/>
                  </a:lnTo>
                  <a:lnTo>
                    <a:pt x="6355129" y="233834"/>
                  </a:lnTo>
                  <a:lnTo>
                    <a:pt x="6365485" y="280211"/>
                  </a:lnTo>
                  <a:lnTo>
                    <a:pt x="6369050" y="328803"/>
                  </a:lnTo>
                  <a:lnTo>
                    <a:pt x="6369050" y="1644269"/>
                  </a:lnTo>
                  <a:lnTo>
                    <a:pt x="6365485" y="1692892"/>
                  </a:lnTo>
                  <a:lnTo>
                    <a:pt x="6355129" y="1739295"/>
                  </a:lnTo>
                  <a:lnTo>
                    <a:pt x="6338490" y="1782969"/>
                  </a:lnTo>
                  <a:lnTo>
                    <a:pt x="6316076" y="1823407"/>
                  </a:lnTo>
                  <a:lnTo>
                    <a:pt x="6288394" y="1860101"/>
                  </a:lnTo>
                  <a:lnTo>
                    <a:pt x="6255952" y="1892543"/>
                  </a:lnTo>
                  <a:lnTo>
                    <a:pt x="6219258" y="1920225"/>
                  </a:lnTo>
                  <a:lnTo>
                    <a:pt x="6178820" y="1942639"/>
                  </a:lnTo>
                  <a:lnTo>
                    <a:pt x="6135146" y="1959278"/>
                  </a:lnTo>
                  <a:lnTo>
                    <a:pt x="6088743" y="1969634"/>
                  </a:lnTo>
                  <a:lnTo>
                    <a:pt x="6040120" y="1973199"/>
                  </a:lnTo>
                  <a:lnTo>
                    <a:pt x="328930" y="1973199"/>
                  </a:lnTo>
                  <a:lnTo>
                    <a:pt x="280306" y="1969634"/>
                  </a:lnTo>
                  <a:lnTo>
                    <a:pt x="233903" y="1959278"/>
                  </a:lnTo>
                  <a:lnTo>
                    <a:pt x="190229" y="1942639"/>
                  </a:lnTo>
                  <a:lnTo>
                    <a:pt x="149791" y="1920225"/>
                  </a:lnTo>
                  <a:lnTo>
                    <a:pt x="113097" y="1892543"/>
                  </a:lnTo>
                  <a:lnTo>
                    <a:pt x="80655" y="1860101"/>
                  </a:lnTo>
                  <a:lnTo>
                    <a:pt x="52973" y="1823407"/>
                  </a:lnTo>
                  <a:lnTo>
                    <a:pt x="30559" y="1782969"/>
                  </a:lnTo>
                  <a:lnTo>
                    <a:pt x="13920" y="1739295"/>
                  </a:lnTo>
                  <a:lnTo>
                    <a:pt x="3564" y="1692892"/>
                  </a:lnTo>
                  <a:lnTo>
                    <a:pt x="0" y="1644269"/>
                  </a:lnTo>
                  <a:lnTo>
                    <a:pt x="0" y="328803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7491" y="2627376"/>
              <a:ext cx="1993392" cy="644651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819" y="2604516"/>
              <a:ext cx="2142744" cy="48310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33387" y="2552700"/>
            <a:ext cx="1989455" cy="641350"/>
          </a:xfrm>
          <a:prstGeom prst="rect">
            <a:avLst/>
          </a:prstGeom>
          <a:solidFill>
            <a:srgbClr val="D2523B"/>
          </a:solidFill>
        </p:spPr>
        <p:txBody>
          <a:bodyPr vert="horz" wrap="square" lIns="0" tIns="40005" rIns="0" bIns="0" rtlCol="0">
            <a:spAutoFit/>
          </a:bodyPr>
          <a:lstStyle/>
          <a:p>
            <a:pPr marL="93345">
              <a:lnSpc>
                <a:spcPct val="100000"/>
              </a:lnSpc>
              <a:spcBef>
                <a:spcPts val="315"/>
              </a:spcBef>
            </a:pP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Concrete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FFFFFF"/>
                </a:solidFill>
                <a:latin typeface="Microsoft Sans Serif"/>
                <a:cs typeface="Microsoft Sans Serif"/>
              </a:rPr>
              <a:t>Classes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727961" y="3237483"/>
            <a:ext cx="1918970" cy="1210945"/>
            <a:chOff x="1727961" y="3237483"/>
            <a:chExt cx="1918970" cy="1210945"/>
          </a:xfrm>
        </p:grpSpPr>
        <p:sp>
          <p:nvSpPr>
            <p:cNvPr id="17" name="object 17"/>
            <p:cNvSpPr/>
            <p:nvPr/>
          </p:nvSpPr>
          <p:spPr>
            <a:xfrm>
              <a:off x="1727961" y="3237483"/>
              <a:ext cx="325120" cy="483870"/>
            </a:xfrm>
            <a:custGeom>
              <a:avLst/>
              <a:gdLst/>
              <a:ahLst/>
              <a:cxnLst/>
              <a:rect l="l" t="t" r="r" b="b"/>
              <a:pathLst>
                <a:path w="325119" h="483870">
                  <a:moveTo>
                    <a:pt x="239902" y="431545"/>
                  </a:moveTo>
                  <a:lnTo>
                    <a:pt x="237108" y="432561"/>
                  </a:lnTo>
                  <a:lnTo>
                    <a:pt x="235965" y="434974"/>
                  </a:lnTo>
                  <a:lnTo>
                    <a:pt x="234695" y="437260"/>
                  </a:lnTo>
                  <a:lnTo>
                    <a:pt x="235712" y="440181"/>
                  </a:lnTo>
                  <a:lnTo>
                    <a:pt x="238125" y="441324"/>
                  </a:lnTo>
                  <a:lnTo>
                    <a:pt x="324738" y="483615"/>
                  </a:lnTo>
                  <a:lnTo>
                    <a:pt x="324422" y="478408"/>
                  </a:lnTo>
                  <a:lnTo>
                    <a:pt x="315468" y="478408"/>
                  </a:lnTo>
                  <a:lnTo>
                    <a:pt x="305714" y="463778"/>
                  </a:lnTo>
                  <a:lnTo>
                    <a:pt x="242315" y="432688"/>
                  </a:lnTo>
                  <a:lnTo>
                    <a:pt x="239902" y="431545"/>
                  </a:lnTo>
                  <a:close/>
                </a:path>
                <a:path w="325119" h="483870">
                  <a:moveTo>
                    <a:pt x="305714" y="463778"/>
                  </a:moveTo>
                  <a:lnTo>
                    <a:pt x="315468" y="478408"/>
                  </a:lnTo>
                  <a:lnTo>
                    <a:pt x="319087" y="475995"/>
                  </a:lnTo>
                  <a:lnTo>
                    <a:pt x="314706" y="475995"/>
                  </a:lnTo>
                  <a:lnTo>
                    <a:pt x="314218" y="467948"/>
                  </a:lnTo>
                  <a:lnTo>
                    <a:pt x="305714" y="463778"/>
                  </a:lnTo>
                  <a:close/>
                </a:path>
                <a:path w="325119" h="483870">
                  <a:moveTo>
                    <a:pt x="316483" y="382777"/>
                  </a:moveTo>
                  <a:lnTo>
                    <a:pt x="313817" y="382904"/>
                  </a:lnTo>
                  <a:lnTo>
                    <a:pt x="311276" y="383158"/>
                  </a:lnTo>
                  <a:lnTo>
                    <a:pt x="309244" y="385317"/>
                  </a:lnTo>
                  <a:lnTo>
                    <a:pt x="309371" y="387984"/>
                  </a:lnTo>
                  <a:lnTo>
                    <a:pt x="313635" y="458328"/>
                  </a:lnTo>
                  <a:lnTo>
                    <a:pt x="323469" y="473074"/>
                  </a:lnTo>
                  <a:lnTo>
                    <a:pt x="315468" y="478408"/>
                  </a:lnTo>
                  <a:lnTo>
                    <a:pt x="324422" y="478408"/>
                  </a:lnTo>
                  <a:lnTo>
                    <a:pt x="318896" y="387476"/>
                  </a:lnTo>
                  <a:lnTo>
                    <a:pt x="318769" y="384809"/>
                  </a:lnTo>
                  <a:lnTo>
                    <a:pt x="316483" y="382777"/>
                  </a:lnTo>
                  <a:close/>
                </a:path>
                <a:path w="325119" h="483870">
                  <a:moveTo>
                    <a:pt x="314218" y="467948"/>
                  </a:moveTo>
                  <a:lnTo>
                    <a:pt x="314706" y="475995"/>
                  </a:lnTo>
                  <a:lnTo>
                    <a:pt x="321563" y="471550"/>
                  </a:lnTo>
                  <a:lnTo>
                    <a:pt x="314218" y="467948"/>
                  </a:lnTo>
                  <a:close/>
                </a:path>
                <a:path w="325119" h="483870">
                  <a:moveTo>
                    <a:pt x="313635" y="458328"/>
                  </a:moveTo>
                  <a:lnTo>
                    <a:pt x="314218" y="467948"/>
                  </a:lnTo>
                  <a:lnTo>
                    <a:pt x="321563" y="471550"/>
                  </a:lnTo>
                  <a:lnTo>
                    <a:pt x="314706" y="475995"/>
                  </a:lnTo>
                  <a:lnTo>
                    <a:pt x="319087" y="475995"/>
                  </a:lnTo>
                  <a:lnTo>
                    <a:pt x="323469" y="473074"/>
                  </a:lnTo>
                  <a:lnTo>
                    <a:pt x="313635" y="458328"/>
                  </a:lnTo>
                  <a:close/>
                </a:path>
                <a:path w="325119" h="483870">
                  <a:moveTo>
                    <a:pt x="8000" y="0"/>
                  </a:moveTo>
                  <a:lnTo>
                    <a:pt x="0" y="5206"/>
                  </a:lnTo>
                  <a:lnTo>
                    <a:pt x="305714" y="463778"/>
                  </a:lnTo>
                  <a:lnTo>
                    <a:pt x="314218" y="467948"/>
                  </a:lnTo>
                  <a:lnTo>
                    <a:pt x="313635" y="458328"/>
                  </a:lnTo>
                  <a:lnTo>
                    <a:pt x="80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797049" y="3962336"/>
              <a:ext cx="1844675" cy="481330"/>
            </a:xfrm>
            <a:custGeom>
              <a:avLst/>
              <a:gdLst/>
              <a:ahLst/>
              <a:cxnLst/>
              <a:rect l="l" t="t" r="r" b="b"/>
              <a:pathLst>
                <a:path w="1844675" h="481329">
                  <a:moveTo>
                    <a:pt x="0" y="481012"/>
                  </a:moveTo>
                  <a:lnTo>
                    <a:pt x="1844675" y="481012"/>
                  </a:lnTo>
                  <a:lnTo>
                    <a:pt x="1844675" y="0"/>
                  </a:lnTo>
                  <a:lnTo>
                    <a:pt x="0" y="0"/>
                  </a:lnTo>
                  <a:lnTo>
                    <a:pt x="0" y="481012"/>
                  </a:lnTo>
                  <a:close/>
                </a:path>
              </a:pathLst>
            </a:custGeom>
            <a:ln w="9525">
              <a:solidFill>
                <a:srgbClr val="29293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ct</a:t>
            </a:r>
            <a:r>
              <a:rPr sz="4000" spc="-125" dirty="0"/>
              <a:t>i</a:t>
            </a:r>
            <a:r>
              <a:rPr sz="4000" spc="-105" dirty="0"/>
              <a:t>o</a:t>
            </a:r>
            <a:r>
              <a:rPr sz="4000" spc="-5" dirty="0"/>
              <a:t>n</a:t>
            </a:r>
            <a:r>
              <a:rPr sz="4000" spc="-190" dirty="0"/>
              <a:t> </a:t>
            </a:r>
            <a:r>
              <a:rPr sz="4000" spc="-100" dirty="0"/>
              <a:t>vs</a:t>
            </a:r>
            <a:r>
              <a:rPr sz="4000" spc="-5" dirty="0"/>
              <a:t>.</a:t>
            </a:r>
            <a:r>
              <a:rPr sz="4000" spc="-160" dirty="0"/>
              <a:t> </a:t>
            </a:r>
            <a:r>
              <a:rPr sz="4000" spc="-105" dirty="0"/>
              <a:t>en</a:t>
            </a:r>
            <a:r>
              <a:rPr sz="4000" spc="-100" dirty="0"/>
              <a:t>c</a:t>
            </a:r>
            <a:r>
              <a:rPr sz="4000" spc="-105" dirty="0"/>
              <a:t>ap</a:t>
            </a:r>
            <a:r>
              <a:rPr sz="4000" spc="-100" dirty="0"/>
              <a:t>s</a:t>
            </a:r>
            <a:r>
              <a:rPr sz="4000" spc="-105" dirty="0"/>
              <a:t>u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o</a:t>
            </a:r>
            <a:r>
              <a:rPr sz="4000" spc="-5" dirty="0"/>
              <a:t>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162800" cy="3575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represent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taking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out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behavior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how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exactly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its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implemented,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one example of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interface</a:t>
            </a:r>
            <a:endParaRPr sz="2000">
              <a:latin typeface="Microsoft Sans Serif"/>
              <a:cs typeface="Microsoft Sans Serif"/>
            </a:endParaRPr>
          </a:p>
          <a:p>
            <a:pPr marL="194945" marR="504190" indent="-182880">
              <a:lnSpc>
                <a:spcPct val="100000"/>
              </a:lnSpc>
              <a:spcBef>
                <a:spcPts val="57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Encapsulation</a:t>
            </a:r>
            <a:r>
              <a:rPr sz="2400" spc="7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means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hiding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details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implementation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outside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world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when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things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change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body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gets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affected.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  <a:tab pos="1331595" algn="l"/>
                <a:tab pos="2864485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example of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Encapsulation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private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methods; 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clients	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don't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care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about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it,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60" dirty="0">
                <a:solidFill>
                  <a:srgbClr val="292934"/>
                </a:solidFill>
                <a:latin typeface="Microsoft Sans Serif"/>
                <a:cs typeface="Microsoft Sans Serif"/>
              </a:rPr>
              <a:t>You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change,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amend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even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remove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	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if that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 encapsulated and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were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public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your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clients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would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been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affected.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Ab</a:t>
            </a:r>
            <a:r>
              <a:rPr sz="4000" spc="-100" dirty="0"/>
              <a:t>st</a:t>
            </a:r>
            <a:r>
              <a:rPr sz="4000" spc="-105" dirty="0"/>
              <a:t>ra</a:t>
            </a:r>
            <a:r>
              <a:rPr sz="4000" spc="-100" dirty="0"/>
              <a:t>ct</a:t>
            </a:r>
            <a:r>
              <a:rPr sz="4000" spc="-125" dirty="0"/>
              <a:t>i</a:t>
            </a:r>
            <a:r>
              <a:rPr sz="4000" spc="-105" dirty="0"/>
              <a:t>o</a:t>
            </a:r>
            <a:r>
              <a:rPr sz="4000" spc="-5" dirty="0"/>
              <a:t>n</a:t>
            </a:r>
            <a:r>
              <a:rPr sz="4000" spc="-190" dirty="0"/>
              <a:t> </a:t>
            </a:r>
            <a:r>
              <a:rPr sz="4000" spc="-100" dirty="0"/>
              <a:t>vs</a:t>
            </a:r>
            <a:r>
              <a:rPr sz="4000" spc="-5" dirty="0"/>
              <a:t>.</a:t>
            </a:r>
            <a:r>
              <a:rPr sz="4000" spc="-160" dirty="0"/>
              <a:t> </a:t>
            </a:r>
            <a:r>
              <a:rPr sz="4000" spc="-105" dirty="0"/>
              <a:t>en</a:t>
            </a:r>
            <a:r>
              <a:rPr sz="4000" spc="-100" dirty="0"/>
              <a:t>c</a:t>
            </a:r>
            <a:r>
              <a:rPr sz="4000" spc="-105" dirty="0"/>
              <a:t>ap</a:t>
            </a:r>
            <a:r>
              <a:rPr sz="4000" spc="-100" dirty="0"/>
              <a:t>s</a:t>
            </a:r>
            <a:r>
              <a:rPr sz="4000" spc="-105" dirty="0"/>
              <a:t>u</a:t>
            </a:r>
            <a:r>
              <a:rPr sz="4000" spc="-125" dirty="0"/>
              <a:t>l</a:t>
            </a:r>
            <a:r>
              <a:rPr sz="4000" spc="-105" dirty="0"/>
              <a:t>a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o</a:t>
            </a:r>
            <a:r>
              <a:rPr sz="4000" spc="-5" dirty="0"/>
              <a:t>n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6653530" cy="163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Encapsulation(hiding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complexity)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endParaRPr sz="2400" dirty="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abstraction(show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what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necessary)</a:t>
            </a:r>
            <a:endParaRPr sz="2400" dirty="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Abstraction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thought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process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model</a:t>
            </a:r>
            <a:endParaRPr sz="2400" dirty="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Encapsulation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implementation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5</a:t>
            </a:r>
            <a:endParaRPr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C09FA-E049-5F8A-8DE3-6EBAA0CF10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40" y="1130642"/>
            <a:ext cx="8306520" cy="5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147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5</a:t>
            </a:r>
            <a:endParaRPr sz="40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2ED23C-F52E-6300-0775-0B207C71EA09}"/>
              </a:ext>
            </a:extLst>
          </p:cNvPr>
          <p:cNvSpPr txBox="1"/>
          <p:nvPr/>
        </p:nvSpPr>
        <p:spPr>
          <a:xfrm>
            <a:off x="535940" y="1625930"/>
            <a:ext cx="8379460" cy="42421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u="sng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Part (a)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No, you cannot define an abstract method in a non-abstract class because a class containing an abstract method must also be declared abstract. This ensures that the abstract method is implemented by a subclass. </a:t>
            </a:r>
            <a:br>
              <a:rPr lang="en-US"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</a:br>
            <a:endParaRPr sz="2400" dirty="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u="sng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Part (b)</a:t>
            </a: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No, I do not agree with the statement. An abstract class can contain variables, including instance variables, static variables, and final variables. However, an abstract class cannot be instantiated directly.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7341851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4146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5(c)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3E14FA-8528-5005-CD2B-25969E0C1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392" y="1295400"/>
            <a:ext cx="6225216" cy="541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308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4146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5(d)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E188E0-4C5E-6B7D-F1E3-E82A23820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95841"/>
            <a:ext cx="9144000" cy="286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263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4146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5(e)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D3D66D-0244-6D4E-22A2-5D62A3863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9576"/>
            <a:ext cx="9144000" cy="251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7808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Summer 2023 Question 5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334D0-40A9-EDBB-FACB-8E2721DBF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188" y="2564055"/>
            <a:ext cx="8123624" cy="172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5476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Summer 2023 Question 5</a:t>
            </a:r>
            <a:endParaRPr sz="40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2ED23C-F52E-6300-0775-0B207C71EA09}"/>
              </a:ext>
            </a:extLst>
          </p:cNvPr>
          <p:cNvSpPr txBox="1"/>
          <p:nvPr/>
        </p:nvSpPr>
        <p:spPr>
          <a:xfrm>
            <a:off x="535940" y="1625930"/>
            <a:ext cx="8379460" cy="46243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 err="1">
                <a:solidFill>
                  <a:srgbClr val="292934"/>
                </a:solidFill>
                <a:latin typeface="Microsoft Sans Serif"/>
                <a:cs typeface="Microsoft Sans Serif"/>
              </a:rPr>
              <a:t>i</a:t>
            </a:r>
            <a:r>
              <a:rPr lang="en-US" sz="2400" b="1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. Can a class be abstract and final simultaneously? Why or why not?</a:t>
            </a:r>
            <a:endParaRPr lang="en-US" sz="2400" b="1" u="sng" spc="-5" dirty="0">
              <a:solidFill>
                <a:srgbClr val="292934"/>
              </a:solidFill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No, a class cannot be both abstract and final simultaneously because abstract classes are meant to be subclassed and final classes cannot be subclassed. These two concepts are contradictory.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sz="2400" dirty="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ii. Abstract classes without instance variables or methods:</a:t>
            </a:r>
            <a:endParaRPr lang="en-US" sz="2400" b="1" u="sng" spc="-5" dirty="0">
              <a:solidFill>
                <a:srgbClr val="292934"/>
              </a:solidFill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 abstract class without instance variables or methods can serve as a base type that defines a common interface for a group of related classes. It can be used to enforce a consistent structure across different implementations.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043439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Summer 2023 Question 5</a:t>
            </a:r>
            <a:endParaRPr sz="4000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32ED23C-F52E-6300-0775-0B207C71EA09}"/>
              </a:ext>
            </a:extLst>
          </p:cNvPr>
          <p:cNvSpPr txBox="1"/>
          <p:nvPr/>
        </p:nvSpPr>
        <p:spPr>
          <a:xfrm>
            <a:off x="535940" y="1625930"/>
            <a:ext cx="8379460" cy="29931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b="1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iii. Why a class with an abstract method must be declared abstract:</a:t>
            </a: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endParaRPr lang="en-US" sz="2400" b="1" spc="-5" dirty="0">
              <a:solidFill>
                <a:srgbClr val="292934"/>
              </a:solidFill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lang="en-US"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 class with an abstract method must be declared abstract because it cannot provide a complete implementation for all of its methods. Declaring it abstract ensures that no instance of the incomplete class can be created, forcing subclasses to provide implementations for the abstract methods.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38644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Summer 2023 Question 5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80251A-2A71-36A0-B89F-81B3B3EA7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737" y="1295400"/>
            <a:ext cx="7456525" cy="5379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7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Summer 2023 Question 5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822995-3E13-AD74-A685-4094BCF53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694" y="1371600"/>
            <a:ext cx="4836612" cy="522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5942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761" y="2996260"/>
            <a:ext cx="229933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-100" dirty="0"/>
              <a:t>I</a:t>
            </a:r>
            <a:r>
              <a:rPr sz="4800" spc="-105" dirty="0"/>
              <a:t>n</a:t>
            </a:r>
            <a:r>
              <a:rPr sz="4800" spc="-100" dirty="0"/>
              <a:t>t</a:t>
            </a:r>
            <a:r>
              <a:rPr sz="4800" spc="-105" dirty="0"/>
              <a:t>e</a:t>
            </a:r>
            <a:r>
              <a:rPr sz="4800" spc="-100" dirty="0"/>
              <a:t>rf</a:t>
            </a:r>
            <a:r>
              <a:rPr sz="4800" spc="-105" dirty="0"/>
              <a:t>a</a:t>
            </a:r>
            <a:r>
              <a:rPr sz="4800" spc="-100" dirty="0"/>
              <a:t>c</a:t>
            </a:r>
            <a:r>
              <a:rPr sz="4800" dirty="0"/>
              <a:t>e</a:t>
            </a:r>
            <a:endParaRPr sz="4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1905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0" dirty="0"/>
              <a:t>Interface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708900" cy="317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Using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interface,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 you</a:t>
            </a:r>
            <a:r>
              <a:rPr sz="24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fully</a:t>
            </a:r>
            <a:r>
              <a:rPr sz="24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194945">
              <a:lnSpc>
                <a:spcPct val="100000"/>
              </a:lnSpc>
            </a:pP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class’</a:t>
            </a:r>
            <a:r>
              <a:rPr sz="2400" b="1" spc="-1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from</a:t>
            </a:r>
            <a:r>
              <a:rPr sz="24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its</a:t>
            </a:r>
            <a:r>
              <a:rPr sz="24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implementation.</a:t>
            </a:r>
            <a:endParaRPr sz="2400">
              <a:latin typeface="Arial"/>
              <a:cs typeface="Arial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is,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using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interface,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you</a:t>
            </a:r>
            <a:r>
              <a:rPr sz="2400" b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specify</a:t>
            </a:r>
            <a:r>
              <a:rPr sz="24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what</a:t>
            </a:r>
            <a:r>
              <a:rPr sz="2400" b="1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 </a:t>
            </a:r>
            <a:r>
              <a:rPr sz="2400" b="1" spc="-6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must do,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but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not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how</a:t>
            </a:r>
            <a:r>
              <a:rPr sz="24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it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does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it.</a:t>
            </a:r>
            <a:endParaRPr sz="2400">
              <a:latin typeface="Arial"/>
              <a:cs typeface="Arial"/>
            </a:endParaRPr>
          </a:p>
          <a:p>
            <a:pPr marL="194945" marR="1084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Once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defined,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any</a:t>
            </a:r>
            <a:r>
              <a:rPr sz="2400" b="1" i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number</a:t>
            </a: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 of</a:t>
            </a:r>
            <a:r>
              <a:rPr sz="2400" b="1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classes</a:t>
            </a:r>
            <a:r>
              <a:rPr sz="2400" b="1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can </a:t>
            </a:r>
            <a:r>
              <a:rPr sz="2400" b="1" i="1" spc="-65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implement</a:t>
            </a:r>
            <a:r>
              <a:rPr sz="2400" b="1" i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 interface.</a:t>
            </a:r>
            <a:endParaRPr sz="2400">
              <a:latin typeface="Arial"/>
              <a:cs typeface="Arial"/>
            </a:endParaRPr>
          </a:p>
          <a:p>
            <a:pPr marL="194945" marR="887094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Font typeface="Microsoft Sans Serif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Also,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one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 can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implement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any number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of </a:t>
            </a:r>
            <a:r>
              <a:rPr sz="2400" b="1" spc="-6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1905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0" dirty="0"/>
              <a:t>Interface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99730" cy="4014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Font typeface="Microsoft Sans Serif"/>
              <a:buChar char="•"/>
              <a:tabLst>
                <a:tab pos="195580" algn="l"/>
              </a:tabLst>
            </a:pP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syntactically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similar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classes,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but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they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only</a:t>
            </a:r>
            <a:endParaRPr sz="2400">
              <a:latin typeface="Microsoft Sans Serif"/>
              <a:cs typeface="Microsoft Sans Serif"/>
            </a:endParaRPr>
          </a:p>
          <a:p>
            <a:pPr marL="469900" marR="39370" lvl="1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Have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fields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 are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final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static. (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even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if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they are not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explicitly </a:t>
            </a:r>
            <a:r>
              <a:rPr sz="2000" spc="-5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such.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contains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20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abstract</a:t>
            </a:r>
            <a:r>
              <a:rPr sz="20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methods.</a:t>
            </a:r>
            <a:r>
              <a:rPr sz="20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(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even though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might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say so)</a:t>
            </a:r>
            <a:endParaRPr sz="2000">
              <a:latin typeface="Microsoft Sans Serif"/>
              <a:cs typeface="Microsoft Sans Serif"/>
            </a:endParaRPr>
          </a:p>
          <a:p>
            <a:pPr marL="194945" marR="50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Interfaces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same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access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levels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classes,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package.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interface,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like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defines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type.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Fields,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parameters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 to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type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defined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371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5" dirty="0"/>
              <a:t> </a:t>
            </a:r>
            <a:r>
              <a:rPr sz="4000" spc="1050" dirty="0"/>
              <a:t>–</a:t>
            </a:r>
            <a:r>
              <a:rPr sz="4000" spc="-145" dirty="0"/>
              <a:t> </a:t>
            </a:r>
            <a:r>
              <a:rPr sz="4000" spc="-105" dirty="0"/>
              <a:t>Wha</a:t>
            </a:r>
            <a:r>
              <a:rPr sz="4000" spc="-5" dirty="0"/>
              <a:t>t</a:t>
            </a:r>
            <a:r>
              <a:rPr sz="4000" spc="-150" dirty="0"/>
              <a:t> </a:t>
            </a:r>
            <a:r>
              <a:rPr sz="4000" spc="-100" dirty="0"/>
              <a:t>c</a:t>
            </a:r>
            <a:r>
              <a:rPr sz="4000" spc="-105" dirty="0"/>
              <a:t>an’</a:t>
            </a:r>
            <a:r>
              <a:rPr sz="4000" spc="-5" dirty="0"/>
              <a:t>t</a:t>
            </a:r>
            <a:r>
              <a:rPr sz="4000" spc="-160" dirty="0"/>
              <a:t> </a:t>
            </a:r>
            <a:r>
              <a:rPr sz="4000" spc="-105" dirty="0"/>
              <a:t>d</a:t>
            </a:r>
            <a:r>
              <a:rPr sz="4000" spc="-5" dirty="0"/>
              <a:t>o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8066405" cy="29711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Interfaces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 not</a:t>
            </a:r>
            <a:r>
              <a:rPr sz="2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have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instance</a:t>
            </a:r>
            <a:r>
              <a:rPr sz="20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variables.</a:t>
            </a:r>
            <a:endParaRPr sz="2000">
              <a:latin typeface="Microsoft Sans Serif"/>
              <a:cs typeface="Microsoft Sans Serif"/>
            </a:endParaRPr>
          </a:p>
          <a:p>
            <a:pPr marL="742950" marR="5080" lvl="2" indent="-182880">
              <a:lnSpc>
                <a:spcPct val="100000"/>
              </a:lnSpc>
              <a:spcBef>
                <a:spcPts val="440"/>
              </a:spcBef>
              <a:buClr>
                <a:srgbClr val="92A199"/>
              </a:buClr>
              <a:buSzPct val="88888"/>
              <a:buChar char="•"/>
              <a:tabLst>
                <a:tab pos="742950" algn="l"/>
              </a:tabLst>
            </a:pP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fields</a:t>
            </a:r>
            <a:r>
              <a:rPr sz="18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18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18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b="1" dirty="0">
                <a:solidFill>
                  <a:srgbClr val="292934"/>
                </a:solidFill>
                <a:latin typeface="Arial"/>
                <a:cs typeface="Arial"/>
              </a:rPr>
              <a:t>final</a:t>
            </a: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18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static</a:t>
            </a:r>
            <a:r>
              <a:rPr sz="1800" b="1" spc="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even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they</a:t>
            </a:r>
            <a:r>
              <a:rPr sz="18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18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18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explicitly </a:t>
            </a:r>
            <a:r>
              <a:rPr sz="1800" spc="-45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sz="18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18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such.</a:t>
            </a:r>
            <a:endParaRPr sz="18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75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Constructor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Normal/concrete</a:t>
            </a:r>
            <a:r>
              <a:rPr sz="2000" spc="-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endParaRPr sz="2000">
              <a:latin typeface="Microsoft Sans Serif"/>
              <a:cs typeface="Microsoft Sans Serif"/>
            </a:endParaRPr>
          </a:p>
          <a:p>
            <a:pPr marL="194945" marR="324485" indent="-182880">
              <a:lnSpc>
                <a:spcPct val="100000"/>
              </a:lnSpc>
              <a:spcBef>
                <a:spcPts val="57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Like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make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557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5" dirty="0"/>
              <a:t> </a:t>
            </a:r>
            <a:r>
              <a:rPr sz="4000" spc="1050" dirty="0"/>
              <a:t>–</a:t>
            </a:r>
            <a:r>
              <a:rPr sz="4000" spc="-145" dirty="0"/>
              <a:t> </a:t>
            </a:r>
            <a:r>
              <a:rPr sz="4000" spc="-105" dirty="0"/>
              <a:t>ho</a:t>
            </a:r>
            <a:r>
              <a:rPr sz="4000" spc="-5" dirty="0"/>
              <a:t>w</a:t>
            </a:r>
            <a:r>
              <a:rPr sz="4000" spc="-145" dirty="0"/>
              <a:t> </a:t>
            </a:r>
            <a:r>
              <a:rPr sz="4000" spc="-100" dirty="0"/>
              <a:t>t</a:t>
            </a:r>
            <a:r>
              <a:rPr sz="4000" spc="-5" dirty="0"/>
              <a:t>o</a:t>
            </a:r>
            <a:r>
              <a:rPr sz="4000" spc="-165" dirty="0"/>
              <a:t> </a:t>
            </a:r>
            <a:r>
              <a:rPr sz="4000" spc="-105" dirty="0"/>
              <a:t>de</a:t>
            </a:r>
            <a:r>
              <a:rPr sz="4000" spc="-100" dirty="0"/>
              <a:t>c</a:t>
            </a:r>
            <a:r>
              <a:rPr sz="4000" spc="-125" dirty="0"/>
              <a:t>l</a:t>
            </a:r>
            <a:r>
              <a:rPr sz="4000" spc="-105" dirty="0"/>
              <a:t>ar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5088890" cy="3561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NameOfInterface</a:t>
            </a:r>
            <a:r>
              <a:rPr sz="1600" spc="7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600" spc="-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sz="16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number</a:t>
            </a:r>
            <a:r>
              <a:rPr sz="16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final,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fields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//</a:t>
            </a:r>
            <a:r>
              <a:rPr sz="1600" spc="-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Any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number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6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declarations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Note: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Example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sz="1600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600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fly();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6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44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5" dirty="0"/>
              <a:t> </a:t>
            </a:r>
            <a:r>
              <a:rPr sz="4000" spc="-5" dirty="0"/>
              <a:t>-</a:t>
            </a:r>
            <a:r>
              <a:rPr sz="4000" spc="-140" dirty="0"/>
              <a:t> </a:t>
            </a:r>
            <a:r>
              <a:rPr sz="4000" spc="-105" dirty="0"/>
              <a:t>ho</a:t>
            </a:r>
            <a:r>
              <a:rPr sz="4000" spc="-5" dirty="0"/>
              <a:t>w</a:t>
            </a:r>
            <a:r>
              <a:rPr sz="4000" spc="-145" dirty="0"/>
              <a:t> </a:t>
            </a:r>
            <a:r>
              <a:rPr sz="4000" spc="-100" dirty="0"/>
              <a:t>t</a:t>
            </a:r>
            <a:r>
              <a:rPr sz="4000" spc="-5" dirty="0"/>
              <a:t>o</a:t>
            </a:r>
            <a:r>
              <a:rPr sz="4000" spc="-165" dirty="0"/>
              <a:t> </a:t>
            </a:r>
            <a:r>
              <a:rPr sz="4000" spc="-105" dirty="0"/>
              <a:t>de</a:t>
            </a:r>
            <a:r>
              <a:rPr sz="4000" spc="-100" dirty="0"/>
              <a:t>c</a:t>
            </a:r>
            <a:r>
              <a:rPr sz="4000" spc="-125" dirty="0"/>
              <a:t>l</a:t>
            </a:r>
            <a:r>
              <a:rPr sz="4000" spc="-105" dirty="0"/>
              <a:t>ar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07959" cy="4479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33045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Each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in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implicitly</a:t>
            </a:r>
            <a:r>
              <a:rPr sz="20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public,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20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access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modifier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may not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explicitly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mentioned/declared.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92A199"/>
              </a:buClr>
              <a:buFont typeface="Microsoft Sans Serif"/>
              <a:buChar char="•"/>
            </a:pPr>
            <a:endParaRPr sz="2100">
              <a:latin typeface="Microsoft Sans Serif"/>
              <a:cs typeface="Microsoft Sans Serif"/>
            </a:endParaRPr>
          </a:p>
          <a:p>
            <a:pPr marL="88900" indent="-76835">
              <a:lnSpc>
                <a:spcPct val="100000"/>
              </a:lnSpc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Each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field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implicitly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public,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and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final.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those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may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explicitly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mentioned/declared.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00">
              <a:latin typeface="Microsoft Sans Serif"/>
              <a:cs typeface="Microsoft Sans Serif"/>
            </a:endParaRPr>
          </a:p>
          <a:p>
            <a:pPr marL="88900" indent="-76835">
              <a:lnSpc>
                <a:spcPct val="100000"/>
              </a:lnSpc>
              <a:spcBef>
                <a:spcPts val="5"/>
              </a:spcBef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So,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 can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define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below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(without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keywords).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media = "Sky";</a:t>
            </a:r>
            <a:endParaRPr sz="1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6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6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6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5444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5" dirty="0"/>
              <a:t> </a:t>
            </a:r>
            <a:r>
              <a:rPr sz="4000" spc="-5" dirty="0"/>
              <a:t>-</a:t>
            </a:r>
            <a:r>
              <a:rPr sz="4000" spc="-140" dirty="0"/>
              <a:t> </a:t>
            </a:r>
            <a:r>
              <a:rPr sz="4000" spc="-105" dirty="0"/>
              <a:t>ho</a:t>
            </a:r>
            <a:r>
              <a:rPr sz="4000" spc="-5" dirty="0"/>
              <a:t>w</a:t>
            </a:r>
            <a:r>
              <a:rPr sz="4000" spc="-145" dirty="0"/>
              <a:t> </a:t>
            </a:r>
            <a:r>
              <a:rPr sz="4000" spc="-100" dirty="0"/>
              <a:t>t</a:t>
            </a:r>
            <a:r>
              <a:rPr sz="4000" spc="-5" dirty="0"/>
              <a:t>o</a:t>
            </a:r>
            <a:r>
              <a:rPr sz="4000" spc="-165" dirty="0"/>
              <a:t> </a:t>
            </a:r>
            <a:r>
              <a:rPr sz="4000" spc="-105" dirty="0"/>
              <a:t>de</a:t>
            </a:r>
            <a:r>
              <a:rPr sz="4000" spc="-100" dirty="0"/>
              <a:t>c</a:t>
            </a:r>
            <a:r>
              <a:rPr sz="4000" spc="-125" dirty="0"/>
              <a:t>l</a:t>
            </a:r>
            <a:r>
              <a:rPr sz="4000" spc="-105" dirty="0"/>
              <a:t>ar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425767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8900" indent="-76835">
              <a:lnSpc>
                <a:spcPct val="100000"/>
              </a:lnSpc>
              <a:spcBef>
                <a:spcPts val="105"/>
              </a:spcBef>
              <a:buClr>
                <a:srgbClr val="92A199"/>
              </a:buClr>
              <a:buSzPct val="80000"/>
              <a:buChar char="•"/>
              <a:tabLst>
                <a:tab pos="89535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Compiler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do the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following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conversion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2" y="2223007"/>
            <a:ext cx="2895600" cy="13849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400" spc="-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4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sz="1400" i="1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400" i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1200" y="4724146"/>
            <a:ext cx="3429000" cy="1600835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127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5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400" spc="-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sz="1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sz="1400" i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endParaRPr sz="140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</a:pP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Arial"/>
              <a:cs typeface="Arial"/>
            </a:endParaRPr>
          </a:p>
          <a:p>
            <a:pPr marL="36576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36576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400">
              <a:latin typeface="Microsoft Sans Serif"/>
              <a:cs typeface="Microsoft Sans Serif"/>
            </a:endParaRPr>
          </a:p>
          <a:p>
            <a:pPr marL="9144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806064" y="3886072"/>
            <a:ext cx="1779270" cy="483870"/>
            <a:chOff x="2806064" y="3886072"/>
            <a:chExt cx="1779270" cy="483870"/>
          </a:xfrm>
        </p:grpSpPr>
        <p:sp>
          <p:nvSpPr>
            <p:cNvPr id="7" name="object 7"/>
            <p:cNvSpPr/>
            <p:nvPr/>
          </p:nvSpPr>
          <p:spPr>
            <a:xfrm>
              <a:off x="2819399" y="3899407"/>
              <a:ext cx="1752600" cy="457200"/>
            </a:xfrm>
            <a:custGeom>
              <a:avLst/>
              <a:gdLst/>
              <a:ahLst/>
              <a:cxnLst/>
              <a:rect l="l" t="t" r="r" b="b"/>
              <a:pathLst>
                <a:path w="1752600" h="457200">
                  <a:moveTo>
                    <a:pt x="876300" y="0"/>
                  </a:moveTo>
                  <a:lnTo>
                    <a:pt x="804425" y="756"/>
                  </a:lnTo>
                  <a:lnTo>
                    <a:pt x="734152" y="2988"/>
                  </a:lnTo>
                  <a:lnTo>
                    <a:pt x="665705" y="6637"/>
                  </a:lnTo>
                  <a:lnTo>
                    <a:pt x="599309" y="11643"/>
                  </a:lnTo>
                  <a:lnTo>
                    <a:pt x="535191" y="17948"/>
                  </a:lnTo>
                  <a:lnTo>
                    <a:pt x="473576" y="25494"/>
                  </a:lnTo>
                  <a:lnTo>
                    <a:pt x="414689" y="34222"/>
                  </a:lnTo>
                  <a:lnTo>
                    <a:pt x="358755" y="44074"/>
                  </a:lnTo>
                  <a:lnTo>
                    <a:pt x="306001" y="54990"/>
                  </a:lnTo>
                  <a:lnTo>
                    <a:pt x="256651" y="66913"/>
                  </a:lnTo>
                  <a:lnTo>
                    <a:pt x="210931" y="79783"/>
                  </a:lnTo>
                  <a:lnTo>
                    <a:pt x="169066" y="93543"/>
                  </a:lnTo>
                  <a:lnTo>
                    <a:pt x="131282" y="108133"/>
                  </a:lnTo>
                  <a:lnTo>
                    <a:pt x="68859" y="139571"/>
                  </a:lnTo>
                  <a:lnTo>
                    <a:pt x="25465" y="173628"/>
                  </a:lnTo>
                  <a:lnTo>
                    <a:pt x="2904" y="209835"/>
                  </a:lnTo>
                  <a:lnTo>
                    <a:pt x="0" y="228600"/>
                  </a:lnTo>
                  <a:lnTo>
                    <a:pt x="2904" y="247346"/>
                  </a:lnTo>
                  <a:lnTo>
                    <a:pt x="25465" y="283530"/>
                  </a:lnTo>
                  <a:lnTo>
                    <a:pt x="68859" y="317575"/>
                  </a:lnTo>
                  <a:lnTo>
                    <a:pt x="131282" y="349010"/>
                  </a:lnTo>
                  <a:lnTo>
                    <a:pt x="169066" y="363602"/>
                  </a:lnTo>
                  <a:lnTo>
                    <a:pt x="210931" y="377364"/>
                  </a:lnTo>
                  <a:lnTo>
                    <a:pt x="256651" y="390239"/>
                  </a:lnTo>
                  <a:lnTo>
                    <a:pt x="306001" y="402167"/>
                  </a:lnTo>
                  <a:lnTo>
                    <a:pt x="358755" y="413089"/>
                  </a:lnTo>
                  <a:lnTo>
                    <a:pt x="414689" y="422947"/>
                  </a:lnTo>
                  <a:lnTo>
                    <a:pt x="473576" y="431681"/>
                  </a:lnTo>
                  <a:lnTo>
                    <a:pt x="535191" y="439233"/>
                  </a:lnTo>
                  <a:lnTo>
                    <a:pt x="599309" y="445544"/>
                  </a:lnTo>
                  <a:lnTo>
                    <a:pt x="665705" y="450555"/>
                  </a:lnTo>
                  <a:lnTo>
                    <a:pt x="734152" y="454207"/>
                  </a:lnTo>
                  <a:lnTo>
                    <a:pt x="804425" y="456442"/>
                  </a:lnTo>
                  <a:lnTo>
                    <a:pt x="876300" y="457200"/>
                  </a:lnTo>
                  <a:lnTo>
                    <a:pt x="948174" y="456442"/>
                  </a:lnTo>
                  <a:lnTo>
                    <a:pt x="1018447" y="454207"/>
                  </a:lnTo>
                  <a:lnTo>
                    <a:pt x="1086894" y="450555"/>
                  </a:lnTo>
                  <a:lnTo>
                    <a:pt x="1153290" y="445544"/>
                  </a:lnTo>
                  <a:lnTo>
                    <a:pt x="1217408" y="439233"/>
                  </a:lnTo>
                  <a:lnTo>
                    <a:pt x="1279023" y="431681"/>
                  </a:lnTo>
                  <a:lnTo>
                    <a:pt x="1337910" y="422947"/>
                  </a:lnTo>
                  <a:lnTo>
                    <a:pt x="1393844" y="413089"/>
                  </a:lnTo>
                  <a:lnTo>
                    <a:pt x="1446598" y="402167"/>
                  </a:lnTo>
                  <a:lnTo>
                    <a:pt x="1495948" y="390239"/>
                  </a:lnTo>
                  <a:lnTo>
                    <a:pt x="1541668" y="377364"/>
                  </a:lnTo>
                  <a:lnTo>
                    <a:pt x="1583533" y="363602"/>
                  </a:lnTo>
                  <a:lnTo>
                    <a:pt x="1621317" y="349010"/>
                  </a:lnTo>
                  <a:lnTo>
                    <a:pt x="1683740" y="317575"/>
                  </a:lnTo>
                  <a:lnTo>
                    <a:pt x="1727134" y="283530"/>
                  </a:lnTo>
                  <a:lnTo>
                    <a:pt x="1749695" y="247346"/>
                  </a:lnTo>
                  <a:lnTo>
                    <a:pt x="1752600" y="228600"/>
                  </a:lnTo>
                  <a:lnTo>
                    <a:pt x="1749695" y="209835"/>
                  </a:lnTo>
                  <a:lnTo>
                    <a:pt x="1727134" y="173628"/>
                  </a:lnTo>
                  <a:lnTo>
                    <a:pt x="1683740" y="139571"/>
                  </a:lnTo>
                  <a:lnTo>
                    <a:pt x="1621317" y="108133"/>
                  </a:lnTo>
                  <a:lnTo>
                    <a:pt x="1583533" y="93543"/>
                  </a:lnTo>
                  <a:lnTo>
                    <a:pt x="1541668" y="79783"/>
                  </a:lnTo>
                  <a:lnTo>
                    <a:pt x="1495948" y="66913"/>
                  </a:lnTo>
                  <a:lnTo>
                    <a:pt x="1446598" y="54990"/>
                  </a:lnTo>
                  <a:lnTo>
                    <a:pt x="1393844" y="44074"/>
                  </a:lnTo>
                  <a:lnTo>
                    <a:pt x="1337910" y="34222"/>
                  </a:lnTo>
                  <a:lnTo>
                    <a:pt x="1279023" y="25494"/>
                  </a:lnTo>
                  <a:lnTo>
                    <a:pt x="1217408" y="17948"/>
                  </a:lnTo>
                  <a:lnTo>
                    <a:pt x="1153290" y="11643"/>
                  </a:lnTo>
                  <a:lnTo>
                    <a:pt x="1086894" y="6637"/>
                  </a:lnTo>
                  <a:lnTo>
                    <a:pt x="1018447" y="2988"/>
                  </a:lnTo>
                  <a:lnTo>
                    <a:pt x="948174" y="756"/>
                  </a:lnTo>
                  <a:lnTo>
                    <a:pt x="876300" y="0"/>
                  </a:lnTo>
                  <a:close/>
                </a:path>
              </a:pathLst>
            </a:custGeom>
            <a:solidFill>
              <a:srgbClr val="92A1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19399" y="3899407"/>
              <a:ext cx="1752600" cy="457200"/>
            </a:xfrm>
            <a:custGeom>
              <a:avLst/>
              <a:gdLst/>
              <a:ahLst/>
              <a:cxnLst/>
              <a:rect l="l" t="t" r="r" b="b"/>
              <a:pathLst>
                <a:path w="1752600" h="457200">
                  <a:moveTo>
                    <a:pt x="0" y="228600"/>
                  </a:moveTo>
                  <a:lnTo>
                    <a:pt x="11468" y="191492"/>
                  </a:lnTo>
                  <a:lnTo>
                    <a:pt x="44671" y="156301"/>
                  </a:lnTo>
                  <a:lnTo>
                    <a:pt x="97805" y="123495"/>
                  </a:lnTo>
                  <a:lnTo>
                    <a:pt x="169066" y="93543"/>
                  </a:lnTo>
                  <a:lnTo>
                    <a:pt x="210931" y="79783"/>
                  </a:lnTo>
                  <a:lnTo>
                    <a:pt x="256651" y="66913"/>
                  </a:lnTo>
                  <a:lnTo>
                    <a:pt x="306001" y="54990"/>
                  </a:lnTo>
                  <a:lnTo>
                    <a:pt x="358755" y="44074"/>
                  </a:lnTo>
                  <a:lnTo>
                    <a:pt x="414689" y="34222"/>
                  </a:lnTo>
                  <a:lnTo>
                    <a:pt x="473576" y="25494"/>
                  </a:lnTo>
                  <a:lnTo>
                    <a:pt x="535191" y="17948"/>
                  </a:lnTo>
                  <a:lnTo>
                    <a:pt x="599309" y="11643"/>
                  </a:lnTo>
                  <a:lnTo>
                    <a:pt x="665705" y="6637"/>
                  </a:lnTo>
                  <a:lnTo>
                    <a:pt x="734152" y="2988"/>
                  </a:lnTo>
                  <a:lnTo>
                    <a:pt x="804425" y="756"/>
                  </a:lnTo>
                  <a:lnTo>
                    <a:pt x="876300" y="0"/>
                  </a:lnTo>
                  <a:lnTo>
                    <a:pt x="948174" y="756"/>
                  </a:lnTo>
                  <a:lnTo>
                    <a:pt x="1018447" y="2988"/>
                  </a:lnTo>
                  <a:lnTo>
                    <a:pt x="1086894" y="6637"/>
                  </a:lnTo>
                  <a:lnTo>
                    <a:pt x="1153290" y="11643"/>
                  </a:lnTo>
                  <a:lnTo>
                    <a:pt x="1217408" y="17948"/>
                  </a:lnTo>
                  <a:lnTo>
                    <a:pt x="1279023" y="25494"/>
                  </a:lnTo>
                  <a:lnTo>
                    <a:pt x="1337910" y="34222"/>
                  </a:lnTo>
                  <a:lnTo>
                    <a:pt x="1393844" y="44074"/>
                  </a:lnTo>
                  <a:lnTo>
                    <a:pt x="1446598" y="54990"/>
                  </a:lnTo>
                  <a:lnTo>
                    <a:pt x="1495948" y="66913"/>
                  </a:lnTo>
                  <a:lnTo>
                    <a:pt x="1541668" y="79783"/>
                  </a:lnTo>
                  <a:lnTo>
                    <a:pt x="1583533" y="93543"/>
                  </a:lnTo>
                  <a:lnTo>
                    <a:pt x="1621317" y="108133"/>
                  </a:lnTo>
                  <a:lnTo>
                    <a:pt x="1683740" y="139571"/>
                  </a:lnTo>
                  <a:lnTo>
                    <a:pt x="1727134" y="173628"/>
                  </a:lnTo>
                  <a:lnTo>
                    <a:pt x="1749695" y="209835"/>
                  </a:lnTo>
                  <a:lnTo>
                    <a:pt x="1752600" y="228600"/>
                  </a:lnTo>
                  <a:lnTo>
                    <a:pt x="1749695" y="247346"/>
                  </a:lnTo>
                  <a:lnTo>
                    <a:pt x="1727134" y="283530"/>
                  </a:lnTo>
                  <a:lnTo>
                    <a:pt x="1683740" y="317575"/>
                  </a:lnTo>
                  <a:lnTo>
                    <a:pt x="1621317" y="349010"/>
                  </a:lnTo>
                  <a:lnTo>
                    <a:pt x="1583533" y="363602"/>
                  </a:lnTo>
                  <a:lnTo>
                    <a:pt x="1541668" y="377364"/>
                  </a:lnTo>
                  <a:lnTo>
                    <a:pt x="1495948" y="390239"/>
                  </a:lnTo>
                  <a:lnTo>
                    <a:pt x="1446598" y="402167"/>
                  </a:lnTo>
                  <a:lnTo>
                    <a:pt x="1393844" y="413089"/>
                  </a:lnTo>
                  <a:lnTo>
                    <a:pt x="1337910" y="422947"/>
                  </a:lnTo>
                  <a:lnTo>
                    <a:pt x="1279023" y="431681"/>
                  </a:lnTo>
                  <a:lnTo>
                    <a:pt x="1217408" y="439233"/>
                  </a:lnTo>
                  <a:lnTo>
                    <a:pt x="1153290" y="445544"/>
                  </a:lnTo>
                  <a:lnTo>
                    <a:pt x="1086894" y="450555"/>
                  </a:lnTo>
                  <a:lnTo>
                    <a:pt x="1018447" y="454207"/>
                  </a:lnTo>
                  <a:lnTo>
                    <a:pt x="948174" y="456442"/>
                  </a:lnTo>
                  <a:lnTo>
                    <a:pt x="876300" y="457200"/>
                  </a:lnTo>
                  <a:lnTo>
                    <a:pt x="804425" y="456442"/>
                  </a:lnTo>
                  <a:lnTo>
                    <a:pt x="734152" y="454207"/>
                  </a:lnTo>
                  <a:lnTo>
                    <a:pt x="665705" y="450555"/>
                  </a:lnTo>
                  <a:lnTo>
                    <a:pt x="599309" y="445544"/>
                  </a:lnTo>
                  <a:lnTo>
                    <a:pt x="535191" y="439233"/>
                  </a:lnTo>
                  <a:lnTo>
                    <a:pt x="473576" y="431681"/>
                  </a:lnTo>
                  <a:lnTo>
                    <a:pt x="414689" y="422947"/>
                  </a:lnTo>
                  <a:lnTo>
                    <a:pt x="358755" y="413089"/>
                  </a:lnTo>
                  <a:lnTo>
                    <a:pt x="306001" y="402167"/>
                  </a:lnTo>
                  <a:lnTo>
                    <a:pt x="256651" y="390239"/>
                  </a:lnTo>
                  <a:lnTo>
                    <a:pt x="210931" y="377364"/>
                  </a:lnTo>
                  <a:lnTo>
                    <a:pt x="169066" y="363602"/>
                  </a:lnTo>
                  <a:lnTo>
                    <a:pt x="131282" y="349010"/>
                  </a:lnTo>
                  <a:lnTo>
                    <a:pt x="68859" y="317575"/>
                  </a:lnTo>
                  <a:lnTo>
                    <a:pt x="25465" y="283530"/>
                  </a:lnTo>
                  <a:lnTo>
                    <a:pt x="2904" y="247346"/>
                  </a:lnTo>
                  <a:lnTo>
                    <a:pt x="0" y="228600"/>
                  </a:lnTo>
                  <a:close/>
                </a:path>
              </a:pathLst>
            </a:custGeom>
            <a:ln w="26424">
              <a:solidFill>
                <a:srgbClr val="6B766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227070" y="3972890"/>
            <a:ext cx="9372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C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o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m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</a:t>
            </a:r>
            <a:r>
              <a:rPr sz="1800" spc="-15" dirty="0">
                <a:solidFill>
                  <a:srgbClr val="FFFFFF"/>
                </a:solidFill>
                <a:latin typeface="Microsoft Sans Serif"/>
                <a:cs typeface="Microsoft Sans Serif"/>
              </a:rPr>
              <a:t>i</a:t>
            </a: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l</a:t>
            </a:r>
            <a:r>
              <a:rPr sz="1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FFFFFF"/>
                </a:solidFill>
                <a:latin typeface="Microsoft Sans Serif"/>
                <a:cs typeface="Microsoft Sans Serif"/>
              </a:rPr>
              <a:t>r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45662" y="3607942"/>
            <a:ext cx="100330" cy="1066165"/>
          </a:xfrm>
          <a:custGeom>
            <a:avLst/>
            <a:gdLst/>
            <a:ahLst/>
            <a:cxnLst/>
            <a:rect l="l" t="t" r="r" b="b"/>
            <a:pathLst>
              <a:path w="100329" h="1066164">
                <a:moveTo>
                  <a:pt x="99822" y="205867"/>
                </a:moveTo>
                <a:lnTo>
                  <a:pt x="99060" y="202946"/>
                </a:lnTo>
                <a:lnTo>
                  <a:pt x="96774" y="201549"/>
                </a:lnTo>
                <a:lnTo>
                  <a:pt x="94488" y="200279"/>
                </a:lnTo>
                <a:lnTo>
                  <a:pt x="91567" y="201041"/>
                </a:lnTo>
                <a:lnTo>
                  <a:pt x="90093" y="203454"/>
                </a:lnTo>
                <a:lnTo>
                  <a:pt x="54749" y="264312"/>
                </a:lnTo>
                <a:lnTo>
                  <a:pt x="54737" y="281940"/>
                </a:lnTo>
                <a:lnTo>
                  <a:pt x="54724" y="279654"/>
                </a:lnTo>
                <a:lnTo>
                  <a:pt x="54698" y="264401"/>
                </a:lnTo>
                <a:lnTo>
                  <a:pt x="54229" y="0"/>
                </a:lnTo>
                <a:lnTo>
                  <a:pt x="44704" y="0"/>
                </a:lnTo>
                <a:lnTo>
                  <a:pt x="45173" y="264312"/>
                </a:lnTo>
                <a:lnTo>
                  <a:pt x="9232" y="202946"/>
                </a:lnTo>
                <a:lnTo>
                  <a:pt x="8255" y="201168"/>
                </a:lnTo>
                <a:lnTo>
                  <a:pt x="5334" y="200406"/>
                </a:lnTo>
                <a:lnTo>
                  <a:pt x="3048" y="201803"/>
                </a:lnTo>
                <a:lnTo>
                  <a:pt x="762" y="203073"/>
                </a:lnTo>
                <a:lnTo>
                  <a:pt x="0" y="205994"/>
                </a:lnTo>
                <a:lnTo>
                  <a:pt x="1270" y="208280"/>
                </a:lnTo>
                <a:lnTo>
                  <a:pt x="50038" y="291465"/>
                </a:lnTo>
                <a:lnTo>
                  <a:pt x="55562" y="281940"/>
                </a:lnTo>
                <a:lnTo>
                  <a:pt x="98425" y="208153"/>
                </a:lnTo>
                <a:lnTo>
                  <a:pt x="99822" y="205867"/>
                </a:lnTo>
                <a:close/>
              </a:path>
              <a:path w="100329" h="1066164">
                <a:moveTo>
                  <a:pt x="100330" y="980313"/>
                </a:moveTo>
                <a:lnTo>
                  <a:pt x="99568" y="977392"/>
                </a:lnTo>
                <a:lnTo>
                  <a:pt x="94996" y="974852"/>
                </a:lnTo>
                <a:lnTo>
                  <a:pt x="92075" y="975614"/>
                </a:lnTo>
                <a:lnTo>
                  <a:pt x="90678" y="977773"/>
                </a:lnTo>
                <a:lnTo>
                  <a:pt x="55295" y="1038885"/>
                </a:lnTo>
                <a:lnTo>
                  <a:pt x="55245" y="1056513"/>
                </a:lnTo>
                <a:lnTo>
                  <a:pt x="55232" y="1054100"/>
                </a:lnTo>
                <a:lnTo>
                  <a:pt x="55206" y="1039025"/>
                </a:lnTo>
                <a:lnTo>
                  <a:pt x="54737" y="774573"/>
                </a:lnTo>
                <a:lnTo>
                  <a:pt x="45212" y="774573"/>
                </a:lnTo>
                <a:lnTo>
                  <a:pt x="45681" y="1038885"/>
                </a:lnTo>
                <a:lnTo>
                  <a:pt x="9817" y="977646"/>
                </a:lnTo>
                <a:lnTo>
                  <a:pt x="8763" y="975741"/>
                </a:lnTo>
                <a:lnTo>
                  <a:pt x="5842" y="974979"/>
                </a:lnTo>
                <a:lnTo>
                  <a:pt x="3556" y="976249"/>
                </a:lnTo>
                <a:lnTo>
                  <a:pt x="1270" y="977646"/>
                </a:lnTo>
                <a:lnTo>
                  <a:pt x="508" y="980567"/>
                </a:lnTo>
                <a:lnTo>
                  <a:pt x="1905" y="982853"/>
                </a:lnTo>
                <a:lnTo>
                  <a:pt x="50546" y="1065911"/>
                </a:lnTo>
                <a:lnTo>
                  <a:pt x="55994" y="1056513"/>
                </a:lnTo>
                <a:lnTo>
                  <a:pt x="98933" y="982599"/>
                </a:lnTo>
                <a:lnTo>
                  <a:pt x="100330" y="980313"/>
                </a:lnTo>
                <a:close/>
              </a:path>
            </a:pathLst>
          </a:custGeom>
          <a:solidFill>
            <a:srgbClr val="92A199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9034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mp</a:t>
            </a:r>
            <a:r>
              <a:rPr sz="4000" spc="-125" dirty="0"/>
              <a:t>l</a:t>
            </a:r>
            <a:r>
              <a:rPr sz="4000" spc="-105" dirty="0"/>
              <a:t>emen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55" dirty="0"/>
              <a:t> 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75270" cy="340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203835" indent="-1955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-1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implements</a:t>
            </a:r>
            <a:r>
              <a:rPr sz="24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marL="194945" marR="215265" indent="-182880" algn="just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When a class implements an interface, you can think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 as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signing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contract,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agreeing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perform the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specific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behaviors/methods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 algn="just">
              <a:lnSpc>
                <a:spcPct val="100000"/>
              </a:lnSpc>
              <a:spcBef>
                <a:spcPts val="489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Which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means the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20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must</a:t>
            </a:r>
            <a:r>
              <a:rPr sz="20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override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20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20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methods</a:t>
            </a:r>
            <a:r>
              <a:rPr sz="20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  <a:p>
            <a:pPr marL="195580" marR="170180" indent="-1955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does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perform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behaviors/methods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endParaRPr sz="2400">
              <a:latin typeface="Microsoft Sans Serif"/>
              <a:cs typeface="Microsoft Sans Serif"/>
            </a:endParaRPr>
          </a:p>
          <a:p>
            <a:pPr marR="225425" algn="ctr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interface,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itself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148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mp</a:t>
            </a:r>
            <a:r>
              <a:rPr sz="4000" spc="-125" dirty="0"/>
              <a:t>l</a:t>
            </a:r>
            <a:r>
              <a:rPr sz="4000" spc="-105" dirty="0"/>
              <a:t>emen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55" dirty="0"/>
              <a:t> 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0" dirty="0"/>
              <a:t> </a:t>
            </a:r>
            <a:r>
              <a:rPr sz="4000" spc="-5" dirty="0"/>
              <a:t>-</a:t>
            </a:r>
            <a:r>
              <a:rPr sz="4000" spc="-140" dirty="0"/>
              <a:t> </a:t>
            </a:r>
            <a:r>
              <a:rPr sz="4000" spc="-105" dirty="0"/>
              <a:t>e</a:t>
            </a:r>
            <a:r>
              <a:rPr sz="4000" spc="-100" dirty="0"/>
              <a:t>x</a:t>
            </a:r>
            <a:r>
              <a:rPr sz="4000" spc="-105" dirty="0"/>
              <a:t>amp</a:t>
            </a:r>
            <a:r>
              <a:rPr sz="4000" spc="-125" dirty="0"/>
              <a:t>l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6015355" cy="270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3242310" indent="-27432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 </a:t>
            </a:r>
            <a:r>
              <a:rPr sz="1600" spc="-40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sz="1600" i="1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1600" i="1" dirty="0">
                <a:solidFill>
                  <a:srgbClr val="292934"/>
                </a:solidFill>
                <a:latin typeface="Arial"/>
                <a:cs typeface="Arial"/>
              </a:rPr>
              <a:t> fly</a:t>
            </a:r>
            <a:r>
              <a:rPr sz="1600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in the</a:t>
            </a:r>
            <a:r>
              <a:rPr sz="1600" i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sz="1600" i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sz="1600" i="1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65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927100" marR="3249930" indent="-64071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sz="1600" spc="-40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return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false;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148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mp</a:t>
            </a:r>
            <a:r>
              <a:rPr sz="4000" spc="-125" dirty="0"/>
              <a:t>l</a:t>
            </a:r>
            <a:r>
              <a:rPr sz="4000" spc="-105" dirty="0"/>
              <a:t>emen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55" dirty="0"/>
              <a:t> 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0" dirty="0"/>
              <a:t> </a:t>
            </a:r>
            <a:r>
              <a:rPr sz="4000" spc="-5" dirty="0"/>
              <a:t>-</a:t>
            </a:r>
            <a:r>
              <a:rPr sz="4000" spc="-140" dirty="0"/>
              <a:t> </a:t>
            </a:r>
            <a:r>
              <a:rPr sz="4000" spc="-105" dirty="0"/>
              <a:t>e</a:t>
            </a:r>
            <a:r>
              <a:rPr sz="4000" spc="-100" dirty="0"/>
              <a:t>x</a:t>
            </a:r>
            <a:r>
              <a:rPr sz="4000" spc="-105" dirty="0"/>
              <a:t>amp</a:t>
            </a:r>
            <a:r>
              <a:rPr sz="4000" spc="-125" dirty="0"/>
              <a:t>l</a:t>
            </a:r>
            <a:r>
              <a:rPr sz="4000" spc="-5" dirty="0"/>
              <a:t>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5532120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6385" marR="2387600" indent="-27432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1600" spc="-9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Airplane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 </a:t>
            </a:r>
            <a:r>
              <a:rPr sz="1600" spc="-40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out.println("Plane</a:t>
            </a:r>
            <a:r>
              <a:rPr sz="1600" i="1" spc="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1600" i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fly in</a:t>
            </a:r>
            <a:r>
              <a:rPr sz="1600" i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600" i="1" spc="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"</a:t>
            </a:r>
            <a:r>
              <a:rPr sz="1600" i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+</a:t>
            </a:r>
            <a:r>
              <a:rPr sz="1600" i="1" spc="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i="1" spc="-5" dirty="0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6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3092576"/>
            <a:ext cx="2495550" cy="1000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@Override</a:t>
            </a:r>
            <a:endParaRPr sz="16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sz="1600" spc="-40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return</a:t>
            </a:r>
            <a:r>
              <a:rPr sz="16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true;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067936"/>
            <a:ext cx="933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5940" y="4555997"/>
            <a:ext cx="3644900" cy="197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TestInterface</a:t>
            </a:r>
            <a:r>
              <a:rPr sz="16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600">
              <a:latin typeface="Microsoft Sans Serif"/>
              <a:cs typeface="Microsoft Sans Serif"/>
            </a:endParaRPr>
          </a:p>
          <a:p>
            <a:pPr marL="560070" marR="5080" indent="-2736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6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main(String[]</a:t>
            </a:r>
            <a:r>
              <a:rPr sz="16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args)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sz="1600" spc="-40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=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new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Bird();</a:t>
            </a:r>
            <a:endParaRPr sz="1600">
              <a:latin typeface="Microsoft Sans Serif"/>
              <a:cs typeface="Microsoft Sans Serif"/>
            </a:endParaRPr>
          </a:p>
          <a:p>
            <a:pPr marL="560070" marR="52260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Airplane a = new Airplane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(); </a:t>
            </a:r>
            <a:r>
              <a:rPr sz="1600" spc="-4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a.fly();</a:t>
            </a:r>
            <a:endParaRPr sz="1600">
              <a:latin typeface="Microsoft Sans Serif"/>
              <a:cs typeface="Microsoft Sans Serif"/>
            </a:endParaRPr>
          </a:p>
          <a:p>
            <a:pPr marL="560070">
              <a:lnSpc>
                <a:spcPct val="100000"/>
              </a:lnSpc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b.fly();</a:t>
            </a:r>
            <a:endParaRPr sz="16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410200" y="3733800"/>
            <a:ext cx="2403475" cy="89281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b="1" u="heavy" dirty="0">
                <a:solidFill>
                  <a:srgbClr val="292934"/>
                </a:solidFill>
                <a:uFill>
                  <a:solidFill>
                    <a:srgbClr val="292934"/>
                  </a:solidFill>
                </a:uFill>
                <a:latin typeface="Arial"/>
                <a:cs typeface="Arial"/>
              </a:rPr>
              <a:t>Output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 marL="92075" marR="191135">
              <a:lnSpc>
                <a:spcPct val="100000"/>
              </a:lnSpc>
              <a:spcBef>
                <a:spcPts val="5"/>
              </a:spcBef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Plane can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16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Sky </a:t>
            </a:r>
            <a:r>
              <a:rPr sz="1600" spc="-40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the</a:t>
            </a:r>
            <a:r>
              <a:rPr sz="16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Sky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77882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mp</a:t>
            </a:r>
            <a:r>
              <a:rPr sz="4000" spc="-125" dirty="0"/>
              <a:t>l</a:t>
            </a:r>
            <a:r>
              <a:rPr sz="4000" spc="-105" dirty="0"/>
              <a:t>emen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55" dirty="0"/>
              <a:t> 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70" dirty="0"/>
              <a:t> </a:t>
            </a:r>
            <a:r>
              <a:rPr sz="4000" spc="1050" dirty="0"/>
              <a:t>–</a:t>
            </a:r>
            <a:r>
              <a:rPr sz="4000" spc="-155" dirty="0"/>
              <a:t> </a:t>
            </a:r>
            <a:r>
              <a:rPr sz="4000" spc="-100" dirty="0"/>
              <a:t>s</a:t>
            </a:r>
            <a:r>
              <a:rPr sz="4000" spc="-105" dirty="0"/>
              <a:t>om</a:t>
            </a:r>
            <a:r>
              <a:rPr sz="4000" spc="-5" dirty="0"/>
              <a:t>e</a:t>
            </a:r>
            <a:r>
              <a:rPr sz="4000" spc="-140" dirty="0"/>
              <a:t> </a:t>
            </a:r>
            <a:r>
              <a:rPr sz="4000" spc="-105" dirty="0"/>
              <a:t>ru</a:t>
            </a:r>
            <a:r>
              <a:rPr sz="4000" spc="-125" dirty="0"/>
              <a:t>l</a:t>
            </a:r>
            <a:r>
              <a:rPr sz="4000" spc="-105" dirty="0"/>
              <a:t>e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7952105" cy="42818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-1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than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time.</a:t>
            </a:r>
            <a:endParaRPr sz="2400">
              <a:latin typeface="Microsoft Sans Serif"/>
              <a:cs typeface="Microsoft Sans Serif"/>
            </a:endParaRPr>
          </a:p>
          <a:p>
            <a:pPr marL="469900" marR="86360" lvl="1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Each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name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separated</a:t>
            </a:r>
            <a:r>
              <a:rPr sz="20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comma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after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the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keyword.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must</a:t>
            </a:r>
            <a:r>
              <a:rPr sz="20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override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interfaces.</a:t>
            </a:r>
            <a:endParaRPr sz="20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-1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class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both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many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interfaces.</a:t>
            </a:r>
            <a:endParaRPr sz="2400">
              <a:latin typeface="Microsoft Sans Serif"/>
              <a:cs typeface="Microsoft Sans Serif"/>
            </a:endParaRPr>
          </a:p>
          <a:p>
            <a:pPr marL="194945" marR="558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sz="2400" b="1" spc="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extend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other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interfaces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(allow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multiple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extends),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similar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way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another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endParaRPr sz="2400">
              <a:latin typeface="Microsoft Sans Serif"/>
              <a:cs typeface="Microsoft Sans Serif"/>
            </a:endParaRPr>
          </a:p>
          <a:p>
            <a:pPr marL="194945" marR="86995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parent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interface,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child </a:t>
            </a:r>
            <a:r>
              <a:rPr sz="2400" b="1" spc="-6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classes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automatically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55117"/>
            <a:ext cx="643953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I</a:t>
            </a:r>
            <a:r>
              <a:rPr spc="-100" dirty="0"/>
              <a:t>m</a:t>
            </a:r>
            <a:r>
              <a:rPr spc="-95" dirty="0"/>
              <a:t>p</a:t>
            </a:r>
            <a:r>
              <a:rPr spc="-120" dirty="0"/>
              <a:t>l</a:t>
            </a:r>
            <a:r>
              <a:rPr spc="-95" dirty="0"/>
              <a:t>e</a:t>
            </a:r>
            <a:r>
              <a:rPr spc="-100" dirty="0"/>
              <a:t>m</a:t>
            </a:r>
            <a:r>
              <a:rPr spc="-95" dirty="0"/>
              <a:t>e</a:t>
            </a:r>
            <a:r>
              <a:rPr spc="-110" dirty="0"/>
              <a:t>n</a:t>
            </a:r>
            <a:r>
              <a:rPr spc="-105" dirty="0"/>
              <a:t>t</a:t>
            </a:r>
            <a:r>
              <a:rPr spc="-130" dirty="0"/>
              <a:t>i</a:t>
            </a:r>
            <a:r>
              <a:rPr spc="-95" dirty="0"/>
              <a:t>n</a:t>
            </a:r>
            <a:r>
              <a:rPr dirty="0"/>
              <a:t>g</a:t>
            </a:r>
            <a:r>
              <a:rPr spc="-200" dirty="0"/>
              <a:t> </a:t>
            </a:r>
            <a:r>
              <a:rPr spc="-100" dirty="0"/>
              <a:t>m</a:t>
            </a:r>
            <a:r>
              <a:rPr spc="-95" dirty="0"/>
              <a:t>u</a:t>
            </a:r>
            <a:r>
              <a:rPr spc="-120" dirty="0"/>
              <a:t>l</a:t>
            </a:r>
            <a:r>
              <a:rPr spc="-105" dirty="0"/>
              <a:t>t</a:t>
            </a:r>
            <a:r>
              <a:rPr spc="-120" dirty="0"/>
              <a:t>i</a:t>
            </a:r>
            <a:r>
              <a:rPr spc="-95" dirty="0"/>
              <a:t>p</a:t>
            </a:r>
            <a:r>
              <a:rPr spc="-130" dirty="0"/>
              <a:t>l</a:t>
            </a:r>
            <a:r>
              <a:rPr dirty="0"/>
              <a:t>e</a:t>
            </a:r>
            <a:r>
              <a:rPr spc="-190" dirty="0"/>
              <a:t> </a:t>
            </a:r>
            <a:r>
              <a:rPr spc="-120" dirty="0"/>
              <a:t>i</a:t>
            </a:r>
            <a:r>
              <a:rPr spc="-95" dirty="0"/>
              <a:t>n</a:t>
            </a:r>
            <a:r>
              <a:rPr spc="-105" dirty="0"/>
              <a:t>t</a:t>
            </a:r>
            <a:r>
              <a:rPr spc="-95" dirty="0"/>
              <a:t>e</a:t>
            </a:r>
            <a:r>
              <a:rPr spc="-100" dirty="0"/>
              <a:t>r</a:t>
            </a:r>
            <a:r>
              <a:rPr spc="-105" dirty="0"/>
              <a:t>f</a:t>
            </a:r>
            <a:r>
              <a:rPr spc="-95" dirty="0"/>
              <a:t>a</a:t>
            </a:r>
            <a:r>
              <a:rPr spc="-110" dirty="0"/>
              <a:t>c</a:t>
            </a:r>
            <a:r>
              <a:rPr spc="-95" dirty="0"/>
              <a:t>e</a:t>
            </a:r>
            <a:r>
              <a:rPr dirty="0"/>
              <a:t>s</a:t>
            </a:r>
            <a:r>
              <a:rPr spc="-215" dirty="0"/>
              <a:t> </a:t>
            </a:r>
            <a:r>
              <a:rPr dirty="0"/>
              <a:t>-  </a:t>
            </a:r>
            <a:r>
              <a:rPr spc="-8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377"/>
            <a:ext cx="4916170" cy="493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400" spc="-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sz="1400" i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400" i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"Sky";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45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Floatable{</a:t>
            </a:r>
            <a:endParaRPr sz="1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canFloat();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implements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Flyable,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Floatable{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sz="1400" i="1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1400" i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fly</a:t>
            </a:r>
            <a:r>
              <a:rPr sz="1400" i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400" i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" +</a:t>
            </a:r>
            <a:r>
              <a:rPr sz="1400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469900" marR="2464435" indent="-18288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boolean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needFuel()</a:t>
            </a:r>
            <a:r>
              <a:rPr sz="14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sz="1400" spc="-3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return</a:t>
            </a:r>
            <a:r>
              <a:rPr sz="1400" spc="-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false;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 marL="469900" marR="1210310" indent="-18288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canFloat()</a:t>
            </a:r>
            <a:r>
              <a:rPr sz="1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sz="1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sz="1400" i="1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1400" i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float</a:t>
            </a:r>
            <a:r>
              <a:rPr sz="1400" i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1400" i="1" spc="-10" dirty="0">
                <a:solidFill>
                  <a:srgbClr val="292934"/>
                </a:solidFill>
                <a:latin typeface="Arial"/>
                <a:cs typeface="Arial"/>
              </a:rPr>
              <a:t>air.");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55117"/>
            <a:ext cx="637984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Ex</a:t>
            </a:r>
            <a:r>
              <a:rPr spc="-95" dirty="0"/>
              <a:t>a</a:t>
            </a:r>
            <a:r>
              <a:rPr spc="-100" dirty="0"/>
              <a:t>m</a:t>
            </a:r>
            <a:r>
              <a:rPr spc="-95" dirty="0"/>
              <a:t>p</a:t>
            </a:r>
            <a:r>
              <a:rPr spc="-120" dirty="0"/>
              <a:t>l</a:t>
            </a:r>
            <a:r>
              <a:rPr dirty="0"/>
              <a:t>e</a:t>
            </a:r>
            <a:r>
              <a:rPr spc="-204" dirty="0"/>
              <a:t> </a:t>
            </a:r>
            <a:r>
              <a:rPr spc="944" dirty="0"/>
              <a:t>–</a:t>
            </a:r>
            <a:r>
              <a:rPr spc="-155" dirty="0"/>
              <a:t> </a:t>
            </a:r>
            <a:r>
              <a:rPr spc="-95" dirty="0"/>
              <a:t>w</a:t>
            </a:r>
            <a:r>
              <a:rPr spc="-120" dirty="0"/>
              <a:t>i</a:t>
            </a:r>
            <a:r>
              <a:rPr spc="-105" dirty="0"/>
              <a:t>t</a:t>
            </a:r>
            <a:r>
              <a:rPr dirty="0"/>
              <a:t>h</a:t>
            </a:r>
            <a:r>
              <a:rPr spc="-175" dirty="0"/>
              <a:t> </a:t>
            </a:r>
            <a:r>
              <a:rPr spc="-95" dirty="0"/>
              <a:t>bo</a:t>
            </a:r>
            <a:r>
              <a:rPr spc="-105" dirty="0"/>
              <a:t>t</a:t>
            </a:r>
            <a:r>
              <a:rPr dirty="0"/>
              <a:t>h</a:t>
            </a:r>
            <a:r>
              <a:rPr spc="-175" dirty="0"/>
              <a:t> </a:t>
            </a:r>
            <a:r>
              <a:rPr spc="-95" dirty="0"/>
              <a:t>e</a:t>
            </a:r>
            <a:r>
              <a:rPr spc="-100" dirty="0"/>
              <a:t>x</a:t>
            </a:r>
            <a:r>
              <a:rPr spc="-105" dirty="0"/>
              <a:t>t</a:t>
            </a:r>
            <a:r>
              <a:rPr spc="-95" dirty="0"/>
              <a:t>end</a:t>
            </a:r>
            <a:r>
              <a:rPr dirty="0"/>
              <a:t>s</a:t>
            </a:r>
            <a:r>
              <a:rPr spc="-200" dirty="0"/>
              <a:t> </a:t>
            </a:r>
            <a:r>
              <a:rPr spc="-95" dirty="0"/>
              <a:t>an</a:t>
            </a:r>
            <a:r>
              <a:rPr dirty="0"/>
              <a:t>d  </a:t>
            </a:r>
            <a:r>
              <a:rPr spc="-95" dirty="0"/>
              <a:t>implements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7377"/>
            <a:ext cx="3319145" cy="1733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400" spc="-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Flyable{</a:t>
            </a:r>
            <a:endParaRPr sz="1400">
              <a:latin typeface="Microsoft Sans Serif"/>
              <a:cs typeface="Microsoft Sans Serif"/>
            </a:endParaRPr>
          </a:p>
          <a:p>
            <a:pPr marL="28638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static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final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media</a:t>
            </a:r>
            <a:r>
              <a:rPr sz="1400" i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=</a:t>
            </a:r>
            <a:r>
              <a:rPr sz="1400" i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"Sky“;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Floatable{</a:t>
            </a:r>
            <a:endParaRPr sz="1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abstract</a:t>
            </a:r>
            <a:r>
              <a:rPr sz="1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canFloat();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548862"/>
            <a:ext cx="1699260" cy="79375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las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</a:t>
            </a:r>
            <a:r>
              <a:rPr sz="1400" spc="-9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Ani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m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al{</a:t>
            </a:r>
            <a:endParaRPr sz="1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String</a:t>
            </a:r>
            <a:r>
              <a:rPr sz="1400" spc="-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name,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color;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4530090"/>
            <a:ext cx="491617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407034" indent="-27432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 extends Animal implements Flyable, Floatable{ </a:t>
            </a:r>
            <a:r>
              <a:rPr sz="1400" spc="-3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fly()</a:t>
            </a:r>
            <a:r>
              <a:rPr sz="1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{</a:t>
            </a:r>
            <a:endParaRPr sz="1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sz="1400" i="1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1400" i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fly</a:t>
            </a:r>
            <a:r>
              <a:rPr sz="1400" i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in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400" i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" +</a:t>
            </a:r>
            <a:r>
              <a:rPr sz="1400" i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Flyable.media);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450">
              <a:latin typeface="Microsoft Sans Serif"/>
              <a:cs typeface="Microsoft Sans Serif"/>
            </a:endParaRPr>
          </a:p>
          <a:p>
            <a:pPr marL="469900" marR="1210310" indent="-182880">
              <a:lnSpc>
                <a:spcPct val="100000"/>
              </a:lnSpc>
              <a:spcBef>
                <a:spcPts val="5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public</a:t>
            </a:r>
            <a:r>
              <a:rPr sz="1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void</a:t>
            </a:r>
            <a:r>
              <a:rPr sz="1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canFloat()</a:t>
            </a:r>
            <a:r>
              <a:rPr sz="1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{ </a:t>
            </a:r>
            <a:r>
              <a:rPr sz="14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System.</a:t>
            </a:r>
            <a:r>
              <a:rPr sz="1400" i="1" spc="-5" dirty="0">
                <a:solidFill>
                  <a:srgbClr val="292934"/>
                </a:solidFill>
                <a:latin typeface="Arial"/>
                <a:cs typeface="Arial"/>
              </a:rPr>
              <a:t>out.println("Bird</a:t>
            </a:r>
            <a:r>
              <a:rPr sz="1400" i="1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can</a:t>
            </a:r>
            <a:r>
              <a:rPr sz="1400" i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float</a:t>
            </a:r>
            <a:r>
              <a:rPr sz="1400" i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292934"/>
                </a:solidFill>
                <a:latin typeface="Arial"/>
                <a:cs typeface="Arial"/>
              </a:rPr>
              <a:t>in </a:t>
            </a:r>
            <a:r>
              <a:rPr sz="1400" i="1" spc="-10" dirty="0">
                <a:solidFill>
                  <a:srgbClr val="292934"/>
                </a:solidFill>
                <a:latin typeface="Arial"/>
                <a:cs typeface="Arial"/>
              </a:rPr>
              <a:t>air.");</a:t>
            </a:r>
            <a:endParaRPr sz="1400">
              <a:latin typeface="Arial"/>
              <a:cs typeface="Arial"/>
            </a:endParaRPr>
          </a:p>
          <a:p>
            <a:pPr marL="286385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15000" y="3733825"/>
            <a:ext cx="2362200" cy="52324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0640" rIns="0" bIns="0" rtlCol="0">
            <a:spAutoFit/>
          </a:bodyPr>
          <a:lstStyle/>
          <a:p>
            <a:pPr marL="92075" marR="348615">
              <a:lnSpc>
                <a:spcPct val="100000"/>
              </a:lnSpc>
              <a:spcBef>
                <a:spcPts val="320"/>
              </a:spcBef>
            </a:pP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“extends” should appear </a:t>
            </a:r>
            <a:r>
              <a:rPr sz="1400" spc="-3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before</a:t>
            </a:r>
            <a:r>
              <a:rPr sz="1400" spc="-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“implements”</a:t>
            </a:r>
            <a:endParaRPr sz="1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61696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5" dirty="0"/>
              <a:t>E</a:t>
            </a:r>
            <a:r>
              <a:rPr sz="4000" spc="-100" dirty="0"/>
              <a:t>xt</a:t>
            </a:r>
            <a:r>
              <a:rPr sz="4000" spc="-105" dirty="0"/>
              <a:t>end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5" dirty="0"/>
              <a:t>g</a:t>
            </a:r>
            <a:r>
              <a:rPr sz="4000" spc="-165" dirty="0"/>
              <a:t> </a:t>
            </a:r>
            <a:r>
              <a:rPr sz="4000" spc="-105" dirty="0"/>
              <a:t>mu</a:t>
            </a:r>
            <a:r>
              <a:rPr sz="4000" spc="-125" dirty="0"/>
              <a:t>l</a:t>
            </a:r>
            <a:r>
              <a:rPr sz="4000" spc="-100" dirty="0"/>
              <a:t>t</a:t>
            </a:r>
            <a:r>
              <a:rPr sz="4000" spc="-125" dirty="0"/>
              <a:t>i</a:t>
            </a:r>
            <a:r>
              <a:rPr sz="4000" spc="-105" dirty="0"/>
              <a:t>p</a:t>
            </a:r>
            <a:r>
              <a:rPr sz="4000" spc="-125" dirty="0"/>
              <a:t>l</a:t>
            </a:r>
            <a:r>
              <a:rPr sz="4000" spc="-5" dirty="0"/>
              <a:t>e</a:t>
            </a:r>
            <a:r>
              <a:rPr sz="4000" spc="-165" dirty="0"/>
              <a:t> </a:t>
            </a:r>
            <a:r>
              <a:rPr sz="4000" spc="-125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105" dirty="0"/>
              <a:t>e</a:t>
            </a:r>
            <a:r>
              <a:rPr sz="4000" spc="-5" dirty="0"/>
              <a:t>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40370" cy="38436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-1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class.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Multiple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allowed.</a:t>
            </a:r>
            <a:endParaRPr sz="2400">
              <a:latin typeface="Microsoft Sans Serif"/>
              <a:cs typeface="Microsoft Sans Serif"/>
            </a:endParaRPr>
          </a:p>
          <a:p>
            <a:pPr marL="194945" marR="2286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Font typeface="Microsoft Sans Serif"/>
              <a:buChar char="•"/>
              <a:tabLst>
                <a:tab pos="195580" algn="l"/>
              </a:tabLst>
            </a:pP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sz="24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not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classes,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however,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more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than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400">
              <a:latin typeface="Microsoft Sans Serif"/>
              <a:cs typeface="Microsoft Sans Serif"/>
            </a:endParaRPr>
          </a:p>
          <a:p>
            <a:pPr marL="194945" marR="918844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keyword</a:t>
            </a:r>
            <a:r>
              <a:rPr sz="2400" spc="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used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once,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parent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are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comma-separated</a:t>
            </a:r>
            <a:r>
              <a:rPr sz="2400" b="1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list.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For</a:t>
            </a:r>
            <a:r>
              <a:rPr sz="2400" spc="-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example,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Hockey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extended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both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Sports and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Event,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it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would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−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Font typeface="Microsoft Sans Serif"/>
              <a:buChar char="•"/>
              <a:tabLst>
                <a:tab pos="469900" algn="l"/>
              </a:tabLst>
            </a:pP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public</a:t>
            </a:r>
            <a:r>
              <a:rPr sz="2000" b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sz="2000" b="1" spc="-4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Hockey</a:t>
            </a:r>
            <a:r>
              <a:rPr sz="20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extends</a:t>
            </a:r>
            <a:r>
              <a:rPr sz="2000" b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Sports,</a:t>
            </a:r>
            <a:r>
              <a:rPr sz="2000" b="1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Event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82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R</a:t>
            </a:r>
            <a:r>
              <a:rPr spc="-100" dirty="0"/>
              <a:t>e</a:t>
            </a:r>
            <a:r>
              <a:rPr spc="-114" dirty="0"/>
              <a:t>l</a:t>
            </a:r>
            <a:r>
              <a:rPr spc="-100" dirty="0"/>
              <a:t>a</a:t>
            </a:r>
            <a:r>
              <a:rPr spc="-105" dirty="0"/>
              <a:t>t</a:t>
            </a:r>
            <a:r>
              <a:rPr spc="-114" dirty="0"/>
              <a:t>i</a:t>
            </a:r>
            <a:r>
              <a:rPr spc="-110" dirty="0"/>
              <a:t>on</a:t>
            </a:r>
            <a:r>
              <a:rPr spc="-100" dirty="0"/>
              <a:t>s</a:t>
            </a:r>
            <a:r>
              <a:rPr spc="-110" dirty="0"/>
              <a:t>h</a:t>
            </a:r>
            <a:r>
              <a:rPr spc="-114" dirty="0"/>
              <a:t>i</a:t>
            </a:r>
            <a:r>
              <a:rPr spc="-5" dirty="0"/>
              <a:t>p</a:t>
            </a:r>
            <a:r>
              <a:rPr spc="-200" dirty="0"/>
              <a:t> </a:t>
            </a:r>
            <a:r>
              <a:rPr spc="-100" dirty="0"/>
              <a:t>be</a:t>
            </a:r>
            <a:r>
              <a:rPr spc="-105" dirty="0"/>
              <a:t>t</a:t>
            </a:r>
            <a:r>
              <a:rPr spc="-95" dirty="0"/>
              <a:t>w</a:t>
            </a:r>
            <a:r>
              <a:rPr spc="-100" dirty="0"/>
              <a:t>ee</a:t>
            </a:r>
            <a:r>
              <a:rPr spc="-5" dirty="0"/>
              <a:t>n</a:t>
            </a:r>
            <a:r>
              <a:rPr spc="-200" dirty="0"/>
              <a:t> </a:t>
            </a:r>
            <a:r>
              <a:rPr spc="-100" dirty="0"/>
              <a:t>c</a:t>
            </a:r>
            <a:r>
              <a:rPr spc="-114" dirty="0"/>
              <a:t>l</a:t>
            </a:r>
            <a:r>
              <a:rPr spc="-100" dirty="0"/>
              <a:t>asse</a:t>
            </a:r>
            <a:r>
              <a:rPr dirty="0"/>
              <a:t>s</a:t>
            </a:r>
            <a:r>
              <a:rPr spc="-190" dirty="0"/>
              <a:t> </a:t>
            </a:r>
            <a:r>
              <a:rPr dirty="0"/>
              <a:t>&amp;</a:t>
            </a:r>
            <a:r>
              <a:rPr spc="-165" dirty="0"/>
              <a:t> </a:t>
            </a:r>
            <a:r>
              <a:rPr spc="-114" dirty="0"/>
              <a:t>i</a:t>
            </a:r>
            <a:r>
              <a:rPr spc="-100" dirty="0"/>
              <a:t>n</a:t>
            </a:r>
            <a:r>
              <a:rPr spc="-105" dirty="0"/>
              <a:t>t</a:t>
            </a:r>
            <a:r>
              <a:rPr spc="-100" dirty="0"/>
              <a:t>e</a:t>
            </a:r>
            <a:r>
              <a:rPr spc="-95" dirty="0"/>
              <a:t>r</a:t>
            </a:r>
            <a:r>
              <a:rPr spc="-105" dirty="0"/>
              <a:t>f</a:t>
            </a:r>
            <a:r>
              <a:rPr spc="-100" dirty="0"/>
              <a:t>ac</a:t>
            </a:r>
            <a:r>
              <a:rPr spc="-110" dirty="0"/>
              <a:t>e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817484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shown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figure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given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30" dirty="0">
                <a:solidFill>
                  <a:srgbClr val="292934"/>
                </a:solidFill>
                <a:latin typeface="Microsoft Sans Serif"/>
                <a:cs typeface="Microsoft Sans Serif"/>
              </a:rPr>
              <a:t>below,</a:t>
            </a:r>
            <a:r>
              <a:rPr sz="2400" spc="5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extends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another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class,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extends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another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but </a:t>
            </a:r>
            <a:r>
              <a:rPr sz="2400" spc="-6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class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 implements </a:t>
            </a:r>
            <a:r>
              <a:rPr sz="2400" b="1" spc="-10" dirty="0">
                <a:solidFill>
                  <a:srgbClr val="292934"/>
                </a:solidFill>
                <a:latin typeface="Arial"/>
                <a:cs typeface="Arial"/>
              </a:rPr>
              <a:t>an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0200" y="3152775"/>
            <a:ext cx="5467350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3921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70" dirty="0"/>
              <a:t>Why</a:t>
            </a:r>
            <a:r>
              <a:rPr sz="4000" spc="-190" dirty="0"/>
              <a:t> </a:t>
            </a:r>
            <a:r>
              <a:rPr sz="4000" spc="-70" dirty="0"/>
              <a:t>use</a:t>
            </a:r>
            <a:r>
              <a:rPr sz="4000" spc="-190" dirty="0"/>
              <a:t> </a:t>
            </a:r>
            <a:r>
              <a:rPr sz="4000" spc="-90" dirty="0"/>
              <a:t>Interface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923"/>
            <a:ext cx="8057515" cy="41478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has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single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inheritance,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This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means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child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from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only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one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parent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Sometimes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inheritance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would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convenient</a:t>
            </a:r>
            <a:endParaRPr sz="2000">
              <a:latin typeface="Microsoft Sans Serif"/>
              <a:cs typeface="Microsoft Sans Serif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Font typeface="Microsoft Sans Serif"/>
              <a:buChar char="•"/>
              <a:tabLst>
                <a:tab pos="469900" algn="l"/>
              </a:tabLst>
            </a:pPr>
            <a:r>
              <a:rPr sz="2000" i="1" dirty="0">
                <a:solidFill>
                  <a:srgbClr val="292934"/>
                </a:solidFill>
                <a:latin typeface="Arial"/>
                <a:cs typeface="Arial"/>
              </a:rPr>
              <a:t>Interfaces</a:t>
            </a:r>
            <a:r>
              <a:rPr sz="2000" i="1" spc="-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give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some of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advantages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multiple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inheritance </a:t>
            </a:r>
            <a:r>
              <a:rPr sz="2000" spc="-5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without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incurring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disadvantages</a:t>
            </a:r>
            <a:endParaRPr sz="2000">
              <a:latin typeface="Microsoft Sans Serif"/>
              <a:cs typeface="Microsoft Sans Serif"/>
            </a:endParaRPr>
          </a:p>
          <a:p>
            <a:pPr marL="194945" marR="480059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Provide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capability</a:t>
            </a:r>
            <a:r>
              <a:rPr sz="2400" spc="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for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unrelated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set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common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Implementing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“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promise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”</a:t>
            </a: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to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include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specified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method(s)</a:t>
            </a:r>
            <a:endParaRPr sz="2000">
              <a:latin typeface="Microsoft Sans Serif"/>
              <a:cs typeface="Microsoft Sans Serif"/>
            </a:endParaRPr>
          </a:p>
          <a:p>
            <a:pPr marL="194945" marR="565785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Define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standardize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ways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people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systems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can </a:t>
            </a:r>
            <a:r>
              <a:rPr sz="2400" spc="-6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interact.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dirty="0"/>
              <a:t>An</a:t>
            </a:r>
            <a:r>
              <a:rPr spc="20" dirty="0"/>
              <a:t> </a:t>
            </a:r>
            <a:r>
              <a:rPr spc="-5" dirty="0"/>
              <a:t>interface,</a:t>
            </a:r>
            <a:r>
              <a:rPr spc="20" dirty="0"/>
              <a:t> </a:t>
            </a:r>
            <a:r>
              <a:rPr spc="-10" dirty="0"/>
              <a:t>like</a:t>
            </a:r>
            <a:r>
              <a:rPr spc="40" dirty="0"/>
              <a:t> </a:t>
            </a:r>
            <a:r>
              <a:rPr dirty="0"/>
              <a:t>a</a:t>
            </a:r>
            <a:r>
              <a:rPr spc="30" dirty="0"/>
              <a:t> </a:t>
            </a:r>
            <a:r>
              <a:rPr spc="-5" dirty="0"/>
              <a:t>class,</a:t>
            </a:r>
            <a:r>
              <a:rPr spc="30" dirty="0"/>
              <a:t> </a:t>
            </a:r>
            <a:r>
              <a:rPr spc="-5" dirty="0"/>
              <a:t>defines</a:t>
            </a:r>
            <a:r>
              <a:rPr spc="4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b="1" spc="-10" dirty="0">
                <a:latin typeface="Arial"/>
                <a:cs typeface="Arial"/>
              </a:rPr>
              <a:t>type</a:t>
            </a:r>
            <a:r>
              <a:rPr spc="-10" dirty="0"/>
              <a:t>.</a:t>
            </a:r>
          </a:p>
          <a:p>
            <a:pPr marL="469900" marR="5080" lvl="1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Fields,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variables,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parameters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declared to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type </a:t>
            </a:r>
            <a:r>
              <a:rPr sz="2000" spc="-5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defined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by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interface.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 Interface</a:t>
            </a:r>
            <a:r>
              <a:rPr sz="20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also</a:t>
            </a:r>
            <a:r>
              <a:rPr sz="20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represents</a:t>
            </a:r>
            <a:r>
              <a:rPr sz="2000" b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IS-A</a:t>
            </a:r>
            <a:r>
              <a:rPr sz="2000" b="1" spc="-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relationship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.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So,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interface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2000" dirty="0"/>
              <a:t>can be</a:t>
            </a:r>
            <a:r>
              <a:rPr sz="2000" spc="5" dirty="0"/>
              <a:t> </a:t>
            </a:r>
            <a:r>
              <a:rPr sz="2000" dirty="0"/>
              <a:t>used</a:t>
            </a:r>
            <a:r>
              <a:rPr sz="2000" spc="-5" dirty="0"/>
              <a:t> </a:t>
            </a:r>
            <a:r>
              <a:rPr sz="2000" dirty="0"/>
              <a:t>for</a:t>
            </a:r>
            <a:r>
              <a:rPr sz="2000" spc="-5" dirty="0"/>
              <a:t> </a:t>
            </a:r>
            <a:r>
              <a:rPr sz="2000" dirty="0"/>
              <a:t>subclass</a:t>
            </a:r>
            <a:r>
              <a:rPr sz="2000" spc="-15" dirty="0"/>
              <a:t> </a:t>
            </a:r>
            <a:r>
              <a:rPr sz="2000" dirty="0"/>
              <a:t>polymorphism.</a:t>
            </a:r>
            <a:endParaRPr sz="2000"/>
          </a:p>
          <a:p>
            <a:pPr marL="194945" marR="935355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pc="-5" dirty="0"/>
              <a:t>Remember</a:t>
            </a:r>
            <a:r>
              <a:rPr spc="40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spc="-5" dirty="0"/>
              <a:t>2</a:t>
            </a:r>
            <a:r>
              <a:rPr spc="30" dirty="0"/>
              <a:t> </a:t>
            </a:r>
            <a:r>
              <a:rPr spc="-5" dirty="0"/>
              <a:t>classes(Birds</a:t>
            </a:r>
            <a:r>
              <a:rPr spc="50" dirty="0"/>
              <a:t> </a:t>
            </a:r>
            <a:r>
              <a:rPr spc="-5" dirty="0"/>
              <a:t>and</a:t>
            </a:r>
            <a:r>
              <a:rPr spc="-105" dirty="0"/>
              <a:t> </a:t>
            </a:r>
            <a:r>
              <a:rPr spc="-10" dirty="0"/>
              <a:t>Airplane)</a:t>
            </a:r>
            <a:r>
              <a:rPr spc="75" dirty="0"/>
              <a:t> </a:t>
            </a:r>
            <a:r>
              <a:rPr dirty="0"/>
              <a:t>that </a:t>
            </a:r>
            <a:r>
              <a:rPr spc="-625" dirty="0"/>
              <a:t> </a:t>
            </a:r>
            <a:r>
              <a:rPr spc="-5" dirty="0"/>
              <a:t>implemented</a:t>
            </a:r>
            <a:r>
              <a:rPr spc="45" dirty="0"/>
              <a:t> </a:t>
            </a:r>
            <a:r>
              <a:rPr spc="-10" dirty="0"/>
              <a:t>Flyable</a:t>
            </a:r>
            <a:r>
              <a:rPr spc="45" dirty="0"/>
              <a:t> </a:t>
            </a:r>
            <a:r>
              <a:rPr spc="-5" dirty="0"/>
              <a:t>interface,</a:t>
            </a: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we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create</a:t>
            </a:r>
            <a:r>
              <a:rPr sz="20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</a:t>
            </a:r>
            <a:r>
              <a:rPr sz="20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000" spc="-1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Airplane</a:t>
            </a:r>
            <a:r>
              <a:rPr sz="20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assign those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to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</a:pPr>
            <a:r>
              <a:rPr sz="2000" spc="-5" dirty="0"/>
              <a:t>Flyable</a:t>
            </a:r>
            <a:r>
              <a:rPr sz="2000" spc="15" dirty="0"/>
              <a:t> </a:t>
            </a:r>
            <a:r>
              <a:rPr sz="2000" spc="-5" dirty="0"/>
              <a:t>variable</a:t>
            </a:r>
            <a:r>
              <a:rPr sz="2000" spc="20" dirty="0"/>
              <a:t> </a:t>
            </a:r>
            <a:r>
              <a:rPr sz="2000" dirty="0"/>
              <a:t>as</a:t>
            </a:r>
            <a:r>
              <a:rPr sz="2000" spc="-10" dirty="0"/>
              <a:t> </a:t>
            </a:r>
            <a:r>
              <a:rPr sz="2000" dirty="0"/>
              <a:t>shown </a:t>
            </a:r>
            <a:r>
              <a:rPr sz="2000" spc="-20" dirty="0"/>
              <a:t>below.</a:t>
            </a:r>
            <a:endParaRPr sz="2000"/>
          </a:p>
          <a:p>
            <a:pPr marL="286385">
              <a:lnSpc>
                <a:spcPct val="100000"/>
              </a:lnSpc>
              <a:spcBef>
                <a:spcPts val="1595"/>
              </a:spcBef>
            </a:pPr>
            <a:r>
              <a:rPr sz="1400" spc="-5" dirty="0"/>
              <a:t>public</a:t>
            </a:r>
            <a:r>
              <a:rPr sz="1400" spc="-25" dirty="0"/>
              <a:t> </a:t>
            </a:r>
            <a:r>
              <a:rPr sz="1400" dirty="0"/>
              <a:t>class</a:t>
            </a:r>
            <a:r>
              <a:rPr sz="1400" spc="-40" dirty="0"/>
              <a:t> </a:t>
            </a:r>
            <a:r>
              <a:rPr sz="1400" spc="-15" dirty="0"/>
              <a:t>TestInterface</a:t>
            </a:r>
            <a:r>
              <a:rPr sz="1400" spc="-30" dirty="0"/>
              <a:t> </a:t>
            </a:r>
            <a:r>
              <a:rPr sz="1400" dirty="0"/>
              <a:t>{</a:t>
            </a:r>
            <a:endParaRPr sz="1400"/>
          </a:p>
          <a:p>
            <a:pPr marL="560070">
              <a:lnSpc>
                <a:spcPct val="100000"/>
              </a:lnSpc>
              <a:spcBef>
                <a:spcPts val="5"/>
              </a:spcBef>
            </a:pPr>
            <a:r>
              <a:rPr sz="1600" spc="-5" dirty="0"/>
              <a:t>public</a:t>
            </a:r>
            <a:r>
              <a:rPr sz="1600" spc="-15" dirty="0"/>
              <a:t> </a:t>
            </a:r>
            <a:r>
              <a:rPr sz="1600" spc="-5" dirty="0"/>
              <a:t>static</a:t>
            </a:r>
            <a:r>
              <a:rPr sz="1600" spc="15" dirty="0"/>
              <a:t> </a:t>
            </a:r>
            <a:r>
              <a:rPr sz="1600" spc="-5" dirty="0"/>
              <a:t>void</a:t>
            </a:r>
            <a:r>
              <a:rPr sz="1600" spc="10" dirty="0"/>
              <a:t> </a:t>
            </a:r>
            <a:r>
              <a:rPr sz="1600" spc="-5" dirty="0"/>
              <a:t>main(String[]</a:t>
            </a:r>
            <a:r>
              <a:rPr sz="1600" spc="45" dirty="0"/>
              <a:t> </a:t>
            </a:r>
            <a:r>
              <a:rPr sz="1600" spc="-5" dirty="0"/>
              <a:t>args)</a:t>
            </a:r>
            <a:r>
              <a:rPr sz="1600" spc="30" dirty="0"/>
              <a:t> </a:t>
            </a:r>
            <a:r>
              <a:rPr sz="1600" spc="-5" dirty="0"/>
              <a:t>{</a:t>
            </a:r>
            <a:endParaRPr sz="1600"/>
          </a:p>
        </p:txBody>
      </p:sp>
      <p:sp>
        <p:nvSpPr>
          <p:cNvPr id="3" name="object 3"/>
          <p:cNvSpPr txBox="1"/>
          <p:nvPr/>
        </p:nvSpPr>
        <p:spPr>
          <a:xfrm>
            <a:off x="1295400" y="5486400"/>
            <a:ext cx="2590800" cy="533400"/>
          </a:xfrm>
          <a:prstGeom prst="rect">
            <a:avLst/>
          </a:prstGeom>
          <a:solidFill>
            <a:srgbClr val="D9D9D9"/>
          </a:solidFill>
          <a:ln w="26424">
            <a:solidFill>
              <a:srgbClr val="6B766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889"/>
              </a:lnSpc>
            </a:pP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Flyable</a:t>
            </a:r>
            <a:r>
              <a:rPr sz="1600" b="1" spc="4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=</a:t>
            </a:r>
            <a:r>
              <a:rPr sz="16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new</a:t>
            </a:r>
            <a:r>
              <a:rPr sz="16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Bird();</a:t>
            </a:r>
            <a:endParaRPr sz="1600">
              <a:latin typeface="Microsoft Sans Serif"/>
              <a:cs typeface="Microsoft Sans Serif"/>
            </a:endParaRPr>
          </a:p>
          <a:p>
            <a:pPr marL="76200">
              <a:lnSpc>
                <a:spcPct val="100000"/>
              </a:lnSpc>
            </a:pPr>
            <a:r>
              <a:rPr sz="1600" b="1" spc="-10" dirty="0">
                <a:solidFill>
                  <a:srgbClr val="292934"/>
                </a:solidFill>
                <a:latin typeface="Arial"/>
                <a:cs typeface="Arial"/>
              </a:rPr>
              <a:t>Flyable</a:t>
            </a:r>
            <a:r>
              <a:rPr sz="1600" b="1" spc="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6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=</a:t>
            </a:r>
            <a:r>
              <a:rPr sz="16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new</a:t>
            </a:r>
            <a:r>
              <a:rPr sz="1600" spc="-6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Airplane</a:t>
            </a:r>
            <a:r>
              <a:rPr sz="16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();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0259" y="5958332"/>
            <a:ext cx="1135380" cy="970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6134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a.fly();</a:t>
            </a:r>
            <a:endParaRPr sz="1600">
              <a:latin typeface="Microsoft Sans Serif"/>
              <a:cs typeface="Microsoft Sans Serif"/>
            </a:endParaRPr>
          </a:p>
          <a:p>
            <a:pPr marL="561340">
              <a:lnSpc>
                <a:spcPct val="100000"/>
              </a:lnSpc>
            </a:pPr>
            <a:r>
              <a:rPr sz="16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b.fly();</a:t>
            </a:r>
            <a:endParaRPr sz="1600">
              <a:latin typeface="Microsoft Sans Serif"/>
              <a:cs typeface="Microsoft Sans Serif"/>
            </a:endParaRPr>
          </a:p>
          <a:p>
            <a:pPr marL="285750">
              <a:lnSpc>
                <a:spcPts val="1920"/>
              </a:lnSpc>
            </a:pPr>
            <a:r>
              <a:rPr sz="16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6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solidFill>
                  <a:srgbClr val="292934"/>
                </a:solidFill>
                <a:latin typeface="Microsoft Sans Serif"/>
                <a:cs typeface="Microsoft Sans Serif"/>
              </a:rPr>
              <a:t>}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46482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0" dirty="0"/>
              <a:t>I</a:t>
            </a:r>
            <a:r>
              <a:rPr sz="4000" spc="-105" dirty="0"/>
              <a:t>n</a:t>
            </a:r>
            <a:r>
              <a:rPr sz="4000" spc="-100" dirty="0"/>
              <a:t>t</a:t>
            </a:r>
            <a:r>
              <a:rPr sz="4000" spc="-105" dirty="0"/>
              <a:t>er</a:t>
            </a:r>
            <a:r>
              <a:rPr sz="4000" spc="-100" dirty="0"/>
              <a:t>f</a:t>
            </a:r>
            <a:r>
              <a:rPr sz="4000" spc="-105" dirty="0"/>
              <a:t>a</a:t>
            </a:r>
            <a:r>
              <a:rPr sz="4000" spc="-100" dirty="0"/>
              <a:t>c</a:t>
            </a:r>
            <a:r>
              <a:rPr sz="4000" spc="-5" dirty="0"/>
              <a:t>e</a:t>
            </a:r>
            <a:r>
              <a:rPr sz="4000" spc="-180" dirty="0"/>
              <a:t> </a:t>
            </a:r>
            <a:r>
              <a:rPr sz="4000" spc="-105" dirty="0"/>
              <a:t>a</a:t>
            </a:r>
            <a:r>
              <a:rPr sz="4000" spc="-5" dirty="0"/>
              <a:t>s</a:t>
            </a:r>
            <a:r>
              <a:rPr sz="4000" spc="-150" dirty="0"/>
              <a:t> </a:t>
            </a:r>
            <a:r>
              <a:rPr sz="4000" spc="-105" dirty="0"/>
              <a:t>da</a:t>
            </a:r>
            <a:r>
              <a:rPr sz="4000" spc="-100" dirty="0"/>
              <a:t>t</a:t>
            </a:r>
            <a:r>
              <a:rPr sz="4000" spc="-5" dirty="0"/>
              <a:t>a</a:t>
            </a:r>
            <a:r>
              <a:rPr sz="4000" spc="-155" dirty="0"/>
              <a:t> </a:t>
            </a:r>
            <a:r>
              <a:rPr sz="4000" spc="-100" dirty="0"/>
              <a:t>ty</a:t>
            </a:r>
            <a:r>
              <a:rPr sz="4000" spc="-105" dirty="0"/>
              <a:t>p</a:t>
            </a:r>
            <a:r>
              <a:rPr sz="4000" spc="-5" dirty="0"/>
              <a:t>e</a:t>
            </a:r>
            <a:endParaRPr sz="4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18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Whe</a:t>
            </a:r>
            <a:r>
              <a:rPr spc="-5" dirty="0"/>
              <a:t>n</a:t>
            </a:r>
            <a:r>
              <a:rPr spc="-180" dirty="0"/>
              <a:t> </a:t>
            </a:r>
            <a:r>
              <a:rPr spc="-105" dirty="0"/>
              <a:t>t</a:t>
            </a:r>
            <a:r>
              <a:rPr spc="-5" dirty="0"/>
              <a:t>o</a:t>
            </a:r>
            <a:r>
              <a:rPr spc="-165" dirty="0"/>
              <a:t> </a:t>
            </a:r>
            <a:r>
              <a:rPr spc="-100" dirty="0"/>
              <a:t>us</a:t>
            </a:r>
            <a:r>
              <a:rPr spc="-5" dirty="0"/>
              <a:t>e</a:t>
            </a:r>
            <a:r>
              <a:rPr spc="-160" dirty="0"/>
              <a:t> </a:t>
            </a:r>
            <a:r>
              <a:rPr dirty="0"/>
              <a:t>-</a:t>
            </a:r>
            <a:r>
              <a:rPr spc="-360" dirty="0"/>
              <a:t> </a:t>
            </a:r>
            <a:r>
              <a:rPr spc="-100" dirty="0"/>
              <a:t>Abs</a:t>
            </a:r>
            <a:r>
              <a:rPr spc="-105" dirty="0"/>
              <a:t>t</a:t>
            </a:r>
            <a:r>
              <a:rPr spc="-95" dirty="0"/>
              <a:t>r</a:t>
            </a:r>
            <a:r>
              <a:rPr spc="-100" dirty="0"/>
              <a:t>ac</a:t>
            </a:r>
            <a:r>
              <a:rPr dirty="0"/>
              <a:t>t</a:t>
            </a:r>
            <a:r>
              <a:rPr spc="-195" dirty="0"/>
              <a:t> </a:t>
            </a:r>
            <a:r>
              <a:rPr spc="-95" dirty="0"/>
              <a:t>C</a:t>
            </a:r>
            <a:r>
              <a:rPr spc="-114" dirty="0"/>
              <a:t>l</a:t>
            </a:r>
            <a:r>
              <a:rPr spc="-100" dirty="0"/>
              <a:t>as</a:t>
            </a:r>
            <a:r>
              <a:rPr dirty="0"/>
              <a:t>s</a:t>
            </a:r>
            <a:r>
              <a:rPr spc="-190" dirty="0"/>
              <a:t> </a:t>
            </a:r>
            <a:r>
              <a:rPr spc="-100" dirty="0"/>
              <a:t>vs</a:t>
            </a:r>
            <a:r>
              <a:rPr dirty="0"/>
              <a:t>.</a:t>
            </a:r>
            <a:r>
              <a:rPr spc="-160" dirty="0"/>
              <a:t> </a:t>
            </a:r>
            <a:r>
              <a:rPr spc="-105" dirty="0"/>
              <a:t>I</a:t>
            </a:r>
            <a:r>
              <a:rPr spc="-100" dirty="0"/>
              <a:t>n</a:t>
            </a:r>
            <a:r>
              <a:rPr spc="-105" dirty="0"/>
              <a:t>t</a:t>
            </a:r>
            <a:r>
              <a:rPr spc="-100" dirty="0"/>
              <a:t>e</a:t>
            </a:r>
            <a:r>
              <a:rPr spc="-95" dirty="0"/>
              <a:t>r</a:t>
            </a:r>
            <a:r>
              <a:rPr spc="-105" dirty="0"/>
              <a:t>f</a:t>
            </a:r>
            <a:r>
              <a:rPr spc="-100" dirty="0"/>
              <a:t>ac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8026400" cy="3350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Let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&amp;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classes.</a:t>
            </a:r>
            <a:r>
              <a:rPr sz="2400" spc="-9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Assume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both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has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some</a:t>
            </a:r>
            <a:endParaRPr sz="2400">
              <a:latin typeface="Microsoft Sans Serif"/>
              <a:cs typeface="Microsoft Sans Serif"/>
            </a:endParaRPr>
          </a:p>
          <a:p>
            <a:pPr marL="194945">
              <a:lnSpc>
                <a:spcPct val="100000"/>
              </a:lnSpc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commonalities.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So,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we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make</a:t>
            </a:r>
            <a:r>
              <a:rPr sz="2400" spc="-1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-114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parent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 can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hold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 methods and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fields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that are common between B and </a:t>
            </a:r>
            <a:r>
              <a:rPr sz="2000" spc="-5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00">
              <a:latin typeface="Microsoft Sans Serif"/>
              <a:cs typeface="Microsoft Sans Serif"/>
            </a:endParaRPr>
          </a:p>
          <a:p>
            <a:pPr marL="3180080" marR="2660015" indent="261620">
              <a:lnSpc>
                <a:spcPct val="222500"/>
              </a:lnSpc>
              <a:tabLst>
                <a:tab pos="3746500" algn="l"/>
              </a:tabLst>
            </a:pP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-114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(Concrete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Class) </a:t>
            </a:r>
            <a:r>
              <a:rPr sz="1800" spc="-459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	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524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1148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18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Whe</a:t>
            </a:r>
            <a:r>
              <a:rPr spc="-5" dirty="0"/>
              <a:t>n</a:t>
            </a:r>
            <a:r>
              <a:rPr spc="-180" dirty="0"/>
              <a:t> </a:t>
            </a:r>
            <a:r>
              <a:rPr spc="-105" dirty="0"/>
              <a:t>t</a:t>
            </a:r>
            <a:r>
              <a:rPr spc="-5" dirty="0"/>
              <a:t>o</a:t>
            </a:r>
            <a:r>
              <a:rPr spc="-165" dirty="0"/>
              <a:t> </a:t>
            </a:r>
            <a:r>
              <a:rPr spc="-100" dirty="0"/>
              <a:t>us</a:t>
            </a:r>
            <a:r>
              <a:rPr spc="-5" dirty="0"/>
              <a:t>e</a:t>
            </a:r>
            <a:r>
              <a:rPr spc="-160" dirty="0"/>
              <a:t> </a:t>
            </a:r>
            <a:r>
              <a:rPr dirty="0"/>
              <a:t>-</a:t>
            </a:r>
            <a:r>
              <a:rPr spc="-360" dirty="0"/>
              <a:t> </a:t>
            </a:r>
            <a:r>
              <a:rPr spc="-100" dirty="0"/>
              <a:t>Abs</a:t>
            </a:r>
            <a:r>
              <a:rPr spc="-105" dirty="0"/>
              <a:t>t</a:t>
            </a:r>
            <a:r>
              <a:rPr spc="-95" dirty="0"/>
              <a:t>r</a:t>
            </a:r>
            <a:r>
              <a:rPr spc="-100" dirty="0"/>
              <a:t>ac</a:t>
            </a:r>
            <a:r>
              <a:rPr dirty="0"/>
              <a:t>t</a:t>
            </a:r>
            <a:r>
              <a:rPr spc="-195" dirty="0"/>
              <a:t> </a:t>
            </a:r>
            <a:r>
              <a:rPr spc="-95" dirty="0"/>
              <a:t>C</a:t>
            </a:r>
            <a:r>
              <a:rPr spc="-114" dirty="0"/>
              <a:t>l</a:t>
            </a:r>
            <a:r>
              <a:rPr spc="-100" dirty="0"/>
              <a:t>as</a:t>
            </a:r>
            <a:r>
              <a:rPr dirty="0"/>
              <a:t>s</a:t>
            </a:r>
            <a:r>
              <a:rPr spc="-190" dirty="0"/>
              <a:t> </a:t>
            </a:r>
            <a:r>
              <a:rPr spc="-100" dirty="0"/>
              <a:t>vs</a:t>
            </a:r>
            <a:r>
              <a:rPr dirty="0"/>
              <a:t>.</a:t>
            </a:r>
            <a:r>
              <a:rPr spc="-160" dirty="0"/>
              <a:t> </a:t>
            </a:r>
            <a:r>
              <a:rPr spc="-105" dirty="0"/>
              <a:t>I</a:t>
            </a:r>
            <a:r>
              <a:rPr spc="-100" dirty="0"/>
              <a:t>n</a:t>
            </a:r>
            <a:r>
              <a:rPr spc="-105" dirty="0"/>
              <a:t>t</a:t>
            </a:r>
            <a:r>
              <a:rPr spc="-100" dirty="0"/>
              <a:t>e</a:t>
            </a:r>
            <a:r>
              <a:rPr spc="-95" dirty="0"/>
              <a:t>r</a:t>
            </a:r>
            <a:r>
              <a:rPr spc="-105" dirty="0"/>
              <a:t>f</a:t>
            </a:r>
            <a:r>
              <a:rPr spc="-100" dirty="0"/>
              <a:t>ac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986395" cy="1733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 algn="just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so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different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from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same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endParaRPr sz="2400">
              <a:latin typeface="Microsoft Sans Serif"/>
              <a:cs typeface="Microsoft Sans Serif"/>
            </a:endParaRPr>
          </a:p>
          <a:p>
            <a:pPr marL="194945" algn="just">
              <a:lnSpc>
                <a:spcPct val="100000"/>
              </a:lnSpc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C,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there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no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shared</a:t>
            </a:r>
            <a:r>
              <a:rPr sz="2400" spc="4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implementation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possible</a:t>
            </a:r>
            <a:r>
              <a:rPr sz="2400" spc="6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-10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A.</a:t>
            </a:r>
            <a:endParaRPr sz="2400">
              <a:latin typeface="Microsoft Sans Serif"/>
              <a:cs typeface="Microsoft Sans Serif"/>
            </a:endParaRPr>
          </a:p>
          <a:p>
            <a:pPr marL="469900" marR="5080" lvl="1" indent="-182880" algn="just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We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 make the method and A an abstract classes. The methods </a:t>
            </a:r>
            <a:r>
              <a:rPr sz="2000" spc="-5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in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then indicate which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 must be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implemented in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 and C. </a:t>
            </a:r>
            <a:r>
              <a:rPr sz="2000" spc="-5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2000" spc="-9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act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as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type,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which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can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hold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objects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type</a:t>
            </a:r>
            <a:r>
              <a:rPr sz="20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20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or</a:t>
            </a:r>
            <a:r>
              <a:rPr sz="2000" spc="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701" y="4077716"/>
            <a:ext cx="2115185" cy="91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-1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(Abstract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Class)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579120" algn="l"/>
              </a:tabLst>
            </a:pP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B	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0" y="4430648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524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14800" y="4430648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29741"/>
            <a:ext cx="80187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Whe</a:t>
            </a:r>
            <a:r>
              <a:rPr spc="-5" dirty="0"/>
              <a:t>n</a:t>
            </a:r>
            <a:r>
              <a:rPr spc="-180" dirty="0"/>
              <a:t> </a:t>
            </a:r>
            <a:r>
              <a:rPr spc="-105" dirty="0"/>
              <a:t>t</a:t>
            </a:r>
            <a:r>
              <a:rPr spc="-5" dirty="0"/>
              <a:t>o</a:t>
            </a:r>
            <a:r>
              <a:rPr spc="-165" dirty="0"/>
              <a:t> </a:t>
            </a:r>
            <a:r>
              <a:rPr spc="-100" dirty="0"/>
              <a:t>us</a:t>
            </a:r>
            <a:r>
              <a:rPr spc="-5" dirty="0"/>
              <a:t>e</a:t>
            </a:r>
            <a:r>
              <a:rPr spc="-160" dirty="0"/>
              <a:t> </a:t>
            </a:r>
            <a:r>
              <a:rPr dirty="0"/>
              <a:t>-</a:t>
            </a:r>
            <a:r>
              <a:rPr spc="-360" dirty="0"/>
              <a:t> </a:t>
            </a:r>
            <a:r>
              <a:rPr spc="-100" dirty="0"/>
              <a:t>Abs</a:t>
            </a:r>
            <a:r>
              <a:rPr spc="-105" dirty="0"/>
              <a:t>t</a:t>
            </a:r>
            <a:r>
              <a:rPr spc="-95" dirty="0"/>
              <a:t>r</a:t>
            </a:r>
            <a:r>
              <a:rPr spc="-100" dirty="0"/>
              <a:t>ac</a:t>
            </a:r>
            <a:r>
              <a:rPr dirty="0"/>
              <a:t>t</a:t>
            </a:r>
            <a:r>
              <a:rPr spc="-195" dirty="0"/>
              <a:t> </a:t>
            </a:r>
            <a:r>
              <a:rPr spc="-95" dirty="0"/>
              <a:t>C</a:t>
            </a:r>
            <a:r>
              <a:rPr spc="-114" dirty="0"/>
              <a:t>l</a:t>
            </a:r>
            <a:r>
              <a:rPr spc="-100" dirty="0"/>
              <a:t>as</a:t>
            </a:r>
            <a:r>
              <a:rPr dirty="0"/>
              <a:t>s</a:t>
            </a:r>
            <a:r>
              <a:rPr spc="-190" dirty="0"/>
              <a:t> </a:t>
            </a:r>
            <a:r>
              <a:rPr spc="-100" dirty="0"/>
              <a:t>vs</a:t>
            </a:r>
            <a:r>
              <a:rPr dirty="0"/>
              <a:t>.</a:t>
            </a:r>
            <a:r>
              <a:rPr spc="-160" dirty="0"/>
              <a:t> </a:t>
            </a:r>
            <a:r>
              <a:rPr spc="-105" dirty="0"/>
              <a:t>I</a:t>
            </a:r>
            <a:r>
              <a:rPr spc="-100" dirty="0"/>
              <a:t>n</a:t>
            </a:r>
            <a:r>
              <a:rPr spc="-105" dirty="0"/>
              <a:t>t</a:t>
            </a:r>
            <a:r>
              <a:rPr spc="-100" dirty="0"/>
              <a:t>e</a:t>
            </a:r>
            <a:r>
              <a:rPr spc="-95" dirty="0"/>
              <a:t>r</a:t>
            </a:r>
            <a:r>
              <a:rPr spc="-105" dirty="0"/>
              <a:t>f</a:t>
            </a:r>
            <a:r>
              <a:rPr spc="-100" dirty="0"/>
              <a:t>ac</a:t>
            </a:r>
            <a:r>
              <a:rPr spc="-5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25930"/>
            <a:ext cx="750697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4945" marR="5080" indent="-182880">
              <a:lnSpc>
                <a:spcPct val="100000"/>
              </a:lnSpc>
              <a:spcBef>
                <a:spcPts val="10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But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5" dirty="0">
                <a:solidFill>
                  <a:srgbClr val="292934"/>
                </a:solidFill>
                <a:latin typeface="Microsoft Sans Serif"/>
                <a:cs typeface="Microsoft Sans Serif"/>
              </a:rPr>
              <a:t>if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all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methods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of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must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implemented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differently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than</a:t>
            </a:r>
            <a:r>
              <a:rPr sz="2400" spc="2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the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same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method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in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C.</a:t>
            </a:r>
            <a:r>
              <a:rPr sz="2400" spc="-1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there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is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no </a:t>
            </a:r>
            <a:r>
              <a:rPr sz="2400" b="1" spc="-65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common attributes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between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B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and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C,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make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A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an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interface.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03701" y="4066413"/>
            <a:ext cx="1517650" cy="909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432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A</a:t>
            </a:r>
            <a:r>
              <a:rPr sz="1800" spc="-8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(i</a:t>
            </a:r>
            <a:r>
              <a:rPr sz="1800" spc="-20" dirty="0">
                <a:solidFill>
                  <a:srgbClr val="292934"/>
                </a:solidFill>
                <a:latin typeface="Microsoft Sans Serif"/>
                <a:cs typeface="Microsoft Sans Serif"/>
              </a:rPr>
              <a:t>n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terfac</a:t>
            </a:r>
            <a:r>
              <a:rPr sz="18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e</a:t>
            </a: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)</a:t>
            </a:r>
            <a:endParaRPr sz="18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579120" algn="l"/>
              </a:tabLst>
            </a:pPr>
            <a:r>
              <a:rPr sz="1800" dirty="0">
                <a:solidFill>
                  <a:srgbClr val="292934"/>
                </a:solidFill>
                <a:latin typeface="Microsoft Sans Serif"/>
                <a:cs typeface="Microsoft Sans Serif"/>
              </a:rPr>
              <a:t>B	</a:t>
            </a:r>
            <a:r>
              <a:rPr sz="18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8100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152400" y="0"/>
                </a:moveTo>
                <a:lnTo>
                  <a:pt x="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114800" y="4419600"/>
            <a:ext cx="152400" cy="304800"/>
          </a:xfrm>
          <a:custGeom>
            <a:avLst/>
            <a:gdLst/>
            <a:ahLst/>
            <a:cxnLst/>
            <a:rect l="l" t="t" r="r" b="b"/>
            <a:pathLst>
              <a:path w="152400" h="304800">
                <a:moveTo>
                  <a:pt x="0" y="0"/>
                </a:moveTo>
                <a:lnTo>
                  <a:pt x="152400" y="304800"/>
                </a:lnTo>
              </a:path>
            </a:pathLst>
          </a:custGeom>
          <a:ln w="9525">
            <a:solidFill>
              <a:srgbClr val="92A1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Spring 2024 Question 1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E33C50-C93D-7B00-7D5B-C66484F25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82" y="2468797"/>
            <a:ext cx="7094835" cy="19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8056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Spring 2024 Question 1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85B4A8-381D-61B3-7126-6702E11B9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1132412"/>
            <a:ext cx="3996055" cy="572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9501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1(a)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399B7F-487F-908C-1219-A0BC3F208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7076"/>
            <a:ext cx="7910278" cy="583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7654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1(a)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9D294A-67CD-4712-8300-D196FFF89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931" y="1092200"/>
            <a:ext cx="4614138" cy="5689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9495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1(a)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46712-6A7E-CD2B-691B-4ACB084B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80" y="1469444"/>
            <a:ext cx="7135839" cy="493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6943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1(b)</a:t>
            </a:r>
            <a:endParaRPr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27CE3-4363-5391-16B8-137E4F51E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361" y="1092200"/>
            <a:ext cx="5875278" cy="5642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093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62820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105" dirty="0"/>
              <a:t>Fall 2023 Question 1(b)</a:t>
            </a:r>
            <a:endParaRPr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03C47C-9CB1-D607-61E4-981B88CE2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647" y="3048000"/>
            <a:ext cx="3382580" cy="12611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CEB5D3-38E4-3E1A-C532-28E12F00E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362200"/>
            <a:ext cx="5410669" cy="27586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A0FF5A-52D7-79D2-32F8-8B2B060B1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205" y="5410200"/>
            <a:ext cx="3637129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4756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697737"/>
            <a:ext cx="22701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95" dirty="0"/>
              <a:t>Reference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535940" y="1552765"/>
            <a:ext cx="6649720" cy="32461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675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Java:</a:t>
            </a:r>
            <a:r>
              <a:rPr sz="2400" spc="3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Complete</a:t>
            </a:r>
            <a:r>
              <a:rPr sz="2400" spc="5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Reference: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Chapter</a:t>
            </a:r>
            <a:r>
              <a:rPr sz="2400" spc="4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7,8,</a:t>
            </a:r>
            <a:r>
              <a:rPr sz="2400" spc="10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9</a:t>
            </a:r>
            <a:endParaRPr sz="240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spcBef>
                <a:spcPts val="580"/>
              </a:spcBef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Java: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How</a:t>
            </a:r>
            <a:r>
              <a:rPr sz="2400" spc="3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92934"/>
                </a:solidFill>
                <a:latin typeface="Microsoft Sans Serif"/>
                <a:cs typeface="Microsoft Sans Serif"/>
              </a:rPr>
              <a:t>to Program: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Chapter</a:t>
            </a:r>
            <a:r>
              <a:rPr sz="2400" spc="2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10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92A199"/>
              </a:buClr>
              <a:buFont typeface="Microsoft Sans Serif"/>
              <a:buChar char="•"/>
            </a:pPr>
            <a:endParaRPr sz="3550">
              <a:latin typeface="Microsoft Sans Serif"/>
              <a:cs typeface="Microsoft Sans Serif"/>
            </a:endParaRPr>
          </a:p>
          <a:p>
            <a:pPr marL="195580" indent="-182880">
              <a:lnSpc>
                <a:spcPct val="100000"/>
              </a:lnSpc>
              <a:buClr>
                <a:srgbClr val="92A199"/>
              </a:buClr>
              <a:buSzPct val="85416"/>
              <a:buChar char="•"/>
              <a:tabLst>
                <a:tab pos="195580" algn="l"/>
              </a:tabLst>
            </a:pPr>
            <a:r>
              <a:rPr sz="2400" spc="-10" dirty="0">
                <a:solidFill>
                  <a:srgbClr val="292934"/>
                </a:solidFill>
                <a:latin typeface="Microsoft Sans Serif"/>
                <a:cs typeface="Microsoft Sans Serif"/>
              </a:rPr>
              <a:t>Online</a:t>
            </a:r>
            <a:r>
              <a:rPr sz="2400" spc="15" dirty="0">
                <a:solidFill>
                  <a:srgbClr val="292934"/>
                </a:solidFill>
                <a:latin typeface="Microsoft Sans Serif"/>
                <a:cs typeface="Microsoft Sans Serif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Microsoft Sans Serif"/>
                <a:cs typeface="Microsoft Sans Serif"/>
              </a:rPr>
              <a:t>Reference:</a:t>
            </a:r>
            <a:endParaRPr sz="24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4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https://www.tutorialspoint.com/java/java_interfaces.htm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http://www.javatpoint.com/interface-in-java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2"/>
              </a:rPr>
              <a:t>https://www.youtube.com/watch?v=1Q4I63-hKcY</a:t>
            </a:r>
            <a:endParaRPr sz="2000">
              <a:latin typeface="Microsoft Sans Serif"/>
              <a:cs typeface="Microsoft Sans Serif"/>
            </a:endParaRPr>
          </a:p>
          <a:p>
            <a:pPr marL="469900" lvl="1" indent="-183515">
              <a:lnSpc>
                <a:spcPct val="100000"/>
              </a:lnSpc>
              <a:spcBef>
                <a:spcPts val="480"/>
              </a:spcBef>
              <a:buClr>
                <a:srgbClr val="92A199"/>
              </a:buClr>
              <a:buSzPct val="85000"/>
              <a:buChar char="•"/>
              <a:tabLst>
                <a:tab pos="469900" algn="l"/>
              </a:tabLst>
            </a:pPr>
            <a:r>
              <a:rPr sz="2000" u="heavy" spc="-5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Microsoft Sans Serif"/>
                <a:cs typeface="Microsoft Sans Serif"/>
                <a:hlinkClick r:id="rId3"/>
              </a:rPr>
              <a:t>https://www.youtube.com/watch?v=yyU3bXyc_oU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</TotalTime>
  <Words>2800</Words>
  <Application>Microsoft Office PowerPoint</Application>
  <PresentationFormat>On-screen Show (4:3)</PresentationFormat>
  <Paragraphs>396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Cambria</vt:lpstr>
      <vt:lpstr>Courier New</vt:lpstr>
      <vt:lpstr>Lucida Console</vt:lpstr>
      <vt:lpstr>Microsoft Sans Serif</vt:lpstr>
      <vt:lpstr>Wingdings</vt:lpstr>
      <vt:lpstr>Office Theme</vt:lpstr>
      <vt:lpstr>ABSTRACT CLASS,  INTERFACE</vt:lpstr>
      <vt:lpstr>Meaning of Abstract</vt:lpstr>
      <vt:lpstr>Abstraction</vt:lpstr>
      <vt:lpstr>Abstraction</vt:lpstr>
      <vt:lpstr>Abstract Class</vt:lpstr>
      <vt:lpstr>Purpose of Abstract Class</vt:lpstr>
      <vt:lpstr>Abstract Class</vt:lpstr>
      <vt:lpstr>Keyword - abstract</vt:lpstr>
      <vt:lpstr>Abstract Class– how to declare</vt:lpstr>
      <vt:lpstr>Abstract Class– example (no abstract  method)</vt:lpstr>
      <vt:lpstr>Abstract Class– example(with abstract  method)</vt:lpstr>
      <vt:lpstr>Extending an abstract class</vt:lpstr>
      <vt:lpstr>Extending an abstract class - example</vt:lpstr>
      <vt:lpstr>Extending an abstract class - example</vt:lpstr>
      <vt:lpstr>Abstract Class – another example</vt:lpstr>
      <vt:lpstr>Abstraction vs. encapsulation</vt:lpstr>
      <vt:lpstr>Abstraction vs. encapsulation</vt:lpstr>
      <vt:lpstr>Fall 2023 Question 5</vt:lpstr>
      <vt:lpstr>Fall 2023 Question 5</vt:lpstr>
      <vt:lpstr>Fall 2023 Question 5(c)</vt:lpstr>
      <vt:lpstr>Fall 2023 Question 5(d)</vt:lpstr>
      <vt:lpstr>Fall 2023 Question 5(e)</vt:lpstr>
      <vt:lpstr>Summer 2023 Question 5</vt:lpstr>
      <vt:lpstr>Summer 2023 Question 5</vt:lpstr>
      <vt:lpstr>Summer 2023 Question 5</vt:lpstr>
      <vt:lpstr>Summer 2023 Question 5</vt:lpstr>
      <vt:lpstr>Summer 2023 Question 5</vt:lpstr>
      <vt:lpstr>Interface</vt:lpstr>
      <vt:lpstr>Interface</vt:lpstr>
      <vt:lpstr>Interface</vt:lpstr>
      <vt:lpstr>Interface – What can’t do</vt:lpstr>
      <vt:lpstr>Interface – how to declare</vt:lpstr>
      <vt:lpstr>Interface - how to declare</vt:lpstr>
      <vt:lpstr>Interface - how to declare</vt:lpstr>
      <vt:lpstr>Implementing interface</vt:lpstr>
      <vt:lpstr>Implementing interface - example</vt:lpstr>
      <vt:lpstr>Implementing interface - example</vt:lpstr>
      <vt:lpstr>Implementing interface – some rules</vt:lpstr>
      <vt:lpstr>Implementing multiple interfaces -  example</vt:lpstr>
      <vt:lpstr>Example – with both extends and  implements</vt:lpstr>
      <vt:lpstr>Extending multiple interfaces</vt:lpstr>
      <vt:lpstr>Relationship between classes &amp; interfaces</vt:lpstr>
      <vt:lpstr>Why use Interface</vt:lpstr>
      <vt:lpstr>Interface as data type</vt:lpstr>
      <vt:lpstr>When to use - Abstract Class vs. Interface</vt:lpstr>
      <vt:lpstr>When to use - Abstract Class vs. Interface</vt:lpstr>
      <vt:lpstr>When to use - Abstract Class vs. Interface</vt:lpstr>
      <vt:lpstr>Spring 2024 Question 1</vt:lpstr>
      <vt:lpstr>Spring 2024 Question 1</vt:lpstr>
      <vt:lpstr>Fall 2023 Question 1(a)</vt:lpstr>
      <vt:lpstr>Fall 2023 Question 1(a)</vt:lpstr>
      <vt:lpstr>Fall 2023 Question 1(a)</vt:lpstr>
      <vt:lpstr>Fall 2023 Question 1(b)</vt:lpstr>
      <vt:lpstr>Fall 2023 Question 1(b)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Abstract Class</dc:title>
  <dc:creator>user</dc:creator>
  <cp:lastModifiedBy>Shafqat Rakin</cp:lastModifiedBy>
  <cp:revision>9</cp:revision>
  <dcterms:created xsi:type="dcterms:W3CDTF">2023-09-19T16:31:13Z</dcterms:created>
  <dcterms:modified xsi:type="dcterms:W3CDTF">2024-09-06T15:40:01Z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