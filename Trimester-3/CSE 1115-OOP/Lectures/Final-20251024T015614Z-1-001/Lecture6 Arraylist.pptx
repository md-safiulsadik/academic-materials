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4"/>
  </p:sldMasterIdLst>
  <p:sldIdLst>
    <p:sldId id="256" r:id="rId5"/>
    <p:sldId id="257" r:id="rId6"/>
    <p:sldId id="258" r:id="rId7"/>
    <p:sldId id="280" r:id="rId8"/>
    <p:sldId id="281" r:id="rId9"/>
    <p:sldId id="259" r:id="rId10"/>
    <p:sldId id="261" r:id="rId11"/>
    <p:sldId id="260" r:id="rId12"/>
    <p:sldId id="262" r:id="rId13"/>
    <p:sldId id="263" r:id="rId14"/>
    <p:sldId id="265" r:id="rId15"/>
    <p:sldId id="266" r:id="rId16"/>
    <p:sldId id="267" r:id="rId17"/>
    <p:sldId id="278" r:id="rId18"/>
    <p:sldId id="277" r:id="rId19"/>
    <p:sldId id="268" r:id="rId20"/>
    <p:sldId id="269" r:id="rId21"/>
    <p:sldId id="270" r:id="rId22"/>
    <p:sldId id="271" r:id="rId23"/>
    <p:sldId id="272" r:id="rId24"/>
    <p:sldId id="282" r:id="rId25"/>
    <p:sldId id="273" r:id="rId26"/>
    <p:sldId id="274" r:id="rId27"/>
    <p:sldId id="275" r:id="rId28"/>
    <p:sldId id="276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79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2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57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6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92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74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6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74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936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10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9371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95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75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68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BB31A-FFA0-4692-A8FC-18AEDC3DE92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B2EB72-D9F5-48C0-B3C5-33F1B3B0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712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4F6B-3404-A6D0-1625-8F9F85CAB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9543" y="1166219"/>
            <a:ext cx="8915399" cy="2262781"/>
          </a:xfrm>
        </p:spPr>
        <p:txBody>
          <a:bodyPr/>
          <a:lstStyle/>
          <a:p>
            <a:r>
              <a:rPr lang="en-GB" dirty="0" err="1">
                <a:latin typeface="Lucida Sans Typewriter" panose="020B0509030504030204" pitchFamily="49" charset="0"/>
              </a:rPr>
              <a:t>Arraylist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7F519B94-A705-B6DF-FFFD-A63C7DE46851}"/>
              </a:ext>
            </a:extLst>
          </p:cNvPr>
          <p:cNvSpPr txBox="1">
            <a:spLocks/>
          </p:cNvSpPr>
          <p:nvPr/>
        </p:nvSpPr>
        <p:spPr>
          <a:xfrm>
            <a:off x="1636059" y="5384849"/>
            <a:ext cx="2622100" cy="947046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1"/>
              </a:spcBef>
            </a:pP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Md. Shafqat </a:t>
            </a:r>
            <a:r>
              <a:rPr lang="en-US" sz="1400" kern="0" spc="-4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Talukder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Rakin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Lecturer, Department of CSE,  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United International</a:t>
            </a:r>
            <a:r>
              <a:rPr lang="en-US" sz="1400" kern="0" spc="8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University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Email id :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B1D3595-0FE4-B0E4-0CF1-17EA40A869B9}"/>
              </a:ext>
            </a:extLst>
          </p:cNvPr>
          <p:cNvSpPr txBox="1"/>
          <p:nvPr/>
        </p:nvSpPr>
        <p:spPr>
          <a:xfrm>
            <a:off x="7512423" y="5858372"/>
            <a:ext cx="467957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800" b="1" spc="125" dirty="0">
                <a:solidFill>
                  <a:srgbClr val="565F6C"/>
                </a:solidFill>
                <a:latin typeface="Cambria"/>
                <a:cs typeface="Cambria"/>
              </a:rPr>
              <a:t>Acknowledged: </a:t>
            </a:r>
            <a:r>
              <a:rPr lang="en-GB" b="1" spc="125" dirty="0">
                <a:solidFill>
                  <a:srgbClr val="565F6C"/>
                </a:solidFill>
                <a:latin typeface="Cambria"/>
                <a:cs typeface="Cambria"/>
              </a:rPr>
              <a:t>Abdullah Al Jubair</a:t>
            </a:r>
            <a:endParaRPr sz="18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18284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The ArrayList class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5584B-F663-6580-BD0E-0E6C0D206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000" b="1" i="0" u="none" strike="noStrike" baseline="0" dirty="0">
                <a:latin typeface="Lucida Sans Typewriter" panose="020B0509030504030204" pitchFamily="49" charset="0"/>
              </a:rPr>
              <a:t>ArrayList </a:t>
            </a:r>
            <a:r>
              <a:rPr lang="en-GB" sz="2000" b="0" i="0" u="none" strike="noStrike" baseline="0" dirty="0">
                <a:latin typeface="Lucida Sans Typewriter" panose="020B0509030504030204" pitchFamily="49" charset="0"/>
              </a:rPr>
              <a:t>supports dynamic arrays that can grow as needed. </a:t>
            </a:r>
          </a:p>
          <a:p>
            <a:r>
              <a:rPr lang="en-GB" sz="2000" b="0" i="0" u="none" strike="noStrike" baseline="0" dirty="0" err="1">
                <a:latin typeface="Lucida Sans Typewriter" panose="020B0509030504030204" pitchFamily="49" charset="0"/>
              </a:rPr>
              <a:t>Arraylist</a:t>
            </a:r>
            <a:r>
              <a:rPr lang="en-GB" sz="2000" b="0" i="0" u="none" strike="noStrike" baseline="0" dirty="0">
                <a:latin typeface="Lucida Sans Typewriter" panose="020B0509030504030204" pitchFamily="49" charset="0"/>
              </a:rPr>
              <a:t> can have duplicate elements.</a:t>
            </a:r>
          </a:p>
          <a:p>
            <a:r>
              <a:rPr lang="en-GB" sz="2000" b="0" i="0" u="none" strike="noStrike" baseline="0" dirty="0">
                <a:latin typeface="Lucida Sans Typewriter" panose="020B0509030504030204" pitchFamily="49" charset="0"/>
              </a:rPr>
              <a:t>An </a:t>
            </a:r>
            <a:r>
              <a:rPr lang="en-GB" sz="2000" b="1" i="0" u="none" strike="noStrike" baseline="0" dirty="0">
                <a:latin typeface="Lucida Sans Typewriter" panose="020B0509030504030204" pitchFamily="49" charset="0"/>
              </a:rPr>
              <a:t>ArrayList </a:t>
            </a:r>
            <a:r>
              <a:rPr lang="en-GB" sz="2000" b="0" i="0" u="none" strike="noStrike" baseline="0" dirty="0">
                <a:latin typeface="Lucida Sans Typewriter" panose="020B0509030504030204" pitchFamily="49" charset="0"/>
              </a:rPr>
              <a:t>is a variable-length array of object references. </a:t>
            </a:r>
          </a:p>
          <a:p>
            <a:r>
              <a:rPr lang="en-GB" sz="2000" b="0" i="0" u="none" strike="noStrike" baseline="0" dirty="0">
                <a:latin typeface="Lucida Sans Typewriter" panose="020B0509030504030204" pitchFamily="49" charset="0"/>
              </a:rPr>
              <a:t>An </a:t>
            </a:r>
            <a:r>
              <a:rPr lang="en-GB" sz="2000" b="1" i="0" u="none" strike="noStrike" baseline="0" dirty="0">
                <a:latin typeface="Lucida Sans Typewriter" panose="020B0509030504030204" pitchFamily="49" charset="0"/>
              </a:rPr>
              <a:t>ArrayList </a:t>
            </a:r>
            <a:r>
              <a:rPr lang="en-GB" sz="2000" b="0" i="0" u="none" strike="noStrike" baseline="0" dirty="0">
                <a:latin typeface="Lucida Sans Typewriter" panose="020B0509030504030204" pitchFamily="49" charset="0"/>
              </a:rPr>
              <a:t>can dynamically increase or decrease in size. </a:t>
            </a:r>
          </a:p>
          <a:p>
            <a:r>
              <a:rPr lang="en-GB" sz="2000" b="0" i="0" u="none" strike="noStrike" baseline="0" dirty="0">
                <a:latin typeface="Lucida Sans Typewriter" panose="020B0509030504030204" pitchFamily="49" charset="0"/>
              </a:rPr>
              <a:t>Array lists are created with an initial size. When this size is exceeded, the collection is automatically enlarged. When objects are removed, the array can be shrunk.</a:t>
            </a:r>
            <a:endParaRPr lang="en-US" sz="320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390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>
                <a:latin typeface="Lucida Sans Typewriter" panose="020B0509030504030204" pitchFamily="49" charset="0"/>
              </a:rPr>
              <a:t>Dynamic Allocation of ArrayList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5584B-F663-6580-BD0E-0E6C0D206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2290" y="1905000"/>
            <a:ext cx="8487053" cy="3922554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GB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The following is a very basic idea explaining the working of the array when the array becomes full and if we try to add an item:</a:t>
            </a:r>
          </a:p>
          <a:p>
            <a:pPr marL="0" indent="0" algn="l">
              <a:buNone/>
            </a:pPr>
            <a:endParaRPr lang="en-GB" sz="2000" b="0" i="0" u="none" strike="noStrike" baseline="0" dirty="0">
              <a:solidFill>
                <a:srgbClr val="273239"/>
              </a:solidFill>
              <a:latin typeface="Lucida Sans Typewriter" panose="020B0509030504030204" pitchFamily="49" charset="0"/>
            </a:endParaRPr>
          </a:p>
          <a:p>
            <a:pPr marL="0" indent="0" algn="l">
              <a:buNone/>
            </a:pPr>
            <a:r>
              <a:rPr lang="en-GB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● Creates a bigger-sized memory on heap memory (for example memory </a:t>
            </a:r>
            <a:r>
              <a:rPr lang="en-US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of double size).</a:t>
            </a:r>
          </a:p>
          <a:p>
            <a:pPr marL="0" indent="0" algn="l">
              <a:buNone/>
            </a:pPr>
            <a:r>
              <a:rPr lang="en-GB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● Copies the current memory elements to the new memory.</a:t>
            </a:r>
          </a:p>
          <a:p>
            <a:pPr marL="0" indent="0" algn="l">
              <a:buNone/>
            </a:pPr>
            <a:r>
              <a:rPr lang="en-GB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● The new item is added now as there is bigger memory available now.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● Delete the old memory.</a:t>
            </a:r>
            <a:endParaRPr lang="en-US" sz="360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72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FCA9E-F056-2FE8-7E43-E61BCB98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vs </a:t>
            </a:r>
            <a:r>
              <a:rPr lang="en-US" dirty="0" err="1"/>
              <a:t>ArrayList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835D80-434C-7C46-BA6B-5ECFFFBF4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093" y="2257923"/>
            <a:ext cx="9720510" cy="254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148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FCA9E-F056-2FE8-7E43-E61BCB98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419" y="22268"/>
            <a:ext cx="8911687" cy="1280890"/>
          </a:xfrm>
        </p:spPr>
        <p:txBody>
          <a:bodyPr/>
          <a:lstStyle/>
          <a:p>
            <a:r>
              <a:rPr lang="en-US" dirty="0"/>
              <a:t>Array vs </a:t>
            </a:r>
            <a:r>
              <a:rPr lang="en-US" dirty="0" err="1"/>
              <a:t>ArrayList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47397-B247-491A-C46E-C0B3BD651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091" y="22268"/>
            <a:ext cx="6416596" cy="68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03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Lucida Sans Typewriter" panose="020B0509030504030204" pitchFamily="49" charset="0"/>
              </a:rPr>
              <a:t>Implementation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5584B-F663-6580-BD0E-0E6C0D206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874" y="1905000"/>
            <a:ext cx="10706470" cy="392255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sz="240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ArrayList inherits </a:t>
            </a:r>
            <a:r>
              <a:rPr lang="en-GB" sz="2400" i="0" u="none" strike="noStrike" baseline="0" dirty="0" err="1">
                <a:solidFill>
                  <a:srgbClr val="1155CD"/>
                </a:solidFill>
                <a:latin typeface="Lucida Sans Typewriter" panose="020B0509030504030204" pitchFamily="49" charset="0"/>
              </a:rPr>
              <a:t>AbstractList</a:t>
            </a:r>
            <a:r>
              <a:rPr lang="en-GB" sz="2400" i="0" u="none" strike="noStrike" baseline="0" dirty="0">
                <a:solidFill>
                  <a:srgbClr val="1155CD"/>
                </a:solidFill>
                <a:latin typeface="Lucida Sans Typewriter" panose="020B0509030504030204" pitchFamily="49" charset="0"/>
              </a:rPr>
              <a:t> </a:t>
            </a:r>
            <a:r>
              <a:rPr lang="en-GB" sz="240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class and implements the </a:t>
            </a:r>
            <a:r>
              <a:rPr lang="en-GB" sz="2400" i="0" u="none" strike="noStrike" baseline="0" dirty="0">
                <a:solidFill>
                  <a:srgbClr val="1155CD"/>
                </a:solidFill>
                <a:latin typeface="Lucida Sans Typewriter" panose="020B0509030504030204" pitchFamily="49" charset="0"/>
              </a:rPr>
              <a:t>List interface</a:t>
            </a:r>
            <a:r>
              <a:rPr lang="en-GB" sz="240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.</a:t>
            </a:r>
            <a:endParaRPr lang="en-US" sz="440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464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Lucida Sans Typewriter" panose="020B0509030504030204" pitchFamily="49" charset="0"/>
              </a:rPr>
              <a:t>Declaring an ArrayList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5584B-F663-6580-BD0E-0E6C0D206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874" y="1905000"/>
            <a:ext cx="10706470" cy="392255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sz="2400" b="1" i="0" dirty="0">
                <a:solidFill>
                  <a:srgbClr val="040C28"/>
                </a:solidFill>
                <a:effectLst/>
                <a:latin typeface="Lucida Sans Typewriter" panose="020B0509030504030204" pitchFamily="49" charset="0"/>
              </a:rPr>
              <a:t>ArrayList&lt;</a:t>
            </a:r>
            <a:r>
              <a:rPr lang="en-GB" sz="2400" b="1" i="0" dirty="0" err="1">
                <a:solidFill>
                  <a:srgbClr val="040C28"/>
                </a:solidFill>
                <a:effectLst/>
                <a:latin typeface="Lucida Sans Typewriter" panose="020B0509030504030204" pitchFamily="49" charset="0"/>
              </a:rPr>
              <a:t>data_type</a:t>
            </a:r>
            <a:r>
              <a:rPr lang="en-GB" sz="2400" b="1" i="0" dirty="0">
                <a:solidFill>
                  <a:srgbClr val="040C28"/>
                </a:solidFill>
                <a:effectLst/>
                <a:latin typeface="Lucida Sans Typewriter" panose="020B0509030504030204" pitchFamily="49" charset="0"/>
              </a:rPr>
              <a:t>&gt; </a:t>
            </a:r>
            <a:r>
              <a:rPr lang="en-GB" sz="2400" b="1" i="0" dirty="0" err="1">
                <a:solidFill>
                  <a:srgbClr val="040C28"/>
                </a:solidFill>
                <a:effectLst/>
                <a:latin typeface="Lucida Sans Typewriter" panose="020B0509030504030204" pitchFamily="49" charset="0"/>
              </a:rPr>
              <a:t>list_name</a:t>
            </a:r>
            <a:r>
              <a:rPr lang="en-GB" sz="2400" b="1" i="0" dirty="0">
                <a:solidFill>
                  <a:srgbClr val="040C28"/>
                </a:solidFill>
                <a:effectLst/>
                <a:latin typeface="Lucida Sans Typewriter" panose="020B0509030504030204" pitchFamily="49" charset="0"/>
              </a:rPr>
              <a:t> = new ArrayList&lt;&gt;();</a:t>
            </a:r>
            <a:r>
              <a:rPr lang="en-GB" sz="2400" b="1" i="0" dirty="0">
                <a:solidFill>
                  <a:srgbClr val="202124"/>
                </a:solidFill>
                <a:effectLst/>
                <a:latin typeface="Lucida Sans Typewriter" panose="020B0509030504030204" pitchFamily="49" charset="0"/>
              </a:rPr>
              <a:t> </a:t>
            </a:r>
          </a:p>
          <a:p>
            <a:pPr marL="0" indent="0" algn="l">
              <a:buNone/>
            </a:pPr>
            <a:endParaRPr lang="en-GB" sz="2400" b="1" i="0" dirty="0">
              <a:solidFill>
                <a:srgbClr val="202124"/>
              </a:solidFill>
              <a:effectLst/>
              <a:latin typeface="Lucida Sans Typewriter" panose="020B0509030504030204" pitchFamily="49" charset="0"/>
            </a:endParaRPr>
          </a:p>
          <a:p>
            <a:r>
              <a:rPr lang="en-GB" sz="2000" i="0" dirty="0">
                <a:solidFill>
                  <a:srgbClr val="040C28"/>
                </a:solidFill>
                <a:effectLst/>
                <a:latin typeface="Lucida Sans Typewriter" panose="020B0509030504030204" pitchFamily="49" charset="0"/>
              </a:rPr>
              <a:t>ArrayList&lt;Integer&gt; </a:t>
            </a:r>
            <a:r>
              <a:rPr lang="en-GB" sz="2000" i="0" dirty="0" err="1">
                <a:solidFill>
                  <a:srgbClr val="040C28"/>
                </a:solidFill>
                <a:effectLst/>
                <a:latin typeface="Lucida Sans Typewriter" panose="020B0509030504030204" pitchFamily="49" charset="0"/>
              </a:rPr>
              <a:t>arr</a:t>
            </a:r>
            <a:r>
              <a:rPr lang="en-GB" sz="2000" i="0" dirty="0">
                <a:solidFill>
                  <a:srgbClr val="040C28"/>
                </a:solidFill>
                <a:effectLst/>
                <a:latin typeface="Lucida Sans Typewriter" panose="020B0509030504030204" pitchFamily="49" charset="0"/>
              </a:rPr>
              <a:t> = new ArrayList&lt;&gt;();</a:t>
            </a:r>
            <a:r>
              <a:rPr lang="en-GB" sz="2000" i="0" dirty="0">
                <a:solidFill>
                  <a:srgbClr val="202124"/>
                </a:solidFill>
                <a:effectLst/>
                <a:latin typeface="Lucida Sans Typewriter" panose="020B0509030504030204" pitchFamily="49" charset="0"/>
              </a:rPr>
              <a:t> </a:t>
            </a:r>
          </a:p>
          <a:p>
            <a:r>
              <a:rPr lang="en-GB" sz="2000" i="0" dirty="0">
                <a:solidFill>
                  <a:srgbClr val="040C28"/>
                </a:solidFill>
                <a:effectLst/>
                <a:latin typeface="Lucida Sans Typewriter" panose="020B0509030504030204" pitchFamily="49" charset="0"/>
              </a:rPr>
              <a:t>ArrayList&lt;String&gt; arr2 = new ArrayList&lt;&gt;();</a:t>
            </a:r>
            <a:r>
              <a:rPr lang="en-GB" sz="2000" i="0" dirty="0">
                <a:solidFill>
                  <a:srgbClr val="202124"/>
                </a:solidFill>
                <a:effectLst/>
                <a:latin typeface="Lucida Sans Typewriter" panose="020B0509030504030204" pitchFamily="49" charset="0"/>
              </a:rPr>
              <a:t> </a:t>
            </a:r>
          </a:p>
          <a:p>
            <a:endParaRPr lang="en-US" sz="2400" b="1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196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923" y="624110"/>
            <a:ext cx="9684690" cy="1280890"/>
          </a:xfrm>
        </p:spPr>
        <p:txBody>
          <a:bodyPr>
            <a:normAutofit fontScale="90000"/>
          </a:bodyPr>
          <a:lstStyle/>
          <a:p>
            <a:r>
              <a:rPr lang="en-GB" sz="4000" dirty="0">
                <a:latin typeface="Lucida Sans Typewriter" panose="020B0509030504030204" pitchFamily="49" charset="0"/>
              </a:rPr>
              <a:t>Operations performed in ArrayList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5584B-F663-6580-BD0E-0E6C0D206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874" y="1905000"/>
            <a:ext cx="10706470" cy="3922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● Adding element to List/ Add element</a:t>
            </a:r>
          </a:p>
          <a:p>
            <a:pPr marL="0" indent="0">
              <a:buNone/>
            </a:pPr>
            <a:r>
              <a:rPr lang="en-US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● Changing elements/ Set element</a:t>
            </a:r>
          </a:p>
          <a:p>
            <a:pPr marL="0" indent="0">
              <a:buNone/>
            </a:pPr>
            <a:r>
              <a:rPr lang="en-US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● Removing elements/Delete element</a:t>
            </a:r>
          </a:p>
          <a:p>
            <a:pPr marL="0" indent="0">
              <a:buNone/>
            </a:pPr>
            <a:r>
              <a:rPr lang="en-US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● Iterating elements</a:t>
            </a:r>
          </a:p>
          <a:p>
            <a:pPr marL="0" indent="0">
              <a:buNone/>
            </a:pPr>
            <a:r>
              <a:rPr lang="en-US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● get elements</a:t>
            </a:r>
          </a:p>
          <a:p>
            <a:pPr marL="0" indent="0">
              <a:buNone/>
            </a:pPr>
            <a:r>
              <a:rPr lang="en-GB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● add elements in between two number</a:t>
            </a:r>
          </a:p>
          <a:p>
            <a:pPr marL="0" indent="0">
              <a:buNone/>
            </a:pPr>
            <a:r>
              <a:rPr lang="en-US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● Sorting elements</a:t>
            </a:r>
          </a:p>
          <a:p>
            <a:pPr marL="0" indent="0">
              <a:buNone/>
            </a:pPr>
            <a:r>
              <a:rPr lang="en-US" sz="2000" b="0" i="0" u="none" strike="noStrike" baseline="0" dirty="0">
                <a:solidFill>
                  <a:srgbClr val="273239"/>
                </a:solidFill>
                <a:latin typeface="Lucida Sans Typewriter" panose="020B0509030504030204" pitchFamily="49" charset="0"/>
              </a:rPr>
              <a:t>● ArrayList size</a:t>
            </a:r>
            <a:endParaRPr lang="en-US" sz="480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164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Lucida Sans Typewriter" panose="020B0509030504030204" pitchFamily="49" charset="0"/>
              </a:rPr>
              <a:t>Add an element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5584B-F663-6580-BD0E-0E6C0D206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105" y="1754079"/>
            <a:ext cx="8593584" cy="392255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ArrayList &lt;String&gt; list = new ArrayList&lt;&gt;(); </a:t>
            </a:r>
          </a:p>
          <a:p>
            <a:pPr marL="0" indent="0"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// Adding items to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i="0" u="none" strike="noStrike" baseline="0" dirty="0" err="1">
                <a:solidFill>
                  <a:srgbClr val="323232"/>
                </a:solidFill>
                <a:latin typeface="Lucida Sans Typewriter" panose="020B0509030504030204" pitchFamily="49" charset="0"/>
              </a:rPr>
              <a:t>list.</a:t>
            </a:r>
            <a:r>
              <a:rPr lang="en-US" sz="2000" b="0" i="0" u="none" strike="noStrike" baseline="0" dirty="0" err="1">
                <a:solidFill>
                  <a:srgbClr val="0000CC"/>
                </a:solidFill>
                <a:latin typeface="Lucida Sans Typewriter" panose="020B0509030504030204" pitchFamily="49" charset="0"/>
              </a:rPr>
              <a:t>add</a:t>
            </a:r>
            <a:r>
              <a:rPr lang="en-US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("String 1"); </a:t>
            </a:r>
          </a:p>
          <a:p>
            <a:pPr marL="0" indent="0">
              <a:buNone/>
            </a:pPr>
            <a:r>
              <a:rPr lang="en-US" sz="2000" b="0" i="0" u="none" strike="noStrike" baseline="0" dirty="0" err="1">
                <a:solidFill>
                  <a:srgbClr val="323232"/>
                </a:solidFill>
                <a:latin typeface="Lucida Sans Typewriter" panose="020B0509030504030204" pitchFamily="49" charset="0"/>
              </a:rPr>
              <a:t>list.</a:t>
            </a:r>
            <a:r>
              <a:rPr lang="en-US" sz="2000" b="0" i="0" u="none" strike="noStrike" baseline="0" dirty="0" err="1">
                <a:solidFill>
                  <a:srgbClr val="0000CC"/>
                </a:solidFill>
                <a:latin typeface="Lucida Sans Typewriter" panose="020B0509030504030204" pitchFamily="49" charset="0"/>
              </a:rPr>
              <a:t>add</a:t>
            </a:r>
            <a:r>
              <a:rPr lang="en-US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("String 2"); </a:t>
            </a:r>
          </a:p>
          <a:p>
            <a:pPr marL="0" indent="0">
              <a:buNone/>
            </a:pPr>
            <a:r>
              <a:rPr lang="en-US" sz="2000" b="0" i="0" u="none" strike="noStrike" baseline="0" dirty="0" err="1">
                <a:solidFill>
                  <a:srgbClr val="323232"/>
                </a:solidFill>
                <a:latin typeface="Lucida Sans Typewriter" panose="020B0509030504030204" pitchFamily="49" charset="0"/>
              </a:rPr>
              <a:t>list.</a:t>
            </a:r>
            <a:r>
              <a:rPr lang="en-US" sz="2000" b="0" i="0" u="none" strike="noStrike" baseline="0" dirty="0" err="1">
                <a:solidFill>
                  <a:srgbClr val="0000CC"/>
                </a:solidFill>
                <a:latin typeface="Lucida Sans Typewriter" panose="020B0509030504030204" pitchFamily="49" charset="0"/>
              </a:rPr>
              <a:t>add</a:t>
            </a:r>
            <a:r>
              <a:rPr lang="en-US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("String 3"); </a:t>
            </a:r>
            <a:endParaRPr lang="en-US" sz="600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691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72030"/>
          </a:xfrm>
        </p:spPr>
        <p:txBody>
          <a:bodyPr>
            <a:normAutofit fontScale="90000"/>
          </a:bodyPr>
          <a:lstStyle/>
          <a:p>
            <a:r>
              <a:rPr lang="en-GB" sz="4000" dirty="0">
                <a:latin typeface="Lucida Sans Typewriter" panose="020B0509030504030204" pitchFamily="49" charset="0"/>
              </a:rPr>
              <a:t>Get an element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5584B-F663-6580-BD0E-0E6C0D206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2898" y="1296140"/>
            <a:ext cx="8646850" cy="24857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2000" b="0" i="0" u="none" strike="noStrike" baseline="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 // Access items at a specific index</a:t>
            </a:r>
          </a:p>
          <a:p>
            <a:r>
              <a:rPr lang="en-GB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String s1 = </a:t>
            </a:r>
            <a:r>
              <a:rPr lang="en-GB" sz="2000" b="0" i="0" u="none" strike="noStrike" baseline="0" dirty="0" err="1">
                <a:solidFill>
                  <a:srgbClr val="323232"/>
                </a:solidFill>
                <a:latin typeface="Lucida Sans Typewriter" panose="020B0509030504030204" pitchFamily="49" charset="0"/>
              </a:rPr>
              <a:t>list.</a:t>
            </a:r>
            <a:r>
              <a:rPr lang="en-GB" sz="2000" b="0" i="0" u="none" strike="noStrike" baseline="0" dirty="0" err="1">
                <a:solidFill>
                  <a:srgbClr val="0000CC"/>
                </a:solidFill>
                <a:latin typeface="Lucida Sans Typewriter" panose="020B0509030504030204" pitchFamily="49" charset="0"/>
              </a:rPr>
              <a:t>get</a:t>
            </a:r>
            <a:r>
              <a:rPr lang="en-GB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(</a:t>
            </a:r>
            <a:r>
              <a:rPr lang="en-GB" sz="2000" b="1" i="0" u="none" strike="noStrike" baseline="0" dirty="0">
                <a:solidFill>
                  <a:srgbClr val="0000DD"/>
                </a:solidFill>
                <a:latin typeface="Lucida Sans Typewriter" panose="020B0509030504030204" pitchFamily="49" charset="0"/>
              </a:rPr>
              <a:t>0</a:t>
            </a:r>
            <a:r>
              <a:rPr lang="en-GB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); </a:t>
            </a:r>
            <a:r>
              <a:rPr lang="en-GB" sz="2000" b="0" i="0" u="none" strike="noStrike" baseline="0" dirty="0">
                <a:solidFill>
                  <a:srgbClr val="878787"/>
                </a:solidFill>
                <a:latin typeface="Lucida Sans Typewriter" panose="020B0509030504030204" pitchFamily="49" charset="0"/>
              </a:rPr>
              <a:t>// s1 = "String 1" </a:t>
            </a:r>
            <a:endParaRPr lang="en-GB" sz="2000" b="0" i="0" u="none" strike="noStrike" baseline="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r>
              <a:rPr lang="en-GB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String s2 = </a:t>
            </a:r>
            <a:r>
              <a:rPr lang="en-GB" sz="2000" b="0" i="0" u="none" strike="noStrike" baseline="0" dirty="0" err="1">
                <a:solidFill>
                  <a:srgbClr val="323232"/>
                </a:solidFill>
                <a:latin typeface="Lucida Sans Typewriter" panose="020B0509030504030204" pitchFamily="49" charset="0"/>
              </a:rPr>
              <a:t>list.</a:t>
            </a:r>
            <a:r>
              <a:rPr lang="en-GB" sz="2000" b="0" i="0" u="none" strike="noStrike" baseline="0" dirty="0" err="1">
                <a:solidFill>
                  <a:srgbClr val="0000CC"/>
                </a:solidFill>
                <a:latin typeface="Lucida Sans Typewriter" panose="020B0509030504030204" pitchFamily="49" charset="0"/>
              </a:rPr>
              <a:t>get</a:t>
            </a:r>
            <a:r>
              <a:rPr lang="en-GB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(</a:t>
            </a:r>
            <a:r>
              <a:rPr lang="en-GB" sz="2000" b="1" i="0" u="none" strike="noStrike" baseline="0" dirty="0">
                <a:solidFill>
                  <a:srgbClr val="0000DD"/>
                </a:solidFill>
                <a:latin typeface="Lucida Sans Typewriter" panose="020B0509030504030204" pitchFamily="49" charset="0"/>
              </a:rPr>
              <a:t>2</a:t>
            </a:r>
            <a:r>
              <a:rPr lang="en-GB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); </a:t>
            </a:r>
            <a:r>
              <a:rPr lang="en-GB" sz="2000" b="0" i="0" u="none" strike="noStrike" baseline="0" dirty="0">
                <a:solidFill>
                  <a:srgbClr val="878787"/>
                </a:solidFill>
                <a:latin typeface="Lucida Sans Typewriter" panose="020B0509030504030204" pitchFamily="49" charset="0"/>
              </a:rPr>
              <a:t>// s2 = "String 3" </a:t>
            </a:r>
            <a:endParaRPr lang="en-US" sz="6000" dirty="0">
              <a:latin typeface="Lucida Sans Typewriter" panose="020B050903050403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105A93-594E-3E42-4AB6-219FCABB373A}"/>
              </a:ext>
            </a:extLst>
          </p:cNvPr>
          <p:cNvSpPr txBox="1">
            <a:spLocks/>
          </p:cNvSpPr>
          <p:nvPr/>
        </p:nvSpPr>
        <p:spPr>
          <a:xfrm>
            <a:off x="2310319" y="3605444"/>
            <a:ext cx="8911687" cy="6720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000" dirty="0">
                <a:latin typeface="Lucida Sans Typewriter" panose="020B0509030504030204" pitchFamily="49" charset="0"/>
              </a:rPr>
              <a:t>Find index of an element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673149-30CE-CCAC-5B12-4CE76379C2FA}"/>
              </a:ext>
            </a:extLst>
          </p:cNvPr>
          <p:cNvSpPr txBox="1">
            <a:spLocks/>
          </p:cNvSpPr>
          <p:nvPr/>
        </p:nvSpPr>
        <p:spPr>
          <a:xfrm>
            <a:off x="2709170" y="4101030"/>
            <a:ext cx="8646850" cy="2485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en-GB" sz="200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int index = </a:t>
            </a:r>
            <a:r>
              <a:rPr lang="en-US" sz="2000" dirty="0" err="1">
                <a:solidFill>
                  <a:srgbClr val="000000"/>
                </a:solidFill>
                <a:latin typeface="Lucida Sans Typewriter" panose="020B0509030504030204" pitchFamily="49" charset="0"/>
              </a:rPr>
              <a:t>list.indexOf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(“string 1”);</a:t>
            </a:r>
          </a:p>
          <a:p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Return the index of first element for multiple </a:t>
            </a:r>
            <a:r>
              <a:rPr lang="en-US" sz="2000" dirty="0" err="1">
                <a:solidFill>
                  <a:srgbClr val="000000"/>
                </a:solidFill>
                <a:latin typeface="Lucida Sans Typewriter" panose="020B0509030504030204" pitchFamily="49" charset="0"/>
              </a:rPr>
              <a:t>occurences</a:t>
            </a:r>
            <a:endParaRPr lang="en-US" sz="200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If not present in the </a:t>
            </a:r>
            <a:r>
              <a:rPr lang="en-US" sz="2000" dirty="0" err="1">
                <a:solidFill>
                  <a:srgbClr val="000000"/>
                </a:solidFill>
                <a:latin typeface="Lucida Sans Typewriter" panose="020B0509030504030204" pitchFamily="49" charset="0"/>
              </a:rPr>
              <a:t>Arraylist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, returns -1</a:t>
            </a:r>
          </a:p>
        </p:txBody>
      </p:sp>
    </p:spTree>
    <p:extLst>
      <p:ext uri="{BB962C8B-B14F-4D97-AF65-F5344CB8AC3E}">
        <p14:creationId xmlns:p14="http://schemas.microsoft.com/office/powerpoint/2010/main" val="1864677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047" y="1199759"/>
            <a:ext cx="8911687" cy="723633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Lucida Sans Typewriter" panose="020B0509030504030204" pitchFamily="49" charset="0"/>
              </a:rPr>
              <a:t>Remove an element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5584B-F663-6580-BD0E-0E6C0D206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839" y="1754079"/>
            <a:ext cx="8646850" cy="1674921"/>
          </a:xfrm>
        </p:spPr>
        <p:txBody>
          <a:bodyPr>
            <a:normAutofit/>
          </a:bodyPr>
          <a:lstStyle/>
          <a:p>
            <a:pPr algn="l"/>
            <a:endParaRPr lang="en-US" sz="2000" b="0" i="0" u="none" strike="noStrike" baseline="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 // Remove specific item of an index </a:t>
            </a:r>
          </a:p>
          <a:p>
            <a:r>
              <a:rPr lang="en-US" sz="2000" b="0" i="0" u="none" strike="noStrike" baseline="0" dirty="0" err="1">
                <a:solidFill>
                  <a:srgbClr val="000000"/>
                </a:solidFill>
                <a:latin typeface="Lucida Sans Typewriter" panose="020B0509030504030204" pitchFamily="49" charset="0"/>
              </a:rPr>
              <a:t>list.remove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(2); </a:t>
            </a:r>
          </a:p>
          <a:p>
            <a:endParaRPr lang="en-US" sz="2400" dirty="0">
              <a:latin typeface="Lucida Sans Typewriter" panose="020B050903050403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A4CE0A-0301-5539-EB66-7E65F53194C5}"/>
              </a:ext>
            </a:extLst>
          </p:cNvPr>
          <p:cNvSpPr txBox="1">
            <a:spLocks/>
          </p:cNvSpPr>
          <p:nvPr/>
        </p:nvSpPr>
        <p:spPr>
          <a:xfrm>
            <a:off x="2514505" y="3340757"/>
            <a:ext cx="8911687" cy="7236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000" dirty="0">
                <a:latin typeface="Lucida Sans Typewriter" panose="020B0509030504030204" pitchFamily="49" charset="0"/>
              </a:rPr>
              <a:t>Search an element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77DFD42-C2A6-0EBE-DD27-ED99CC5CABC6}"/>
              </a:ext>
            </a:extLst>
          </p:cNvPr>
          <p:cNvSpPr txBox="1">
            <a:spLocks/>
          </p:cNvSpPr>
          <p:nvPr/>
        </p:nvSpPr>
        <p:spPr>
          <a:xfrm>
            <a:off x="3135297" y="3895077"/>
            <a:ext cx="8646850" cy="167492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r>
              <a:rPr lang="en-US" sz="2400" dirty="0" err="1">
                <a:latin typeface="Lucida Sans Typewriter" panose="020B0509030504030204" pitchFamily="49" charset="0"/>
              </a:rPr>
              <a:t>List.contains</a:t>
            </a:r>
            <a:r>
              <a:rPr lang="en-US" sz="2400" dirty="0">
                <a:latin typeface="Lucida Sans Typewriter" panose="020B0509030504030204" pitchFamily="49" charset="0"/>
              </a:rPr>
              <a:t>(“string 3”);</a:t>
            </a:r>
          </a:p>
          <a:p>
            <a:r>
              <a:rPr lang="en-US" sz="2400" dirty="0">
                <a:latin typeface="Lucida Sans Typewriter" panose="020B0509030504030204" pitchFamily="49" charset="0"/>
              </a:rPr>
              <a:t>//return true if contains otherwise returns false</a:t>
            </a:r>
          </a:p>
          <a:p>
            <a:endParaRPr lang="en-US" sz="240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795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Lucida Sans Typewriter" panose="020B0509030504030204" pitchFamily="49" charset="0"/>
              </a:rPr>
              <a:t>More operations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5584B-F663-6580-BD0E-0E6C0D206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838" y="1411550"/>
            <a:ext cx="8726749" cy="5104659"/>
          </a:xfrm>
        </p:spPr>
        <p:txBody>
          <a:bodyPr>
            <a:normAutofit lnSpcReduction="10000"/>
          </a:bodyPr>
          <a:lstStyle/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 // Add to specific index </a:t>
            </a:r>
          </a:p>
          <a:p>
            <a:pPr marL="0" indent="0">
              <a:buNone/>
            </a:pPr>
            <a:r>
              <a:rPr lang="en-US" sz="2000" b="0" i="0" u="none" strike="noStrike" baseline="0" dirty="0" err="1">
                <a:solidFill>
                  <a:srgbClr val="323232"/>
                </a:solidFill>
                <a:latin typeface="Lucida Sans Typewriter" panose="020B0509030504030204" pitchFamily="49" charset="0"/>
              </a:rPr>
              <a:t>list.</a:t>
            </a:r>
            <a:r>
              <a:rPr lang="en-US" sz="2000" b="0" i="0" u="none" strike="noStrike" baseline="0" dirty="0" err="1">
                <a:solidFill>
                  <a:srgbClr val="0000CC"/>
                </a:solidFill>
                <a:latin typeface="Lucida Sans Typewriter" panose="020B0509030504030204" pitchFamily="49" charset="0"/>
              </a:rPr>
              <a:t>add</a:t>
            </a:r>
            <a:r>
              <a:rPr lang="en-US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(</a:t>
            </a:r>
            <a:r>
              <a:rPr lang="en-US" sz="2000" b="1" i="0" u="none" strike="noStrike" baseline="0" dirty="0">
                <a:solidFill>
                  <a:srgbClr val="0000DD"/>
                </a:solidFill>
                <a:latin typeface="Lucida Sans Typewriter" panose="020B0509030504030204" pitchFamily="49" charset="0"/>
              </a:rPr>
              <a:t>1</a:t>
            </a:r>
            <a:r>
              <a:rPr lang="en-US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, "String 4"); </a:t>
            </a:r>
          </a:p>
          <a:p>
            <a:pPr marL="0" indent="0">
              <a:buNone/>
            </a:pPr>
            <a:endParaRPr lang="en-US" sz="2000" b="0" i="0" u="none" strike="noStrike" baseline="0" dirty="0">
              <a:solidFill>
                <a:srgbClr val="323232"/>
              </a:solidFill>
              <a:latin typeface="Lucida Sans Typewriter" panose="020B0509030504030204" pitchFamily="49" charset="0"/>
            </a:endParaRPr>
          </a:p>
          <a:p>
            <a:r>
              <a:rPr lang="en-GB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// Change item at specific index </a:t>
            </a:r>
          </a:p>
          <a:p>
            <a:pPr marL="0" indent="0">
              <a:buNone/>
            </a:pPr>
            <a:r>
              <a:rPr lang="en-US" sz="2000" b="0" i="0" u="none" strike="noStrike" baseline="0" dirty="0" err="1">
                <a:solidFill>
                  <a:srgbClr val="323232"/>
                </a:solidFill>
                <a:latin typeface="Lucida Sans Typewriter" panose="020B0509030504030204" pitchFamily="49" charset="0"/>
              </a:rPr>
              <a:t>list.</a:t>
            </a:r>
            <a:r>
              <a:rPr lang="en-US" sz="2000" b="0" i="0" u="none" strike="noStrike" baseline="0" dirty="0" err="1">
                <a:solidFill>
                  <a:srgbClr val="0000CC"/>
                </a:solidFill>
                <a:latin typeface="Lucida Sans Typewriter" panose="020B0509030504030204" pitchFamily="49" charset="0"/>
              </a:rPr>
              <a:t>set</a:t>
            </a:r>
            <a:r>
              <a:rPr lang="en-US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(</a:t>
            </a:r>
            <a:r>
              <a:rPr lang="en-US" sz="2000" b="1" i="0" u="none" strike="noStrike" baseline="0" dirty="0">
                <a:solidFill>
                  <a:srgbClr val="0000DD"/>
                </a:solidFill>
                <a:latin typeface="Lucida Sans Typewriter" panose="020B0509030504030204" pitchFamily="49" charset="0"/>
              </a:rPr>
              <a:t>1</a:t>
            </a:r>
            <a:r>
              <a:rPr lang="en-US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, "String 5"); </a:t>
            </a:r>
          </a:p>
          <a:p>
            <a:pPr marL="0" indent="0">
              <a:buNone/>
            </a:pPr>
            <a:endParaRPr lang="en-US" sz="2000" b="0" i="0" u="none" strike="noStrike" baseline="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// Size of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Lucida Sans Typewriter" panose="020B0509030504030204" pitchFamily="49" charset="0"/>
              </a:rPr>
              <a:t>arraylist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2000" b="1" i="0" u="none" strike="noStrike" baseline="0" dirty="0">
                <a:solidFill>
                  <a:srgbClr val="323299"/>
                </a:solidFill>
                <a:latin typeface="Lucida Sans Typewriter" panose="020B0509030504030204" pitchFamily="49" charset="0"/>
              </a:rPr>
              <a:t>int </a:t>
            </a:r>
            <a:r>
              <a:rPr lang="en-GB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size = </a:t>
            </a:r>
            <a:r>
              <a:rPr lang="en-GB" sz="2000" b="0" i="0" u="none" strike="noStrike" baseline="0" dirty="0" err="1">
                <a:solidFill>
                  <a:srgbClr val="323232"/>
                </a:solidFill>
                <a:latin typeface="Lucida Sans Typewriter" panose="020B0509030504030204" pitchFamily="49" charset="0"/>
              </a:rPr>
              <a:t>list.</a:t>
            </a:r>
            <a:r>
              <a:rPr lang="en-GB" sz="2000" b="0" i="0" u="none" strike="noStrike" baseline="0" dirty="0" err="1">
                <a:solidFill>
                  <a:srgbClr val="0000CC"/>
                </a:solidFill>
                <a:latin typeface="Lucida Sans Typewriter" panose="020B0509030504030204" pitchFamily="49" charset="0"/>
              </a:rPr>
              <a:t>size</a:t>
            </a:r>
            <a:r>
              <a:rPr lang="en-GB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(); </a:t>
            </a:r>
          </a:p>
          <a:p>
            <a:pPr marL="0" indent="0">
              <a:buNone/>
            </a:pPr>
            <a:endParaRPr lang="en-GB" sz="2000" b="0" i="0" u="none" strike="noStrike" baseline="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// Clear the list </a:t>
            </a:r>
          </a:p>
          <a:p>
            <a:pPr marL="0" indent="0">
              <a:buNone/>
            </a:pPr>
            <a:r>
              <a:rPr lang="en-US" sz="2000" b="0" i="0" u="none" strike="noStrike" baseline="0" dirty="0" err="1">
                <a:solidFill>
                  <a:srgbClr val="000000"/>
                </a:solidFill>
                <a:latin typeface="Lucida Sans Typewriter" panose="020B0509030504030204" pitchFamily="49" charset="0"/>
              </a:rPr>
              <a:t>list.clear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(); </a:t>
            </a:r>
          </a:p>
          <a:p>
            <a:pPr marL="0" indent="0">
              <a:buNone/>
            </a:pPr>
            <a:r>
              <a:rPr lang="en-US" sz="2000" b="0" i="0" u="none" strike="noStrike" baseline="0" dirty="0" err="1">
                <a:solidFill>
                  <a:srgbClr val="323232"/>
                </a:solidFill>
                <a:latin typeface="Lucida Sans Typewriter" panose="020B0509030504030204" pitchFamily="49" charset="0"/>
              </a:rPr>
              <a:t>System.</a:t>
            </a:r>
            <a:r>
              <a:rPr lang="en-US" sz="2000" b="0" i="0" u="none" strike="noStrike" baseline="0" dirty="0" err="1">
                <a:solidFill>
                  <a:srgbClr val="0000CC"/>
                </a:solidFill>
                <a:latin typeface="Lucida Sans Typewriter" panose="020B0509030504030204" pitchFamily="49" charset="0"/>
              </a:rPr>
              <a:t>out</a:t>
            </a:r>
            <a:r>
              <a:rPr lang="en-US" sz="2000" b="0" i="0" u="none" strike="noStrike" baseline="0" dirty="0" err="1">
                <a:solidFill>
                  <a:srgbClr val="323232"/>
                </a:solidFill>
                <a:latin typeface="Lucida Sans Typewriter" panose="020B0509030504030204" pitchFamily="49" charset="0"/>
              </a:rPr>
              <a:t>.</a:t>
            </a:r>
            <a:r>
              <a:rPr lang="en-US" sz="2000" b="0" i="0" u="none" strike="noStrike" baseline="0" dirty="0" err="1">
                <a:solidFill>
                  <a:srgbClr val="0000CC"/>
                </a:solidFill>
                <a:latin typeface="Lucida Sans Typewriter" panose="020B0509030504030204" pitchFamily="49" charset="0"/>
              </a:rPr>
              <a:t>println</a:t>
            </a:r>
            <a:r>
              <a:rPr lang="en-US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(</a:t>
            </a:r>
            <a:r>
              <a:rPr lang="en-US" sz="2000" b="0" i="0" u="none" strike="noStrike" baseline="0" dirty="0" err="1">
                <a:solidFill>
                  <a:srgbClr val="323232"/>
                </a:solidFill>
                <a:latin typeface="Lucida Sans Typewriter" panose="020B0509030504030204" pitchFamily="49" charset="0"/>
              </a:rPr>
              <a:t>list.</a:t>
            </a:r>
            <a:r>
              <a:rPr lang="en-US" sz="2000" b="0" i="0" u="none" strike="noStrike" baseline="0" dirty="0" err="1">
                <a:solidFill>
                  <a:srgbClr val="0000CC"/>
                </a:solidFill>
                <a:latin typeface="Lucida Sans Typewriter" panose="020B0509030504030204" pitchFamily="49" charset="0"/>
              </a:rPr>
              <a:t>size</a:t>
            </a:r>
            <a:r>
              <a:rPr lang="en-US" sz="2000" b="0" i="0" u="none" strike="noStrike" baseline="0" dirty="0">
                <a:solidFill>
                  <a:srgbClr val="323232"/>
                </a:solidFill>
                <a:latin typeface="Lucida Sans Typewriter" panose="020B0509030504030204" pitchFamily="49" charset="0"/>
              </a:rPr>
              <a:t>()); </a:t>
            </a:r>
            <a:r>
              <a:rPr lang="en-US" sz="2000" b="0" i="0" u="none" strike="noStrike" baseline="0" dirty="0">
                <a:solidFill>
                  <a:srgbClr val="878787"/>
                </a:solidFill>
                <a:latin typeface="Lucida Sans Typewriter" panose="020B0509030504030204" pitchFamily="49" charset="0"/>
              </a:rPr>
              <a:t>// prints 0 </a:t>
            </a:r>
            <a:endParaRPr lang="en-US" sz="280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231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Lucida Sans Typewriter" panose="020B0509030504030204" pitchFamily="49" charset="0"/>
              </a:rPr>
              <a:t>Sort an </a:t>
            </a:r>
            <a:r>
              <a:rPr lang="en-GB" sz="4000" dirty="0" err="1">
                <a:latin typeface="Lucida Sans Typewriter" panose="020B0509030504030204" pitchFamily="49" charset="0"/>
              </a:rPr>
              <a:t>Arraylist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5584B-F663-6580-BD0E-0E6C0D206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838" y="2281561"/>
            <a:ext cx="8726749" cy="4234648"/>
          </a:xfrm>
        </p:spPr>
        <p:txBody>
          <a:bodyPr>
            <a:normAutofit/>
          </a:bodyPr>
          <a:lstStyle/>
          <a:p>
            <a:r>
              <a:rPr lang="en-GB" sz="2800" dirty="0" err="1">
                <a:solidFill>
                  <a:schemeClr val="tx1"/>
                </a:solidFill>
                <a:latin typeface="Lucida Sans Typewriter" panose="020B0509030504030204" pitchFamily="49" charset="0"/>
              </a:rPr>
              <a:t>Collections.sort</a:t>
            </a:r>
            <a:r>
              <a:rPr lang="en-GB" sz="2800" dirty="0">
                <a:solidFill>
                  <a:schemeClr val="tx1"/>
                </a:solidFill>
                <a:latin typeface="Lucida Sans Typewriter" panose="020B0509030504030204" pitchFamily="49" charset="0"/>
              </a:rPr>
              <a:t>(list)</a:t>
            </a:r>
          </a:p>
          <a:p>
            <a:r>
              <a:rPr lang="en-GB" sz="2000" dirty="0">
                <a:solidFill>
                  <a:schemeClr val="tx1"/>
                </a:solidFill>
                <a:latin typeface="Lucida Sans Typewriter" panose="020B0509030504030204" pitchFamily="49" charset="0"/>
              </a:rPr>
              <a:t>Sort list alphabetically or numerically in ascending order</a:t>
            </a:r>
            <a:endParaRPr lang="en-US" sz="2000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912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>
                <a:latin typeface="Lucida Sans Typewriter" panose="020B0509030504030204" pitchFamily="49" charset="0"/>
              </a:rPr>
              <a:t>Sort an </a:t>
            </a:r>
            <a:r>
              <a:rPr lang="en-GB" sz="4000" dirty="0" err="1">
                <a:latin typeface="Lucida Sans Typewriter" panose="020B0509030504030204" pitchFamily="49" charset="0"/>
              </a:rPr>
              <a:t>Arraylist</a:t>
            </a:r>
            <a:r>
              <a:rPr lang="en-GB" sz="4000" dirty="0">
                <a:latin typeface="Lucida Sans Typewriter" panose="020B0509030504030204" pitchFamily="49" charset="0"/>
              </a:rPr>
              <a:t> in descending order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B8286D-C86A-A7F5-7095-906162C089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55692" y="2490411"/>
            <a:ext cx="9786151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Collections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.sort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lang="en-US" altLang="en-US" sz="2400" dirty="0" err="1">
                <a:solidFill>
                  <a:srgbClr val="000000"/>
                </a:solidFill>
                <a:latin typeface="Lucida Sans Typewriter" panose="020B0509030504030204" pitchFamily="49" charset="0"/>
              </a:rPr>
              <a:t>list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Collections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.reverseOrder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());</a:t>
            </a:r>
            <a:endParaRPr kumimoji="0" lang="en-US" altLang="en-US" sz="2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326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 err="1">
                <a:latin typeface="Lucida Sans Typewriter" panose="020B0509030504030204" pitchFamily="49" charset="0"/>
              </a:rPr>
              <a:t>ArrayList</a:t>
            </a:r>
            <a:r>
              <a:rPr lang="en-GB" sz="4000" dirty="0">
                <a:latin typeface="Lucida Sans Typewriter" panose="020B0509030504030204" pitchFamily="49" charset="0"/>
              </a:rPr>
              <a:t> of different type of objects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7684C14-A272-B081-F7D7-742818390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9024" y="2141344"/>
            <a:ext cx="7584489" cy="2999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ArrayList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 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new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ArrayList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&lt;&gt;();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.add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"apple"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.add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.add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'3'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.contains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"1"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)){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"contains"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Lucida Sans Typewriter" panose="020B0509030504030204" pitchFamily="49" charset="0"/>
              </a:rPr>
              <a:t>//doesn't print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667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err="1">
                <a:latin typeface="Lucida Sans Typewriter" panose="020B0509030504030204" pitchFamily="49" charset="0"/>
              </a:rPr>
              <a:t>Hashset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5584B-F663-6580-BD0E-0E6C0D206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838" y="2281561"/>
            <a:ext cx="8726749" cy="4234648"/>
          </a:xfrm>
        </p:spPr>
        <p:txBody>
          <a:bodyPr>
            <a:normAutofit/>
          </a:bodyPr>
          <a:lstStyle/>
          <a:p>
            <a:r>
              <a:rPr lang="en-GB" sz="2400" b="0" i="0" dirty="0"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A HashSet is a collection of items where every item is unique</a:t>
            </a:r>
          </a:p>
        </p:txBody>
      </p:sp>
    </p:spTree>
    <p:extLst>
      <p:ext uri="{BB962C8B-B14F-4D97-AF65-F5344CB8AC3E}">
        <p14:creationId xmlns:p14="http://schemas.microsoft.com/office/powerpoint/2010/main" val="2847073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2FF8-9D3A-87E6-8358-F777D11C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err="1">
                <a:latin typeface="Lucida Sans Typewriter" panose="020B0509030504030204" pitchFamily="49" charset="0"/>
              </a:rPr>
              <a:t>Hashset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2085E5C-7E09-2919-A935-C16244CA5D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45150" y="1972755"/>
            <a:ext cx="7571303" cy="34778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HashSet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&lt;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Integer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&gt;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new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HashSet&lt;&gt;();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a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.add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33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a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.add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11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a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.add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lang="en-US" altLang="en-US" sz="2000" dirty="0">
                <a:solidFill>
                  <a:srgbClr val="1750EB"/>
                </a:solidFill>
                <a:latin typeface="Lucida Sans Typewriter" panose="020B0509030504030204" pitchFamily="49" charset="0"/>
              </a:rPr>
              <a:t>33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a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.remove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"size of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hashset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:"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a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.size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a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.contains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)){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"contains"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014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0124-23D1-F60E-E26B-28F27E48A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ArrayList of Class objects</a:t>
            </a:r>
            <a:endParaRPr lang="en-US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649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0BDE-9BFD-B714-731D-22D07ECD4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Consider Student class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1671EE-DF20-35A9-E4E2-5570FF0D7F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2175753"/>
            <a:ext cx="7436651" cy="3693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class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String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double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cgpa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Lucida Sans Typewriter" panose="020B0509030504030204" pitchFamily="49" charset="0"/>
              </a:rPr>
              <a:t>student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String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n,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double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c){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=n;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80808"/>
                </a:solidFill>
                <a:latin typeface="Lucida Sans Typewriter" panose="020B050903050403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=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80808"/>
                </a:solidFill>
                <a:latin typeface="Lucida Sans Typewriter" panose="020B050903050403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cgpa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=c;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String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Lucida Sans Typewriter" panose="020B0509030504030204" pitchFamily="49" charset="0"/>
              </a:rPr>
              <a:t>toString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(){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return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"name:"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 id:"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 cgpa:"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cgpa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930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890D-65FB-C50A-C27C-8E8FF33C6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Create ArrayList of students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E045A3-5EC1-DB28-E374-6564C8E859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1" y="1968803"/>
            <a:ext cx="8250423" cy="41072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class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studentArrayList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static void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Lucida Sans Typewriter" panose="020B0509030504030204" pitchFamily="49" charset="0"/>
              </a:rPr>
              <a:t>main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[] args)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ArrayList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&gt;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studentList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new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ArrayList&lt;&gt;();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studentList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.add(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new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student(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"Mina"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3.85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studentList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.add(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new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student(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"Abir"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3.25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studentList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.add(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new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student(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"Rina"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3.75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 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studentList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Sans Typewriter" panose="020B0509030504030204" pitchFamily="49" charset="0"/>
              </a:rPr>
              <a:t>Collections.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Sans Typewriter" panose="020B0509030504030204" pitchFamily="49" charset="0"/>
              </a:rPr>
              <a:t>sort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Sans Typewriter" panose="020B0509030504030204" pitchFamily="49" charset="0"/>
              </a:rPr>
              <a:t>(studentList);//error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791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890D-65FB-C50A-C27C-8E8FF33C6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6077" y="141537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Sort </a:t>
            </a:r>
            <a:r>
              <a:rPr lang="en-GB" dirty="0" err="1">
                <a:latin typeface="Lucida Sans Typewriter" panose="020B0509030504030204" pitchFamily="49" charset="0"/>
              </a:rPr>
              <a:t>ArrayList</a:t>
            </a:r>
            <a:r>
              <a:rPr lang="en-GB" dirty="0">
                <a:latin typeface="Lucida Sans Typewriter" panose="020B0509030504030204" pitchFamily="49" charset="0"/>
              </a:rPr>
              <a:t> of class objects according to id(int) in ascending order overriding </a:t>
            </a:r>
            <a:r>
              <a:rPr lang="en-GB" dirty="0" err="1">
                <a:latin typeface="Lucida Sans Typewriter" panose="020B0509030504030204" pitchFamily="49" charset="0"/>
              </a:rPr>
              <a:t>compareTo</a:t>
            </a:r>
            <a:r>
              <a:rPr lang="en-GB" dirty="0">
                <a:latin typeface="Lucida Sans Typewriter" panose="020B0509030504030204" pitchFamily="49" charset="0"/>
              </a:rPr>
              <a:t> method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02BCA9-8B0A-5604-C8FD-7BF270F4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326" y="2189547"/>
            <a:ext cx="4963347" cy="386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91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890D-65FB-C50A-C27C-8E8FF33C6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285397" cy="1280890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Sort ArrayList of class objects according to name(string) in ascending order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01FF896-623B-7C98-A017-589C6C935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075" y="2619290"/>
            <a:ext cx="8261096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Collections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sort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new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Comparator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&gt;()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Lucida Sans Typewriter" panose="020B0509030504030204" pitchFamily="49" charset="0"/>
              </a:rPr>
              <a:t>compare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o1,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o2)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return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o1.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.compareTo(o2.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});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259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890D-65FB-C50A-C27C-8E8FF33C6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285397" cy="1280890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Sort ArrayList of class objects according to id(int) in ascending order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D688440-6A42-C8F2-608F-9FDD66EFE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73" y="2659236"/>
            <a:ext cx="8424908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Collections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sort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new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Comparator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&gt;()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Lucida Sans Typewriter" panose="020B0509030504030204" pitchFamily="49" charset="0"/>
              </a:rPr>
              <a:t>compare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o1,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o2)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return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o1.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-o2.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});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538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890D-65FB-C50A-C27C-8E8FF33C6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285397" cy="1280890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Sort ArrayList of class objects according to </a:t>
            </a:r>
            <a:r>
              <a:rPr lang="en-GB" dirty="0" err="1">
                <a:latin typeface="Lucida Sans Typewriter" panose="020B0509030504030204" pitchFamily="49" charset="0"/>
              </a:rPr>
              <a:t>cgpa</a:t>
            </a:r>
            <a:r>
              <a:rPr lang="en-GB" dirty="0">
                <a:latin typeface="Lucida Sans Typewriter" panose="020B0509030504030204" pitchFamily="49" charset="0"/>
              </a:rPr>
              <a:t>(double) in ascending order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EACB78-2F5C-DDFD-CCC8-3C427F674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120" y="2559853"/>
            <a:ext cx="7838983" cy="2585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Collections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sort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new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Comparator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&gt;()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Lucida Sans Typewriter" panose="020B0509030504030204" pitchFamily="49" charset="0"/>
              </a:rPr>
              <a:t>compare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o1,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student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o2)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(o1.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cgpa </a:t>
            </a:r>
            <a:r>
              <a:rPr lang="en-US" altLang="en-US" dirty="0">
                <a:solidFill>
                  <a:srgbClr val="080808"/>
                </a:solidFill>
                <a:latin typeface="Lucida Sans Typewriter" panose="020B0509030504030204" pitchFamily="49" charset="0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o2.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cgpa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return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return -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});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D6F58-738B-01A1-B114-1EF7994FA6BF}"/>
              </a:ext>
            </a:extLst>
          </p:cNvPr>
          <p:cNvSpPr txBox="1"/>
          <p:nvPr/>
        </p:nvSpPr>
        <p:spPr>
          <a:xfrm>
            <a:off x="3286957" y="5415352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Lucida Sans Typewriter" panose="020B0509030504030204" pitchFamily="49" charset="0"/>
              </a:rPr>
              <a:t>Output:</a:t>
            </a:r>
          </a:p>
          <a:p>
            <a:r>
              <a:rPr lang="en-US" dirty="0">
                <a:latin typeface="Lucida Sans Typewriter" panose="020B0509030504030204" pitchFamily="49" charset="0"/>
              </a:rPr>
              <a:t>name: </a:t>
            </a:r>
            <a:r>
              <a:rPr lang="en-US" dirty="0" err="1">
                <a:latin typeface="Lucida Sans Typewriter" panose="020B0509030504030204" pitchFamily="49" charset="0"/>
              </a:rPr>
              <a:t>Abir</a:t>
            </a:r>
            <a:r>
              <a:rPr lang="en-US" dirty="0">
                <a:latin typeface="Lucida Sans Typewriter" panose="020B0509030504030204" pitchFamily="49" charset="0"/>
              </a:rPr>
              <a:t> id:6 cgpa:3.25</a:t>
            </a:r>
          </a:p>
          <a:p>
            <a:r>
              <a:rPr lang="en-US" dirty="0">
                <a:latin typeface="Lucida Sans Typewriter" panose="020B0509030504030204" pitchFamily="49" charset="0"/>
              </a:rPr>
              <a:t>name: Rina id:4 cgpa:3.75</a:t>
            </a:r>
          </a:p>
          <a:p>
            <a:r>
              <a:rPr lang="en-US" dirty="0">
                <a:latin typeface="Lucida Sans Typewriter" panose="020B0509030504030204" pitchFamily="49" charset="0"/>
              </a:rPr>
              <a:t>name: Mina id:3 cgpa:3.85</a:t>
            </a:r>
          </a:p>
        </p:txBody>
      </p:sp>
    </p:spTree>
    <p:extLst>
      <p:ext uri="{BB962C8B-B14F-4D97-AF65-F5344CB8AC3E}">
        <p14:creationId xmlns:p14="http://schemas.microsoft.com/office/powerpoint/2010/main" val="3535486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890D-65FB-C50A-C27C-8E8FF33C6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285397" cy="1280890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Sort ArrayList of class objects according to </a:t>
            </a:r>
            <a:r>
              <a:rPr lang="en-GB" dirty="0" err="1">
                <a:latin typeface="Lucida Sans Typewriter" panose="020B0509030504030204" pitchFamily="49" charset="0"/>
              </a:rPr>
              <a:t>cgpa</a:t>
            </a:r>
            <a:r>
              <a:rPr lang="en-GB" dirty="0">
                <a:latin typeface="Lucida Sans Typewriter" panose="020B0509030504030204" pitchFamily="49" charset="0"/>
              </a:rPr>
              <a:t>(double) in descending order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D6F58-738B-01A1-B114-1EF7994FA6BF}"/>
              </a:ext>
            </a:extLst>
          </p:cNvPr>
          <p:cNvSpPr txBox="1"/>
          <p:nvPr/>
        </p:nvSpPr>
        <p:spPr>
          <a:xfrm>
            <a:off x="3338650" y="5406474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Lucida Sans Typewriter" panose="020B0509030504030204" pitchFamily="49" charset="0"/>
              </a:rPr>
              <a:t>Output:</a:t>
            </a:r>
          </a:p>
          <a:p>
            <a:r>
              <a:rPr lang="en-US" dirty="0">
                <a:latin typeface="Lucida Sans Typewriter" panose="020B0509030504030204" pitchFamily="49" charset="0"/>
              </a:rPr>
              <a:t>name: Mina id:3 cgpa:3.85</a:t>
            </a:r>
          </a:p>
          <a:p>
            <a:r>
              <a:rPr lang="en-US" dirty="0">
                <a:latin typeface="Lucida Sans Typewriter" panose="020B0509030504030204" pitchFamily="49" charset="0"/>
              </a:rPr>
              <a:t>name: Rina id:4 cgpa:3.75</a:t>
            </a:r>
          </a:p>
          <a:p>
            <a:r>
              <a:rPr lang="en-US" dirty="0">
                <a:latin typeface="Lucida Sans Typewriter" panose="020B0509030504030204" pitchFamily="49" charset="0"/>
              </a:rPr>
              <a:t>name: </a:t>
            </a:r>
            <a:r>
              <a:rPr lang="en-US" dirty="0" err="1">
                <a:latin typeface="Lucida Sans Typewriter" panose="020B0509030504030204" pitchFamily="49" charset="0"/>
              </a:rPr>
              <a:t>Abir</a:t>
            </a:r>
            <a:r>
              <a:rPr lang="en-US" dirty="0">
                <a:latin typeface="Lucida Sans Typewriter" panose="020B0509030504030204" pitchFamily="49" charset="0"/>
              </a:rPr>
              <a:t> id:6 cgpa:3.25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473A12-7B10-A901-BBFE-B34D1E7DBB8E}"/>
              </a:ext>
            </a:extLst>
          </p:cNvPr>
          <p:cNvGrpSpPr/>
          <p:nvPr/>
        </p:nvGrpSpPr>
        <p:grpSpPr>
          <a:xfrm>
            <a:off x="2796466" y="2586879"/>
            <a:ext cx="7838983" cy="2585323"/>
            <a:chOff x="2796466" y="2586879"/>
            <a:chExt cx="7838983" cy="2585323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E9EACB78-2F5C-DDFD-CCC8-3C427F674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6466" y="2586879"/>
              <a:ext cx="7838983" cy="25853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Lucida Sans Typewriter" panose="020B0509030504030204" pitchFamily="49" charset="0"/>
                </a:rPr>
                <a:t>Collections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.</a:t>
              </a:r>
              <a:r>
                <a:rPr kumimoji="0" lang="en-US" altLang="en-US" b="0" i="1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sort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(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Lucida Sans Typewriter" panose="020B0509030504030204" pitchFamily="49" charset="0"/>
                </a:rPr>
                <a:t>studentList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Lucida Sans Typewriter" panose="020B0509030504030204" pitchFamily="49" charset="0"/>
                </a:rPr>
                <a:t>new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Lucida Sans Typewriter" panose="020B0509030504030204" pitchFamily="49" charset="0"/>
                </a:rPr>
                <a:t>Comparator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&lt;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Lucida Sans Typewriter" panose="020B0509030504030204" pitchFamily="49" charset="0"/>
                </a:rPr>
                <a:t>student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&gt;() {</a:t>
              </a:r>
              <a:b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</a:br>
              <a:b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</a:b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   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Lucida Sans Typewriter" panose="020B0509030504030204" pitchFamily="49" charset="0"/>
                </a:rPr>
                <a:t>public int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Lucida Sans Typewriter" panose="020B0509030504030204" pitchFamily="49" charset="0"/>
                </a:rPr>
                <a:t>compare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(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Lucida Sans Typewriter" panose="020B0509030504030204" pitchFamily="49" charset="0"/>
                </a:rPr>
                <a:t>student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o1,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Lucida Sans Typewriter" panose="020B0509030504030204" pitchFamily="49" charset="0"/>
                </a:rPr>
                <a:t>student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o2) {</a:t>
              </a:r>
              <a:b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</a:b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       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Lucida Sans Typewriter" panose="020B0509030504030204" pitchFamily="49" charset="0"/>
                </a:rPr>
                <a:t>if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(o2.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Lucida Sans Typewriter" panose="020B0509030504030204" pitchFamily="49" charset="0"/>
                </a:rPr>
                <a:t>cgpa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&gt; o1.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Lucida Sans Typewriter" panose="020B0509030504030204" pitchFamily="49" charset="0"/>
                </a:rPr>
                <a:t>cgpa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)</a:t>
              </a:r>
              <a:b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</a:b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           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Lucida Sans Typewriter" panose="020B0509030504030204" pitchFamily="49" charset="0"/>
                </a:rPr>
                <a:t>return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Lucida Sans Typewriter" panose="020B0509030504030204" pitchFamily="49" charset="0"/>
                </a:rPr>
                <a:t>1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;</a:t>
              </a:r>
              <a:b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</a:b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       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Lucida Sans Typewriter" panose="020B0509030504030204" pitchFamily="49" charset="0"/>
                </a:rPr>
                <a:t>return -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Lucida Sans Typewriter" panose="020B0509030504030204" pitchFamily="49" charset="0"/>
                </a:rPr>
                <a:t>1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;</a:t>
              </a:r>
              <a:b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</a:b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    }</a:t>
              </a:r>
              <a:b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</a:b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Lucida Sans Typewriter" panose="020B0509030504030204" pitchFamily="49" charset="0"/>
                </a:rPr>
                <a:t>});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 Typewriter" panose="020B05090305040302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5CCC9DD-2368-F81F-06A3-E30FFE08DA9F}"/>
                </a:ext>
              </a:extLst>
            </p:cNvPr>
            <p:cNvSpPr/>
            <p:nvPr/>
          </p:nvSpPr>
          <p:spPr>
            <a:xfrm>
              <a:off x="3994951" y="3755254"/>
              <a:ext cx="2974020" cy="2485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8908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2A12-6645-569C-885A-1001F739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009" y="1443316"/>
            <a:ext cx="3514164" cy="1201271"/>
          </a:xfrm>
        </p:spPr>
        <p:txBody>
          <a:bodyPr>
            <a:normAutofit/>
          </a:bodyPr>
          <a:lstStyle/>
          <a:p>
            <a:r>
              <a:rPr lang="en-US" dirty="0"/>
              <a:t>Spring 2024 Question 2(b)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E341F-3725-ECD1-D3B2-6B40EA774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173" y="171167"/>
            <a:ext cx="7666384" cy="651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67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2A12-6645-569C-885A-1001F739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0"/>
            <a:ext cx="8911687" cy="510988"/>
          </a:xfrm>
        </p:spPr>
        <p:txBody>
          <a:bodyPr>
            <a:normAutofit fontScale="90000"/>
          </a:bodyPr>
          <a:lstStyle/>
          <a:p>
            <a:r>
              <a:rPr lang="en-US" dirty="0"/>
              <a:t>Spring 2024 Question 2(b)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59DBBB-6EBC-61C8-5857-AEFE0E3F5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139" y="1255059"/>
            <a:ext cx="9636841" cy="510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6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2A12-6645-569C-885A-1001F739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0"/>
            <a:ext cx="8911687" cy="510988"/>
          </a:xfrm>
        </p:spPr>
        <p:txBody>
          <a:bodyPr>
            <a:normAutofit fontScale="90000"/>
          </a:bodyPr>
          <a:lstStyle/>
          <a:p>
            <a:r>
              <a:rPr lang="en-US" dirty="0"/>
              <a:t>Spring 2024 Question 2(b)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5B73E-26C5-63A3-5531-393E942F2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516" y="1242534"/>
            <a:ext cx="10418115" cy="437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28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2A12-6645-569C-885A-1001F739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95" y="1290916"/>
            <a:ext cx="3299011" cy="1407459"/>
          </a:xfrm>
        </p:spPr>
        <p:txBody>
          <a:bodyPr>
            <a:normAutofit/>
          </a:bodyPr>
          <a:lstStyle/>
          <a:p>
            <a:r>
              <a:rPr lang="en-US" dirty="0"/>
              <a:t>Fall 2023 Question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9F3E8-443C-C441-542F-B446A77DB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943" y="125443"/>
            <a:ext cx="8443692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63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2A12-6645-569C-885A-1001F739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0"/>
            <a:ext cx="8911687" cy="510988"/>
          </a:xfrm>
        </p:spPr>
        <p:txBody>
          <a:bodyPr>
            <a:normAutofit fontScale="90000"/>
          </a:bodyPr>
          <a:lstStyle/>
          <a:p>
            <a:r>
              <a:rPr lang="en-US" dirty="0"/>
              <a:t>Fall 2023 Question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484DC3-F1AF-217B-8A2A-3061B9327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11" y="1824940"/>
            <a:ext cx="10962850" cy="320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92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2A12-6645-569C-885A-1001F739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95" y="1290916"/>
            <a:ext cx="3299011" cy="1407459"/>
          </a:xfrm>
        </p:spPr>
        <p:txBody>
          <a:bodyPr>
            <a:normAutofit/>
          </a:bodyPr>
          <a:lstStyle/>
          <a:p>
            <a:r>
              <a:rPr lang="en-US" dirty="0"/>
              <a:t>Fall 2023 Question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B4183F-B287-434D-7F62-C1F6B543E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997" y="0"/>
            <a:ext cx="8215072" cy="29720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D57DE2-D953-53CE-C623-A0F74D6A7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018" y="3357777"/>
            <a:ext cx="4196515" cy="6315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D34DC3-26B2-DEB1-B671-E7BAFF84A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863" y="4077707"/>
            <a:ext cx="5646909" cy="26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252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2A12-6645-569C-885A-1001F739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0"/>
            <a:ext cx="8911687" cy="510988"/>
          </a:xfrm>
        </p:spPr>
        <p:txBody>
          <a:bodyPr>
            <a:normAutofit fontScale="90000"/>
          </a:bodyPr>
          <a:lstStyle/>
          <a:p>
            <a:r>
              <a:rPr lang="en-US" dirty="0"/>
              <a:t>Fall 2023 Question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EAB9D-7265-262B-3116-604F3B7DB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364" y="773226"/>
            <a:ext cx="10042837" cy="586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1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7F6FB-632B-FC58-79FE-6A891289B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0172" y="3241804"/>
            <a:ext cx="8911687" cy="128089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3503501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8410545-9849-47a5-b02f-53be6746c09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09D5C776553A4ABC3A2CC0992F9D32" ma:contentTypeVersion="9" ma:contentTypeDescription="Create a new document." ma:contentTypeScope="" ma:versionID="e6b506d4f8b90aebd11c038244d534b8">
  <xsd:schema xmlns:xsd="http://www.w3.org/2001/XMLSchema" xmlns:xs="http://www.w3.org/2001/XMLSchema" xmlns:p="http://schemas.microsoft.com/office/2006/metadata/properties" xmlns:ns3="88410545-9849-47a5-b02f-53be6746c091" xmlns:ns4="90a7de7e-2f41-488c-a670-69b4d13149f5" targetNamespace="http://schemas.microsoft.com/office/2006/metadata/properties" ma:root="true" ma:fieldsID="e8a4a49ff4404dc17e9e2033b4d4bfe1" ns3:_="" ns4:_="">
    <xsd:import namespace="88410545-9849-47a5-b02f-53be6746c091"/>
    <xsd:import namespace="90a7de7e-2f41-488c-a670-69b4d13149f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410545-9849-47a5-b02f-53be6746c0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a7de7e-2f41-488c-a670-69b4d13149f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860066-5003-491B-9E35-78570DA4438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10AD02-554D-4A7D-89B8-D8A80693C863}">
  <ds:schemaRefs>
    <ds:schemaRef ds:uri="http://purl.org/dc/terms/"/>
    <ds:schemaRef ds:uri="http://schemas.openxmlformats.org/package/2006/metadata/core-properties"/>
    <ds:schemaRef ds:uri="http://purl.org/dc/dcmitype/"/>
    <ds:schemaRef ds:uri="90a7de7e-2f41-488c-a670-69b4d13149f5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88410545-9849-47a5-b02f-53be6746c09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91F5870-9803-403D-BFF2-92F80B22F7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410545-9849-47a5-b02f-53be6746c091"/>
    <ds:schemaRef ds:uri="90a7de7e-2f41-488c-a670-69b4d13149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252</TotalTime>
  <Words>1263</Words>
  <Application>Microsoft Office PowerPoint</Application>
  <PresentationFormat>Widescreen</PresentationFormat>
  <Paragraphs>119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Cambria</vt:lpstr>
      <vt:lpstr>Century Gothic</vt:lpstr>
      <vt:lpstr>Consolas</vt:lpstr>
      <vt:lpstr>Lucida Sans Typewriter</vt:lpstr>
      <vt:lpstr>Wingdings 3</vt:lpstr>
      <vt:lpstr>Wisp</vt:lpstr>
      <vt:lpstr>Arraylist</vt:lpstr>
      <vt:lpstr>The ArrayList class</vt:lpstr>
      <vt:lpstr>Dynamic Allocation of ArrayList</vt:lpstr>
      <vt:lpstr>Array vs ArrayList</vt:lpstr>
      <vt:lpstr>Array vs ArrayList</vt:lpstr>
      <vt:lpstr>Implementation</vt:lpstr>
      <vt:lpstr>Declaring an ArrayList</vt:lpstr>
      <vt:lpstr>Operations performed in ArrayList</vt:lpstr>
      <vt:lpstr>Add an element</vt:lpstr>
      <vt:lpstr>Get an element</vt:lpstr>
      <vt:lpstr>Remove an element</vt:lpstr>
      <vt:lpstr>More operations</vt:lpstr>
      <vt:lpstr>Sort an Arraylist</vt:lpstr>
      <vt:lpstr>Sort an Arraylist in descending order</vt:lpstr>
      <vt:lpstr>ArrayList of different type of objects</vt:lpstr>
      <vt:lpstr>Hashset</vt:lpstr>
      <vt:lpstr>Hashset</vt:lpstr>
      <vt:lpstr>ArrayList of Class objects</vt:lpstr>
      <vt:lpstr>Consider Student class</vt:lpstr>
      <vt:lpstr>Create ArrayList of students</vt:lpstr>
      <vt:lpstr>Sort ArrayList of class objects according to id(int) in ascending order overriding compareTo method</vt:lpstr>
      <vt:lpstr>Sort ArrayList of class objects according to name(string) in ascending order</vt:lpstr>
      <vt:lpstr>Sort ArrayList of class objects according to id(int) in ascending order</vt:lpstr>
      <vt:lpstr>Sort ArrayList of class objects according to cgpa(double) in ascending order</vt:lpstr>
      <vt:lpstr>Sort ArrayList of class objects according to cgpa(double) in descending order</vt:lpstr>
      <vt:lpstr>Spring 2024 Question 2(b)</vt:lpstr>
      <vt:lpstr>Spring 2024 Question 2(b)</vt:lpstr>
      <vt:lpstr>Spring 2024 Question 2(b)</vt:lpstr>
      <vt:lpstr>Fall 2023 Question 4</vt:lpstr>
      <vt:lpstr>Fall 2023 Question 4</vt:lpstr>
      <vt:lpstr>Fall 2023 Question 4</vt:lpstr>
      <vt:lpstr>Fall 2023 Question 4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Arraylist</dc:title>
  <dc:creator>1705040 - Umama Rahman</dc:creator>
  <cp:lastModifiedBy>Shafqat Rakin</cp:lastModifiedBy>
  <cp:revision>25</cp:revision>
  <dcterms:created xsi:type="dcterms:W3CDTF">2023-11-26T13:53:39Z</dcterms:created>
  <dcterms:modified xsi:type="dcterms:W3CDTF">2024-09-13T17:47:10Z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0x010100FB09D5C776553A4ABC3A2CC0992F9D32</vt:lpwstr>
  </property>
</Properties>
</file>