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9" r:id="rId50"/>
    <p:sldId id="310" r:id="rId51"/>
    <p:sldId id="311" r:id="rId52"/>
    <p:sldId id="312" r:id="rId53"/>
    <p:sldId id="313" r:id="rId54"/>
    <p:sldId id="308" r:id="rId5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5134" cy="6858000"/>
          </a:xfrm>
          <a:custGeom>
            <a:avLst/>
            <a:gdLst/>
            <a:ahLst/>
            <a:cxnLst/>
            <a:rect l="l" t="t" r="r" b="b"/>
            <a:pathLst>
              <a:path w="445134" h="6858000">
                <a:moveTo>
                  <a:pt x="0" y="6858000"/>
                </a:moveTo>
                <a:lnTo>
                  <a:pt x="444538" y="6858000"/>
                </a:lnTo>
                <a:lnTo>
                  <a:pt x="44453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88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36" y="6858000"/>
                </a:lnTo>
                <a:lnTo>
                  <a:pt x="31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339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664" y="0"/>
                </a:moveTo>
                <a:lnTo>
                  <a:pt x="0" y="0"/>
                </a:lnTo>
                <a:lnTo>
                  <a:pt x="0" y="6858000"/>
                </a:lnTo>
                <a:lnTo>
                  <a:pt x="104664" y="6858000"/>
                </a:lnTo>
                <a:lnTo>
                  <a:pt x="104664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245" cy="6858000"/>
          </a:xfrm>
          <a:custGeom>
            <a:avLst/>
            <a:gdLst/>
            <a:ahLst/>
            <a:cxnLst/>
            <a:rect l="l" t="t" r="r" b="b"/>
            <a:pathLst>
              <a:path w="182244" h="6858000">
                <a:moveTo>
                  <a:pt x="181876" y="0"/>
                </a:moveTo>
                <a:lnTo>
                  <a:pt x="0" y="0"/>
                </a:lnTo>
                <a:lnTo>
                  <a:pt x="0" y="6858000"/>
                </a:lnTo>
                <a:lnTo>
                  <a:pt x="181876" y="6858000"/>
                </a:lnTo>
                <a:lnTo>
                  <a:pt x="181876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323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276" y="0"/>
                </a:moveTo>
                <a:lnTo>
                  <a:pt x="0" y="0"/>
                </a:lnTo>
                <a:lnTo>
                  <a:pt x="0" y="6858000"/>
                </a:lnTo>
                <a:lnTo>
                  <a:pt x="230276" y="6858000"/>
                </a:lnTo>
                <a:lnTo>
                  <a:pt x="230276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4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39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11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669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326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442"/>
                </a:moveTo>
                <a:lnTo>
                  <a:pt x="1338021" y="1711045"/>
                </a:lnTo>
                <a:lnTo>
                  <a:pt x="1327912" y="1665808"/>
                </a:lnTo>
                <a:lnTo>
                  <a:pt x="1311681" y="1623237"/>
                </a:lnTo>
                <a:lnTo>
                  <a:pt x="1289812" y="1583804"/>
                </a:lnTo>
                <a:lnTo>
                  <a:pt x="1262799" y="1548041"/>
                </a:lnTo>
                <a:lnTo>
                  <a:pt x="1231163" y="1516405"/>
                </a:lnTo>
                <a:lnTo>
                  <a:pt x="1195374" y="1489417"/>
                </a:lnTo>
                <a:lnTo>
                  <a:pt x="1155928" y="1467573"/>
                </a:lnTo>
                <a:lnTo>
                  <a:pt x="1113345" y="1451343"/>
                </a:lnTo>
                <a:lnTo>
                  <a:pt x="1068095" y="1441246"/>
                </a:lnTo>
                <a:lnTo>
                  <a:pt x="1020699" y="1437767"/>
                </a:lnTo>
                <a:lnTo>
                  <a:pt x="973315" y="1441246"/>
                </a:lnTo>
                <a:lnTo>
                  <a:pt x="928103" y="1451343"/>
                </a:lnTo>
                <a:lnTo>
                  <a:pt x="885532" y="1467573"/>
                </a:lnTo>
                <a:lnTo>
                  <a:pt x="846112" y="1489417"/>
                </a:lnTo>
                <a:lnTo>
                  <a:pt x="810336" y="1516405"/>
                </a:lnTo>
                <a:lnTo>
                  <a:pt x="778700" y="1548041"/>
                </a:lnTo>
                <a:lnTo>
                  <a:pt x="751700" y="1583804"/>
                </a:lnTo>
                <a:lnTo>
                  <a:pt x="729830" y="1623237"/>
                </a:lnTo>
                <a:lnTo>
                  <a:pt x="713600" y="1665808"/>
                </a:lnTo>
                <a:lnTo>
                  <a:pt x="703491" y="1711045"/>
                </a:lnTo>
                <a:lnTo>
                  <a:pt x="700024" y="1758442"/>
                </a:lnTo>
                <a:lnTo>
                  <a:pt x="703491" y="1805851"/>
                </a:lnTo>
                <a:lnTo>
                  <a:pt x="713600" y="1851088"/>
                </a:lnTo>
                <a:lnTo>
                  <a:pt x="729830" y="1893658"/>
                </a:lnTo>
                <a:lnTo>
                  <a:pt x="751700" y="1933092"/>
                </a:lnTo>
                <a:lnTo>
                  <a:pt x="778700" y="1968855"/>
                </a:lnTo>
                <a:lnTo>
                  <a:pt x="810336" y="2000491"/>
                </a:lnTo>
                <a:lnTo>
                  <a:pt x="846112" y="2027478"/>
                </a:lnTo>
                <a:lnTo>
                  <a:pt x="885532" y="2049322"/>
                </a:lnTo>
                <a:lnTo>
                  <a:pt x="928103" y="2065553"/>
                </a:lnTo>
                <a:lnTo>
                  <a:pt x="973315" y="2075649"/>
                </a:lnTo>
                <a:lnTo>
                  <a:pt x="1020699" y="2079117"/>
                </a:lnTo>
                <a:lnTo>
                  <a:pt x="1068095" y="2075649"/>
                </a:lnTo>
                <a:lnTo>
                  <a:pt x="1113345" y="2065553"/>
                </a:lnTo>
                <a:lnTo>
                  <a:pt x="1155928" y="2049322"/>
                </a:lnTo>
                <a:lnTo>
                  <a:pt x="1195374" y="2027478"/>
                </a:lnTo>
                <a:lnTo>
                  <a:pt x="1231163" y="2000491"/>
                </a:lnTo>
                <a:lnTo>
                  <a:pt x="1262799" y="1968855"/>
                </a:lnTo>
                <a:lnTo>
                  <a:pt x="1289812" y="1933092"/>
                </a:lnTo>
                <a:lnTo>
                  <a:pt x="1311681" y="1893658"/>
                </a:lnTo>
                <a:lnTo>
                  <a:pt x="1327912" y="1851088"/>
                </a:lnTo>
                <a:lnTo>
                  <a:pt x="1338021" y="1805851"/>
                </a:lnTo>
                <a:lnTo>
                  <a:pt x="1341501" y="1758442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082" y="5500623"/>
            <a:ext cx="137159" cy="137172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4195" y="4495799"/>
            <a:ext cx="607060" cy="1567180"/>
          </a:xfrm>
          <a:custGeom>
            <a:avLst/>
            <a:gdLst/>
            <a:ahLst/>
            <a:cxnLst/>
            <a:rect l="l" t="t" r="r" b="b"/>
            <a:pathLst>
              <a:path w="607060" h="1567179">
                <a:moveTo>
                  <a:pt x="274332" y="1429512"/>
                </a:moveTo>
                <a:lnTo>
                  <a:pt x="267322" y="1386166"/>
                </a:lnTo>
                <a:lnTo>
                  <a:pt x="247840" y="1348511"/>
                </a:lnTo>
                <a:lnTo>
                  <a:pt x="218147" y="1318818"/>
                </a:lnTo>
                <a:lnTo>
                  <a:pt x="180492" y="1299349"/>
                </a:lnTo>
                <a:lnTo>
                  <a:pt x="137172" y="1292352"/>
                </a:lnTo>
                <a:lnTo>
                  <a:pt x="93840" y="1299349"/>
                </a:lnTo>
                <a:lnTo>
                  <a:pt x="56184" y="1318818"/>
                </a:lnTo>
                <a:lnTo>
                  <a:pt x="26492" y="1348511"/>
                </a:lnTo>
                <a:lnTo>
                  <a:pt x="7010" y="1386166"/>
                </a:lnTo>
                <a:lnTo>
                  <a:pt x="0" y="1429512"/>
                </a:lnTo>
                <a:lnTo>
                  <a:pt x="7010" y="1472869"/>
                </a:lnTo>
                <a:lnTo>
                  <a:pt x="26492" y="1510525"/>
                </a:lnTo>
                <a:lnTo>
                  <a:pt x="56184" y="1540217"/>
                </a:lnTo>
                <a:lnTo>
                  <a:pt x="93840" y="1559687"/>
                </a:lnTo>
                <a:lnTo>
                  <a:pt x="137172" y="1566672"/>
                </a:lnTo>
                <a:lnTo>
                  <a:pt x="180492" y="1559687"/>
                </a:lnTo>
                <a:lnTo>
                  <a:pt x="218147" y="1540217"/>
                </a:lnTo>
                <a:lnTo>
                  <a:pt x="247840" y="1510525"/>
                </a:lnTo>
                <a:lnTo>
                  <a:pt x="267322" y="1472869"/>
                </a:lnTo>
                <a:lnTo>
                  <a:pt x="274332" y="1429512"/>
                </a:lnTo>
                <a:close/>
              </a:path>
              <a:path w="607060" h="1567179">
                <a:moveTo>
                  <a:pt x="606564" y="182880"/>
                </a:moveTo>
                <a:lnTo>
                  <a:pt x="600024" y="134277"/>
                </a:lnTo>
                <a:lnTo>
                  <a:pt x="581583" y="90601"/>
                </a:lnTo>
                <a:lnTo>
                  <a:pt x="552983" y="53581"/>
                </a:lnTo>
                <a:lnTo>
                  <a:pt x="515962" y="24980"/>
                </a:lnTo>
                <a:lnTo>
                  <a:pt x="472287" y="6540"/>
                </a:lnTo>
                <a:lnTo>
                  <a:pt x="423684" y="0"/>
                </a:lnTo>
                <a:lnTo>
                  <a:pt x="375069" y="6540"/>
                </a:lnTo>
                <a:lnTo>
                  <a:pt x="331393" y="24980"/>
                </a:lnTo>
                <a:lnTo>
                  <a:pt x="294373" y="53581"/>
                </a:lnTo>
                <a:lnTo>
                  <a:pt x="265772" y="90601"/>
                </a:lnTo>
                <a:lnTo>
                  <a:pt x="247332" y="134277"/>
                </a:lnTo>
                <a:lnTo>
                  <a:pt x="240804" y="182880"/>
                </a:lnTo>
                <a:lnTo>
                  <a:pt x="247332" y="231495"/>
                </a:lnTo>
                <a:lnTo>
                  <a:pt x="265772" y="275170"/>
                </a:lnTo>
                <a:lnTo>
                  <a:pt x="294373" y="312191"/>
                </a:lnTo>
                <a:lnTo>
                  <a:pt x="331393" y="340791"/>
                </a:lnTo>
                <a:lnTo>
                  <a:pt x="375069" y="359232"/>
                </a:lnTo>
                <a:lnTo>
                  <a:pt x="423684" y="365760"/>
                </a:lnTo>
                <a:lnTo>
                  <a:pt x="472287" y="359232"/>
                </a:lnTo>
                <a:lnTo>
                  <a:pt x="515962" y="340791"/>
                </a:lnTo>
                <a:lnTo>
                  <a:pt x="552983" y="312191"/>
                </a:lnTo>
                <a:lnTo>
                  <a:pt x="581583" y="275170"/>
                </a:lnTo>
                <a:lnTo>
                  <a:pt x="600024" y="231495"/>
                </a:lnTo>
                <a:lnTo>
                  <a:pt x="606564" y="18288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8285" y="3703701"/>
            <a:ext cx="7107428" cy="822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8285" y="3703701"/>
            <a:ext cx="7107428" cy="822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299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896239"/>
            <a:ext cx="807211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966087"/>
            <a:ext cx="4473575" cy="2541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xfrm>
            <a:off x="1219200" y="1676400"/>
            <a:ext cx="7107428" cy="82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8900">
              <a:lnSpc>
                <a:spcPct val="100000"/>
              </a:lnSpc>
              <a:spcBef>
                <a:spcPts val="100"/>
              </a:spcBef>
            </a:pPr>
            <a:r>
              <a:rPr sz="3200" spc="390" dirty="0"/>
              <a:t>G</a:t>
            </a:r>
            <a:r>
              <a:rPr spc="390" dirty="0"/>
              <a:t>RAPHICAL</a:t>
            </a:r>
            <a:r>
              <a:rPr spc="335" dirty="0"/>
              <a:t> </a:t>
            </a:r>
            <a:r>
              <a:rPr sz="3200" spc="434" dirty="0"/>
              <a:t>U</a:t>
            </a:r>
            <a:r>
              <a:rPr spc="434" dirty="0"/>
              <a:t>SER</a:t>
            </a:r>
            <a:r>
              <a:rPr spc="350" dirty="0"/>
              <a:t> </a:t>
            </a:r>
            <a:r>
              <a:rPr sz="3200" spc="385" dirty="0"/>
              <a:t>I</a:t>
            </a:r>
            <a:r>
              <a:rPr spc="385" dirty="0"/>
              <a:t>NTERFACE</a:t>
            </a:r>
            <a:endParaRPr sz="3200" dirty="0"/>
          </a:p>
          <a:p>
            <a:pPr marL="1358900">
              <a:lnSpc>
                <a:spcPct val="100000"/>
              </a:lnSpc>
              <a:spcBef>
                <a:spcPts val="30"/>
              </a:spcBef>
            </a:pPr>
            <a:r>
              <a:rPr sz="2000" b="0" spc="250" dirty="0">
                <a:latin typeface="Cambria"/>
                <a:cs typeface="Cambria"/>
              </a:rPr>
              <a:t>CS</a:t>
            </a:r>
            <a:r>
              <a:rPr lang="en-US" sz="2000" b="0" spc="250" dirty="0">
                <a:latin typeface="Cambria"/>
                <a:cs typeface="Cambria"/>
              </a:rPr>
              <a:t>E</a:t>
            </a:r>
            <a:r>
              <a:rPr sz="2000" b="0" spc="105" dirty="0">
                <a:latin typeface="Cambria"/>
                <a:cs typeface="Cambria"/>
              </a:rPr>
              <a:t> </a:t>
            </a:r>
            <a:r>
              <a:rPr sz="2000" b="0" spc="5" dirty="0">
                <a:latin typeface="Cambria"/>
                <a:cs typeface="Cambria"/>
              </a:rPr>
              <a:t>211</a:t>
            </a:r>
            <a:r>
              <a:rPr lang="en-US" sz="2000" b="0" spc="5" dirty="0">
                <a:latin typeface="Cambria"/>
                <a:cs typeface="Cambria"/>
              </a:rPr>
              <a:t>5</a:t>
            </a:r>
            <a:r>
              <a:rPr sz="2000" b="0" spc="5" dirty="0">
                <a:latin typeface="Cambria"/>
                <a:cs typeface="Cambria"/>
              </a:rPr>
              <a:t>:</a:t>
            </a:r>
            <a:r>
              <a:rPr sz="2000" b="0" spc="75" dirty="0">
                <a:latin typeface="Cambria"/>
                <a:cs typeface="Cambria"/>
              </a:rPr>
              <a:t> </a:t>
            </a:r>
            <a:r>
              <a:rPr sz="2000" b="0" spc="229" dirty="0">
                <a:latin typeface="Cambria"/>
                <a:cs typeface="Cambria"/>
              </a:rPr>
              <a:t>O</a:t>
            </a:r>
            <a:r>
              <a:rPr sz="1600" b="0" spc="229" dirty="0">
                <a:latin typeface="Cambria"/>
                <a:cs typeface="Cambria"/>
              </a:rPr>
              <a:t>BJECT</a:t>
            </a:r>
            <a:r>
              <a:rPr sz="1600" b="0" spc="170" dirty="0">
                <a:latin typeface="Cambria"/>
                <a:cs typeface="Cambria"/>
              </a:rPr>
              <a:t> </a:t>
            </a:r>
            <a:r>
              <a:rPr sz="2000" b="0" spc="185" dirty="0">
                <a:latin typeface="Cambria"/>
                <a:cs typeface="Cambria"/>
              </a:rPr>
              <a:t>O</a:t>
            </a:r>
            <a:r>
              <a:rPr sz="1600" b="0" spc="185" dirty="0">
                <a:latin typeface="Cambria"/>
                <a:cs typeface="Cambria"/>
              </a:rPr>
              <a:t>RIENTED</a:t>
            </a:r>
            <a:r>
              <a:rPr sz="1600" b="0" spc="190" dirty="0">
                <a:latin typeface="Cambria"/>
                <a:cs typeface="Cambria"/>
              </a:rPr>
              <a:t> </a:t>
            </a:r>
            <a:r>
              <a:rPr sz="2000" b="0" spc="190" dirty="0">
                <a:latin typeface="Cambria"/>
                <a:cs typeface="Cambria"/>
              </a:rPr>
              <a:t>P</a:t>
            </a:r>
            <a:r>
              <a:rPr sz="1600" b="0" spc="190" dirty="0">
                <a:latin typeface="Cambria"/>
                <a:cs typeface="Cambria"/>
              </a:rPr>
              <a:t>ROGRAMMING</a:t>
            </a:r>
            <a:endParaRPr sz="1600" dirty="0">
              <a:latin typeface="Cambria"/>
              <a:cs typeface="Cambria"/>
            </a:endParaRP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F0F04FF0-4157-F4E6-619F-29117BAC74C7}"/>
              </a:ext>
            </a:extLst>
          </p:cNvPr>
          <p:cNvSpPr txBox="1">
            <a:spLocks/>
          </p:cNvSpPr>
          <p:nvPr/>
        </p:nvSpPr>
        <p:spPr>
          <a:xfrm>
            <a:off x="1949900" y="5334000"/>
            <a:ext cx="2622100" cy="94704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D654379-2357-53D0-9E51-7C8A69E5C04B}"/>
              </a:ext>
            </a:extLst>
          </p:cNvPr>
          <p:cNvSpPr txBox="1"/>
          <p:nvPr/>
        </p:nvSpPr>
        <p:spPr>
          <a:xfrm>
            <a:off x="5181600" y="6400800"/>
            <a:ext cx="50264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33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G</a:t>
            </a:r>
            <a:r>
              <a:rPr spc="295" dirty="0"/>
              <a:t>RAPHICAL</a:t>
            </a:r>
            <a:r>
              <a:rPr spc="320" dirty="0"/>
              <a:t> </a:t>
            </a:r>
            <a:r>
              <a:rPr sz="3000" spc="390" dirty="0"/>
              <a:t>U</a:t>
            </a:r>
            <a:r>
              <a:rPr spc="390" dirty="0"/>
              <a:t>SE</a:t>
            </a:r>
            <a:r>
              <a:rPr spc="290" dirty="0"/>
              <a:t> </a:t>
            </a:r>
            <a:r>
              <a:rPr sz="3000" spc="285" dirty="0"/>
              <a:t>I</a:t>
            </a:r>
            <a:r>
              <a:rPr spc="285" dirty="0"/>
              <a:t>NTERFACE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6845300" cy="24218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5" dirty="0">
                <a:latin typeface="Cambria"/>
                <a:cs typeface="Cambria"/>
              </a:rPr>
              <a:t>Gives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program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distinctive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“look”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“feel”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65" dirty="0">
                <a:latin typeface="Cambria"/>
                <a:cs typeface="Cambria"/>
              </a:rPr>
              <a:t>Provides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users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basic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familiarity</a:t>
            </a:r>
            <a:endParaRPr sz="2400">
              <a:latin typeface="Cambria"/>
              <a:cs typeface="Cambri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40" dirty="0">
                <a:latin typeface="Cambria"/>
                <a:cs typeface="Cambria"/>
              </a:rPr>
              <a:t>Built </a:t>
            </a:r>
            <a:r>
              <a:rPr sz="2400" spc="50" dirty="0">
                <a:latin typeface="Cambria"/>
                <a:cs typeface="Cambria"/>
              </a:rPr>
              <a:t>from </a:t>
            </a:r>
            <a:r>
              <a:rPr sz="2400" spc="330" dirty="0">
                <a:latin typeface="Cambria"/>
                <a:cs typeface="Cambria"/>
              </a:rPr>
              <a:t>GUI </a:t>
            </a:r>
            <a:r>
              <a:rPr sz="2400" spc="50" dirty="0">
                <a:latin typeface="Cambria"/>
                <a:cs typeface="Cambria"/>
              </a:rPr>
              <a:t>components </a:t>
            </a:r>
            <a:r>
              <a:rPr sz="2400" spc="40" dirty="0">
                <a:latin typeface="Cambria"/>
                <a:cs typeface="Cambria"/>
              </a:rPr>
              <a:t>(controls, </a:t>
            </a:r>
            <a:r>
              <a:rPr sz="2400" spc="75" dirty="0">
                <a:latin typeface="Cambria"/>
                <a:cs typeface="Cambria"/>
              </a:rPr>
              <a:t>widgets,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etc.)</a:t>
            </a:r>
            <a:endParaRPr sz="2400">
              <a:latin typeface="Cambria"/>
              <a:cs typeface="Cambria"/>
            </a:endParaRPr>
          </a:p>
          <a:p>
            <a:pPr marL="652780" marR="375285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User </a:t>
            </a:r>
            <a:r>
              <a:rPr sz="2100" spc="75" dirty="0">
                <a:latin typeface="Cambria"/>
                <a:cs typeface="Cambria"/>
              </a:rPr>
              <a:t>interacts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290" dirty="0">
                <a:latin typeface="Cambria"/>
                <a:cs typeface="Cambria"/>
              </a:rPr>
              <a:t>GUI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component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via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mouse,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keyboard,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etc.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33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G</a:t>
            </a:r>
            <a:r>
              <a:rPr spc="295" dirty="0"/>
              <a:t>RAPHICAL</a:t>
            </a:r>
            <a:r>
              <a:rPr spc="320" dirty="0"/>
              <a:t> </a:t>
            </a:r>
            <a:r>
              <a:rPr sz="3000" spc="390" dirty="0"/>
              <a:t>U</a:t>
            </a:r>
            <a:r>
              <a:rPr spc="390" dirty="0"/>
              <a:t>SE</a:t>
            </a:r>
            <a:r>
              <a:rPr spc="290" dirty="0"/>
              <a:t> </a:t>
            </a:r>
            <a:r>
              <a:rPr sz="3000" spc="285" dirty="0"/>
              <a:t>I</a:t>
            </a:r>
            <a:r>
              <a:rPr spc="285" dirty="0"/>
              <a:t>NTERFACE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047" y="1641476"/>
            <a:ext cx="7264553" cy="501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833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G</a:t>
            </a:r>
            <a:r>
              <a:rPr spc="295" dirty="0"/>
              <a:t>RAPHICAL</a:t>
            </a:r>
            <a:r>
              <a:rPr spc="320" dirty="0"/>
              <a:t> </a:t>
            </a:r>
            <a:r>
              <a:rPr sz="3000" spc="390" dirty="0"/>
              <a:t>U</a:t>
            </a:r>
            <a:r>
              <a:rPr spc="390" dirty="0"/>
              <a:t>SE</a:t>
            </a:r>
            <a:r>
              <a:rPr spc="290" dirty="0"/>
              <a:t> </a:t>
            </a:r>
            <a:r>
              <a:rPr sz="3000" spc="285" dirty="0"/>
              <a:t>I</a:t>
            </a:r>
            <a:r>
              <a:rPr spc="285" dirty="0"/>
              <a:t>NTERFACE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538" y="1675295"/>
            <a:ext cx="6262155" cy="4963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35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5" dirty="0"/>
              <a:t>T</a:t>
            </a:r>
            <a:r>
              <a:rPr spc="265" dirty="0"/>
              <a:t>OP</a:t>
            </a:r>
            <a:r>
              <a:rPr sz="3000" spc="265" dirty="0"/>
              <a:t>-L</a:t>
            </a:r>
            <a:r>
              <a:rPr spc="265" dirty="0"/>
              <a:t>EVEL</a:t>
            </a:r>
            <a:r>
              <a:rPr spc="325" dirty="0"/>
              <a:t> </a:t>
            </a:r>
            <a:r>
              <a:rPr spc="275" dirty="0"/>
              <a:t>AND</a:t>
            </a:r>
            <a:r>
              <a:rPr spc="295" dirty="0"/>
              <a:t> </a:t>
            </a:r>
            <a:r>
              <a:rPr sz="3000" spc="310" dirty="0"/>
              <a:t>S</a:t>
            </a:r>
            <a:r>
              <a:rPr spc="310" dirty="0"/>
              <a:t>ECONDARY</a:t>
            </a:r>
            <a:r>
              <a:rPr spc="325" dirty="0"/>
              <a:t> </a:t>
            </a:r>
            <a:r>
              <a:rPr sz="3000" spc="290" dirty="0"/>
              <a:t>C</a:t>
            </a:r>
            <a:r>
              <a:rPr spc="290" dirty="0"/>
              <a:t>ONTAINERS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9191" y="1998188"/>
            <a:ext cx="4713465" cy="2970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65758"/>
            <a:ext cx="69310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325" dirty="0"/>
              <a:t>T</a:t>
            </a:r>
            <a:r>
              <a:rPr sz="2550" spc="325" dirty="0"/>
              <a:t>HREE</a:t>
            </a:r>
            <a:r>
              <a:rPr sz="2550" spc="335" dirty="0"/>
              <a:t> </a:t>
            </a:r>
            <a:r>
              <a:rPr sz="3200" spc="270" dirty="0"/>
              <a:t>P</a:t>
            </a:r>
            <a:r>
              <a:rPr sz="2550" spc="270" dirty="0"/>
              <a:t>ARTS</a:t>
            </a:r>
            <a:r>
              <a:rPr sz="2550" spc="330" dirty="0"/>
              <a:t> </a:t>
            </a:r>
            <a:r>
              <a:rPr sz="2550" spc="325" dirty="0"/>
              <a:t>OF </a:t>
            </a:r>
            <a:r>
              <a:rPr sz="2550" spc="254" dirty="0"/>
              <a:t>A</a:t>
            </a:r>
            <a:r>
              <a:rPr sz="2550" spc="310" dirty="0"/>
              <a:t> </a:t>
            </a:r>
            <a:r>
              <a:rPr sz="3200" spc="445" dirty="0"/>
              <a:t>GUI</a:t>
            </a:r>
            <a:r>
              <a:rPr sz="3200" spc="160" dirty="0"/>
              <a:t> </a:t>
            </a:r>
            <a:r>
              <a:rPr sz="3200" spc="285" dirty="0"/>
              <a:t>A</a:t>
            </a:r>
            <a:r>
              <a:rPr sz="2550" spc="285" dirty="0"/>
              <a:t>PPLICATION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80250" cy="237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85" dirty="0">
                <a:latin typeface="Cambria"/>
                <a:cs typeface="Cambria"/>
              </a:rPr>
              <a:t>Components</a:t>
            </a:r>
            <a:r>
              <a:rPr sz="2400" spc="130" dirty="0">
                <a:latin typeface="Cambria"/>
                <a:cs typeface="Cambria"/>
              </a:rPr>
              <a:t> that </a:t>
            </a:r>
            <a:r>
              <a:rPr sz="2400" spc="120" dirty="0">
                <a:latin typeface="Cambria"/>
                <a:cs typeface="Cambria"/>
              </a:rPr>
              <a:t>make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up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Graphical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145" dirty="0">
                <a:latin typeface="Cambria"/>
                <a:cs typeface="Cambria"/>
              </a:rPr>
              <a:t>User</a:t>
            </a:r>
            <a:endParaRPr sz="2400" dirty="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400" spc="85" dirty="0">
                <a:latin typeface="Cambria"/>
                <a:cs typeface="Cambria"/>
              </a:rPr>
              <a:t>Interface</a:t>
            </a:r>
            <a:endParaRPr sz="2400" dirty="0">
              <a:latin typeface="Cambria"/>
              <a:cs typeface="Cambri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0" dirty="0">
                <a:latin typeface="Cambria"/>
                <a:cs typeface="Cambria"/>
              </a:rPr>
              <a:t>Listeners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receive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events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respond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to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them</a:t>
            </a:r>
            <a:endParaRPr sz="2400" dirty="0">
              <a:latin typeface="Cambria"/>
              <a:cs typeface="Cambria"/>
            </a:endParaRPr>
          </a:p>
          <a:p>
            <a:pPr marL="286385" marR="33909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80" dirty="0">
                <a:latin typeface="Cambria"/>
                <a:cs typeface="Cambria"/>
              </a:rPr>
              <a:t>Application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code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 </a:t>
            </a:r>
            <a:r>
              <a:rPr sz="2400" spc="20" dirty="0">
                <a:latin typeface="Cambria"/>
                <a:cs typeface="Cambria"/>
              </a:rPr>
              <a:t>does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useful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work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597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25" dirty="0"/>
              <a:t>AWT</a:t>
            </a:r>
            <a:r>
              <a:rPr sz="3000" spc="120" dirty="0"/>
              <a:t> </a:t>
            </a:r>
            <a:r>
              <a:rPr sz="3000" spc="380" dirty="0"/>
              <a:t>&amp;</a:t>
            </a:r>
            <a:r>
              <a:rPr sz="3000" spc="140" dirty="0"/>
              <a:t> </a:t>
            </a:r>
            <a:r>
              <a:rPr sz="3000" spc="290" dirty="0"/>
              <a:t>S</a:t>
            </a:r>
            <a:r>
              <a:rPr spc="290" dirty="0"/>
              <a:t>WING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9472"/>
            <a:ext cx="7290434" cy="486156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8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  <a:tab pos="1181100" algn="l"/>
              </a:tabLst>
            </a:pPr>
            <a:r>
              <a:rPr sz="2200" spc="130" dirty="0">
                <a:latin typeface="Cambria"/>
                <a:cs typeface="Cambria"/>
              </a:rPr>
              <a:t>AWT:	</a:t>
            </a:r>
            <a:r>
              <a:rPr sz="2200" spc="85" dirty="0">
                <a:latin typeface="Cambria"/>
                <a:cs typeface="Cambria"/>
              </a:rPr>
              <a:t>Abstract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Windowing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Toolkit</a:t>
            </a:r>
            <a:endParaRPr sz="2200">
              <a:latin typeface="Cambria"/>
              <a:cs typeface="Cambria"/>
            </a:endParaRPr>
          </a:p>
          <a:p>
            <a:pPr marL="652780" marR="494665" lvl="1" indent="-274955">
              <a:lnSpc>
                <a:spcPts val="2050"/>
              </a:lnSpc>
              <a:spcBef>
                <a:spcPts val="50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90" dirty="0">
                <a:solidFill>
                  <a:srgbClr val="252525"/>
                </a:solidFill>
                <a:latin typeface="Cambria"/>
                <a:cs typeface="Cambria"/>
              </a:rPr>
              <a:t>Sun's</a:t>
            </a:r>
            <a:r>
              <a:rPr sz="19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252525"/>
                </a:solidFill>
                <a:latin typeface="Cambria"/>
                <a:cs typeface="Cambria"/>
              </a:rPr>
              <a:t>initial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35" dirty="0">
                <a:solidFill>
                  <a:srgbClr val="252525"/>
                </a:solidFill>
                <a:latin typeface="Cambria"/>
                <a:cs typeface="Cambria"/>
              </a:rPr>
              <a:t>effort</a:t>
            </a:r>
            <a:r>
              <a:rPr sz="19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10" dirty="0">
                <a:solidFill>
                  <a:srgbClr val="252525"/>
                </a:solidFill>
                <a:latin typeface="Cambria"/>
                <a:cs typeface="Cambria"/>
              </a:rPr>
              <a:t>to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252525"/>
                </a:solidFill>
                <a:latin typeface="Cambria"/>
                <a:cs typeface="Cambria"/>
              </a:rPr>
              <a:t>create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252525"/>
                </a:solidFill>
                <a:latin typeface="Cambria"/>
                <a:cs typeface="Cambria"/>
              </a:rPr>
              <a:t>set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-5" dirty="0">
                <a:solidFill>
                  <a:srgbClr val="252525"/>
                </a:solidFill>
                <a:latin typeface="Cambria"/>
                <a:cs typeface="Cambria"/>
              </a:rPr>
              <a:t>of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40" dirty="0">
                <a:solidFill>
                  <a:srgbClr val="252525"/>
                </a:solidFill>
                <a:latin typeface="Cambria"/>
                <a:cs typeface="Cambria"/>
              </a:rPr>
              <a:t>cross-platform</a:t>
            </a:r>
            <a:r>
              <a:rPr sz="19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260" dirty="0">
                <a:solidFill>
                  <a:srgbClr val="252525"/>
                </a:solidFill>
                <a:latin typeface="Cambria"/>
                <a:cs typeface="Cambria"/>
              </a:rPr>
              <a:t>GUI </a:t>
            </a:r>
            <a:r>
              <a:rPr sz="1900" spc="-4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65" dirty="0">
                <a:solidFill>
                  <a:srgbClr val="252525"/>
                </a:solidFill>
                <a:latin typeface="Cambria"/>
                <a:cs typeface="Cambria"/>
              </a:rPr>
              <a:t>classes.</a:t>
            </a:r>
            <a:r>
              <a:rPr sz="19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i="1" spc="254" dirty="0">
                <a:solidFill>
                  <a:srgbClr val="252525"/>
                </a:solidFill>
                <a:latin typeface="Cambria"/>
                <a:cs typeface="Cambria"/>
              </a:rPr>
              <a:t>(JDK</a:t>
            </a:r>
            <a:r>
              <a:rPr sz="1900" i="1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i="1" spc="75" dirty="0">
                <a:solidFill>
                  <a:srgbClr val="252525"/>
                </a:solidFill>
                <a:latin typeface="Cambria"/>
                <a:cs typeface="Cambria"/>
              </a:rPr>
              <a:t>1.0</a:t>
            </a:r>
            <a:r>
              <a:rPr sz="1900" i="1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i="1" spc="25" dirty="0">
                <a:solidFill>
                  <a:srgbClr val="252525"/>
                </a:solidFill>
                <a:latin typeface="Cambria"/>
                <a:cs typeface="Cambria"/>
              </a:rPr>
              <a:t>-</a:t>
            </a:r>
            <a:r>
              <a:rPr sz="1900" i="1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i="1" spc="40" dirty="0">
                <a:solidFill>
                  <a:srgbClr val="252525"/>
                </a:solidFill>
                <a:latin typeface="Cambria"/>
                <a:cs typeface="Cambria"/>
              </a:rPr>
              <a:t>1.1)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ts val="2165"/>
              </a:lnSpc>
              <a:spcBef>
                <a:spcPts val="20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Maps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5" dirty="0">
                <a:solidFill>
                  <a:srgbClr val="404040"/>
                </a:solidFill>
                <a:latin typeface="Cambria"/>
                <a:cs typeface="Cambria"/>
              </a:rPr>
              <a:t>general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90" dirty="0">
                <a:solidFill>
                  <a:srgbClr val="404040"/>
                </a:solidFill>
                <a:latin typeface="Cambria"/>
                <a:cs typeface="Cambria"/>
              </a:rPr>
              <a:t>Java</a:t>
            </a:r>
            <a:r>
              <a:rPr sz="19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ambria"/>
                <a:cs typeface="Cambria"/>
              </a:rPr>
              <a:t>code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operating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45" dirty="0">
                <a:solidFill>
                  <a:srgbClr val="404040"/>
                </a:solidFill>
                <a:latin typeface="Cambria"/>
                <a:cs typeface="Cambria"/>
              </a:rPr>
              <a:t>system's</a:t>
            </a:r>
            <a:r>
              <a:rPr sz="19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404040"/>
                </a:solidFill>
                <a:latin typeface="Cambria"/>
                <a:cs typeface="Cambria"/>
              </a:rPr>
              <a:t>real</a:t>
            </a:r>
            <a:endParaRPr sz="1900">
              <a:latin typeface="Cambria"/>
              <a:cs typeface="Cambria"/>
            </a:endParaRPr>
          </a:p>
          <a:p>
            <a:pPr marL="652780">
              <a:lnSpc>
                <a:spcPts val="2165"/>
              </a:lnSpc>
            </a:pPr>
            <a:r>
              <a:rPr sz="1900" spc="260" dirty="0">
                <a:solidFill>
                  <a:srgbClr val="404040"/>
                </a:solidFill>
                <a:latin typeface="Cambria"/>
                <a:cs typeface="Cambria"/>
              </a:rPr>
              <a:t>GUI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system.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55" dirty="0">
                <a:latin typeface="Cambria"/>
                <a:cs typeface="Cambria"/>
              </a:rPr>
              <a:t>Does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not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provide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consistent,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cross-platform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look-and-feel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45" dirty="0">
                <a:latin typeface="Cambria"/>
                <a:cs typeface="Cambria"/>
              </a:rPr>
              <a:t>import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95" dirty="0">
                <a:latin typeface="Cambria"/>
                <a:cs typeface="Cambria"/>
              </a:rPr>
              <a:t>java.awt.*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2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  <a:tab pos="1322705" algn="l"/>
              </a:tabLst>
            </a:pPr>
            <a:r>
              <a:rPr sz="2200" spc="100" dirty="0">
                <a:latin typeface="Cambria"/>
                <a:cs typeface="Cambria"/>
              </a:rPr>
              <a:t>Swing:	</a:t>
            </a:r>
            <a:r>
              <a:rPr sz="2200" spc="45" dirty="0">
                <a:latin typeface="Cambria"/>
                <a:cs typeface="Cambria"/>
              </a:rPr>
              <a:t>new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with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75" dirty="0">
                <a:latin typeface="Cambria"/>
                <a:cs typeface="Cambria"/>
              </a:rPr>
              <a:t>Java2</a:t>
            </a:r>
            <a:endParaRPr sz="2200">
              <a:latin typeface="Cambria"/>
              <a:cs typeface="Cambria"/>
            </a:endParaRPr>
          </a:p>
          <a:p>
            <a:pPr marL="652780" marR="5080" lvl="1" indent="-274955">
              <a:lnSpc>
                <a:spcPct val="90000"/>
              </a:lnSpc>
              <a:spcBef>
                <a:spcPts val="47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85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19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40" dirty="0">
                <a:solidFill>
                  <a:srgbClr val="252525"/>
                </a:solidFill>
                <a:latin typeface="Cambria"/>
                <a:cs typeface="Cambria"/>
              </a:rPr>
              <a:t>newer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260" dirty="0">
                <a:solidFill>
                  <a:srgbClr val="252525"/>
                </a:solidFill>
                <a:latin typeface="Cambria"/>
                <a:cs typeface="Cambria"/>
              </a:rPr>
              <a:t>GUI</a:t>
            </a:r>
            <a:r>
              <a:rPr sz="1900" spc="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65" dirty="0">
                <a:solidFill>
                  <a:srgbClr val="252525"/>
                </a:solidFill>
                <a:latin typeface="Cambria"/>
                <a:cs typeface="Cambria"/>
              </a:rPr>
              <a:t>library</a:t>
            </a:r>
            <a:r>
              <a:rPr sz="19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60" dirty="0">
                <a:solidFill>
                  <a:srgbClr val="252525"/>
                </a:solidFill>
                <a:latin typeface="Cambria"/>
                <a:cs typeface="Cambria"/>
              </a:rPr>
              <a:t>written</a:t>
            </a:r>
            <a:r>
              <a:rPr sz="19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40" dirty="0">
                <a:solidFill>
                  <a:srgbClr val="252525"/>
                </a:solidFill>
                <a:latin typeface="Cambria"/>
                <a:cs typeface="Cambria"/>
              </a:rPr>
              <a:t>from</a:t>
            </a:r>
            <a:r>
              <a:rPr sz="1900" spc="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252525"/>
                </a:solidFill>
                <a:latin typeface="Cambria"/>
                <a:cs typeface="Cambria"/>
              </a:rPr>
              <a:t>ground</a:t>
            </a:r>
            <a:r>
              <a:rPr sz="19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252525"/>
                </a:solidFill>
                <a:latin typeface="Cambria"/>
                <a:cs typeface="Cambria"/>
              </a:rPr>
              <a:t>up</a:t>
            </a:r>
            <a:r>
              <a:rPr sz="1900" spc="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105" dirty="0">
                <a:solidFill>
                  <a:srgbClr val="252525"/>
                </a:solidFill>
                <a:latin typeface="Cambria"/>
                <a:cs typeface="Cambria"/>
              </a:rPr>
              <a:t>that 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45" dirty="0">
                <a:solidFill>
                  <a:srgbClr val="252525"/>
                </a:solidFill>
                <a:latin typeface="Cambria"/>
                <a:cs typeface="Cambria"/>
              </a:rPr>
              <a:t>allows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252525"/>
                </a:solidFill>
                <a:latin typeface="Cambria"/>
                <a:cs typeface="Cambria"/>
              </a:rPr>
              <a:t>much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25" dirty="0">
                <a:solidFill>
                  <a:srgbClr val="252525"/>
                </a:solidFill>
                <a:latin typeface="Cambria"/>
                <a:cs typeface="Cambria"/>
              </a:rPr>
              <a:t>more</a:t>
            </a:r>
            <a:r>
              <a:rPr sz="19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30" dirty="0">
                <a:solidFill>
                  <a:srgbClr val="252525"/>
                </a:solidFill>
                <a:latin typeface="Cambria"/>
                <a:cs typeface="Cambria"/>
              </a:rPr>
              <a:t>powerful</a:t>
            </a:r>
            <a:r>
              <a:rPr sz="19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65" dirty="0">
                <a:solidFill>
                  <a:srgbClr val="252525"/>
                </a:solidFill>
                <a:latin typeface="Cambria"/>
                <a:cs typeface="Cambria"/>
              </a:rPr>
              <a:t>graphics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252525"/>
                </a:solidFill>
                <a:latin typeface="Cambria"/>
                <a:cs typeface="Cambria"/>
              </a:rPr>
              <a:t>and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260" dirty="0">
                <a:solidFill>
                  <a:srgbClr val="252525"/>
                </a:solidFill>
                <a:latin typeface="Cambria"/>
                <a:cs typeface="Cambria"/>
              </a:rPr>
              <a:t>GUI</a:t>
            </a:r>
            <a:r>
              <a:rPr sz="19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252525"/>
                </a:solidFill>
                <a:latin typeface="Cambria"/>
                <a:cs typeface="Cambria"/>
              </a:rPr>
              <a:t>construction. </a:t>
            </a:r>
            <a:r>
              <a:rPr sz="1900" spc="-4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700" i="1" spc="229" dirty="0">
                <a:solidFill>
                  <a:srgbClr val="252525"/>
                </a:solidFill>
                <a:latin typeface="Cambria"/>
                <a:cs typeface="Cambria"/>
              </a:rPr>
              <a:t>(JDK</a:t>
            </a:r>
            <a:r>
              <a:rPr sz="1700" i="1" spc="9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1700" i="1" spc="55" dirty="0">
                <a:solidFill>
                  <a:srgbClr val="252525"/>
                </a:solidFill>
                <a:latin typeface="Cambria"/>
                <a:cs typeface="Cambria"/>
              </a:rPr>
              <a:t>1.2+)</a:t>
            </a:r>
            <a:endParaRPr sz="1700">
              <a:latin typeface="Cambria"/>
              <a:cs typeface="Cambria"/>
            </a:endParaRPr>
          </a:p>
          <a:p>
            <a:pPr marL="652780" marR="840105" lvl="1" indent="-274955">
              <a:lnSpc>
                <a:spcPts val="2050"/>
              </a:lnSpc>
              <a:spcBef>
                <a:spcPts val="49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Paints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260" dirty="0">
                <a:solidFill>
                  <a:srgbClr val="404040"/>
                </a:solidFill>
                <a:latin typeface="Cambria"/>
                <a:cs typeface="Cambria"/>
              </a:rPr>
              <a:t>GUI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30" dirty="0">
                <a:solidFill>
                  <a:srgbClr val="404040"/>
                </a:solidFill>
                <a:latin typeface="Cambria"/>
                <a:cs typeface="Cambria"/>
              </a:rPr>
              <a:t>controls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0" dirty="0">
                <a:solidFill>
                  <a:srgbClr val="404040"/>
                </a:solidFill>
                <a:latin typeface="Cambria"/>
                <a:cs typeface="Cambria"/>
              </a:rPr>
              <a:t>itself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45" dirty="0">
                <a:solidFill>
                  <a:srgbClr val="404040"/>
                </a:solidFill>
                <a:latin typeface="Cambria"/>
                <a:cs typeface="Cambria"/>
              </a:rPr>
              <a:t>pixel-by-pixel</a:t>
            </a:r>
            <a:r>
              <a:rPr sz="19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rather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than </a:t>
            </a:r>
            <a:r>
              <a:rPr sz="1900" spc="-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90" dirty="0">
                <a:solidFill>
                  <a:srgbClr val="404040"/>
                </a:solidFill>
                <a:latin typeface="Cambria"/>
                <a:cs typeface="Cambria"/>
              </a:rPr>
              <a:t>handing</a:t>
            </a:r>
            <a:r>
              <a:rPr sz="19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ambria"/>
                <a:cs typeface="Cambria"/>
              </a:rPr>
              <a:t>off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204" dirty="0">
                <a:solidFill>
                  <a:srgbClr val="404040"/>
                </a:solidFill>
                <a:latin typeface="Cambria"/>
                <a:cs typeface="Cambria"/>
              </a:rPr>
              <a:t>OS.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ts val="2165"/>
              </a:lnSpc>
              <a:spcBef>
                <a:spcPts val="20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  <a:tab pos="1742439" algn="l"/>
              </a:tabLst>
            </a:pPr>
            <a:r>
              <a:rPr sz="1900" i="1" spc="70" dirty="0">
                <a:solidFill>
                  <a:srgbClr val="404040"/>
                </a:solidFill>
                <a:latin typeface="Cambria"/>
                <a:cs typeface="Cambria"/>
              </a:rPr>
              <a:t>Benefits:	</a:t>
            </a:r>
            <a:r>
              <a:rPr sz="1900" spc="85" dirty="0">
                <a:solidFill>
                  <a:srgbClr val="404040"/>
                </a:solidFill>
                <a:latin typeface="Cambria"/>
                <a:cs typeface="Cambria"/>
              </a:rPr>
              <a:t>light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404040"/>
                </a:solidFill>
                <a:latin typeface="Cambria"/>
                <a:cs typeface="Cambria"/>
              </a:rPr>
              <a:t>weight,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40" dirty="0">
                <a:solidFill>
                  <a:srgbClr val="404040"/>
                </a:solidFill>
                <a:latin typeface="Cambria"/>
                <a:cs typeface="Cambria"/>
              </a:rPr>
              <a:t>new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0" dirty="0">
                <a:solidFill>
                  <a:srgbClr val="404040"/>
                </a:solidFill>
                <a:latin typeface="Cambria"/>
                <a:cs typeface="Cambria"/>
              </a:rPr>
              <a:t>features;</a:t>
            </a:r>
            <a:r>
              <a:rPr sz="19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404040"/>
                </a:solidFill>
                <a:latin typeface="Cambria"/>
                <a:cs typeface="Cambria"/>
              </a:rPr>
              <a:t>compatibility;</a:t>
            </a:r>
            <a:r>
              <a:rPr sz="19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same</a:t>
            </a:r>
            <a:endParaRPr sz="1900">
              <a:latin typeface="Cambria"/>
              <a:cs typeface="Cambria"/>
            </a:endParaRPr>
          </a:p>
          <a:p>
            <a:pPr marL="652780">
              <a:lnSpc>
                <a:spcPts val="2165"/>
              </a:lnSpc>
            </a:pPr>
            <a:r>
              <a:rPr sz="1900" spc="20" dirty="0">
                <a:solidFill>
                  <a:srgbClr val="404040"/>
                </a:solidFill>
                <a:latin typeface="Cambria"/>
                <a:cs typeface="Cambria"/>
              </a:rPr>
              <a:t>look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235" dirty="0">
                <a:solidFill>
                  <a:srgbClr val="404040"/>
                </a:solidFill>
                <a:latin typeface="Cambria"/>
                <a:cs typeface="Cambria"/>
              </a:rPr>
              <a:t>&amp;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45" dirty="0">
                <a:solidFill>
                  <a:srgbClr val="404040"/>
                </a:solidFill>
                <a:latin typeface="Cambria"/>
                <a:cs typeface="Cambria"/>
              </a:rPr>
              <a:t>feel</a:t>
            </a:r>
            <a:r>
              <a:rPr sz="19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35" dirty="0">
                <a:solidFill>
                  <a:srgbClr val="404040"/>
                </a:solidFill>
                <a:latin typeface="Cambria"/>
                <a:cs typeface="Cambria"/>
              </a:rPr>
              <a:t>across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different</a:t>
            </a:r>
            <a:r>
              <a:rPr sz="19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0" dirty="0">
                <a:solidFill>
                  <a:srgbClr val="404040"/>
                </a:solidFill>
                <a:latin typeface="Cambria"/>
                <a:cs typeface="Cambria"/>
              </a:rPr>
              <a:t>platform.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45" dirty="0">
                <a:latin typeface="Cambria"/>
                <a:cs typeface="Cambria"/>
              </a:rPr>
              <a:t>import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javax.swing.*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025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15" dirty="0"/>
              <a:t>GUI</a:t>
            </a:r>
            <a:r>
              <a:rPr sz="3000" spc="114" dirty="0"/>
              <a:t> </a:t>
            </a:r>
            <a:r>
              <a:rPr sz="3000" spc="300" dirty="0"/>
              <a:t>H</a:t>
            </a:r>
            <a:r>
              <a:rPr spc="300" dirty="0"/>
              <a:t>IERARCHY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1403" y="1793408"/>
            <a:ext cx="6546441" cy="3910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212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C</a:t>
            </a:r>
            <a:r>
              <a:rPr spc="290" dirty="0"/>
              <a:t>ONTAINERS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60719"/>
            <a:ext cx="6941820" cy="31991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-5" dirty="0">
                <a:latin typeface="Arial MT"/>
                <a:cs typeface="Arial MT"/>
              </a:rPr>
              <a:t>There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are </a:t>
            </a:r>
            <a:r>
              <a:rPr sz="2800" dirty="0">
                <a:latin typeface="Arial MT"/>
                <a:cs typeface="Arial MT"/>
              </a:rPr>
              <a:t>three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basic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top-level</a:t>
            </a:r>
            <a:r>
              <a:rPr sz="2800" i="1" spc="-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containers</a:t>
            </a:r>
            <a:endParaRPr sz="28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37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b="1" spc="-5" dirty="0">
                <a:latin typeface="Courier New"/>
                <a:cs typeface="Courier New"/>
              </a:rPr>
              <a:t>JWindow</a:t>
            </a:r>
            <a:r>
              <a:rPr sz="2100" spc="-5" dirty="0">
                <a:latin typeface="Arial MT"/>
                <a:cs typeface="Arial MT"/>
              </a:rPr>
              <a:t>:</a:t>
            </a:r>
            <a:r>
              <a:rPr sz="2100" spc="1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top-level window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with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no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border</a:t>
            </a:r>
            <a:endParaRPr sz="21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b="1" spc="-5" dirty="0">
                <a:latin typeface="Courier New"/>
                <a:cs typeface="Courier New"/>
              </a:rPr>
              <a:t>JFrame</a:t>
            </a:r>
            <a:r>
              <a:rPr sz="2100" spc="-5" dirty="0">
                <a:latin typeface="Arial MT"/>
                <a:cs typeface="Arial MT"/>
              </a:rPr>
              <a:t>:</a:t>
            </a:r>
            <a:r>
              <a:rPr sz="2100" spc="1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top-level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window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with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border and (optional)</a:t>
            </a:r>
            <a:endParaRPr sz="2100">
              <a:latin typeface="Arial MT"/>
              <a:cs typeface="Arial MT"/>
            </a:endParaRPr>
          </a:p>
          <a:p>
            <a:pPr marL="652780">
              <a:lnSpc>
                <a:spcPct val="100000"/>
              </a:lnSpc>
              <a:spcBef>
                <a:spcPts val="145"/>
              </a:spcBef>
            </a:pPr>
            <a:r>
              <a:rPr sz="2100" spc="-5" dirty="0">
                <a:latin typeface="Arial MT"/>
                <a:cs typeface="Arial MT"/>
              </a:rPr>
              <a:t>menu</a:t>
            </a:r>
            <a:r>
              <a:rPr sz="2100" spc="-10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bar</a:t>
            </a:r>
            <a:endParaRPr sz="2100">
              <a:latin typeface="Arial MT"/>
              <a:cs typeface="Arial MT"/>
            </a:endParaRPr>
          </a:p>
          <a:p>
            <a:pPr marL="652780" lvl="1" indent="-275590">
              <a:lnSpc>
                <a:spcPct val="100000"/>
              </a:lnSpc>
              <a:spcBef>
                <a:spcPts val="36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b="1" spc="-5" dirty="0">
                <a:latin typeface="Courier New"/>
                <a:cs typeface="Courier New"/>
              </a:rPr>
              <a:t>JDialog</a:t>
            </a:r>
            <a:r>
              <a:rPr sz="2100" spc="-5" dirty="0">
                <a:latin typeface="Arial MT"/>
                <a:cs typeface="Arial MT"/>
              </a:rPr>
              <a:t>: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used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for </a:t>
            </a:r>
            <a:r>
              <a:rPr sz="2100" spc="-5" dirty="0">
                <a:latin typeface="Arial MT"/>
                <a:cs typeface="Arial MT"/>
              </a:rPr>
              <a:t>dialog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windows</a:t>
            </a:r>
            <a:endParaRPr sz="2100">
              <a:latin typeface="Arial MT"/>
              <a:cs typeface="Arial MT"/>
            </a:endParaRPr>
          </a:p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-5" dirty="0">
                <a:latin typeface="Arial MT"/>
                <a:cs typeface="Arial MT"/>
              </a:rPr>
              <a:t>Another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important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container</a:t>
            </a:r>
            <a:endParaRPr sz="2800">
              <a:latin typeface="Arial MT"/>
              <a:cs typeface="Arial MT"/>
            </a:endParaRPr>
          </a:p>
          <a:p>
            <a:pPr marL="652780" marR="5080" lvl="1" indent="-274955">
              <a:lnSpc>
                <a:spcPct val="106300"/>
              </a:lnSpc>
              <a:spcBef>
                <a:spcPts val="2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b="1" spc="-5" dirty="0">
                <a:latin typeface="Courier New"/>
                <a:cs typeface="Courier New"/>
              </a:rPr>
              <a:t>JPanel</a:t>
            </a:r>
            <a:r>
              <a:rPr sz="2100" spc="-5" dirty="0">
                <a:latin typeface="Arial MT"/>
                <a:cs typeface="Arial MT"/>
              </a:rPr>
              <a:t>: used </a:t>
            </a:r>
            <a:r>
              <a:rPr sz="2100" dirty="0">
                <a:latin typeface="Arial MT"/>
                <a:cs typeface="Arial MT"/>
              </a:rPr>
              <a:t>mostly to </a:t>
            </a:r>
            <a:r>
              <a:rPr sz="2100" spc="-5" dirty="0">
                <a:latin typeface="Arial MT"/>
                <a:cs typeface="Arial MT"/>
              </a:rPr>
              <a:t>organize objects within other </a:t>
            </a:r>
            <a:r>
              <a:rPr sz="2100" spc="-57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containers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325" y="4848225"/>
            <a:ext cx="5946759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844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15" dirty="0"/>
              <a:t>GUI</a:t>
            </a:r>
            <a:r>
              <a:rPr sz="3000" spc="150" dirty="0"/>
              <a:t> </a:t>
            </a:r>
            <a:r>
              <a:rPr sz="3000" spc="310" dirty="0"/>
              <a:t>C</a:t>
            </a:r>
            <a:r>
              <a:rPr spc="310" dirty="0"/>
              <a:t>OMPONENT</a:t>
            </a:r>
            <a:r>
              <a:rPr spc="235" dirty="0"/>
              <a:t> </a:t>
            </a:r>
            <a:r>
              <a:rPr sz="3000" spc="280" dirty="0"/>
              <a:t>API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904355" cy="191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60" dirty="0">
                <a:latin typeface="Cambria"/>
                <a:cs typeface="Cambria"/>
              </a:rPr>
              <a:t>Each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component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class.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So,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each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component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400" spc="120" dirty="0">
                <a:latin typeface="Cambria"/>
                <a:cs typeface="Cambria"/>
              </a:rPr>
              <a:t>has</a:t>
            </a:r>
            <a:endParaRPr sz="24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45" dirty="0">
                <a:latin typeface="Cambria"/>
                <a:cs typeface="Cambria"/>
              </a:rPr>
              <a:t>Properties/attributes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Methods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0" dirty="0">
                <a:latin typeface="Cambria"/>
                <a:cs typeface="Cambria"/>
              </a:rPr>
              <a:t>Events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273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S</a:t>
            </a:r>
            <a:r>
              <a:rPr spc="290" dirty="0"/>
              <a:t>TEPS</a:t>
            </a:r>
            <a:r>
              <a:rPr spc="330" dirty="0"/>
              <a:t> </a:t>
            </a:r>
            <a:r>
              <a:rPr spc="235" dirty="0"/>
              <a:t>TO</a:t>
            </a:r>
            <a:r>
              <a:rPr spc="300" dirty="0"/>
              <a:t> </a:t>
            </a:r>
            <a:r>
              <a:rPr spc="280" dirty="0"/>
              <a:t>CREATE</a:t>
            </a:r>
            <a:r>
              <a:rPr spc="350" dirty="0"/>
              <a:t> </a:t>
            </a:r>
            <a:r>
              <a:rPr sz="3000" spc="315" dirty="0"/>
              <a:t>GUI–B</a:t>
            </a:r>
            <a:r>
              <a:rPr spc="315" dirty="0"/>
              <a:t>ASIC </a:t>
            </a:r>
            <a:r>
              <a:rPr sz="3000" spc="265" dirty="0"/>
              <a:t>W</a:t>
            </a:r>
            <a:r>
              <a:rPr spc="265" dirty="0"/>
              <a:t>ORKFLOW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32650" cy="4138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Create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top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container/window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hold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400" spc="75" dirty="0">
                <a:latin typeface="Cambria"/>
                <a:cs typeface="Cambria"/>
              </a:rPr>
              <a:t>entire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290" dirty="0">
                <a:latin typeface="Cambria"/>
                <a:cs typeface="Cambria"/>
              </a:rPr>
              <a:t>GUI.</a:t>
            </a:r>
            <a:endParaRPr sz="2400">
              <a:latin typeface="Cambria"/>
              <a:cs typeface="Cambria"/>
            </a:endParaRPr>
          </a:p>
          <a:p>
            <a:pPr marL="286385" marR="1158875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Add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components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other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lower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level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container.</a:t>
            </a:r>
            <a:endParaRPr sz="24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Add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individual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component.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160" dirty="0">
                <a:latin typeface="Cambria"/>
                <a:cs typeface="Cambria"/>
              </a:rPr>
              <a:t>Or</a:t>
            </a:r>
            <a:endParaRPr sz="2100">
              <a:latin typeface="Cambria"/>
              <a:cs typeface="Cambria"/>
            </a:endParaRPr>
          </a:p>
          <a:p>
            <a:pPr marL="652780" marR="29337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Group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components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into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lower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level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container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and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add</a:t>
            </a:r>
            <a:r>
              <a:rPr sz="2100" spc="114" dirty="0">
                <a:latin typeface="Cambria"/>
                <a:cs typeface="Cambria"/>
              </a:rPr>
              <a:t> that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container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top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window.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Organize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these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with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75" dirty="0">
                <a:latin typeface="Cambria"/>
                <a:cs typeface="Cambria"/>
              </a:rPr>
              <a:t>A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layout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manager,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50" dirty="0">
                <a:latin typeface="Cambria"/>
                <a:cs typeface="Cambria"/>
              </a:rPr>
              <a:t>JPanel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group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components</a:t>
            </a:r>
            <a:endParaRPr sz="18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Add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event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handling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code.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56991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S</a:t>
            </a:r>
            <a:r>
              <a:rPr spc="290" dirty="0"/>
              <a:t>TEPS</a:t>
            </a:r>
            <a:r>
              <a:rPr spc="325" dirty="0"/>
              <a:t> </a:t>
            </a:r>
            <a:r>
              <a:rPr spc="235" dirty="0"/>
              <a:t>TO</a:t>
            </a:r>
            <a:r>
              <a:rPr spc="295" dirty="0"/>
              <a:t> </a:t>
            </a:r>
            <a:r>
              <a:rPr spc="280" dirty="0"/>
              <a:t>CREATE</a:t>
            </a:r>
            <a:r>
              <a:rPr spc="350" dirty="0"/>
              <a:t> </a:t>
            </a:r>
            <a:r>
              <a:rPr sz="3000" spc="415" dirty="0"/>
              <a:t>GUI</a:t>
            </a:r>
            <a:r>
              <a:rPr sz="3000" spc="175" dirty="0"/>
              <a:t> </a:t>
            </a:r>
            <a:r>
              <a:rPr sz="3000" spc="165" dirty="0"/>
              <a:t>–</a:t>
            </a:r>
            <a:r>
              <a:rPr sz="3000" spc="160" dirty="0"/>
              <a:t> </a:t>
            </a:r>
            <a:r>
              <a:rPr sz="3000" spc="295" dirty="0"/>
              <a:t>A</a:t>
            </a:r>
            <a:r>
              <a:rPr spc="295" dirty="0"/>
              <a:t>DDING </a:t>
            </a:r>
            <a:r>
              <a:rPr spc="-515" dirty="0"/>
              <a:t> </a:t>
            </a:r>
            <a:r>
              <a:rPr sz="3000" spc="310" dirty="0"/>
              <a:t>C</a:t>
            </a:r>
            <a:r>
              <a:rPr spc="310" dirty="0"/>
              <a:t>OMPONENTS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1882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300" algn="l"/>
              </a:tabLst>
            </a:pPr>
            <a:r>
              <a:rPr sz="1650" spc="70" dirty="0">
                <a:solidFill>
                  <a:srgbClr val="FD8537"/>
                </a:solidFill>
                <a:latin typeface="Cambria"/>
                <a:cs typeface="Cambria"/>
              </a:rPr>
              <a:t>1.	</a:t>
            </a:r>
            <a:r>
              <a:rPr sz="2400" spc="125" dirty="0">
                <a:latin typeface="Cambria"/>
                <a:cs typeface="Cambria"/>
              </a:rPr>
              <a:t>Create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2051430"/>
            <a:ext cx="2408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469265" algn="l"/>
                <a:tab pos="469900" algn="l"/>
              </a:tabLst>
            </a:pPr>
            <a:r>
              <a:rPr sz="1800" spc="85" dirty="0">
                <a:latin typeface="Cambria"/>
                <a:cs typeface="Cambria"/>
              </a:rPr>
              <a:t>Instantiate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object: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222" y="2051430"/>
            <a:ext cx="3249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mbria"/>
                <a:cs typeface="Cambria"/>
              </a:rPr>
              <a:t>b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 </a:t>
            </a:r>
            <a:r>
              <a:rPr sz="1800" spc="40" dirty="0">
                <a:latin typeface="Cambria"/>
                <a:cs typeface="Cambria"/>
              </a:rPr>
              <a:t>new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JButton(“Click </a:t>
            </a:r>
            <a:r>
              <a:rPr sz="1800" spc="20" dirty="0">
                <a:latin typeface="Cambria"/>
                <a:cs typeface="Cambria"/>
              </a:rPr>
              <a:t>here”);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400427"/>
            <a:ext cx="232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300" algn="l"/>
              </a:tabLst>
            </a:pPr>
            <a:r>
              <a:rPr sz="1650" spc="70" dirty="0">
                <a:solidFill>
                  <a:srgbClr val="FD8537"/>
                </a:solidFill>
                <a:latin typeface="Cambria"/>
                <a:cs typeface="Cambria"/>
              </a:rPr>
              <a:t>2.	</a:t>
            </a:r>
            <a:r>
              <a:rPr sz="2400" spc="100" dirty="0">
                <a:latin typeface="Cambria"/>
                <a:cs typeface="Cambria"/>
              </a:rPr>
              <a:t>Configure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594" y="2767457"/>
            <a:ext cx="1641475" cy="6845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3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469265" algn="l"/>
                <a:tab pos="469900" algn="l"/>
              </a:tabLst>
            </a:pPr>
            <a:r>
              <a:rPr sz="1800" spc="45" dirty="0">
                <a:latin typeface="Cambria"/>
                <a:cs typeface="Cambria"/>
              </a:rPr>
              <a:t>Properties:</a:t>
            </a:r>
            <a:endParaRPr sz="18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469265" algn="l"/>
                <a:tab pos="469900" algn="l"/>
              </a:tabLst>
            </a:pPr>
            <a:r>
              <a:rPr sz="1800" spc="60" dirty="0">
                <a:latin typeface="Cambria"/>
                <a:cs typeface="Cambria"/>
              </a:rPr>
              <a:t>Methods: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4534" y="2767457"/>
            <a:ext cx="2475230" cy="684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785">
              <a:lnSpc>
                <a:spcPct val="120100"/>
              </a:lnSpc>
              <a:spcBef>
                <a:spcPts val="100"/>
              </a:spcBef>
            </a:pPr>
            <a:r>
              <a:rPr sz="1800" spc="70" dirty="0">
                <a:latin typeface="Cambria"/>
                <a:cs typeface="Cambria"/>
              </a:rPr>
              <a:t>b.text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=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“Click </a:t>
            </a:r>
            <a:r>
              <a:rPr sz="1800" spc="40" dirty="0">
                <a:latin typeface="Cambria"/>
                <a:cs typeface="Cambria"/>
              </a:rPr>
              <a:t>here”; 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b.setText(“Click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here”);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8510" y="2822575"/>
            <a:ext cx="177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latin typeface="Cambria"/>
                <a:cs typeface="Cambria"/>
              </a:rPr>
              <a:t>[avoided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java]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3425825"/>
            <a:ext cx="2776855" cy="123825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AutoNum type="arabicPeriod" startAt="3"/>
              <a:tabLst>
                <a:tab pos="622300" algn="l"/>
                <a:tab pos="622935" algn="l"/>
              </a:tabLst>
            </a:pPr>
            <a:r>
              <a:rPr sz="2400" spc="105" dirty="0">
                <a:latin typeface="Cambria"/>
                <a:cs typeface="Cambria"/>
              </a:rPr>
              <a:t>Add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</a:t>
            </a:r>
            <a:endParaRPr sz="2400">
              <a:latin typeface="Cambria"/>
              <a:cs typeface="Cambria"/>
            </a:endParaRPr>
          </a:p>
          <a:p>
            <a:pPr marL="1384300" lvl="1" indent="-457834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1384300" algn="l"/>
                <a:tab pos="1384935" algn="l"/>
              </a:tabLst>
            </a:pPr>
            <a:r>
              <a:rPr sz="1800" spc="35" dirty="0">
                <a:latin typeface="Cambria"/>
                <a:cs typeface="Cambria"/>
              </a:rPr>
              <a:t>panel.add(b);</a:t>
            </a:r>
            <a:endParaRPr sz="1800">
              <a:latin typeface="Cambria"/>
              <a:cs typeface="Cambria"/>
            </a:endParaRPr>
          </a:p>
          <a:p>
            <a:pPr marL="622300" indent="-610235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AutoNum type="arabicPeriod" startAt="3"/>
              <a:tabLst>
                <a:tab pos="622300" algn="l"/>
                <a:tab pos="622935" algn="l"/>
              </a:tabLst>
            </a:pPr>
            <a:r>
              <a:rPr sz="2400" spc="125" dirty="0">
                <a:latin typeface="Cambria"/>
                <a:cs typeface="Cambria"/>
              </a:rPr>
              <a:t>Listen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05" dirty="0">
                <a:latin typeface="Cambria"/>
                <a:cs typeface="Cambria"/>
              </a:rPr>
              <a:t> it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0594" y="4694682"/>
            <a:ext cx="128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469265" algn="l"/>
                <a:tab pos="469900" algn="l"/>
              </a:tabLst>
            </a:pPr>
            <a:r>
              <a:rPr sz="1800" spc="80" dirty="0">
                <a:latin typeface="Cambria"/>
                <a:cs typeface="Cambria"/>
              </a:rPr>
              <a:t>Events: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7253" y="4694682"/>
            <a:ext cx="1019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Cambria"/>
                <a:cs typeface="Cambria"/>
              </a:rPr>
              <a:t>Listeners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263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694" algn="l"/>
              </a:tabLst>
            </a:pPr>
            <a:r>
              <a:rPr sz="3000" spc="415" dirty="0"/>
              <a:t>GUI	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98117"/>
            <a:ext cx="6796405" cy="4707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14" dirty="0">
                <a:latin typeface="Cambria"/>
                <a:cs typeface="Cambria"/>
              </a:rPr>
              <a:t>import</a:t>
            </a:r>
            <a:r>
              <a:rPr sz="2000" b="1" spc="105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javax.swing.*;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b="1" spc="130" dirty="0">
                <a:latin typeface="Cambria"/>
                <a:cs typeface="Cambria"/>
              </a:rPr>
              <a:t>public</a:t>
            </a:r>
            <a:r>
              <a:rPr sz="2000" b="1" spc="114" dirty="0">
                <a:latin typeface="Cambria"/>
                <a:cs typeface="Cambria"/>
              </a:rPr>
              <a:t> class</a:t>
            </a:r>
            <a:r>
              <a:rPr sz="2000" b="1" spc="10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Hello</a:t>
            </a:r>
            <a:r>
              <a:rPr sz="2000" b="1" spc="10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{</a:t>
            </a:r>
            <a:endParaRPr sz="2000" dirty="0">
              <a:latin typeface="Cambria"/>
              <a:cs typeface="Cambria"/>
            </a:endParaRPr>
          </a:p>
          <a:p>
            <a:pPr marL="413384">
              <a:lnSpc>
                <a:spcPct val="100000"/>
              </a:lnSpc>
              <a:spcBef>
                <a:spcPts val="215"/>
              </a:spcBef>
            </a:pPr>
            <a:r>
              <a:rPr sz="1800" b="1" spc="120" dirty="0">
                <a:latin typeface="Cambria"/>
                <a:cs typeface="Cambria"/>
              </a:rPr>
              <a:t>public</a:t>
            </a:r>
            <a:r>
              <a:rPr sz="1800" b="1" spc="90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static</a:t>
            </a:r>
            <a:r>
              <a:rPr sz="1800" b="1" spc="85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void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110" dirty="0">
                <a:latin typeface="Cambria"/>
                <a:cs typeface="Cambria"/>
              </a:rPr>
              <a:t>main(String[]</a:t>
            </a:r>
            <a:r>
              <a:rPr sz="1800" b="1" spc="114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args)</a:t>
            </a:r>
            <a:r>
              <a:rPr sz="1800" b="1" spc="9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{</a:t>
            </a:r>
            <a:endParaRPr sz="1800" dirty="0">
              <a:latin typeface="Cambria"/>
              <a:cs typeface="Cambria"/>
            </a:endParaRPr>
          </a:p>
          <a:p>
            <a:pPr marL="812800">
              <a:lnSpc>
                <a:spcPts val="1710"/>
              </a:lnSpc>
              <a:spcBef>
                <a:spcPts val="190"/>
              </a:spcBef>
            </a:pPr>
            <a:r>
              <a:rPr sz="1500" spc="130" dirty="0">
                <a:latin typeface="Cambria"/>
                <a:cs typeface="Cambria"/>
              </a:rPr>
              <a:t>JFrame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f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b="1" spc="105" dirty="0">
                <a:latin typeface="Cambria"/>
                <a:cs typeface="Cambria"/>
              </a:rPr>
              <a:t>new</a:t>
            </a:r>
            <a:r>
              <a:rPr sz="1500" b="1" spc="9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JFrame("My</a:t>
            </a:r>
            <a:r>
              <a:rPr sz="1500" b="1" spc="105" dirty="0">
                <a:latin typeface="Cambria"/>
                <a:cs typeface="Cambria"/>
              </a:rPr>
              <a:t> </a:t>
            </a:r>
            <a:r>
              <a:rPr sz="1500" b="1" spc="50" dirty="0">
                <a:latin typeface="Cambria"/>
                <a:cs typeface="Cambria"/>
              </a:rPr>
              <a:t>Frame");</a:t>
            </a:r>
            <a:r>
              <a:rPr sz="1500" b="1" spc="110" dirty="0">
                <a:latin typeface="Cambria"/>
                <a:cs typeface="Cambria"/>
              </a:rPr>
              <a:t> </a:t>
            </a: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-310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Creating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top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level</a:t>
            </a:r>
            <a:endParaRPr sz="1500" dirty="0">
              <a:latin typeface="Cambria"/>
              <a:cs typeface="Cambria"/>
            </a:endParaRPr>
          </a:p>
          <a:p>
            <a:pPr marL="812800">
              <a:lnSpc>
                <a:spcPts val="1710"/>
              </a:lnSpc>
            </a:pPr>
            <a:r>
              <a:rPr sz="1500" spc="40" dirty="0">
                <a:latin typeface="Cambria"/>
                <a:cs typeface="Cambria"/>
              </a:rPr>
              <a:t>container</a:t>
            </a:r>
            <a:endParaRPr sz="1500" dirty="0">
              <a:latin typeface="Cambria"/>
              <a:cs typeface="Cambria"/>
            </a:endParaRPr>
          </a:p>
          <a:p>
            <a:pPr marL="812800" marR="902969">
              <a:lnSpc>
                <a:spcPct val="110000"/>
              </a:lnSpc>
            </a:pPr>
            <a:r>
              <a:rPr sz="1500" spc="114" dirty="0">
                <a:latin typeface="Cambria"/>
                <a:cs typeface="Cambria"/>
              </a:rPr>
              <a:t>f.setDefaultCloseOperation(JFrame.</a:t>
            </a:r>
            <a:r>
              <a:rPr sz="1500" b="1" i="1" spc="114" dirty="0">
                <a:latin typeface="Cambria"/>
                <a:cs typeface="Cambria"/>
              </a:rPr>
              <a:t>EXIT_ON_CLOSE); </a:t>
            </a:r>
            <a:r>
              <a:rPr sz="1500" b="1" i="1" spc="-32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f.setSize(200,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100);</a:t>
            </a:r>
            <a:endParaRPr sz="15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  <a:spcBef>
                <a:spcPts val="180"/>
              </a:spcBef>
            </a:pPr>
            <a:r>
              <a:rPr sz="1500" spc="125" dirty="0">
                <a:latin typeface="Cambria"/>
                <a:cs typeface="Cambria"/>
              </a:rPr>
              <a:t>JPanel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p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 </a:t>
            </a:r>
            <a:r>
              <a:rPr sz="1500" b="1" spc="105" dirty="0">
                <a:latin typeface="Cambria"/>
                <a:cs typeface="Cambria"/>
              </a:rPr>
              <a:t>new</a:t>
            </a:r>
            <a:r>
              <a:rPr sz="1500" b="1" spc="85" dirty="0">
                <a:latin typeface="Cambria"/>
                <a:cs typeface="Cambria"/>
              </a:rPr>
              <a:t> </a:t>
            </a:r>
            <a:r>
              <a:rPr sz="1500" b="1" spc="105" dirty="0">
                <a:latin typeface="Cambria"/>
                <a:cs typeface="Cambria"/>
              </a:rPr>
              <a:t>JPanel();</a:t>
            </a:r>
            <a:endParaRPr sz="15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  <a:spcBef>
                <a:spcPts val="180"/>
              </a:spcBef>
            </a:pPr>
            <a:r>
              <a:rPr sz="1500" spc="110" dirty="0">
                <a:latin typeface="Cambria"/>
                <a:cs typeface="Cambria"/>
              </a:rPr>
              <a:t>JButton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b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b="1" spc="105" dirty="0">
                <a:latin typeface="Cambria"/>
                <a:cs typeface="Cambria"/>
              </a:rPr>
              <a:t>new</a:t>
            </a:r>
            <a:r>
              <a:rPr sz="1500" b="1" spc="85" dirty="0">
                <a:latin typeface="Cambria"/>
                <a:cs typeface="Cambria"/>
              </a:rPr>
              <a:t> </a:t>
            </a:r>
            <a:r>
              <a:rPr sz="1500" b="1" spc="120" dirty="0">
                <a:latin typeface="Cambria"/>
                <a:cs typeface="Cambria"/>
              </a:rPr>
              <a:t>JButton("Click</a:t>
            </a:r>
            <a:r>
              <a:rPr sz="1500" b="1" spc="70" dirty="0">
                <a:latin typeface="Cambria"/>
                <a:cs typeface="Cambria"/>
              </a:rPr>
              <a:t> </a:t>
            </a:r>
            <a:r>
              <a:rPr sz="1500" b="1" spc="25" dirty="0">
                <a:latin typeface="Cambria"/>
                <a:cs typeface="Cambria"/>
              </a:rPr>
              <a:t>here");</a:t>
            </a:r>
            <a:r>
              <a:rPr sz="1500" b="1" spc="70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//Create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object</a:t>
            </a: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 dirty="0">
              <a:latin typeface="Cambria"/>
              <a:cs typeface="Cambria"/>
            </a:endParaRPr>
          </a:p>
          <a:p>
            <a:pPr marL="812800" marR="2134235">
              <a:lnSpc>
                <a:spcPct val="110000"/>
              </a:lnSpc>
              <a:tabLst>
                <a:tab pos="1741805" algn="l"/>
                <a:tab pos="2840355" algn="l"/>
              </a:tabLst>
            </a:pPr>
            <a:r>
              <a:rPr sz="1500" spc="90" dirty="0">
                <a:latin typeface="Cambria"/>
                <a:cs typeface="Cambria"/>
              </a:rPr>
              <a:t>p</a:t>
            </a:r>
            <a:r>
              <a:rPr sz="1500" spc="35" dirty="0">
                <a:latin typeface="Cambria"/>
                <a:cs typeface="Cambria"/>
              </a:rPr>
              <a:t>.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20" dirty="0">
                <a:latin typeface="Cambria"/>
                <a:cs typeface="Cambria"/>
              </a:rPr>
              <a:t>d</a:t>
            </a:r>
            <a:r>
              <a:rPr sz="1500" spc="30" dirty="0">
                <a:latin typeface="Cambria"/>
                <a:cs typeface="Cambria"/>
              </a:rPr>
              <a:t>d</a:t>
            </a:r>
            <a:r>
              <a:rPr sz="1500" spc="-25" dirty="0">
                <a:latin typeface="Cambria"/>
                <a:cs typeface="Cambria"/>
              </a:rPr>
              <a:t>(</a:t>
            </a:r>
            <a:r>
              <a:rPr sz="1500" spc="-35" dirty="0">
                <a:latin typeface="Cambria"/>
                <a:cs typeface="Cambria"/>
              </a:rPr>
              <a:t>b</a:t>
            </a:r>
            <a:r>
              <a:rPr sz="1500" spc="-30" dirty="0">
                <a:latin typeface="Cambria"/>
                <a:cs typeface="Cambria"/>
              </a:rPr>
              <a:t>);</a:t>
            </a:r>
            <a:r>
              <a:rPr sz="1500" dirty="0">
                <a:latin typeface="Cambria"/>
                <a:cs typeface="Cambria"/>
              </a:rPr>
              <a:t>	</a:t>
            </a: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20" dirty="0">
                <a:latin typeface="Cambria"/>
                <a:cs typeface="Cambria"/>
              </a:rPr>
              <a:t>d</a:t>
            </a:r>
            <a:r>
              <a:rPr sz="1500" spc="25" dirty="0">
                <a:latin typeface="Cambria"/>
                <a:cs typeface="Cambria"/>
              </a:rPr>
              <a:t>d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b</a:t>
            </a:r>
            <a:r>
              <a:rPr sz="1500" spc="80" dirty="0">
                <a:latin typeface="Cambria"/>
                <a:cs typeface="Cambria"/>
              </a:rPr>
              <a:t>u</a:t>
            </a:r>
            <a:r>
              <a:rPr sz="1500" spc="75" dirty="0">
                <a:latin typeface="Cambria"/>
                <a:cs typeface="Cambria"/>
              </a:rPr>
              <a:t>tt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75" dirty="0">
                <a:latin typeface="Cambria"/>
                <a:cs typeface="Cambria"/>
              </a:rPr>
              <a:t>n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</a:t>
            </a:r>
            <a:r>
              <a:rPr sz="1500" spc="65" dirty="0">
                <a:latin typeface="Cambria"/>
                <a:cs typeface="Cambria"/>
              </a:rPr>
              <a:t>a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55" dirty="0">
                <a:latin typeface="Cambria"/>
                <a:cs typeface="Cambria"/>
              </a:rPr>
              <a:t>l  </a:t>
            </a:r>
            <a:r>
              <a:rPr sz="1500" spc="90" dirty="0">
                <a:latin typeface="Cambria"/>
                <a:cs typeface="Cambria"/>
              </a:rPr>
              <a:t>f</a:t>
            </a:r>
            <a:r>
              <a:rPr sz="1500" spc="65" dirty="0">
                <a:latin typeface="Cambria"/>
                <a:cs typeface="Cambria"/>
              </a:rPr>
              <a:t>.</a:t>
            </a:r>
            <a:r>
              <a:rPr sz="1500" spc="30" dirty="0">
                <a:latin typeface="Cambria"/>
                <a:cs typeface="Cambria"/>
              </a:rPr>
              <a:t>s</a:t>
            </a:r>
            <a:r>
              <a:rPr sz="1500" spc="40" dirty="0">
                <a:latin typeface="Cambria"/>
                <a:cs typeface="Cambria"/>
              </a:rPr>
              <a:t>e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65" dirty="0">
                <a:latin typeface="Cambria"/>
                <a:cs typeface="Cambria"/>
              </a:rPr>
              <a:t>Cont</a:t>
            </a:r>
            <a:r>
              <a:rPr sz="1500" spc="75" dirty="0">
                <a:latin typeface="Cambria"/>
                <a:cs typeface="Cambria"/>
              </a:rPr>
              <a:t>e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140" dirty="0">
                <a:latin typeface="Cambria"/>
                <a:cs typeface="Cambria"/>
              </a:rPr>
              <a:t>P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30" dirty="0">
                <a:latin typeface="Cambria"/>
                <a:cs typeface="Cambria"/>
              </a:rPr>
              <a:t>e</a:t>
            </a:r>
            <a:r>
              <a:rPr sz="1500" spc="-20" dirty="0">
                <a:latin typeface="Cambria"/>
                <a:cs typeface="Cambria"/>
              </a:rPr>
              <a:t>(</a:t>
            </a:r>
            <a:r>
              <a:rPr sz="1500" spc="-25" dirty="0">
                <a:latin typeface="Cambria"/>
                <a:cs typeface="Cambria"/>
              </a:rPr>
              <a:t>p</a:t>
            </a:r>
            <a:r>
              <a:rPr sz="1500" spc="-30" dirty="0">
                <a:latin typeface="Cambria"/>
                <a:cs typeface="Cambria"/>
              </a:rPr>
              <a:t>);</a:t>
            </a:r>
            <a:r>
              <a:rPr sz="1500" dirty="0">
                <a:latin typeface="Cambria"/>
                <a:cs typeface="Cambria"/>
              </a:rPr>
              <a:t>	</a:t>
            </a:r>
            <a:r>
              <a:rPr sz="1500" spc="-320" dirty="0">
                <a:latin typeface="Cambria"/>
                <a:cs typeface="Cambria"/>
              </a:rPr>
              <a:t>//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20" dirty="0">
                <a:latin typeface="Cambria"/>
                <a:cs typeface="Cambria"/>
              </a:rPr>
              <a:t>d</a:t>
            </a:r>
            <a:r>
              <a:rPr sz="1500" spc="25" dirty="0">
                <a:latin typeface="Cambria"/>
                <a:cs typeface="Cambria"/>
              </a:rPr>
              <a:t>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p</a:t>
            </a:r>
            <a:r>
              <a:rPr sz="1500" spc="65" dirty="0">
                <a:latin typeface="Cambria"/>
                <a:cs typeface="Cambria"/>
              </a:rPr>
              <a:t>a</a:t>
            </a:r>
            <a:r>
              <a:rPr sz="1500" spc="70" dirty="0">
                <a:latin typeface="Cambria"/>
                <a:cs typeface="Cambria"/>
              </a:rPr>
              <a:t>n</a:t>
            </a:r>
            <a:r>
              <a:rPr sz="1500" spc="15" dirty="0">
                <a:latin typeface="Cambria"/>
                <a:cs typeface="Cambria"/>
              </a:rPr>
              <a:t>e</a:t>
            </a:r>
            <a:r>
              <a:rPr sz="1500" spc="65" dirty="0">
                <a:latin typeface="Cambria"/>
                <a:cs typeface="Cambria"/>
              </a:rPr>
              <a:t>l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t</a:t>
            </a:r>
            <a:r>
              <a:rPr sz="1500" spc="-50" dirty="0">
                <a:latin typeface="Cambria"/>
                <a:cs typeface="Cambria"/>
              </a:rPr>
              <a:t>o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fra</a:t>
            </a:r>
            <a:r>
              <a:rPr sz="1500" spc="45" dirty="0">
                <a:latin typeface="Cambria"/>
                <a:cs typeface="Cambria"/>
              </a:rPr>
              <a:t>me</a:t>
            </a:r>
            <a:endParaRPr sz="15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</a:pPr>
            <a:r>
              <a:rPr sz="1500" spc="50" dirty="0">
                <a:latin typeface="Cambria"/>
                <a:cs typeface="Cambria"/>
              </a:rPr>
              <a:t>f.setVisible(</a:t>
            </a:r>
            <a:r>
              <a:rPr sz="1500" b="1" spc="50" dirty="0">
                <a:latin typeface="Cambria"/>
                <a:cs typeface="Cambria"/>
              </a:rPr>
              <a:t>true);</a:t>
            </a:r>
            <a:endParaRPr sz="1500" dirty="0">
              <a:latin typeface="Cambria"/>
              <a:cs typeface="Cambria"/>
            </a:endParaRPr>
          </a:p>
          <a:p>
            <a:pPr marL="413384">
              <a:lnSpc>
                <a:spcPct val="100000"/>
              </a:lnSpc>
              <a:spcBef>
                <a:spcPts val="219"/>
              </a:spcBef>
            </a:pPr>
            <a:r>
              <a:rPr sz="1800" spc="-100" dirty="0">
                <a:latin typeface="Cambria"/>
                <a:cs typeface="Cambria"/>
              </a:rPr>
              <a:t>}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000" spc="-110" dirty="0">
                <a:latin typeface="Cambria"/>
                <a:cs typeface="Cambria"/>
              </a:rPr>
              <a:t>}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5143500"/>
            <a:ext cx="1905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263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694" algn="l"/>
              </a:tabLst>
            </a:pPr>
            <a:r>
              <a:rPr sz="3000" spc="415" dirty="0"/>
              <a:t>GUI	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70685"/>
            <a:ext cx="6984365" cy="4716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105" dirty="0">
                <a:latin typeface="Cambria"/>
                <a:cs typeface="Cambria"/>
              </a:rPr>
              <a:t>import </a:t>
            </a:r>
            <a:r>
              <a:rPr sz="1900" b="1" spc="114" dirty="0">
                <a:latin typeface="Cambria"/>
                <a:cs typeface="Cambria"/>
              </a:rPr>
              <a:t>javax.swing.*;</a:t>
            </a:r>
            <a:endParaRPr sz="1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900" b="1" spc="120" dirty="0">
                <a:latin typeface="Cambria"/>
                <a:cs typeface="Cambria"/>
              </a:rPr>
              <a:t>public</a:t>
            </a:r>
            <a:r>
              <a:rPr sz="1900" b="1" spc="135" dirty="0">
                <a:latin typeface="Cambria"/>
                <a:cs typeface="Cambria"/>
              </a:rPr>
              <a:t> </a:t>
            </a:r>
            <a:r>
              <a:rPr sz="1900" b="1" spc="105" dirty="0">
                <a:latin typeface="Cambria"/>
                <a:cs typeface="Cambria"/>
              </a:rPr>
              <a:t>class</a:t>
            </a:r>
            <a:r>
              <a:rPr sz="1900" b="1" spc="120" dirty="0">
                <a:latin typeface="Cambria"/>
                <a:cs typeface="Cambria"/>
              </a:rPr>
              <a:t> </a:t>
            </a:r>
            <a:r>
              <a:rPr sz="1900" b="1" spc="114" dirty="0">
                <a:latin typeface="Cambria"/>
                <a:cs typeface="Cambria"/>
              </a:rPr>
              <a:t>Hello</a:t>
            </a:r>
            <a:r>
              <a:rPr sz="1900" b="1" spc="135" dirty="0">
                <a:latin typeface="Cambria"/>
                <a:cs typeface="Cambria"/>
              </a:rPr>
              <a:t> </a:t>
            </a:r>
            <a:r>
              <a:rPr sz="1900" b="1" spc="-10" dirty="0">
                <a:latin typeface="Cambria"/>
                <a:cs typeface="Cambria"/>
              </a:rPr>
              <a:t>{</a:t>
            </a:r>
            <a:endParaRPr sz="1900" dirty="0">
              <a:latin typeface="Cambria"/>
              <a:cs typeface="Cambria"/>
            </a:endParaRPr>
          </a:p>
          <a:p>
            <a:pPr marL="413384">
              <a:lnSpc>
                <a:spcPct val="100000"/>
              </a:lnSpc>
              <a:spcBef>
                <a:spcPts val="15"/>
              </a:spcBef>
            </a:pPr>
            <a:r>
              <a:rPr sz="1600" b="1" spc="100" dirty="0">
                <a:latin typeface="Cambria"/>
                <a:cs typeface="Cambria"/>
              </a:rPr>
              <a:t>public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static</a:t>
            </a:r>
            <a:r>
              <a:rPr sz="1600" b="1" spc="105" dirty="0">
                <a:latin typeface="Cambria"/>
                <a:cs typeface="Cambria"/>
              </a:rPr>
              <a:t> </a:t>
            </a:r>
            <a:r>
              <a:rPr sz="1600" b="1" spc="90" dirty="0">
                <a:latin typeface="Cambria"/>
                <a:cs typeface="Cambria"/>
              </a:rPr>
              <a:t>void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95" dirty="0">
                <a:latin typeface="Cambria"/>
                <a:cs typeface="Cambria"/>
              </a:rPr>
              <a:t>main(String[]</a:t>
            </a:r>
            <a:r>
              <a:rPr sz="1600" b="1" spc="135" dirty="0">
                <a:latin typeface="Cambria"/>
                <a:cs typeface="Cambria"/>
              </a:rPr>
              <a:t> </a:t>
            </a:r>
            <a:r>
              <a:rPr sz="1600" b="1" spc="75" dirty="0">
                <a:latin typeface="Cambria"/>
                <a:cs typeface="Cambria"/>
              </a:rPr>
              <a:t>args)</a:t>
            </a:r>
            <a:r>
              <a:rPr sz="1600" b="1" spc="10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{</a:t>
            </a:r>
            <a:endParaRPr sz="16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</a:pPr>
            <a:r>
              <a:rPr sz="1400" spc="125" dirty="0">
                <a:latin typeface="Cambria"/>
                <a:cs typeface="Cambria"/>
              </a:rPr>
              <a:t>JFrame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f</a:t>
            </a:r>
            <a:r>
              <a:rPr sz="1400" spc="75" dirty="0">
                <a:latin typeface="Cambria"/>
                <a:cs typeface="Cambria"/>
              </a:rPr>
              <a:t> =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114" dirty="0">
                <a:latin typeface="Cambria"/>
                <a:cs typeface="Cambria"/>
              </a:rPr>
              <a:t>JFrame("My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50" dirty="0">
                <a:latin typeface="Cambria"/>
                <a:cs typeface="Cambria"/>
              </a:rPr>
              <a:t>Frame");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-10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Creating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the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top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level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container</a:t>
            </a:r>
            <a:endParaRPr sz="14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</a:pPr>
            <a:r>
              <a:rPr sz="1400" spc="105" dirty="0">
                <a:latin typeface="Cambria"/>
                <a:cs typeface="Cambria"/>
              </a:rPr>
              <a:t>f.setDefaultCloseOperation(JFrame.</a:t>
            </a:r>
            <a:r>
              <a:rPr sz="1400" b="1" i="1" spc="105" dirty="0">
                <a:latin typeface="Cambria"/>
                <a:cs typeface="Cambria"/>
              </a:rPr>
              <a:t>EXIT_ON_CLOSE);</a:t>
            </a:r>
            <a:endParaRPr sz="14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</a:pPr>
            <a:r>
              <a:rPr sz="1400" spc="40" dirty="0">
                <a:latin typeface="Cambria"/>
                <a:cs typeface="Cambria"/>
              </a:rPr>
              <a:t>f.setSize(200,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100);</a:t>
            </a:r>
            <a:endParaRPr sz="14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</a:pPr>
            <a:r>
              <a:rPr sz="1400" spc="120" dirty="0">
                <a:latin typeface="Cambria"/>
                <a:cs typeface="Cambria"/>
              </a:rPr>
              <a:t>JPanel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p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JPanel();</a:t>
            </a:r>
            <a:endParaRPr sz="1400" dirty="0">
              <a:latin typeface="Cambria"/>
              <a:cs typeface="Cambria"/>
            </a:endParaRPr>
          </a:p>
          <a:p>
            <a:pPr marL="812800" marR="142875">
              <a:lnSpc>
                <a:spcPct val="100000"/>
              </a:lnSpc>
            </a:pPr>
            <a:r>
              <a:rPr sz="1400" spc="50" dirty="0">
                <a:latin typeface="Cambria"/>
                <a:cs typeface="Cambria"/>
              </a:rPr>
              <a:t>p.setBackground(Color.</a:t>
            </a:r>
            <a:r>
              <a:rPr sz="1400" b="1" i="1" spc="50" dirty="0">
                <a:latin typeface="Cambria"/>
                <a:cs typeface="Cambria"/>
              </a:rPr>
              <a:t>cyan);</a:t>
            </a:r>
            <a:r>
              <a:rPr sz="1400" b="1" i="1" spc="70" dirty="0">
                <a:latin typeface="Cambria"/>
                <a:cs typeface="Cambria"/>
              </a:rPr>
              <a:t> </a:t>
            </a:r>
            <a:r>
              <a:rPr sz="1400" b="1" i="1" spc="-285" dirty="0">
                <a:latin typeface="Cambria"/>
                <a:cs typeface="Cambria"/>
              </a:rPr>
              <a:t>//</a:t>
            </a:r>
            <a:r>
              <a:rPr sz="1400" b="1" i="1" spc="-270" dirty="0">
                <a:latin typeface="Cambria"/>
                <a:cs typeface="Cambria"/>
              </a:rPr>
              <a:t> </a:t>
            </a:r>
            <a:r>
              <a:rPr sz="1400" i="1" spc="65" dirty="0">
                <a:latin typeface="Cambria"/>
                <a:cs typeface="Cambria"/>
              </a:rPr>
              <a:t>Setting</a:t>
            </a:r>
            <a:r>
              <a:rPr sz="1400" i="1" spc="75" dirty="0">
                <a:latin typeface="Cambria"/>
                <a:cs typeface="Cambria"/>
              </a:rPr>
              <a:t> </a:t>
            </a:r>
            <a:r>
              <a:rPr sz="1400" i="1" spc="30" dirty="0">
                <a:latin typeface="Cambria"/>
                <a:cs typeface="Cambria"/>
              </a:rPr>
              <a:t>the</a:t>
            </a:r>
            <a:r>
              <a:rPr sz="1400" i="1" spc="90" dirty="0">
                <a:latin typeface="Cambria"/>
                <a:cs typeface="Cambria"/>
              </a:rPr>
              <a:t> </a:t>
            </a:r>
            <a:r>
              <a:rPr sz="1400" i="1" spc="55" dirty="0">
                <a:latin typeface="Cambria"/>
                <a:cs typeface="Cambria"/>
              </a:rPr>
              <a:t>background</a:t>
            </a:r>
            <a:r>
              <a:rPr sz="1400" i="1" spc="60" dirty="0">
                <a:latin typeface="Cambria"/>
                <a:cs typeface="Cambria"/>
              </a:rPr>
              <a:t> </a:t>
            </a:r>
            <a:r>
              <a:rPr sz="1400" i="1" spc="30" dirty="0">
                <a:latin typeface="Cambria"/>
                <a:cs typeface="Cambria"/>
              </a:rPr>
              <a:t>color</a:t>
            </a:r>
            <a:r>
              <a:rPr sz="1400" i="1" spc="65" dirty="0">
                <a:latin typeface="Cambria"/>
                <a:cs typeface="Cambria"/>
              </a:rPr>
              <a:t> </a:t>
            </a:r>
            <a:r>
              <a:rPr sz="1400" i="1" spc="25" dirty="0">
                <a:latin typeface="Cambria"/>
                <a:cs typeface="Cambria"/>
              </a:rPr>
              <a:t>of</a:t>
            </a:r>
            <a:r>
              <a:rPr sz="1400" i="1" spc="75" dirty="0">
                <a:latin typeface="Cambria"/>
                <a:cs typeface="Cambria"/>
              </a:rPr>
              <a:t> </a:t>
            </a:r>
            <a:r>
              <a:rPr sz="1400" i="1" spc="30" dirty="0">
                <a:latin typeface="Cambria"/>
                <a:cs typeface="Cambria"/>
              </a:rPr>
              <a:t>the</a:t>
            </a:r>
            <a:r>
              <a:rPr sz="1400" i="1" spc="90" dirty="0">
                <a:latin typeface="Cambria"/>
                <a:cs typeface="Cambria"/>
              </a:rPr>
              <a:t> </a:t>
            </a:r>
            <a:r>
              <a:rPr sz="1400" i="1" spc="55" dirty="0">
                <a:latin typeface="Cambria"/>
                <a:cs typeface="Cambria"/>
              </a:rPr>
              <a:t>panel </a:t>
            </a:r>
            <a:r>
              <a:rPr sz="1400" i="1" spc="-295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JButton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b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110" dirty="0">
                <a:latin typeface="Cambria"/>
                <a:cs typeface="Cambria"/>
              </a:rPr>
              <a:t>JButton("Click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b="1" spc="20" dirty="0">
                <a:latin typeface="Cambria"/>
                <a:cs typeface="Cambria"/>
              </a:rPr>
              <a:t>here");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-20" dirty="0">
                <a:latin typeface="Cambria"/>
                <a:cs typeface="Cambria"/>
              </a:rPr>
              <a:t>/</a:t>
            </a:r>
            <a:r>
              <a:rPr sz="1400" spc="-20" dirty="0">
                <a:latin typeface="Cambria"/>
                <a:cs typeface="Cambria"/>
              </a:rPr>
              <a:t>/Create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JButton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15" dirty="0">
                <a:latin typeface="Cambria"/>
                <a:cs typeface="Cambria"/>
              </a:rPr>
              <a:t>object 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b.setBackground(Color.</a:t>
            </a:r>
            <a:r>
              <a:rPr sz="1400" b="1" i="1" spc="50" dirty="0">
                <a:latin typeface="Cambria"/>
                <a:cs typeface="Cambria"/>
              </a:rPr>
              <a:t>red); </a:t>
            </a:r>
            <a:r>
              <a:rPr sz="1400" b="1" i="1" spc="-65" dirty="0">
                <a:latin typeface="Cambria"/>
                <a:cs typeface="Cambria"/>
              </a:rPr>
              <a:t>//</a:t>
            </a:r>
            <a:r>
              <a:rPr sz="1400" i="1" spc="-65" dirty="0">
                <a:latin typeface="Cambria"/>
                <a:cs typeface="Cambria"/>
              </a:rPr>
              <a:t>Set</a:t>
            </a:r>
            <a:r>
              <a:rPr sz="1400" i="1" spc="-60" dirty="0">
                <a:latin typeface="Cambria"/>
                <a:cs typeface="Cambria"/>
              </a:rPr>
              <a:t> </a:t>
            </a:r>
            <a:r>
              <a:rPr sz="1400" i="1" spc="60" dirty="0">
                <a:latin typeface="Cambria"/>
                <a:cs typeface="Cambria"/>
              </a:rPr>
              <a:t>Button </a:t>
            </a:r>
            <a:r>
              <a:rPr sz="1400" i="1" spc="30" dirty="0">
                <a:latin typeface="Cambria"/>
                <a:cs typeface="Cambria"/>
              </a:rPr>
              <a:t>color </a:t>
            </a:r>
            <a:r>
              <a:rPr sz="1400" i="1" spc="35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b.setForeground(Color.</a:t>
            </a:r>
            <a:r>
              <a:rPr sz="1400" b="1" i="1" spc="65" dirty="0">
                <a:latin typeface="Cambria"/>
                <a:cs typeface="Cambria"/>
              </a:rPr>
              <a:t>BLUE);</a:t>
            </a:r>
            <a:r>
              <a:rPr sz="1400" b="1" i="1" spc="55" dirty="0">
                <a:latin typeface="Cambria"/>
                <a:cs typeface="Cambria"/>
              </a:rPr>
              <a:t> </a:t>
            </a:r>
            <a:r>
              <a:rPr sz="1400" b="1" i="1" spc="-285" dirty="0">
                <a:latin typeface="Cambria"/>
                <a:cs typeface="Cambria"/>
              </a:rPr>
              <a:t>//</a:t>
            </a:r>
            <a:r>
              <a:rPr sz="1400" b="1" i="1" spc="-265" dirty="0">
                <a:latin typeface="Cambria"/>
                <a:cs typeface="Cambria"/>
              </a:rPr>
              <a:t> </a:t>
            </a:r>
            <a:r>
              <a:rPr sz="1400" i="1" spc="65" dirty="0">
                <a:latin typeface="Cambria"/>
                <a:cs typeface="Cambria"/>
              </a:rPr>
              <a:t>Setting</a:t>
            </a:r>
            <a:r>
              <a:rPr sz="1400" i="1" spc="60" dirty="0">
                <a:latin typeface="Cambria"/>
                <a:cs typeface="Cambria"/>
              </a:rPr>
              <a:t> </a:t>
            </a:r>
            <a:r>
              <a:rPr sz="1400" i="1" spc="30" dirty="0">
                <a:latin typeface="Cambria"/>
                <a:cs typeface="Cambria"/>
              </a:rPr>
              <a:t>the</a:t>
            </a:r>
            <a:r>
              <a:rPr sz="1400" i="1" spc="75" dirty="0">
                <a:latin typeface="Cambria"/>
                <a:cs typeface="Cambria"/>
              </a:rPr>
              <a:t> </a:t>
            </a:r>
            <a:r>
              <a:rPr sz="1400" i="1" spc="15" dirty="0">
                <a:latin typeface="Cambria"/>
                <a:cs typeface="Cambria"/>
              </a:rPr>
              <a:t>text</a:t>
            </a:r>
            <a:r>
              <a:rPr sz="1400" i="1" spc="65" dirty="0">
                <a:latin typeface="Cambria"/>
                <a:cs typeface="Cambria"/>
              </a:rPr>
              <a:t> </a:t>
            </a:r>
            <a:r>
              <a:rPr sz="1400" i="1" spc="30" dirty="0">
                <a:latin typeface="Cambria"/>
                <a:cs typeface="Cambria"/>
              </a:rPr>
              <a:t>color</a:t>
            </a:r>
            <a:r>
              <a:rPr sz="1400" i="1" spc="50" dirty="0">
                <a:latin typeface="Cambria"/>
                <a:cs typeface="Cambria"/>
              </a:rPr>
              <a:t> </a:t>
            </a:r>
            <a:r>
              <a:rPr sz="1400" i="1" spc="25" dirty="0">
                <a:latin typeface="Cambria"/>
                <a:cs typeface="Cambria"/>
              </a:rPr>
              <a:t>of</a:t>
            </a:r>
            <a:r>
              <a:rPr sz="1400" i="1" spc="75" dirty="0">
                <a:latin typeface="Cambria"/>
                <a:cs typeface="Cambria"/>
              </a:rPr>
              <a:t> </a:t>
            </a:r>
            <a:r>
              <a:rPr sz="1400" i="1" spc="30" dirty="0">
                <a:latin typeface="Cambria"/>
                <a:cs typeface="Cambria"/>
              </a:rPr>
              <a:t>the</a:t>
            </a:r>
            <a:r>
              <a:rPr sz="1400" i="1" spc="6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button </a:t>
            </a:r>
            <a:r>
              <a:rPr sz="1400" i="1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b.setFont(</a:t>
            </a:r>
            <a:r>
              <a:rPr sz="1400" b="1" spc="55" dirty="0">
                <a:latin typeface="Cambria"/>
                <a:cs typeface="Cambria"/>
              </a:rPr>
              <a:t>new</a:t>
            </a:r>
            <a:r>
              <a:rPr sz="1400" b="1" spc="4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Font("SansSerif",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b="1" spc="155" dirty="0">
                <a:latin typeface="Cambria"/>
                <a:cs typeface="Cambria"/>
              </a:rPr>
              <a:t>Font.</a:t>
            </a:r>
            <a:r>
              <a:rPr sz="1400" b="1" i="1" spc="155" dirty="0">
                <a:latin typeface="Cambria"/>
                <a:cs typeface="Cambria"/>
              </a:rPr>
              <a:t>BOLD</a:t>
            </a:r>
            <a:r>
              <a:rPr sz="1400" b="1" i="1" spc="80" dirty="0">
                <a:latin typeface="Cambria"/>
                <a:cs typeface="Cambria"/>
              </a:rPr>
              <a:t> </a:t>
            </a:r>
            <a:r>
              <a:rPr sz="1400" b="1" i="1" spc="45" dirty="0">
                <a:latin typeface="Cambria"/>
                <a:cs typeface="Cambria"/>
              </a:rPr>
              <a:t>+</a:t>
            </a:r>
            <a:r>
              <a:rPr sz="1400" b="1" i="1" spc="90" dirty="0">
                <a:latin typeface="Cambria"/>
                <a:cs typeface="Cambria"/>
              </a:rPr>
              <a:t> </a:t>
            </a:r>
            <a:r>
              <a:rPr sz="1400" b="1" i="1" spc="150" dirty="0">
                <a:latin typeface="Cambria"/>
                <a:cs typeface="Cambria"/>
              </a:rPr>
              <a:t>Font.ITALIC,</a:t>
            </a:r>
            <a:r>
              <a:rPr sz="1400" b="1" i="1" spc="60" dirty="0">
                <a:latin typeface="Cambria"/>
                <a:cs typeface="Cambria"/>
              </a:rPr>
              <a:t> </a:t>
            </a:r>
            <a:r>
              <a:rPr sz="1400" b="1" i="1" spc="10" dirty="0">
                <a:latin typeface="Cambria"/>
                <a:cs typeface="Cambria"/>
              </a:rPr>
              <a:t>14));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Cambria"/>
              <a:cs typeface="Cambria"/>
            </a:endParaRPr>
          </a:p>
          <a:p>
            <a:pPr marL="812800" marR="2580640">
              <a:lnSpc>
                <a:spcPct val="100000"/>
              </a:lnSpc>
              <a:tabLst>
                <a:tab pos="1678305" algn="l"/>
                <a:tab pos="2703830" algn="l"/>
              </a:tabLst>
            </a:pPr>
            <a:r>
              <a:rPr sz="1400" spc="70" dirty="0">
                <a:latin typeface="Cambria"/>
                <a:cs typeface="Cambria"/>
              </a:rPr>
              <a:t>p.a</a:t>
            </a:r>
            <a:r>
              <a:rPr sz="1400" spc="20" dirty="0">
                <a:latin typeface="Cambria"/>
                <a:cs typeface="Cambria"/>
              </a:rPr>
              <a:t>dd</a:t>
            </a:r>
            <a:r>
              <a:rPr sz="1400" spc="-25" dirty="0">
                <a:latin typeface="Cambria"/>
                <a:cs typeface="Cambria"/>
              </a:rPr>
              <a:t>(</a:t>
            </a:r>
            <a:r>
              <a:rPr sz="1400" spc="-40" dirty="0">
                <a:latin typeface="Cambria"/>
                <a:cs typeface="Cambria"/>
              </a:rPr>
              <a:t>b</a:t>
            </a:r>
            <a:r>
              <a:rPr sz="1400" spc="-25" dirty="0">
                <a:latin typeface="Cambria"/>
                <a:cs typeface="Cambria"/>
              </a:rPr>
              <a:t>);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ad</a:t>
            </a:r>
            <a:r>
              <a:rPr sz="1400" spc="50" dirty="0">
                <a:latin typeface="Cambria"/>
                <a:cs typeface="Cambria"/>
              </a:rPr>
              <a:t>d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40" dirty="0">
                <a:latin typeface="Cambria"/>
                <a:cs typeface="Cambria"/>
              </a:rPr>
              <a:t>b</a:t>
            </a:r>
            <a:r>
              <a:rPr sz="1400" spc="35" dirty="0">
                <a:latin typeface="Cambria"/>
                <a:cs typeface="Cambria"/>
              </a:rPr>
              <a:t>u</a:t>
            </a:r>
            <a:r>
              <a:rPr sz="1400" spc="70" dirty="0">
                <a:latin typeface="Cambria"/>
                <a:cs typeface="Cambria"/>
              </a:rPr>
              <a:t>tt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75" dirty="0">
                <a:latin typeface="Cambria"/>
                <a:cs typeface="Cambria"/>
              </a:rPr>
              <a:t>n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pan</a:t>
            </a:r>
            <a:r>
              <a:rPr sz="1400" spc="15" dirty="0">
                <a:latin typeface="Cambria"/>
                <a:cs typeface="Cambria"/>
              </a:rPr>
              <a:t>e</a:t>
            </a:r>
            <a:r>
              <a:rPr sz="1400" spc="50" dirty="0">
                <a:latin typeface="Cambria"/>
                <a:cs typeface="Cambria"/>
              </a:rPr>
              <a:t>l  </a:t>
            </a:r>
            <a:r>
              <a:rPr sz="1400" spc="70" dirty="0">
                <a:latin typeface="Cambria"/>
                <a:cs typeface="Cambria"/>
              </a:rPr>
              <a:t>f.</a:t>
            </a:r>
            <a:r>
              <a:rPr sz="1400" spc="50" dirty="0">
                <a:latin typeface="Cambria"/>
                <a:cs typeface="Cambria"/>
              </a:rPr>
              <a:t>se</a:t>
            </a:r>
            <a:r>
              <a:rPr sz="1400" spc="40" dirty="0">
                <a:latin typeface="Cambria"/>
                <a:cs typeface="Cambria"/>
              </a:rPr>
              <a:t>t</a:t>
            </a:r>
            <a:r>
              <a:rPr sz="1400" spc="215" dirty="0">
                <a:latin typeface="Cambria"/>
                <a:cs typeface="Cambria"/>
              </a:rPr>
              <a:t>C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65" dirty="0">
                <a:latin typeface="Cambria"/>
                <a:cs typeface="Cambria"/>
              </a:rPr>
              <a:t>n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15" dirty="0">
                <a:latin typeface="Cambria"/>
                <a:cs typeface="Cambria"/>
              </a:rPr>
              <a:t>e</a:t>
            </a:r>
            <a:r>
              <a:rPr sz="1400" spc="65" dirty="0">
                <a:latin typeface="Cambria"/>
                <a:cs typeface="Cambria"/>
              </a:rPr>
              <a:t>n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125" dirty="0">
                <a:latin typeface="Cambria"/>
                <a:cs typeface="Cambria"/>
              </a:rPr>
              <a:t>P</a:t>
            </a:r>
            <a:r>
              <a:rPr sz="1400" spc="95" dirty="0">
                <a:latin typeface="Cambria"/>
                <a:cs typeface="Cambria"/>
              </a:rPr>
              <a:t>a</a:t>
            </a:r>
            <a:r>
              <a:rPr sz="1400" spc="65" dirty="0">
                <a:latin typeface="Cambria"/>
                <a:cs typeface="Cambria"/>
              </a:rPr>
              <a:t>n</a:t>
            </a:r>
            <a:r>
              <a:rPr sz="1400" spc="15" dirty="0">
                <a:latin typeface="Cambria"/>
                <a:cs typeface="Cambria"/>
              </a:rPr>
              <a:t>e</a:t>
            </a:r>
            <a:r>
              <a:rPr sz="1400" spc="-40" dirty="0">
                <a:latin typeface="Cambria"/>
                <a:cs typeface="Cambria"/>
              </a:rPr>
              <a:t>(p</a:t>
            </a:r>
            <a:r>
              <a:rPr sz="1400" spc="-50" dirty="0">
                <a:latin typeface="Cambria"/>
                <a:cs typeface="Cambria"/>
              </a:rPr>
              <a:t>)</a:t>
            </a:r>
            <a:r>
              <a:rPr sz="1400" spc="20" dirty="0">
                <a:latin typeface="Cambria"/>
                <a:cs typeface="Cambria"/>
              </a:rPr>
              <a:t>;</a:t>
            </a:r>
            <a:r>
              <a:rPr sz="1400" dirty="0">
                <a:latin typeface="Cambria"/>
                <a:cs typeface="Cambria"/>
              </a:rPr>
              <a:t>	</a:t>
            </a:r>
            <a:r>
              <a:rPr sz="1400" spc="-300" dirty="0">
                <a:latin typeface="Cambria"/>
                <a:cs typeface="Cambria"/>
              </a:rPr>
              <a:t>//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ad</a:t>
            </a:r>
            <a:r>
              <a:rPr sz="1400" spc="50" dirty="0">
                <a:latin typeface="Cambria"/>
                <a:cs typeface="Cambria"/>
              </a:rPr>
              <a:t>d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pan</a:t>
            </a:r>
            <a:r>
              <a:rPr sz="1400" spc="15" dirty="0">
                <a:latin typeface="Cambria"/>
                <a:cs typeface="Cambria"/>
              </a:rPr>
              <a:t>e</a:t>
            </a:r>
            <a:r>
              <a:rPr sz="1400" spc="60" dirty="0">
                <a:latin typeface="Cambria"/>
                <a:cs typeface="Cambria"/>
              </a:rPr>
              <a:t>l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t</a:t>
            </a:r>
            <a:r>
              <a:rPr sz="1400" spc="-45" dirty="0">
                <a:latin typeface="Cambria"/>
                <a:cs typeface="Cambria"/>
              </a:rPr>
              <a:t>o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frame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Cambria"/>
              <a:cs typeface="Cambria"/>
            </a:endParaRPr>
          </a:p>
          <a:p>
            <a:pPr marL="812800">
              <a:lnSpc>
                <a:spcPts val="1675"/>
              </a:lnSpc>
            </a:pPr>
            <a:r>
              <a:rPr sz="1400" spc="45" dirty="0">
                <a:latin typeface="Cambria"/>
                <a:cs typeface="Cambria"/>
              </a:rPr>
              <a:t>f.setVisible(</a:t>
            </a:r>
            <a:r>
              <a:rPr sz="1400" b="1" spc="45" dirty="0">
                <a:latin typeface="Cambria"/>
                <a:cs typeface="Cambria"/>
              </a:rPr>
              <a:t>true);</a:t>
            </a:r>
            <a:endParaRPr sz="1400" dirty="0">
              <a:latin typeface="Cambria"/>
              <a:cs typeface="Cambria"/>
            </a:endParaRPr>
          </a:p>
          <a:p>
            <a:pPr marL="413384">
              <a:lnSpc>
                <a:spcPts val="1914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900" spc="-105" dirty="0">
                <a:latin typeface="Cambria"/>
                <a:cs typeface="Cambria"/>
              </a:rPr>
              <a:t>}</a:t>
            </a:r>
            <a:endParaRPr sz="19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5181600"/>
            <a:ext cx="1905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263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694" algn="l"/>
              </a:tabLst>
            </a:pPr>
            <a:r>
              <a:rPr sz="3000" spc="415" dirty="0"/>
              <a:t>GUI	</a:t>
            </a:r>
            <a:r>
              <a:rPr sz="3000" spc="310" dirty="0"/>
              <a:t>E</a:t>
            </a:r>
            <a:r>
              <a:rPr spc="310" dirty="0"/>
              <a:t>XAMPLE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7308215" cy="4461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25" dirty="0">
                <a:latin typeface="Cambria"/>
                <a:cs typeface="Cambria"/>
              </a:rPr>
              <a:t>import</a:t>
            </a:r>
            <a:r>
              <a:rPr sz="2200" b="1" spc="114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javax.swing.*;</a:t>
            </a:r>
            <a:endParaRPr sz="2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200" b="1" spc="145" dirty="0">
                <a:latin typeface="Cambria"/>
                <a:cs typeface="Cambria"/>
              </a:rPr>
              <a:t>public</a:t>
            </a:r>
            <a:r>
              <a:rPr sz="2200" b="1" spc="140" dirty="0">
                <a:latin typeface="Cambria"/>
                <a:cs typeface="Cambria"/>
              </a:rPr>
              <a:t> </a:t>
            </a:r>
            <a:r>
              <a:rPr sz="2200" b="1" spc="120" dirty="0">
                <a:latin typeface="Cambria"/>
                <a:cs typeface="Cambria"/>
              </a:rPr>
              <a:t>class</a:t>
            </a:r>
            <a:r>
              <a:rPr sz="2200" b="1" spc="150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Hello</a:t>
            </a:r>
            <a:r>
              <a:rPr sz="2200" b="1" spc="150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{</a:t>
            </a:r>
            <a:endParaRPr sz="2200" dirty="0">
              <a:latin typeface="Cambria"/>
              <a:cs typeface="Cambria"/>
            </a:endParaRPr>
          </a:p>
          <a:p>
            <a:pPr marL="413384">
              <a:lnSpc>
                <a:spcPct val="100000"/>
              </a:lnSpc>
            </a:pPr>
            <a:r>
              <a:rPr sz="1900" b="1" spc="120" dirty="0">
                <a:latin typeface="Cambria"/>
                <a:cs typeface="Cambria"/>
              </a:rPr>
              <a:t>public</a:t>
            </a:r>
            <a:r>
              <a:rPr sz="1900" b="1" spc="145" dirty="0">
                <a:latin typeface="Cambria"/>
                <a:cs typeface="Cambria"/>
              </a:rPr>
              <a:t> </a:t>
            </a:r>
            <a:r>
              <a:rPr sz="1900" b="1" spc="114" dirty="0">
                <a:latin typeface="Cambria"/>
                <a:cs typeface="Cambria"/>
              </a:rPr>
              <a:t>static</a:t>
            </a:r>
            <a:r>
              <a:rPr sz="1900" b="1" spc="155" dirty="0">
                <a:latin typeface="Cambria"/>
                <a:cs typeface="Cambria"/>
              </a:rPr>
              <a:t> </a:t>
            </a:r>
            <a:r>
              <a:rPr sz="1900" b="1" spc="114" dirty="0">
                <a:latin typeface="Cambria"/>
                <a:cs typeface="Cambria"/>
              </a:rPr>
              <a:t>void </a:t>
            </a:r>
            <a:r>
              <a:rPr sz="1900" b="1" spc="110" dirty="0">
                <a:latin typeface="Cambria"/>
                <a:cs typeface="Cambria"/>
              </a:rPr>
              <a:t>main(String[]</a:t>
            </a:r>
            <a:r>
              <a:rPr sz="1900" b="1" spc="170" dirty="0">
                <a:latin typeface="Cambria"/>
                <a:cs typeface="Cambria"/>
              </a:rPr>
              <a:t> </a:t>
            </a:r>
            <a:r>
              <a:rPr sz="1900" b="1" spc="90" dirty="0">
                <a:latin typeface="Cambria"/>
                <a:cs typeface="Cambria"/>
              </a:rPr>
              <a:t>args)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-10" dirty="0">
                <a:latin typeface="Cambria"/>
                <a:cs typeface="Cambria"/>
              </a:rPr>
              <a:t>{</a:t>
            </a:r>
            <a:endParaRPr sz="1900" dirty="0">
              <a:latin typeface="Cambria"/>
              <a:cs typeface="Cambria"/>
            </a:endParaRPr>
          </a:p>
          <a:p>
            <a:pPr marL="812800" marR="5080">
              <a:lnSpc>
                <a:spcPct val="90000"/>
              </a:lnSpc>
              <a:spcBef>
                <a:spcPts val="210"/>
              </a:spcBef>
            </a:pPr>
            <a:r>
              <a:rPr sz="1700" spc="150" dirty="0">
                <a:latin typeface="Cambria"/>
                <a:cs typeface="Cambria"/>
              </a:rPr>
              <a:t>JFrame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f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b="1" spc="120" dirty="0">
                <a:latin typeface="Cambria"/>
                <a:cs typeface="Cambria"/>
              </a:rPr>
              <a:t>new</a:t>
            </a:r>
            <a:r>
              <a:rPr sz="1700" b="1" spc="100" dirty="0">
                <a:latin typeface="Cambria"/>
                <a:cs typeface="Cambria"/>
              </a:rPr>
              <a:t> </a:t>
            </a:r>
            <a:r>
              <a:rPr sz="1700" b="1" spc="140" dirty="0">
                <a:latin typeface="Cambria"/>
                <a:cs typeface="Cambria"/>
              </a:rPr>
              <a:t>JFrame("My</a:t>
            </a:r>
            <a:r>
              <a:rPr sz="1700" b="1" spc="75" dirty="0">
                <a:latin typeface="Cambria"/>
                <a:cs typeface="Cambria"/>
              </a:rPr>
              <a:t> </a:t>
            </a:r>
            <a:r>
              <a:rPr sz="1700" b="1" spc="65" dirty="0">
                <a:latin typeface="Cambria"/>
                <a:cs typeface="Cambria"/>
              </a:rPr>
              <a:t>Frame");</a:t>
            </a:r>
            <a:r>
              <a:rPr sz="1700" b="1" spc="80" dirty="0">
                <a:latin typeface="Cambria"/>
                <a:cs typeface="Cambria"/>
              </a:rPr>
              <a:t> </a:t>
            </a:r>
            <a:r>
              <a:rPr sz="1700" spc="-365" dirty="0">
                <a:latin typeface="Cambria"/>
                <a:cs typeface="Cambria"/>
              </a:rPr>
              <a:t>//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Creating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top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level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container 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130" dirty="0">
                <a:latin typeface="Cambria"/>
                <a:cs typeface="Cambria"/>
              </a:rPr>
              <a:t>f.setDefaultCloseOperation(JFrame.</a:t>
            </a:r>
            <a:r>
              <a:rPr sz="1700" b="1" i="1" spc="130" dirty="0">
                <a:latin typeface="Cambria"/>
                <a:cs typeface="Cambria"/>
              </a:rPr>
              <a:t>EXIT_ON_CLOSE);</a:t>
            </a:r>
            <a:endParaRPr sz="17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</a:pPr>
            <a:r>
              <a:rPr sz="1700" spc="50" dirty="0">
                <a:latin typeface="Cambria"/>
                <a:cs typeface="Cambria"/>
              </a:rPr>
              <a:t>f.setSize(200,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-15" dirty="0">
                <a:latin typeface="Cambria"/>
                <a:cs typeface="Cambria"/>
              </a:rPr>
              <a:t>100);</a:t>
            </a:r>
            <a:endParaRPr sz="17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</a:pPr>
            <a:r>
              <a:rPr sz="1700" spc="80" dirty="0">
                <a:latin typeface="Cambria"/>
                <a:cs typeface="Cambria"/>
              </a:rPr>
              <a:t>Container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p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f.getContentPane();</a:t>
            </a:r>
            <a:endParaRPr sz="1700" dirty="0">
              <a:latin typeface="Cambria"/>
              <a:cs typeface="Cambria"/>
            </a:endParaRPr>
          </a:p>
          <a:p>
            <a:pPr marL="812800" marR="349250">
              <a:lnSpc>
                <a:spcPts val="1639"/>
              </a:lnSpc>
              <a:spcBef>
                <a:spcPts val="390"/>
              </a:spcBef>
            </a:pPr>
            <a:r>
              <a:rPr sz="1700" spc="130" dirty="0">
                <a:latin typeface="Cambria"/>
                <a:cs typeface="Cambria"/>
              </a:rPr>
              <a:t>JButton </a:t>
            </a:r>
            <a:r>
              <a:rPr sz="1700" spc="15" dirty="0">
                <a:latin typeface="Cambria"/>
                <a:cs typeface="Cambria"/>
              </a:rPr>
              <a:t>b </a:t>
            </a:r>
            <a:r>
              <a:rPr sz="1700" spc="90" dirty="0">
                <a:latin typeface="Cambria"/>
                <a:cs typeface="Cambria"/>
              </a:rPr>
              <a:t>= </a:t>
            </a:r>
            <a:r>
              <a:rPr sz="1700" b="1" spc="120" dirty="0">
                <a:latin typeface="Cambria"/>
                <a:cs typeface="Cambria"/>
              </a:rPr>
              <a:t>new </a:t>
            </a:r>
            <a:r>
              <a:rPr sz="1700" b="1" spc="130" dirty="0">
                <a:latin typeface="Cambria"/>
                <a:cs typeface="Cambria"/>
              </a:rPr>
              <a:t>JButton("Click </a:t>
            </a:r>
            <a:r>
              <a:rPr sz="1700" b="1" spc="25" dirty="0">
                <a:latin typeface="Cambria"/>
                <a:cs typeface="Cambria"/>
              </a:rPr>
              <a:t>here"); </a:t>
            </a:r>
            <a:r>
              <a:rPr sz="1700" b="1" spc="-25" dirty="0">
                <a:latin typeface="Cambria"/>
                <a:cs typeface="Cambria"/>
              </a:rPr>
              <a:t>/</a:t>
            </a:r>
            <a:r>
              <a:rPr sz="1700" spc="-25" dirty="0">
                <a:latin typeface="Cambria"/>
                <a:cs typeface="Cambria"/>
              </a:rPr>
              <a:t>/Create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 </a:t>
            </a:r>
            <a:r>
              <a:rPr sz="1700" spc="130" dirty="0">
                <a:latin typeface="Cambria"/>
                <a:cs typeface="Cambria"/>
              </a:rPr>
              <a:t>JButton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object</a:t>
            </a:r>
            <a:endParaRPr sz="17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  <a:tabLst>
                <a:tab pos="1870075" algn="l"/>
              </a:tabLst>
            </a:pPr>
            <a:r>
              <a:rPr sz="1700" spc="30" dirty="0">
                <a:latin typeface="Cambria"/>
                <a:cs typeface="Cambria"/>
              </a:rPr>
              <a:t>p</a:t>
            </a:r>
            <a:r>
              <a:rPr sz="1700" spc="114" dirty="0">
                <a:latin typeface="Cambria"/>
                <a:cs typeface="Cambria"/>
              </a:rPr>
              <a:t>.</a:t>
            </a:r>
            <a:r>
              <a:rPr sz="1700" spc="110" dirty="0">
                <a:latin typeface="Cambria"/>
                <a:cs typeface="Cambria"/>
              </a:rPr>
              <a:t>a</a:t>
            </a:r>
            <a:r>
              <a:rPr sz="1700" spc="35" dirty="0">
                <a:latin typeface="Cambria"/>
                <a:cs typeface="Cambria"/>
              </a:rPr>
              <a:t>d</a:t>
            </a:r>
            <a:r>
              <a:rPr sz="1700" spc="40" dirty="0">
                <a:latin typeface="Cambria"/>
                <a:cs typeface="Cambria"/>
              </a:rPr>
              <a:t>d</a:t>
            </a:r>
            <a:r>
              <a:rPr sz="1700" spc="-55" dirty="0">
                <a:latin typeface="Cambria"/>
                <a:cs typeface="Cambria"/>
              </a:rPr>
              <a:t>(b)</a:t>
            </a:r>
            <a:r>
              <a:rPr sz="1700" spc="25" dirty="0">
                <a:latin typeface="Cambria"/>
                <a:cs typeface="Cambria"/>
              </a:rPr>
              <a:t>;</a:t>
            </a:r>
            <a:r>
              <a:rPr sz="1700" dirty="0">
                <a:latin typeface="Cambria"/>
                <a:cs typeface="Cambria"/>
              </a:rPr>
              <a:t>	</a:t>
            </a: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a</a:t>
            </a:r>
            <a:r>
              <a:rPr sz="1700" spc="80" dirty="0">
                <a:latin typeface="Cambria"/>
                <a:cs typeface="Cambria"/>
              </a:rPr>
              <a:t>d</a:t>
            </a:r>
            <a:r>
              <a:rPr sz="1700" spc="35" dirty="0">
                <a:latin typeface="Cambria"/>
                <a:cs typeface="Cambria"/>
              </a:rPr>
              <a:t>d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butto</a:t>
            </a:r>
            <a:r>
              <a:rPr sz="1700" spc="65" dirty="0">
                <a:latin typeface="Cambria"/>
                <a:cs typeface="Cambria"/>
              </a:rPr>
              <a:t>n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t</a:t>
            </a:r>
            <a:r>
              <a:rPr sz="1700" spc="20" dirty="0">
                <a:latin typeface="Cambria"/>
                <a:cs typeface="Cambria"/>
              </a:rPr>
              <a:t>o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p</a:t>
            </a:r>
            <a:r>
              <a:rPr sz="1700" spc="70" dirty="0">
                <a:latin typeface="Cambria"/>
                <a:cs typeface="Cambria"/>
              </a:rPr>
              <a:t>anel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 dirty="0">
              <a:latin typeface="Cambria"/>
              <a:cs typeface="Cambria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</a:pPr>
            <a:r>
              <a:rPr sz="1700" spc="60" dirty="0">
                <a:latin typeface="Cambria"/>
                <a:cs typeface="Cambria"/>
              </a:rPr>
              <a:t>f.setVisible(</a:t>
            </a:r>
            <a:r>
              <a:rPr sz="1700" b="1" spc="60" dirty="0">
                <a:latin typeface="Cambria"/>
                <a:cs typeface="Cambria"/>
              </a:rPr>
              <a:t>true);</a:t>
            </a:r>
            <a:endParaRPr sz="1700" dirty="0">
              <a:latin typeface="Cambria"/>
              <a:cs typeface="Cambria"/>
            </a:endParaRPr>
          </a:p>
          <a:p>
            <a:pPr marL="413384">
              <a:lnSpc>
                <a:spcPct val="100000"/>
              </a:lnSpc>
              <a:spcBef>
                <a:spcPts val="5"/>
              </a:spcBef>
            </a:pPr>
            <a:r>
              <a:rPr sz="1900" spc="-105" dirty="0">
                <a:latin typeface="Cambria"/>
                <a:cs typeface="Cambria"/>
              </a:rPr>
              <a:t>}</a:t>
            </a:r>
            <a:endParaRPr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200" spc="-125" dirty="0">
                <a:latin typeface="Cambria"/>
                <a:cs typeface="Cambria"/>
              </a:rPr>
              <a:t>}</a:t>
            </a:r>
            <a:endParaRPr sz="22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0700" y="4762500"/>
            <a:ext cx="20193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912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S</a:t>
            </a:r>
            <a:r>
              <a:rPr spc="290" dirty="0"/>
              <a:t>TEPS</a:t>
            </a:r>
            <a:r>
              <a:rPr spc="315" dirty="0"/>
              <a:t> </a:t>
            </a:r>
            <a:r>
              <a:rPr spc="235" dirty="0"/>
              <a:t>TO</a:t>
            </a:r>
            <a:r>
              <a:rPr spc="285" dirty="0"/>
              <a:t> </a:t>
            </a:r>
            <a:r>
              <a:rPr spc="280" dirty="0"/>
              <a:t>CREATE</a:t>
            </a:r>
            <a:r>
              <a:rPr spc="335" dirty="0"/>
              <a:t> </a:t>
            </a:r>
            <a:r>
              <a:rPr sz="3000" spc="415" dirty="0"/>
              <a:t>GUI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00"/>
            <a:ext cx="3649345" cy="321564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0" dirty="0">
                <a:latin typeface="Cambria"/>
                <a:cs typeface="Cambria"/>
              </a:rPr>
              <a:t>Create:</a:t>
            </a:r>
            <a:endParaRPr sz="24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4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05" dirty="0">
                <a:latin typeface="Cambria"/>
                <a:cs typeface="Cambria"/>
              </a:rPr>
              <a:t>Frame</a:t>
            </a:r>
            <a:endParaRPr sz="18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95" dirty="0">
                <a:latin typeface="Cambria"/>
                <a:cs typeface="Cambria"/>
              </a:rPr>
              <a:t>Panel</a:t>
            </a:r>
            <a:endParaRPr sz="18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0" dirty="0">
                <a:latin typeface="Cambria"/>
                <a:cs typeface="Cambria"/>
              </a:rPr>
              <a:t>Components</a:t>
            </a:r>
            <a:endParaRPr sz="18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5" dirty="0">
                <a:latin typeface="Cambria"/>
                <a:cs typeface="Cambria"/>
              </a:rPr>
              <a:t>Listeners</a:t>
            </a:r>
            <a:endParaRPr sz="18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  <a:tab pos="1108710" algn="l"/>
              </a:tabLst>
            </a:pPr>
            <a:r>
              <a:rPr sz="2400" spc="85" dirty="0">
                <a:latin typeface="Cambria"/>
                <a:cs typeface="Cambria"/>
              </a:rPr>
              <a:t>Add:	</a:t>
            </a:r>
            <a:r>
              <a:rPr sz="2400" spc="15" dirty="0">
                <a:latin typeface="Cambria"/>
                <a:cs typeface="Cambria"/>
              </a:rPr>
              <a:t>(bottom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up)</a:t>
            </a:r>
            <a:endParaRPr sz="24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4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5" dirty="0">
                <a:latin typeface="Cambria"/>
                <a:cs typeface="Cambria"/>
              </a:rPr>
              <a:t>listeners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into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components</a:t>
            </a:r>
            <a:endParaRPr sz="18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35" dirty="0">
                <a:latin typeface="Cambria"/>
                <a:cs typeface="Cambria"/>
              </a:rPr>
              <a:t>components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into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panel</a:t>
            </a:r>
            <a:endParaRPr sz="180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5" dirty="0">
                <a:latin typeface="Cambria"/>
                <a:cs typeface="Cambria"/>
              </a:rPr>
              <a:t>panel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into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frame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438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05" dirty="0"/>
              <a:t>J</a:t>
            </a:r>
            <a:r>
              <a:rPr sz="3000" spc="725" dirty="0"/>
              <a:t>F</a:t>
            </a:r>
            <a:r>
              <a:rPr spc="229" dirty="0"/>
              <a:t>RA</a:t>
            </a:r>
            <a:r>
              <a:rPr spc="330" dirty="0"/>
              <a:t>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197090" cy="4655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114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400" i="1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i="1" spc="110" dirty="0">
                <a:solidFill>
                  <a:srgbClr val="252525"/>
                </a:solidFill>
                <a:latin typeface="Cambria"/>
                <a:cs typeface="Cambria"/>
              </a:rPr>
              <a:t>graphical</a:t>
            </a:r>
            <a:r>
              <a:rPr sz="2400" i="1" spc="9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i="1" spc="125" dirty="0">
                <a:solidFill>
                  <a:srgbClr val="252525"/>
                </a:solidFill>
                <a:latin typeface="Cambria"/>
                <a:cs typeface="Cambria"/>
              </a:rPr>
              <a:t>window</a:t>
            </a:r>
            <a:r>
              <a:rPr sz="2400" i="1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i="1" spc="-5" dirty="0">
                <a:solidFill>
                  <a:srgbClr val="252525"/>
                </a:solidFill>
                <a:latin typeface="Cambria"/>
                <a:cs typeface="Cambria"/>
              </a:rPr>
              <a:t>to</a:t>
            </a:r>
            <a:r>
              <a:rPr sz="2400" i="1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i="1" spc="135" dirty="0">
                <a:solidFill>
                  <a:srgbClr val="252525"/>
                </a:solidFill>
                <a:latin typeface="Cambria"/>
                <a:cs typeface="Cambria"/>
              </a:rPr>
              <a:t>hold</a:t>
            </a:r>
            <a:r>
              <a:rPr sz="2400" i="1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i="1" spc="45" dirty="0">
                <a:solidFill>
                  <a:srgbClr val="252525"/>
                </a:solidFill>
                <a:latin typeface="Cambria"/>
                <a:cs typeface="Cambria"/>
              </a:rPr>
              <a:t>other</a:t>
            </a:r>
            <a:r>
              <a:rPr sz="2400" i="1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i="1" spc="80" dirty="0">
                <a:solidFill>
                  <a:srgbClr val="252525"/>
                </a:solidFill>
                <a:latin typeface="Cambria"/>
                <a:cs typeface="Cambria"/>
              </a:rPr>
              <a:t>components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Cambria"/>
              <a:cs typeface="Cambria"/>
            </a:endParaRPr>
          </a:p>
          <a:p>
            <a:pPr marL="287020" indent="-274320">
              <a:lnSpc>
                <a:spcPts val="285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solidFill>
                  <a:srgbClr val="252525"/>
                </a:solidFill>
                <a:latin typeface="Courier New"/>
                <a:cs typeface="Courier New"/>
              </a:rPr>
              <a:t>public</a:t>
            </a:r>
            <a:r>
              <a:rPr sz="2400" spc="-5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urier New"/>
                <a:cs typeface="Courier New"/>
              </a:rPr>
              <a:t>JFrame()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ts val="2850"/>
              </a:lnSpc>
            </a:pPr>
            <a:r>
              <a:rPr sz="2400" spc="-5" dirty="0">
                <a:solidFill>
                  <a:srgbClr val="252525"/>
                </a:solidFill>
                <a:latin typeface="Courier New"/>
                <a:cs typeface="Courier New"/>
              </a:rPr>
              <a:t>public</a:t>
            </a:r>
            <a:r>
              <a:rPr sz="2400" spc="-25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urier New"/>
                <a:cs typeface="Courier New"/>
              </a:rPr>
              <a:t>JFrame(String</a:t>
            </a:r>
            <a:r>
              <a:rPr sz="2400" spc="-5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urier New"/>
                <a:cs typeface="Courier New"/>
              </a:rPr>
              <a:t>title)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254"/>
              </a:spcBef>
            </a:pPr>
            <a:r>
              <a:rPr sz="2400" spc="120" dirty="0">
                <a:solidFill>
                  <a:srgbClr val="252525"/>
                </a:solidFill>
                <a:latin typeface="Cambria"/>
                <a:cs typeface="Cambria"/>
              </a:rPr>
              <a:t>Creates</a:t>
            </a:r>
            <a:r>
              <a:rPr sz="24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4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252525"/>
                </a:solidFill>
                <a:latin typeface="Cambria"/>
                <a:cs typeface="Cambria"/>
              </a:rPr>
              <a:t>frame</a:t>
            </a:r>
            <a:r>
              <a:rPr sz="24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252525"/>
                </a:solidFill>
                <a:latin typeface="Cambria"/>
                <a:cs typeface="Cambria"/>
              </a:rPr>
              <a:t>with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an</a:t>
            </a:r>
            <a:r>
              <a:rPr sz="24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252525"/>
                </a:solidFill>
                <a:latin typeface="Cambria"/>
                <a:cs typeface="Cambria"/>
              </a:rPr>
              <a:t>optional</a:t>
            </a:r>
            <a:r>
              <a:rPr sz="24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title.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Cambria"/>
              <a:cs typeface="Cambria"/>
            </a:endParaRPr>
          </a:p>
          <a:p>
            <a:pPr marL="652780" marR="5080" lvl="1" indent="-274955">
              <a:lnSpc>
                <a:spcPct val="106300"/>
              </a:lnSpc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50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100" spc="2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ll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-5" dirty="0">
                <a:solidFill>
                  <a:srgbClr val="404040"/>
                </a:solidFill>
                <a:latin typeface="Courier New"/>
                <a:cs typeface="Courier New"/>
              </a:rPr>
              <a:t>setVisibl</a:t>
            </a:r>
            <a:r>
              <a:rPr sz="2100" dirty="0">
                <a:solidFill>
                  <a:srgbClr val="404040"/>
                </a:solidFill>
                <a:latin typeface="Courier New"/>
                <a:cs typeface="Courier New"/>
              </a:rPr>
              <a:t>e</a:t>
            </a:r>
            <a:r>
              <a:rPr sz="2100" spc="-5" dirty="0">
                <a:solidFill>
                  <a:srgbClr val="404040"/>
                </a:solidFill>
                <a:latin typeface="Courier New"/>
                <a:cs typeface="Courier New"/>
              </a:rPr>
              <a:t>(true</a:t>
            </a:r>
            <a:r>
              <a:rPr sz="2100" dirty="0">
                <a:solidFill>
                  <a:srgbClr val="404040"/>
                </a:solidFill>
                <a:latin typeface="Courier New"/>
                <a:cs typeface="Courier New"/>
              </a:rPr>
              <a:t>)</a:t>
            </a:r>
            <a:r>
              <a:rPr sz="2100" spc="-6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2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mak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0" dirty="0">
                <a:solidFill>
                  <a:srgbClr val="404040"/>
                </a:solidFill>
                <a:latin typeface="Cambria"/>
                <a:cs typeface="Cambria"/>
              </a:rPr>
              <a:t>frame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65" dirty="0">
                <a:solidFill>
                  <a:srgbClr val="404040"/>
                </a:solidFill>
                <a:latin typeface="Cambria"/>
                <a:cs typeface="Cambria"/>
              </a:rPr>
              <a:t>pea</a:t>
            </a: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-6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100" spc="65" dirty="0">
                <a:solidFill>
                  <a:srgbClr val="404040"/>
                </a:solidFill>
                <a:latin typeface="Cambria"/>
                <a:cs typeface="Cambria"/>
              </a:rPr>
              <a:t>n  </a:t>
            </a:r>
            <a:r>
              <a:rPr sz="2100" spc="8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50" dirty="0">
                <a:solidFill>
                  <a:srgbClr val="404040"/>
                </a:solidFill>
                <a:latin typeface="Cambria"/>
                <a:cs typeface="Cambria"/>
              </a:rPr>
              <a:t>screen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after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creating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it.</a:t>
            </a:r>
            <a:endParaRPr sz="21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FD8537"/>
              </a:buClr>
              <a:buFont typeface="Segoe UI Symbol"/>
              <a:buChar char="⚫"/>
            </a:pPr>
            <a:endParaRPr sz="2800">
              <a:latin typeface="Cambria"/>
              <a:cs typeface="Cambria"/>
            </a:endParaRPr>
          </a:p>
          <a:p>
            <a:pPr marL="286385" marR="288925" indent="-274320">
              <a:lnSpc>
                <a:spcPct val="103400"/>
              </a:lnSpc>
              <a:spcBef>
                <a:spcPts val="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-5" dirty="0">
                <a:solidFill>
                  <a:srgbClr val="252525"/>
                </a:solidFill>
                <a:latin typeface="Courier New"/>
                <a:cs typeface="Courier New"/>
              </a:rPr>
              <a:t>public</a:t>
            </a:r>
            <a:r>
              <a:rPr sz="2400" spc="20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urier New"/>
                <a:cs typeface="Courier New"/>
              </a:rPr>
              <a:t>void</a:t>
            </a:r>
            <a:r>
              <a:rPr sz="2400" spc="21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urier New"/>
                <a:cs typeface="Courier New"/>
              </a:rPr>
              <a:t>add(Component</a:t>
            </a:r>
            <a:r>
              <a:rPr sz="2400" spc="21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urier New"/>
                <a:cs typeface="Courier New"/>
              </a:rPr>
              <a:t>comp) </a:t>
            </a:r>
            <a:r>
              <a:rPr sz="240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Places</a:t>
            </a: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4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252525"/>
                </a:solidFill>
                <a:latin typeface="Cambria"/>
                <a:cs typeface="Cambria"/>
              </a:rPr>
              <a:t>given</a:t>
            </a:r>
            <a:r>
              <a:rPr sz="24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252525"/>
                </a:solidFill>
                <a:latin typeface="Cambria"/>
                <a:cs typeface="Cambria"/>
              </a:rPr>
              <a:t>component</a:t>
            </a:r>
            <a:r>
              <a:rPr sz="24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mbria"/>
                <a:cs typeface="Cambria"/>
              </a:rPr>
              <a:t>or</a:t>
            </a:r>
            <a:r>
              <a:rPr sz="24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252525"/>
                </a:solidFill>
                <a:latin typeface="Cambria"/>
                <a:cs typeface="Cambria"/>
              </a:rPr>
              <a:t>container</a:t>
            </a:r>
            <a:r>
              <a:rPr sz="24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252525"/>
                </a:solidFill>
                <a:latin typeface="Cambria"/>
                <a:cs typeface="Cambria"/>
              </a:rPr>
              <a:t>inside </a:t>
            </a:r>
            <a:r>
              <a:rPr sz="2400" spc="-51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4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252525"/>
                </a:solidFill>
                <a:latin typeface="Cambria"/>
                <a:cs typeface="Cambria"/>
              </a:rPr>
              <a:t>frame.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438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05" dirty="0"/>
              <a:t>J</a:t>
            </a:r>
            <a:r>
              <a:rPr sz="3000" spc="725" dirty="0"/>
              <a:t>F</a:t>
            </a:r>
            <a:r>
              <a:rPr spc="229" dirty="0"/>
              <a:t>RA</a:t>
            </a:r>
            <a:r>
              <a:rPr spc="330" dirty="0"/>
              <a:t>ME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75257"/>
            <a:ext cx="7055484" cy="478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535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public </a:t>
            </a:r>
            <a:r>
              <a:rPr sz="2200" dirty="0">
                <a:solidFill>
                  <a:srgbClr val="252525"/>
                </a:solidFill>
                <a:latin typeface="Courier New"/>
                <a:cs typeface="Courier New"/>
              </a:rPr>
              <a:t>void</a:t>
            </a:r>
            <a:r>
              <a:rPr sz="2200" spc="1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52525"/>
                </a:solidFill>
                <a:latin typeface="Courier New"/>
                <a:cs typeface="Courier New"/>
              </a:rPr>
              <a:t>setDefaultCloseOperation(int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ts val="2455"/>
              </a:lnSpc>
            </a:pP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op)</a:t>
            </a:r>
            <a:endParaRPr sz="2200">
              <a:latin typeface="Courier New"/>
              <a:cs typeface="Courier New"/>
            </a:endParaRPr>
          </a:p>
          <a:p>
            <a:pPr marL="286385" marR="279400">
              <a:lnSpc>
                <a:spcPts val="2380"/>
              </a:lnSpc>
              <a:spcBef>
                <a:spcPts val="220"/>
              </a:spcBef>
            </a:pPr>
            <a:r>
              <a:rPr sz="2200" spc="130" dirty="0">
                <a:solidFill>
                  <a:srgbClr val="252525"/>
                </a:solidFill>
                <a:latin typeface="Cambria"/>
                <a:cs typeface="Cambria"/>
              </a:rPr>
              <a:t>Makes</a:t>
            </a:r>
            <a:r>
              <a:rPr sz="22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2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frame</a:t>
            </a:r>
            <a:r>
              <a:rPr sz="22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40" dirty="0">
                <a:solidFill>
                  <a:srgbClr val="252525"/>
                </a:solidFill>
                <a:latin typeface="Cambria"/>
                <a:cs typeface="Cambria"/>
              </a:rPr>
              <a:t>perform</a:t>
            </a:r>
            <a:r>
              <a:rPr sz="22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2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70" dirty="0">
                <a:solidFill>
                  <a:srgbClr val="252525"/>
                </a:solidFill>
                <a:latin typeface="Cambria"/>
                <a:cs typeface="Cambria"/>
              </a:rPr>
              <a:t>given</a:t>
            </a:r>
            <a:r>
              <a:rPr sz="2200" spc="14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60" dirty="0">
                <a:solidFill>
                  <a:srgbClr val="252525"/>
                </a:solidFill>
                <a:latin typeface="Cambria"/>
                <a:cs typeface="Cambria"/>
              </a:rPr>
              <a:t>action</a:t>
            </a:r>
            <a:r>
              <a:rPr sz="22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252525"/>
                </a:solidFill>
                <a:latin typeface="Cambria"/>
                <a:cs typeface="Cambria"/>
              </a:rPr>
              <a:t>when</a:t>
            </a:r>
            <a:r>
              <a:rPr sz="22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252525"/>
                </a:solidFill>
                <a:latin typeface="Cambria"/>
                <a:cs typeface="Cambria"/>
              </a:rPr>
              <a:t>it </a:t>
            </a:r>
            <a:r>
              <a:rPr sz="2200" spc="-4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50" dirty="0">
                <a:solidFill>
                  <a:srgbClr val="252525"/>
                </a:solidFill>
                <a:latin typeface="Cambria"/>
                <a:cs typeface="Cambria"/>
              </a:rPr>
              <a:t>closes.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  <a:tab pos="3342640" algn="l"/>
              </a:tabLst>
            </a:pP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Common</a:t>
            </a:r>
            <a:r>
              <a:rPr sz="19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19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45" dirty="0">
                <a:solidFill>
                  <a:srgbClr val="404040"/>
                </a:solidFill>
                <a:latin typeface="Cambria"/>
                <a:cs typeface="Cambria"/>
              </a:rPr>
              <a:t>passed:	</a:t>
            </a:r>
            <a:r>
              <a:rPr sz="1900" spc="-5" dirty="0">
                <a:solidFill>
                  <a:srgbClr val="404040"/>
                </a:solidFill>
                <a:latin typeface="Courier New"/>
                <a:cs typeface="Courier New"/>
              </a:rPr>
              <a:t>JFrame.EXIT_ON_CLOSE</a:t>
            </a:r>
            <a:endParaRPr sz="1900">
              <a:latin typeface="Courier New"/>
              <a:cs typeface="Courier New"/>
            </a:endParaRPr>
          </a:p>
          <a:p>
            <a:pPr marL="652780" marR="5080" lvl="1" indent="-274955">
              <a:lnSpc>
                <a:spcPts val="2050"/>
              </a:lnSpc>
              <a:spcBef>
                <a:spcPts val="59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00" dirty="0">
                <a:solidFill>
                  <a:srgbClr val="404040"/>
                </a:solidFill>
                <a:latin typeface="Cambria"/>
                <a:cs typeface="Cambria"/>
              </a:rPr>
              <a:t>If </a:t>
            </a:r>
            <a:r>
              <a:rPr sz="1900" spc="45" dirty="0">
                <a:solidFill>
                  <a:srgbClr val="404040"/>
                </a:solidFill>
                <a:latin typeface="Cambria"/>
                <a:cs typeface="Cambria"/>
              </a:rPr>
              <a:t>not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set,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program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will</a:t>
            </a:r>
            <a:r>
              <a:rPr sz="19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404040"/>
                </a:solidFill>
                <a:latin typeface="Cambria"/>
                <a:cs typeface="Cambria"/>
              </a:rPr>
              <a:t>never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404040"/>
                </a:solidFill>
                <a:latin typeface="Cambria"/>
                <a:cs typeface="Cambria"/>
              </a:rPr>
              <a:t>exit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404040"/>
                </a:solidFill>
                <a:latin typeface="Cambria"/>
                <a:cs typeface="Cambria"/>
              </a:rPr>
              <a:t>even</a:t>
            </a:r>
            <a:r>
              <a:rPr sz="19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404040"/>
                </a:solidFill>
                <a:latin typeface="Cambria"/>
                <a:cs typeface="Cambria"/>
              </a:rPr>
              <a:t>frame</a:t>
            </a:r>
            <a:r>
              <a:rPr sz="19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65" dirty="0">
                <a:solidFill>
                  <a:srgbClr val="404040"/>
                </a:solidFill>
                <a:latin typeface="Cambria"/>
                <a:cs typeface="Cambria"/>
              </a:rPr>
              <a:t>is </a:t>
            </a:r>
            <a:r>
              <a:rPr sz="1900" spc="-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35" dirty="0">
                <a:solidFill>
                  <a:srgbClr val="404040"/>
                </a:solidFill>
                <a:latin typeface="Cambria"/>
                <a:cs typeface="Cambria"/>
              </a:rPr>
              <a:t>closed.</a:t>
            </a:r>
            <a:endParaRPr sz="19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FD8537"/>
              </a:buClr>
              <a:buFont typeface="Segoe UI Symbol"/>
              <a:buChar char="⚫"/>
            </a:pPr>
            <a:endParaRPr sz="2250">
              <a:latin typeface="Cambria"/>
              <a:cs typeface="Cambria"/>
            </a:endParaRPr>
          </a:p>
          <a:p>
            <a:pPr marL="287020" indent="-274320">
              <a:lnSpc>
                <a:spcPts val="2530"/>
              </a:lnSpc>
              <a:spcBef>
                <a:spcPts val="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public</a:t>
            </a:r>
            <a:r>
              <a:rPr sz="2200" dirty="0">
                <a:solidFill>
                  <a:srgbClr val="252525"/>
                </a:solidFill>
                <a:latin typeface="Courier New"/>
                <a:cs typeface="Courier New"/>
              </a:rPr>
              <a:t> void</a:t>
            </a:r>
            <a:r>
              <a:rPr sz="2200" spc="15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52525"/>
                </a:solidFill>
                <a:latin typeface="Courier New"/>
                <a:cs typeface="Courier New"/>
              </a:rPr>
              <a:t>setSize(int</a:t>
            </a:r>
            <a:r>
              <a:rPr sz="2200" spc="1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width,</a:t>
            </a:r>
            <a:r>
              <a:rPr sz="2200" spc="15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52525"/>
                </a:solidFill>
                <a:latin typeface="Courier New"/>
                <a:cs typeface="Courier New"/>
              </a:rPr>
              <a:t>int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ts val="2455"/>
              </a:lnSpc>
            </a:pP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height)</a:t>
            </a:r>
            <a:endParaRPr sz="2200">
              <a:latin typeface="Courier New"/>
              <a:cs typeface="Courier New"/>
            </a:endParaRPr>
          </a:p>
          <a:p>
            <a:pPr marL="286385">
              <a:lnSpc>
                <a:spcPts val="2560"/>
              </a:lnSpc>
            </a:pPr>
            <a:r>
              <a:rPr sz="2200" spc="120" dirty="0">
                <a:solidFill>
                  <a:srgbClr val="252525"/>
                </a:solidFill>
                <a:latin typeface="Cambria"/>
                <a:cs typeface="Cambria"/>
              </a:rPr>
              <a:t>Gives</a:t>
            </a:r>
            <a:r>
              <a:rPr sz="22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2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frame</a:t>
            </a:r>
            <a:r>
              <a:rPr sz="22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252525"/>
                </a:solidFill>
                <a:latin typeface="Cambria"/>
                <a:cs typeface="Cambria"/>
              </a:rPr>
              <a:t>a</a:t>
            </a:r>
            <a:r>
              <a:rPr sz="22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252525"/>
                </a:solidFill>
                <a:latin typeface="Cambria"/>
                <a:cs typeface="Cambria"/>
              </a:rPr>
              <a:t>fixed</a:t>
            </a:r>
            <a:r>
              <a:rPr sz="2200" spc="13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55" dirty="0">
                <a:solidFill>
                  <a:srgbClr val="252525"/>
                </a:solidFill>
                <a:latin typeface="Cambria"/>
                <a:cs typeface="Cambria"/>
              </a:rPr>
              <a:t>size</a:t>
            </a:r>
            <a:r>
              <a:rPr sz="22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252525"/>
                </a:solidFill>
                <a:latin typeface="Cambria"/>
                <a:cs typeface="Cambria"/>
              </a:rPr>
              <a:t>in</a:t>
            </a:r>
            <a:r>
              <a:rPr sz="22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pixels.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Cambria"/>
              <a:cs typeface="Cambria"/>
            </a:endParaRPr>
          </a:p>
          <a:p>
            <a:pPr marL="287020" indent="-274320">
              <a:lnSpc>
                <a:spcPts val="256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public</a:t>
            </a:r>
            <a:r>
              <a:rPr sz="2200" spc="-1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252525"/>
                </a:solidFill>
                <a:latin typeface="Courier New"/>
                <a:cs typeface="Courier New"/>
              </a:rPr>
              <a:t>void</a:t>
            </a:r>
            <a:r>
              <a:rPr sz="2200" spc="-10" dirty="0">
                <a:solidFill>
                  <a:srgbClr val="252525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solidFill>
                  <a:srgbClr val="252525"/>
                </a:solidFill>
                <a:latin typeface="Courier New"/>
                <a:cs typeface="Courier New"/>
              </a:rPr>
              <a:t>pack()</a:t>
            </a:r>
            <a:endParaRPr sz="2200">
              <a:latin typeface="Courier New"/>
              <a:cs typeface="Courier New"/>
            </a:endParaRPr>
          </a:p>
          <a:p>
            <a:pPr marL="286385" marR="544830">
              <a:lnSpc>
                <a:spcPts val="2380"/>
              </a:lnSpc>
              <a:spcBef>
                <a:spcPts val="219"/>
              </a:spcBef>
            </a:pPr>
            <a:r>
              <a:rPr sz="2200" spc="75" dirty="0">
                <a:solidFill>
                  <a:srgbClr val="252525"/>
                </a:solidFill>
                <a:latin typeface="Cambria"/>
                <a:cs typeface="Cambria"/>
              </a:rPr>
              <a:t>Resizes</a:t>
            </a:r>
            <a:r>
              <a:rPr sz="2200" spc="10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2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frame</a:t>
            </a:r>
            <a:r>
              <a:rPr sz="2200" spc="13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15" dirty="0">
                <a:solidFill>
                  <a:srgbClr val="252525"/>
                </a:solidFill>
                <a:latin typeface="Cambria"/>
                <a:cs typeface="Cambria"/>
              </a:rPr>
              <a:t>to</a:t>
            </a:r>
            <a:r>
              <a:rPr sz="2200" spc="125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5" dirty="0">
                <a:solidFill>
                  <a:srgbClr val="252525"/>
                </a:solidFill>
                <a:latin typeface="Cambria"/>
                <a:cs typeface="Cambria"/>
              </a:rPr>
              <a:t>fit</a:t>
            </a:r>
            <a:r>
              <a:rPr sz="2200" spc="12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80" dirty="0">
                <a:solidFill>
                  <a:srgbClr val="252525"/>
                </a:solidFill>
                <a:latin typeface="Cambria"/>
                <a:cs typeface="Cambria"/>
              </a:rPr>
              <a:t>the</a:t>
            </a:r>
            <a:r>
              <a:rPr sz="2200" spc="14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45" dirty="0">
                <a:solidFill>
                  <a:srgbClr val="252525"/>
                </a:solidFill>
                <a:latin typeface="Cambria"/>
                <a:cs typeface="Cambria"/>
              </a:rPr>
              <a:t>components</a:t>
            </a:r>
            <a:r>
              <a:rPr sz="2200" spc="114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65" dirty="0">
                <a:solidFill>
                  <a:srgbClr val="252525"/>
                </a:solidFill>
                <a:latin typeface="Cambria"/>
                <a:cs typeface="Cambria"/>
              </a:rPr>
              <a:t>inside</a:t>
            </a:r>
            <a:r>
              <a:rPr sz="2200" spc="11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252525"/>
                </a:solidFill>
                <a:latin typeface="Cambria"/>
                <a:cs typeface="Cambria"/>
              </a:rPr>
              <a:t>it </a:t>
            </a:r>
            <a:r>
              <a:rPr sz="2200" spc="-470" dirty="0">
                <a:solidFill>
                  <a:srgbClr val="252525"/>
                </a:solidFill>
                <a:latin typeface="Cambria"/>
                <a:cs typeface="Cambria"/>
              </a:rPr>
              <a:t> </a:t>
            </a:r>
            <a:r>
              <a:rPr sz="2200" spc="100" dirty="0">
                <a:solidFill>
                  <a:srgbClr val="252525"/>
                </a:solidFill>
                <a:latin typeface="Cambria"/>
                <a:cs typeface="Cambria"/>
              </a:rPr>
              <a:t>snugly.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143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5" dirty="0"/>
              <a:t>S</a:t>
            </a:r>
            <a:r>
              <a:rPr spc="335" dirty="0"/>
              <a:t>OME</a:t>
            </a:r>
            <a:r>
              <a:rPr spc="254" dirty="0"/>
              <a:t> </a:t>
            </a:r>
            <a:r>
              <a:rPr spc="295" dirty="0"/>
              <a:t>COMPONENTS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6205855" cy="49041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65" dirty="0">
                <a:latin typeface="Cambria"/>
                <a:cs typeface="Cambria"/>
              </a:rPr>
              <a:t>ButtonGroup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grouping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buttons,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particular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radio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buttons.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0" dirty="0">
                <a:latin typeface="Cambria"/>
                <a:cs typeface="Cambria"/>
              </a:rPr>
              <a:t>JButton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standard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command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button;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used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all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over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place.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0" dirty="0">
                <a:latin typeface="Cambria"/>
                <a:cs typeface="Cambria"/>
              </a:rPr>
              <a:t>JCheckBox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typical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-45" dirty="0">
                <a:latin typeface="Cambria"/>
                <a:cs typeface="Cambria"/>
              </a:rPr>
              <a:t>on/off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checkbox.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95" dirty="0">
                <a:latin typeface="Cambria"/>
                <a:cs typeface="Cambria"/>
              </a:rPr>
              <a:t>JCheckBoxMenuItem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menu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itme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with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checkbox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next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to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it.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70" dirty="0">
                <a:latin typeface="Cambria"/>
                <a:cs typeface="Cambria"/>
              </a:rPr>
              <a:t>JColorChooser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standard-looking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color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selection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dialog.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5" dirty="0">
                <a:latin typeface="Cambria"/>
                <a:cs typeface="Cambria"/>
              </a:rPr>
              <a:t>JComboBox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pulldown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that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allows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typing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too.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5" dirty="0">
                <a:latin typeface="Cambria"/>
                <a:cs typeface="Cambria"/>
              </a:rPr>
              <a:t>JComponent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top-level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of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Swing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component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hierarchy.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0" dirty="0">
                <a:latin typeface="Cambria"/>
                <a:cs typeface="Cambria"/>
              </a:rPr>
              <a:t>JDialog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65" dirty="0">
                <a:latin typeface="Cambria"/>
                <a:cs typeface="Cambria"/>
              </a:rPr>
              <a:t> handy </a:t>
            </a:r>
            <a:r>
              <a:rPr sz="1500" spc="20" dirty="0">
                <a:latin typeface="Cambria"/>
                <a:cs typeface="Cambria"/>
              </a:rPr>
              <a:t>pop-up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dialog.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95" dirty="0">
                <a:latin typeface="Cambria"/>
                <a:cs typeface="Cambria"/>
              </a:rPr>
              <a:t>JEditorPane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way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to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view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and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edit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text,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in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particular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65" dirty="0">
                <a:latin typeface="Cambria"/>
                <a:cs typeface="Cambria"/>
              </a:rPr>
              <a:t>HTML.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5" dirty="0">
                <a:latin typeface="Cambria"/>
                <a:cs typeface="Cambria"/>
              </a:rPr>
              <a:t>JFileChooser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standard-looking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file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chooser.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30" dirty="0">
                <a:latin typeface="Cambria"/>
                <a:cs typeface="Cambria"/>
              </a:rPr>
              <a:t>JFrame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outermost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container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204" dirty="0">
                <a:latin typeface="Cambria"/>
                <a:cs typeface="Cambria"/>
              </a:rPr>
              <a:t>GUI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window.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05" dirty="0">
                <a:latin typeface="Cambria"/>
                <a:cs typeface="Cambria"/>
              </a:rPr>
              <a:t>Jlabel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simple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piece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of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text </a:t>
            </a:r>
            <a:r>
              <a:rPr sz="1500" spc="55" dirty="0">
                <a:latin typeface="Cambria"/>
                <a:cs typeface="Cambria"/>
              </a:rPr>
              <a:t>within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85" dirty="0">
                <a:latin typeface="Cambria"/>
                <a:cs typeface="Cambria"/>
              </a:rPr>
              <a:t>GUI.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45" dirty="0">
                <a:latin typeface="Cambria"/>
                <a:cs typeface="Cambria"/>
              </a:rPr>
              <a:t>JList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list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of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04" dirty="0">
                <a:latin typeface="Cambria"/>
                <a:cs typeface="Cambria"/>
              </a:rPr>
              <a:t>GUI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components,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typically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with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scroll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bar.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50" dirty="0">
                <a:latin typeface="Cambria"/>
                <a:cs typeface="Cambria"/>
              </a:rPr>
              <a:t>JMenu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pulldown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or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pop-up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menu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30" dirty="0">
                <a:latin typeface="Cambria"/>
                <a:cs typeface="Cambria"/>
              </a:rPr>
              <a:t>JMenuBar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standard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menubar,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typically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90" dirty="0">
                <a:latin typeface="Cambria"/>
                <a:cs typeface="Cambria"/>
              </a:rPr>
              <a:t>at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top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of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130" dirty="0">
                <a:latin typeface="Cambria"/>
                <a:cs typeface="Cambria"/>
              </a:rPr>
              <a:t>JFrame.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4" dirty="0">
                <a:latin typeface="Cambria"/>
                <a:cs typeface="Cambria"/>
              </a:rPr>
              <a:t>JMenuItem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90" dirty="0">
                <a:latin typeface="Cambria"/>
                <a:cs typeface="Cambria"/>
              </a:rPr>
              <a:t>an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item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40" dirty="0">
                <a:latin typeface="Cambria"/>
                <a:cs typeface="Cambria"/>
              </a:rPr>
              <a:t>JMenu.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143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35" dirty="0"/>
              <a:t>S</a:t>
            </a:r>
            <a:r>
              <a:rPr spc="335" dirty="0"/>
              <a:t>OME</a:t>
            </a:r>
            <a:r>
              <a:rPr spc="254" dirty="0"/>
              <a:t> </a:t>
            </a:r>
            <a:r>
              <a:rPr spc="295" dirty="0"/>
              <a:t>COMPONENTS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3845"/>
            <a:ext cx="7101205" cy="41725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95" dirty="0">
                <a:latin typeface="Cambria"/>
                <a:cs typeface="Cambria"/>
              </a:rPr>
              <a:t>JOptionPane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parent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set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of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standard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option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dialogs.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25" dirty="0">
                <a:latin typeface="Cambria"/>
                <a:cs typeface="Cambria"/>
              </a:rPr>
              <a:t>JPanel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Typically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inner-wrapper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of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30" dirty="0">
                <a:latin typeface="Cambria"/>
                <a:cs typeface="Cambria"/>
              </a:rPr>
              <a:t>JFrame,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managing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204" dirty="0">
                <a:latin typeface="Cambria"/>
                <a:cs typeface="Cambria"/>
              </a:rPr>
              <a:t>GUI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layout.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75" dirty="0">
                <a:latin typeface="Cambria"/>
                <a:cs typeface="Cambria"/>
              </a:rPr>
              <a:t>JPasswordField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way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to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enter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passwords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without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echoing.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5" dirty="0">
                <a:latin typeface="Cambria"/>
                <a:cs typeface="Cambria"/>
              </a:rPr>
              <a:t>JProgressBar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typical-looking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20" dirty="0">
                <a:latin typeface="Cambria"/>
                <a:cs typeface="Cambria"/>
              </a:rPr>
              <a:t>"throbber"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5" dirty="0">
                <a:latin typeface="Cambria"/>
                <a:cs typeface="Cambria"/>
              </a:rPr>
              <a:t>JRadioButton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typical-looking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radio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button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95" dirty="0">
                <a:latin typeface="Cambria"/>
                <a:cs typeface="Cambria"/>
              </a:rPr>
              <a:t>JScrollBar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horizontal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vertical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scrollbar,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typically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in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95" dirty="0">
                <a:latin typeface="Cambria"/>
                <a:cs typeface="Cambria"/>
              </a:rPr>
              <a:t>JScrollPane.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90" dirty="0">
                <a:latin typeface="Cambria"/>
                <a:cs typeface="Cambria"/>
              </a:rPr>
              <a:t>JSeparator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spacing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menu.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0" dirty="0">
                <a:latin typeface="Cambria"/>
                <a:cs typeface="Cambria"/>
              </a:rPr>
              <a:t>JSlider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typical-looking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slider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,typically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numeric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input.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5" dirty="0">
                <a:latin typeface="Cambria"/>
                <a:cs typeface="Cambria"/>
              </a:rPr>
              <a:t>JTabbedPane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tabbing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pane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organizing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things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like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preferences.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0" dirty="0">
                <a:latin typeface="Cambria"/>
                <a:cs typeface="Cambria"/>
              </a:rPr>
              <a:t>JTable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two-dimensional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table,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with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many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display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options.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05" dirty="0">
                <a:latin typeface="Cambria"/>
                <a:cs typeface="Cambria"/>
              </a:rPr>
              <a:t>JTextArea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simple,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unformatted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multi-line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text</a:t>
            </a:r>
            <a:r>
              <a:rPr sz="1500" spc="75" dirty="0">
                <a:latin typeface="Cambria"/>
                <a:cs typeface="Cambria"/>
              </a:rPr>
              <a:t> area.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95" dirty="0">
                <a:latin typeface="Cambria"/>
                <a:cs typeface="Cambria"/>
              </a:rPr>
              <a:t>JTextField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single-line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text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field.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80" dirty="0">
                <a:latin typeface="Cambria"/>
                <a:cs typeface="Cambria"/>
              </a:rPr>
              <a:t>JToggleButton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90" dirty="0">
                <a:latin typeface="Cambria"/>
                <a:cs typeface="Cambria"/>
              </a:rPr>
              <a:t>an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-45" dirty="0">
                <a:latin typeface="Cambria"/>
                <a:cs typeface="Cambria"/>
              </a:rPr>
              <a:t>on/off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button.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75" dirty="0">
                <a:latin typeface="Cambria"/>
                <a:cs typeface="Cambria"/>
              </a:rPr>
              <a:t>JToolBar--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container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buttons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that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select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other</a:t>
            </a:r>
            <a:r>
              <a:rPr sz="1500" spc="5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tools.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75" dirty="0">
                <a:latin typeface="Cambria"/>
                <a:cs typeface="Cambria"/>
              </a:rPr>
              <a:t>JToolTip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roll-over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help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tool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buttons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or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menu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items.</a:t>
            </a:r>
            <a:endParaRPr sz="15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4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6385" algn="l"/>
                <a:tab pos="287020" algn="l"/>
              </a:tabLst>
            </a:pPr>
            <a:r>
              <a:rPr sz="1500" spc="110" dirty="0">
                <a:latin typeface="Cambria"/>
                <a:cs typeface="Cambria"/>
              </a:rPr>
              <a:t>JTree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--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hierarchical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tree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display,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Windows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Explorer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style.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51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E</a:t>
            </a:r>
            <a:r>
              <a:rPr spc="310" dirty="0"/>
              <a:t>XAMPLE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pc="215" dirty="0"/>
              <a:t>WITH</a:t>
            </a:r>
            <a:r>
              <a:rPr spc="275" dirty="0"/>
              <a:t> </a:t>
            </a:r>
            <a:r>
              <a:rPr sz="3000" spc="360" dirty="0"/>
              <a:t>M</a:t>
            </a:r>
            <a:r>
              <a:rPr spc="360" dirty="0"/>
              <a:t>ENU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435165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latin typeface="Cambria"/>
                <a:cs typeface="Cambria"/>
              </a:rPr>
              <a:t>import </a:t>
            </a:r>
            <a:r>
              <a:rPr sz="1200" b="1" spc="70" dirty="0">
                <a:latin typeface="Cambria"/>
                <a:cs typeface="Cambria"/>
              </a:rPr>
              <a:t>javax.swing.*;</a:t>
            </a:r>
            <a:endParaRPr sz="1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200" b="1" spc="65" dirty="0">
                <a:latin typeface="Cambria"/>
                <a:cs typeface="Cambria"/>
              </a:rPr>
              <a:t>class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95" dirty="0">
                <a:latin typeface="Cambria"/>
                <a:cs typeface="Cambria"/>
              </a:rPr>
              <a:t>MenuFrame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extends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b="1" spc="140" dirty="0">
                <a:latin typeface="Cambria"/>
                <a:cs typeface="Cambria"/>
              </a:rPr>
              <a:t>JFrame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u="sng" spc="-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{</a:t>
            </a:r>
            <a:endParaRPr sz="1200" dirty="0">
              <a:latin typeface="Cambria"/>
              <a:cs typeface="Cambria"/>
            </a:endParaRPr>
          </a:p>
          <a:p>
            <a:pPr marL="12700" marR="1939925">
              <a:lnSpc>
                <a:spcPct val="100000"/>
              </a:lnSpc>
            </a:pPr>
            <a:r>
              <a:rPr sz="1200" spc="65" dirty="0">
                <a:latin typeface="Cambria"/>
                <a:cs typeface="Cambria"/>
              </a:rPr>
              <a:t>String </a:t>
            </a:r>
            <a:r>
              <a:rPr sz="1200" spc="50" dirty="0">
                <a:latin typeface="Cambria"/>
                <a:cs typeface="Cambria"/>
              </a:rPr>
              <a:t>msg</a:t>
            </a:r>
            <a:r>
              <a:rPr sz="1200" spc="60" dirty="0">
                <a:latin typeface="Cambria"/>
                <a:cs typeface="Cambria"/>
              </a:rPr>
              <a:t> =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""; </a:t>
            </a:r>
            <a:r>
              <a:rPr sz="1200" spc="5" dirty="0">
                <a:latin typeface="Cambria"/>
                <a:cs typeface="Cambria"/>
              </a:rPr>
              <a:t> </a:t>
            </a:r>
            <a:r>
              <a:rPr sz="1200" spc="75" dirty="0">
                <a:latin typeface="Cambria"/>
                <a:cs typeface="Cambria"/>
              </a:rPr>
              <a:t>JCheckBoxMenuItem </a:t>
            </a:r>
            <a:r>
              <a:rPr sz="1200" spc="40" dirty="0">
                <a:latin typeface="Cambria"/>
                <a:cs typeface="Cambria"/>
              </a:rPr>
              <a:t>debug,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test;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MenuFrame(String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title)</a:t>
            </a:r>
            <a:r>
              <a:rPr sz="1200" spc="40" dirty="0">
                <a:latin typeface="Cambria"/>
                <a:cs typeface="Cambria"/>
              </a:rPr>
              <a:t> </a:t>
            </a:r>
            <a:r>
              <a:rPr sz="1200" spc="-65" dirty="0">
                <a:latin typeface="Cambria"/>
                <a:cs typeface="Cambria"/>
              </a:rPr>
              <a:t>{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b="1" spc="40" dirty="0">
                <a:latin typeface="Cambria"/>
                <a:cs typeface="Cambria"/>
              </a:rPr>
              <a:t>super(title);</a:t>
            </a:r>
            <a:endParaRPr sz="1200" dirty="0">
              <a:latin typeface="Cambria"/>
              <a:cs typeface="Cambria"/>
            </a:endParaRPr>
          </a:p>
          <a:p>
            <a:pPr marL="377825" marR="5080">
              <a:lnSpc>
                <a:spcPct val="100000"/>
              </a:lnSpc>
            </a:pPr>
            <a:r>
              <a:rPr sz="1200" spc="30" dirty="0">
                <a:latin typeface="Cambria"/>
                <a:cs typeface="Cambria"/>
              </a:rPr>
              <a:t>setSize(300, </a:t>
            </a:r>
            <a:r>
              <a:rPr sz="1200" spc="-10" dirty="0">
                <a:latin typeface="Cambria"/>
                <a:cs typeface="Cambria"/>
              </a:rPr>
              <a:t>200); </a:t>
            </a:r>
            <a:r>
              <a:rPr sz="1200" spc="-5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setDefaultCloseOperation(JFrame.</a:t>
            </a:r>
            <a:r>
              <a:rPr sz="1200" b="1" i="1" spc="90" dirty="0">
                <a:latin typeface="Cambria"/>
                <a:cs typeface="Cambria"/>
              </a:rPr>
              <a:t>EXIT_ON_CLOSE);</a:t>
            </a:r>
            <a:endParaRPr sz="1200" dirty="0">
              <a:latin typeface="Cambria"/>
              <a:cs typeface="Cambria"/>
            </a:endParaRPr>
          </a:p>
          <a:p>
            <a:pPr marL="377825" marR="1248410" algn="just">
              <a:lnSpc>
                <a:spcPct val="100000"/>
              </a:lnSpc>
              <a:spcBef>
                <a:spcPts val="5"/>
              </a:spcBef>
            </a:pPr>
            <a:r>
              <a:rPr sz="1200" spc="-254" dirty="0">
                <a:latin typeface="Cambria"/>
                <a:cs typeface="Cambria"/>
              </a:rPr>
              <a:t>//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c</a:t>
            </a:r>
            <a:r>
              <a:rPr sz="1200" spc="5" dirty="0">
                <a:latin typeface="Cambria"/>
                <a:cs typeface="Cambria"/>
              </a:rPr>
              <a:t>r</a:t>
            </a:r>
            <a:r>
              <a:rPr sz="1200" spc="45" dirty="0">
                <a:latin typeface="Cambria"/>
                <a:cs typeface="Cambria"/>
              </a:rPr>
              <a:t>ea</a:t>
            </a:r>
            <a:r>
              <a:rPr sz="1200" spc="25" dirty="0">
                <a:latin typeface="Cambria"/>
                <a:cs typeface="Cambria"/>
              </a:rPr>
              <a:t>t</a:t>
            </a:r>
            <a:r>
              <a:rPr sz="1200" spc="40" dirty="0">
                <a:latin typeface="Cambria"/>
                <a:cs typeface="Cambria"/>
              </a:rPr>
              <a:t>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men</a:t>
            </a:r>
            <a:r>
              <a:rPr sz="1200" spc="45" dirty="0">
                <a:latin typeface="Cambria"/>
                <a:cs typeface="Cambria"/>
              </a:rPr>
              <a:t>u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b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35" dirty="0">
                <a:latin typeface="Cambria"/>
                <a:cs typeface="Cambria"/>
              </a:rPr>
              <a:t>r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a</a:t>
            </a:r>
            <a:r>
              <a:rPr sz="1200" spc="40" dirty="0">
                <a:latin typeface="Cambria"/>
                <a:cs typeface="Cambria"/>
              </a:rPr>
              <a:t>nd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a</a:t>
            </a:r>
            <a:r>
              <a:rPr sz="1200" spc="10" dirty="0">
                <a:latin typeface="Cambria"/>
                <a:cs typeface="Cambria"/>
              </a:rPr>
              <a:t>d</a:t>
            </a:r>
            <a:r>
              <a:rPr sz="1200" spc="20" dirty="0">
                <a:latin typeface="Cambria"/>
                <a:cs typeface="Cambria"/>
              </a:rPr>
              <a:t>d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45" dirty="0">
                <a:latin typeface="Cambria"/>
                <a:cs typeface="Cambria"/>
              </a:rPr>
              <a:t>i</a:t>
            </a:r>
            <a:r>
              <a:rPr sz="1200" spc="60" dirty="0">
                <a:latin typeface="Cambria"/>
                <a:cs typeface="Cambria"/>
              </a:rPr>
              <a:t>t </a:t>
            </a:r>
            <a:r>
              <a:rPr sz="1200" dirty="0">
                <a:latin typeface="Cambria"/>
                <a:cs typeface="Cambria"/>
              </a:rPr>
              <a:t>t</a:t>
            </a:r>
            <a:r>
              <a:rPr sz="1200" spc="10" dirty="0">
                <a:latin typeface="Cambria"/>
                <a:cs typeface="Cambria"/>
              </a:rPr>
              <a:t>o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fr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20" dirty="0">
                <a:latin typeface="Cambria"/>
                <a:cs typeface="Cambria"/>
              </a:rPr>
              <a:t>me  </a:t>
            </a:r>
            <a:r>
              <a:rPr sz="1200" spc="105" dirty="0">
                <a:latin typeface="Cambria"/>
                <a:cs typeface="Cambria"/>
              </a:rPr>
              <a:t>JMenuBar </a:t>
            </a:r>
            <a:r>
              <a:rPr sz="1200" spc="45" dirty="0">
                <a:latin typeface="Cambria"/>
                <a:cs typeface="Cambria"/>
              </a:rPr>
              <a:t>mbar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95" dirty="0">
                <a:latin typeface="Cambria"/>
                <a:cs typeface="Cambria"/>
              </a:rPr>
              <a:t>JMenuBar(); </a:t>
            </a:r>
            <a:r>
              <a:rPr sz="1200" b="1" spc="-254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setJMenuBar(mbar);</a:t>
            </a: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 dirty="0">
              <a:latin typeface="Cambria"/>
              <a:cs typeface="Cambria"/>
            </a:endParaRPr>
          </a:p>
          <a:p>
            <a:pPr marL="377825" marR="830580">
              <a:lnSpc>
                <a:spcPct val="100000"/>
              </a:lnSpc>
            </a:pPr>
            <a:r>
              <a:rPr sz="1200" spc="-254" dirty="0">
                <a:latin typeface="Cambria"/>
                <a:cs typeface="Cambria"/>
              </a:rPr>
              <a:t>//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20" dirty="0">
                <a:latin typeface="Cambria"/>
                <a:cs typeface="Cambria"/>
              </a:rPr>
              <a:t>c</a:t>
            </a:r>
            <a:r>
              <a:rPr sz="1200" spc="5" dirty="0">
                <a:latin typeface="Cambria"/>
                <a:cs typeface="Cambria"/>
              </a:rPr>
              <a:t>r</a:t>
            </a:r>
            <a:r>
              <a:rPr sz="1200" spc="45" dirty="0">
                <a:latin typeface="Cambria"/>
                <a:cs typeface="Cambria"/>
              </a:rPr>
              <a:t>ea</a:t>
            </a:r>
            <a:r>
              <a:rPr sz="1200" spc="25" dirty="0">
                <a:latin typeface="Cambria"/>
                <a:cs typeface="Cambria"/>
              </a:rPr>
              <a:t>t</a:t>
            </a:r>
            <a:r>
              <a:rPr sz="1200" spc="40" dirty="0">
                <a:latin typeface="Cambria"/>
                <a:cs typeface="Cambria"/>
              </a:rPr>
              <a:t>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th</a:t>
            </a:r>
            <a:r>
              <a:rPr sz="1200" spc="50" dirty="0">
                <a:latin typeface="Cambria"/>
                <a:cs typeface="Cambria"/>
              </a:rPr>
              <a:t>e</a:t>
            </a:r>
            <a:r>
              <a:rPr sz="1200" spc="65" dirty="0">
                <a:latin typeface="Cambria"/>
                <a:cs typeface="Cambria"/>
              </a:rPr>
              <a:t> m</a:t>
            </a:r>
            <a:r>
              <a:rPr sz="1200" spc="45" dirty="0">
                <a:latin typeface="Cambria"/>
                <a:cs typeface="Cambria"/>
              </a:rPr>
              <a:t>enu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item</a:t>
            </a:r>
            <a:r>
              <a:rPr sz="1200" spc="35" dirty="0">
                <a:latin typeface="Cambria"/>
                <a:cs typeface="Cambria"/>
              </a:rPr>
              <a:t>s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10" dirty="0">
                <a:latin typeface="Cambria"/>
                <a:cs typeface="Cambria"/>
              </a:rPr>
              <a:t>d</a:t>
            </a:r>
            <a:r>
              <a:rPr sz="1200" spc="20" dirty="0">
                <a:latin typeface="Cambria"/>
                <a:cs typeface="Cambria"/>
              </a:rPr>
              <a:t>d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dirty="0">
                <a:latin typeface="Cambria"/>
                <a:cs typeface="Cambria"/>
              </a:rPr>
              <a:t>t</a:t>
            </a:r>
            <a:r>
              <a:rPr sz="1200" spc="10" dirty="0">
                <a:latin typeface="Cambria"/>
                <a:cs typeface="Cambria"/>
              </a:rPr>
              <a:t>o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th</a:t>
            </a:r>
            <a:r>
              <a:rPr sz="1200" spc="50" dirty="0">
                <a:latin typeface="Cambria"/>
                <a:cs typeface="Cambria"/>
              </a:rPr>
              <a:t>e</a:t>
            </a:r>
            <a:r>
              <a:rPr sz="1200" spc="100" dirty="0">
                <a:latin typeface="Cambria"/>
                <a:cs typeface="Cambria"/>
              </a:rPr>
              <a:t> </a:t>
            </a:r>
            <a:r>
              <a:rPr sz="1200" u="sng" spc="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menub</a:t>
            </a:r>
            <a:r>
              <a:rPr sz="1200" u="sng" spc="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sz="1200" u="sng" spc="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 </a:t>
            </a:r>
            <a:r>
              <a:rPr sz="1200" spc="15" dirty="0">
                <a:latin typeface="Cambria"/>
                <a:cs typeface="Cambria"/>
              </a:rPr>
              <a:t> </a:t>
            </a:r>
            <a:r>
              <a:rPr sz="1200" spc="114" dirty="0">
                <a:latin typeface="Cambria"/>
                <a:cs typeface="Cambria"/>
              </a:rPr>
              <a:t>JMenu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file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6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JMenu("File");</a:t>
            </a:r>
            <a:endParaRPr sz="1200" dirty="0">
              <a:latin typeface="Cambria"/>
              <a:cs typeface="Cambria"/>
            </a:endParaRPr>
          </a:p>
          <a:p>
            <a:pPr marL="377825" marR="424815">
              <a:lnSpc>
                <a:spcPct val="100000"/>
              </a:lnSpc>
            </a:pPr>
            <a:r>
              <a:rPr sz="1200" spc="90" dirty="0">
                <a:latin typeface="Cambria"/>
                <a:cs typeface="Cambria"/>
              </a:rPr>
              <a:t>JMenuItem </a:t>
            </a:r>
            <a:r>
              <a:rPr sz="1200" spc="35" dirty="0">
                <a:latin typeface="Cambria"/>
                <a:cs typeface="Cambria"/>
              </a:rPr>
              <a:t>item1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JMenuItem("New...");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item2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9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JMenuItem("Open...");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 </a:t>
            </a:r>
            <a:r>
              <a:rPr sz="1200" spc="35" dirty="0">
                <a:latin typeface="Cambria"/>
                <a:cs typeface="Cambria"/>
              </a:rPr>
              <a:t>item3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JMenuItem("Close");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 </a:t>
            </a:r>
            <a:r>
              <a:rPr sz="1200" spc="35" dirty="0">
                <a:latin typeface="Cambria"/>
                <a:cs typeface="Cambria"/>
              </a:rPr>
              <a:t>item5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JMenuItem("Quit...");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file.add(item1);</a:t>
            </a:r>
            <a:endParaRPr sz="1200" dirty="0">
              <a:latin typeface="Cambria"/>
              <a:cs typeface="Cambria"/>
            </a:endParaRPr>
          </a:p>
          <a:p>
            <a:pPr marL="377825" marR="2596515">
              <a:lnSpc>
                <a:spcPct val="100000"/>
              </a:lnSpc>
              <a:spcBef>
                <a:spcPts val="5"/>
              </a:spcBef>
            </a:pPr>
            <a:r>
              <a:rPr sz="1200" spc="25" dirty="0">
                <a:latin typeface="Cambria"/>
                <a:cs typeface="Cambria"/>
              </a:rPr>
              <a:t>file.add(item2); 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file.add(item3); </a:t>
            </a:r>
            <a:r>
              <a:rPr sz="1200" spc="30" dirty="0">
                <a:latin typeface="Cambria"/>
                <a:cs typeface="Cambria"/>
              </a:rPr>
              <a:t> file.addSeparator();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file.add(item5); 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mbar.add(file);</a:t>
            </a:r>
            <a:endParaRPr sz="12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51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E</a:t>
            </a:r>
            <a:r>
              <a:rPr spc="310" dirty="0"/>
              <a:t>XAMPLE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pc="215" dirty="0"/>
              <a:t>WITH</a:t>
            </a:r>
            <a:r>
              <a:rPr spc="275" dirty="0"/>
              <a:t> </a:t>
            </a:r>
            <a:r>
              <a:rPr sz="3000" spc="360" dirty="0"/>
              <a:t>M</a:t>
            </a:r>
            <a:r>
              <a:rPr spc="360" dirty="0"/>
              <a:t>ENU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404177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marR="1152525">
              <a:lnSpc>
                <a:spcPct val="100000"/>
              </a:lnSpc>
              <a:spcBef>
                <a:spcPts val="100"/>
              </a:spcBef>
            </a:pPr>
            <a:r>
              <a:rPr sz="1200" spc="-254" dirty="0">
                <a:latin typeface="Cambria"/>
                <a:cs typeface="Cambria"/>
              </a:rPr>
              <a:t>//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65" dirty="0">
                <a:latin typeface="Cambria"/>
                <a:cs typeface="Cambria"/>
              </a:rPr>
              <a:t>Ad</a:t>
            </a:r>
            <a:r>
              <a:rPr sz="1200" spc="10" dirty="0">
                <a:latin typeface="Cambria"/>
                <a:cs typeface="Cambria"/>
              </a:rPr>
              <a:t>d</a:t>
            </a:r>
            <a:r>
              <a:rPr sz="1200" spc="40" dirty="0">
                <a:latin typeface="Cambria"/>
                <a:cs typeface="Cambria"/>
              </a:rPr>
              <a:t>i</a:t>
            </a:r>
            <a:r>
              <a:rPr sz="1200" spc="55" dirty="0">
                <a:latin typeface="Cambria"/>
                <a:cs typeface="Cambria"/>
              </a:rPr>
              <a:t>ng</a:t>
            </a:r>
            <a:r>
              <a:rPr sz="1200" spc="85" dirty="0">
                <a:latin typeface="Cambria"/>
                <a:cs typeface="Cambria"/>
              </a:rPr>
              <a:t> 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30" dirty="0">
                <a:latin typeface="Cambria"/>
                <a:cs typeface="Cambria"/>
              </a:rPr>
              <a:t>nother</a:t>
            </a:r>
            <a:r>
              <a:rPr sz="1200" spc="60" dirty="0">
                <a:latin typeface="Cambria"/>
                <a:cs typeface="Cambria"/>
              </a:rPr>
              <a:t> </a:t>
            </a:r>
            <a:r>
              <a:rPr sz="1200" spc="65" dirty="0">
                <a:latin typeface="Cambria"/>
                <a:cs typeface="Cambria"/>
              </a:rPr>
              <a:t>m</a:t>
            </a:r>
            <a:r>
              <a:rPr sz="1200" spc="45" dirty="0">
                <a:latin typeface="Cambria"/>
                <a:cs typeface="Cambria"/>
              </a:rPr>
              <a:t>enu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i</a:t>
            </a:r>
            <a:r>
              <a:rPr sz="1200" spc="30" dirty="0">
                <a:latin typeface="Cambria"/>
                <a:cs typeface="Cambria"/>
              </a:rPr>
              <a:t>tem  </a:t>
            </a:r>
            <a:r>
              <a:rPr sz="1200" spc="114" dirty="0">
                <a:latin typeface="Cambria"/>
                <a:cs typeface="Cambria"/>
              </a:rPr>
              <a:t>JMenu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edit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JMenu("Edit");</a:t>
            </a:r>
            <a:endParaRPr sz="1200" dirty="0">
              <a:latin typeface="Cambria"/>
              <a:cs typeface="Cambria"/>
            </a:endParaRPr>
          </a:p>
          <a:p>
            <a:pPr marL="377825" marR="226060">
              <a:lnSpc>
                <a:spcPct val="100000"/>
              </a:lnSpc>
            </a:pPr>
            <a:r>
              <a:rPr sz="1200" spc="90" dirty="0">
                <a:latin typeface="Cambria"/>
                <a:cs typeface="Cambria"/>
              </a:rPr>
              <a:t>JMenuItem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item6</a:t>
            </a:r>
            <a:r>
              <a:rPr sz="1200" spc="4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85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JMenuItem("Cut"); 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item7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95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JMenuItem("Copy");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item8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8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JMenuItem("Paste"); </a:t>
            </a:r>
            <a:r>
              <a:rPr sz="1200" b="1" spc="-245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edit.add(item6);</a:t>
            </a:r>
            <a:endParaRPr sz="1200" dirty="0">
              <a:latin typeface="Cambria"/>
              <a:cs typeface="Cambria"/>
            </a:endParaRPr>
          </a:p>
          <a:p>
            <a:pPr marL="377825" marR="2239645">
              <a:lnSpc>
                <a:spcPct val="100000"/>
              </a:lnSpc>
            </a:pPr>
            <a:r>
              <a:rPr sz="1200" spc="25" dirty="0">
                <a:latin typeface="Cambria"/>
                <a:cs typeface="Cambria"/>
              </a:rPr>
              <a:t>edit.add(item7); 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edit.add(item8); 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15" dirty="0">
                <a:latin typeface="Cambria"/>
                <a:cs typeface="Cambria"/>
              </a:rPr>
              <a:t>ed</a:t>
            </a:r>
            <a:r>
              <a:rPr sz="1200" spc="40" dirty="0">
                <a:latin typeface="Cambria"/>
                <a:cs typeface="Cambria"/>
              </a:rPr>
              <a:t>i</a:t>
            </a:r>
            <a:r>
              <a:rPr sz="1200" spc="55" dirty="0">
                <a:latin typeface="Cambria"/>
                <a:cs typeface="Cambria"/>
              </a:rPr>
              <a:t>t.</a:t>
            </a:r>
            <a:r>
              <a:rPr sz="1200" spc="110" dirty="0">
                <a:latin typeface="Cambria"/>
                <a:cs typeface="Cambria"/>
              </a:rPr>
              <a:t>a</a:t>
            </a:r>
            <a:r>
              <a:rPr sz="1200" spc="10" dirty="0">
                <a:latin typeface="Cambria"/>
                <a:cs typeface="Cambria"/>
              </a:rPr>
              <a:t>dd</a:t>
            </a:r>
            <a:r>
              <a:rPr sz="1200" spc="60" dirty="0">
                <a:latin typeface="Cambria"/>
                <a:cs typeface="Cambria"/>
              </a:rPr>
              <a:t>Se</a:t>
            </a:r>
            <a:r>
              <a:rPr sz="1200" spc="65" dirty="0">
                <a:latin typeface="Cambria"/>
                <a:cs typeface="Cambria"/>
              </a:rPr>
              <a:t>p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30" dirty="0">
                <a:latin typeface="Cambria"/>
                <a:cs typeface="Cambria"/>
              </a:rPr>
              <a:t>r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15" dirty="0">
                <a:latin typeface="Cambria"/>
                <a:cs typeface="Cambria"/>
              </a:rPr>
              <a:t>tor</a:t>
            </a:r>
            <a:r>
              <a:rPr sz="1200" spc="-40" dirty="0">
                <a:latin typeface="Cambria"/>
                <a:cs typeface="Cambria"/>
              </a:rPr>
              <a:t>();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200" spc="114" dirty="0">
                <a:latin typeface="Cambria"/>
                <a:cs typeface="Cambria"/>
              </a:rPr>
              <a:t>JMenu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sub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JMenu("Special");</a:t>
            </a:r>
            <a:endParaRPr sz="1200" dirty="0">
              <a:latin typeface="Cambria"/>
              <a:cs typeface="Cambria"/>
            </a:endParaRPr>
          </a:p>
          <a:p>
            <a:pPr marL="377825" marR="5080">
              <a:lnSpc>
                <a:spcPct val="100000"/>
              </a:lnSpc>
            </a:pPr>
            <a:r>
              <a:rPr sz="1200" spc="90" dirty="0">
                <a:latin typeface="Cambria"/>
                <a:cs typeface="Cambria"/>
              </a:rPr>
              <a:t>JMenuItem </a:t>
            </a:r>
            <a:r>
              <a:rPr sz="1200" spc="30" dirty="0">
                <a:latin typeface="Cambria"/>
                <a:cs typeface="Cambria"/>
              </a:rPr>
              <a:t>item10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JMenuItem("First");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item11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JMenuItem("Second");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spc="90" dirty="0">
                <a:latin typeface="Cambria"/>
                <a:cs typeface="Cambria"/>
              </a:rPr>
              <a:t>JMenuItem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item12</a:t>
            </a:r>
            <a:r>
              <a:rPr sz="1200" spc="60" dirty="0">
                <a:latin typeface="Cambria"/>
                <a:cs typeface="Cambria"/>
              </a:rPr>
              <a:t> =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JMenuItem("Third"); </a:t>
            </a:r>
            <a:r>
              <a:rPr sz="1200" b="1" spc="65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sub.add(item10);</a:t>
            </a:r>
            <a:endParaRPr sz="1200" dirty="0">
              <a:latin typeface="Cambria"/>
              <a:cs typeface="Cambria"/>
            </a:endParaRPr>
          </a:p>
          <a:p>
            <a:pPr marL="377825" marR="2472055" algn="just">
              <a:lnSpc>
                <a:spcPct val="100000"/>
              </a:lnSpc>
            </a:pPr>
            <a:r>
              <a:rPr sz="1200" spc="45" dirty="0">
                <a:latin typeface="Cambria"/>
                <a:cs typeface="Cambria"/>
              </a:rPr>
              <a:t>s</a:t>
            </a:r>
            <a:r>
              <a:rPr sz="1200" spc="55" dirty="0">
                <a:latin typeface="Cambria"/>
                <a:cs typeface="Cambria"/>
              </a:rPr>
              <a:t>u</a:t>
            </a:r>
            <a:r>
              <a:rPr sz="1200" spc="10" dirty="0">
                <a:latin typeface="Cambria"/>
                <a:cs typeface="Cambria"/>
              </a:rPr>
              <a:t>b</a:t>
            </a:r>
            <a:r>
              <a:rPr sz="1200" spc="45" dirty="0">
                <a:latin typeface="Cambria"/>
                <a:cs typeface="Cambria"/>
              </a:rPr>
              <a:t>.</a:t>
            </a:r>
            <a:r>
              <a:rPr sz="1200" spc="120" dirty="0">
                <a:latin typeface="Cambria"/>
                <a:cs typeface="Cambria"/>
              </a:rPr>
              <a:t>a</a:t>
            </a:r>
            <a:r>
              <a:rPr sz="1200" spc="10" dirty="0">
                <a:latin typeface="Cambria"/>
                <a:cs typeface="Cambria"/>
              </a:rPr>
              <a:t>d</a:t>
            </a:r>
            <a:r>
              <a:rPr sz="1200" spc="15" dirty="0">
                <a:latin typeface="Cambria"/>
                <a:cs typeface="Cambria"/>
              </a:rPr>
              <a:t>d(it</a:t>
            </a:r>
            <a:r>
              <a:rPr sz="1200" spc="25" dirty="0">
                <a:latin typeface="Cambria"/>
                <a:cs typeface="Cambria"/>
              </a:rPr>
              <a:t>em1</a:t>
            </a:r>
            <a:r>
              <a:rPr sz="1200" spc="-10" dirty="0">
                <a:latin typeface="Cambria"/>
                <a:cs typeface="Cambria"/>
              </a:rPr>
              <a:t>1</a:t>
            </a:r>
            <a:r>
              <a:rPr sz="1200" spc="-20" dirty="0">
                <a:latin typeface="Cambria"/>
                <a:cs typeface="Cambria"/>
              </a:rPr>
              <a:t>);  </a:t>
            </a:r>
            <a:r>
              <a:rPr sz="1200" spc="45" dirty="0">
                <a:latin typeface="Cambria"/>
                <a:cs typeface="Cambria"/>
              </a:rPr>
              <a:t>s</a:t>
            </a:r>
            <a:r>
              <a:rPr sz="1200" spc="55" dirty="0">
                <a:latin typeface="Cambria"/>
                <a:cs typeface="Cambria"/>
              </a:rPr>
              <a:t>u</a:t>
            </a:r>
            <a:r>
              <a:rPr sz="1200" spc="10" dirty="0">
                <a:latin typeface="Cambria"/>
                <a:cs typeface="Cambria"/>
              </a:rPr>
              <a:t>b</a:t>
            </a:r>
            <a:r>
              <a:rPr sz="1200" spc="45" dirty="0">
                <a:latin typeface="Cambria"/>
                <a:cs typeface="Cambria"/>
              </a:rPr>
              <a:t>.</a:t>
            </a:r>
            <a:r>
              <a:rPr sz="1200" spc="120" dirty="0">
                <a:latin typeface="Cambria"/>
                <a:cs typeface="Cambria"/>
              </a:rPr>
              <a:t>a</a:t>
            </a:r>
            <a:r>
              <a:rPr sz="1200" spc="10" dirty="0">
                <a:latin typeface="Cambria"/>
                <a:cs typeface="Cambria"/>
              </a:rPr>
              <a:t>d</a:t>
            </a:r>
            <a:r>
              <a:rPr sz="1200" spc="15" dirty="0">
                <a:latin typeface="Cambria"/>
                <a:cs typeface="Cambria"/>
              </a:rPr>
              <a:t>d(it</a:t>
            </a:r>
            <a:r>
              <a:rPr sz="1200" spc="25" dirty="0">
                <a:latin typeface="Cambria"/>
                <a:cs typeface="Cambria"/>
              </a:rPr>
              <a:t>em1</a:t>
            </a:r>
            <a:r>
              <a:rPr sz="1200" spc="-10" dirty="0">
                <a:latin typeface="Cambria"/>
                <a:cs typeface="Cambria"/>
              </a:rPr>
              <a:t>2</a:t>
            </a:r>
            <a:r>
              <a:rPr sz="1200" spc="-20" dirty="0">
                <a:latin typeface="Cambria"/>
                <a:cs typeface="Cambria"/>
              </a:rPr>
              <a:t>);  </a:t>
            </a:r>
            <a:r>
              <a:rPr sz="1200" spc="20" dirty="0">
                <a:latin typeface="Cambria"/>
                <a:cs typeface="Cambria"/>
              </a:rPr>
              <a:t>edit.add(sub);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-254" dirty="0">
                <a:latin typeface="Cambria"/>
                <a:cs typeface="Cambria"/>
              </a:rPr>
              <a:t>//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30" dirty="0">
                <a:latin typeface="Cambria"/>
                <a:cs typeface="Cambria"/>
              </a:rPr>
              <a:t>thes</a:t>
            </a:r>
            <a:r>
              <a:rPr sz="1200" spc="40" dirty="0">
                <a:latin typeface="Cambria"/>
                <a:cs typeface="Cambria"/>
              </a:rPr>
              <a:t>e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30" dirty="0">
                <a:latin typeface="Cambria"/>
                <a:cs typeface="Cambria"/>
              </a:rPr>
              <a:t>r</a:t>
            </a:r>
            <a:r>
              <a:rPr sz="1200" spc="10" dirty="0">
                <a:latin typeface="Cambria"/>
                <a:cs typeface="Cambria"/>
              </a:rPr>
              <a:t>e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ch</a:t>
            </a:r>
            <a:r>
              <a:rPr sz="1200" spc="20" dirty="0">
                <a:latin typeface="Cambria"/>
                <a:cs typeface="Cambria"/>
              </a:rPr>
              <a:t>e</a:t>
            </a:r>
            <a:r>
              <a:rPr sz="1200" spc="-5" dirty="0">
                <a:latin typeface="Cambria"/>
                <a:cs typeface="Cambria"/>
              </a:rPr>
              <a:t>c</a:t>
            </a:r>
            <a:r>
              <a:rPr sz="1200" spc="75" dirty="0">
                <a:latin typeface="Cambria"/>
                <a:cs typeface="Cambria"/>
              </a:rPr>
              <a:t>k</a:t>
            </a:r>
            <a:r>
              <a:rPr sz="1200" spc="80" dirty="0">
                <a:latin typeface="Cambria"/>
                <a:cs typeface="Cambria"/>
              </a:rPr>
              <a:t>a</a:t>
            </a:r>
            <a:r>
              <a:rPr sz="1200" spc="10" dirty="0">
                <a:latin typeface="Cambria"/>
                <a:cs typeface="Cambria"/>
              </a:rPr>
              <a:t>b</a:t>
            </a:r>
            <a:r>
              <a:rPr sz="1200" spc="50" dirty="0">
                <a:latin typeface="Cambria"/>
                <a:cs typeface="Cambria"/>
              </a:rPr>
              <a:t>l</a:t>
            </a:r>
            <a:r>
              <a:rPr sz="1200" spc="10" dirty="0">
                <a:latin typeface="Cambria"/>
                <a:cs typeface="Cambria"/>
              </a:rPr>
              <a:t>e</a:t>
            </a:r>
            <a:r>
              <a:rPr sz="1200" spc="80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men</a:t>
            </a:r>
            <a:r>
              <a:rPr sz="1200" spc="45" dirty="0">
                <a:latin typeface="Cambria"/>
                <a:cs typeface="Cambria"/>
              </a:rPr>
              <a:t>u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45" dirty="0">
                <a:latin typeface="Cambria"/>
                <a:cs typeface="Cambria"/>
              </a:rPr>
              <a:t>i</a:t>
            </a:r>
            <a:r>
              <a:rPr sz="1200" spc="40" dirty="0">
                <a:latin typeface="Cambria"/>
                <a:cs typeface="Cambria"/>
              </a:rPr>
              <a:t>tems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30" dirty="0">
                <a:latin typeface="Cambria"/>
                <a:cs typeface="Cambria"/>
              </a:rPr>
              <a:t>debug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JCheckBoxMenuItem("Debug");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20" dirty="0">
                <a:latin typeface="Cambria"/>
                <a:cs typeface="Cambria"/>
              </a:rPr>
              <a:t>edit.add(debug);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40" dirty="0">
                <a:latin typeface="Cambria"/>
                <a:cs typeface="Cambria"/>
              </a:rPr>
              <a:t>test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60" dirty="0">
                <a:latin typeface="Cambria"/>
                <a:cs typeface="Cambria"/>
              </a:rPr>
              <a:t> </a:t>
            </a:r>
            <a:r>
              <a:rPr sz="1200" b="1" spc="75" dirty="0">
                <a:latin typeface="Cambria"/>
                <a:cs typeface="Cambria"/>
              </a:rPr>
              <a:t>JCheckBoxMenuItem("Testing");</a:t>
            </a:r>
            <a:endParaRPr sz="1200" dirty="0">
              <a:latin typeface="Cambria"/>
              <a:cs typeface="Cambria"/>
            </a:endParaRPr>
          </a:p>
          <a:p>
            <a:pPr marL="377825" marR="2474595">
              <a:lnSpc>
                <a:spcPct val="100000"/>
              </a:lnSpc>
              <a:spcBef>
                <a:spcPts val="5"/>
              </a:spcBef>
            </a:pPr>
            <a:r>
              <a:rPr sz="1200" spc="25" dirty="0">
                <a:latin typeface="Cambria"/>
                <a:cs typeface="Cambria"/>
              </a:rPr>
              <a:t>edit.add(test); 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mbar.add(edit); </a:t>
            </a:r>
            <a:r>
              <a:rPr sz="1200" spc="30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set</a:t>
            </a:r>
            <a:r>
              <a:rPr sz="1200" spc="75" dirty="0">
                <a:latin typeface="Cambria"/>
                <a:cs typeface="Cambria"/>
              </a:rPr>
              <a:t>V</a:t>
            </a:r>
            <a:r>
              <a:rPr sz="1200" spc="40" dirty="0">
                <a:latin typeface="Cambria"/>
                <a:cs typeface="Cambria"/>
              </a:rPr>
              <a:t>i</a:t>
            </a:r>
            <a:r>
              <a:rPr sz="1200" spc="25" dirty="0">
                <a:latin typeface="Cambria"/>
                <a:cs typeface="Cambria"/>
              </a:rPr>
              <a:t>si</a:t>
            </a:r>
            <a:r>
              <a:rPr sz="1200" spc="45" dirty="0">
                <a:latin typeface="Cambria"/>
                <a:cs typeface="Cambria"/>
              </a:rPr>
              <a:t>b</a:t>
            </a:r>
            <a:r>
              <a:rPr sz="1200" spc="40" dirty="0">
                <a:latin typeface="Cambria"/>
                <a:cs typeface="Cambria"/>
              </a:rPr>
              <a:t>l</a:t>
            </a:r>
            <a:r>
              <a:rPr sz="1200" spc="10" dirty="0">
                <a:latin typeface="Cambria"/>
                <a:cs typeface="Cambria"/>
              </a:rPr>
              <a:t>e</a:t>
            </a:r>
            <a:r>
              <a:rPr sz="1200" spc="-65" dirty="0">
                <a:latin typeface="Cambria"/>
                <a:cs typeface="Cambria"/>
              </a:rPr>
              <a:t>(</a:t>
            </a:r>
            <a:r>
              <a:rPr sz="1200" b="1" spc="70" dirty="0">
                <a:latin typeface="Cambria"/>
                <a:cs typeface="Cambria"/>
              </a:rPr>
              <a:t>tr</a:t>
            </a:r>
            <a:r>
              <a:rPr sz="1200" b="1" spc="100" dirty="0">
                <a:latin typeface="Cambria"/>
                <a:cs typeface="Cambria"/>
              </a:rPr>
              <a:t>u</a:t>
            </a:r>
            <a:r>
              <a:rPr sz="1200" b="1" spc="40" dirty="0">
                <a:latin typeface="Cambria"/>
                <a:cs typeface="Cambria"/>
              </a:rPr>
              <a:t>e</a:t>
            </a:r>
            <a:r>
              <a:rPr sz="1200" b="1" spc="-20" dirty="0">
                <a:latin typeface="Cambria"/>
                <a:cs typeface="Cambria"/>
              </a:rPr>
              <a:t>);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519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E</a:t>
            </a:r>
            <a:r>
              <a:rPr spc="310" dirty="0"/>
              <a:t>XAMPLE</a:t>
            </a:r>
            <a:r>
              <a:rPr spc="285" dirty="0"/>
              <a:t> </a:t>
            </a:r>
            <a:r>
              <a:rPr sz="3000" dirty="0"/>
              <a:t>-</a:t>
            </a:r>
            <a:r>
              <a:rPr sz="3000" spc="160" dirty="0"/>
              <a:t> </a:t>
            </a:r>
            <a:r>
              <a:rPr spc="215" dirty="0"/>
              <a:t>WITH</a:t>
            </a:r>
            <a:r>
              <a:rPr spc="275" dirty="0"/>
              <a:t> </a:t>
            </a:r>
            <a:r>
              <a:rPr sz="3000" spc="360" dirty="0"/>
              <a:t>M</a:t>
            </a:r>
            <a:r>
              <a:rPr spc="360" dirty="0"/>
              <a:t>ENU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33972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55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class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b="1" spc="90" dirty="0">
                <a:latin typeface="Cambria"/>
                <a:cs typeface="Cambria"/>
              </a:rPr>
              <a:t>MenuDemo</a:t>
            </a:r>
            <a:r>
              <a:rPr sz="1200" b="1" spc="65" dirty="0">
                <a:latin typeface="Cambria"/>
                <a:cs typeface="Cambria"/>
              </a:rPr>
              <a:t> </a:t>
            </a:r>
            <a:r>
              <a:rPr sz="1200" b="1" spc="-5" dirty="0">
                <a:latin typeface="Cambria"/>
                <a:cs typeface="Cambria"/>
              </a:rPr>
              <a:t>{</a:t>
            </a:r>
            <a:endParaRPr sz="1200" dirty="0">
              <a:latin typeface="Cambria"/>
              <a:cs typeface="Cambria"/>
            </a:endParaRPr>
          </a:p>
          <a:p>
            <a:pPr marL="652780" marR="5080" indent="-274955">
              <a:lnSpc>
                <a:spcPct val="100000"/>
              </a:lnSpc>
            </a:pP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75" dirty="0">
                <a:latin typeface="Cambria"/>
                <a:cs typeface="Cambria"/>
              </a:rPr>
              <a:t>static</a:t>
            </a:r>
            <a:r>
              <a:rPr sz="1200" b="1" spc="70" dirty="0">
                <a:latin typeface="Cambria"/>
                <a:cs typeface="Cambria"/>
              </a:rPr>
              <a:t> void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main(String[]</a:t>
            </a:r>
            <a:r>
              <a:rPr sz="1200" b="1" spc="95" dirty="0">
                <a:latin typeface="Cambria"/>
                <a:cs typeface="Cambria"/>
              </a:rPr>
              <a:t> </a:t>
            </a:r>
            <a:r>
              <a:rPr sz="1200" b="1" spc="45" dirty="0">
                <a:latin typeface="Cambria"/>
                <a:cs typeface="Cambria"/>
              </a:rPr>
              <a:t>args){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MenuFrame("Test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40" dirty="0">
                <a:latin typeface="Cambria"/>
                <a:cs typeface="Cambria"/>
              </a:rPr>
              <a:t>Menu");</a:t>
            </a:r>
            <a:endParaRPr sz="12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6873" y="3136900"/>
            <a:ext cx="4029075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94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E</a:t>
            </a:r>
            <a:r>
              <a:rPr spc="310" dirty="0"/>
              <a:t>XAMPLE</a:t>
            </a:r>
            <a:r>
              <a:rPr spc="290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5" dirty="0"/>
              <a:t>WITH</a:t>
            </a:r>
            <a:r>
              <a:rPr spc="295" dirty="0"/>
              <a:t> </a:t>
            </a:r>
            <a:r>
              <a:rPr spc="285" dirty="0"/>
              <a:t>SCROLLBAR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6953250" cy="4509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260850">
              <a:lnSpc>
                <a:spcPct val="100000"/>
              </a:lnSpc>
              <a:spcBef>
                <a:spcPts val="105"/>
              </a:spcBef>
            </a:pPr>
            <a:r>
              <a:rPr sz="1400" b="1" spc="80" dirty="0">
                <a:latin typeface="Cambria"/>
                <a:cs typeface="Cambria"/>
              </a:rPr>
              <a:t>import </a:t>
            </a:r>
            <a:r>
              <a:rPr sz="1400" b="1" spc="95" dirty="0">
                <a:latin typeface="Cambria"/>
                <a:cs typeface="Cambria"/>
              </a:rPr>
              <a:t>java.awt.FlowLayout;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import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0" dirty="0">
                <a:latin typeface="Cambria"/>
                <a:cs typeface="Cambria"/>
              </a:rPr>
              <a:t>javax.swing.*;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 dirty="0">
              <a:latin typeface="Cambria"/>
              <a:cs typeface="Cambria"/>
            </a:endParaRPr>
          </a:p>
          <a:p>
            <a:pPr marL="377825" marR="3482340" indent="-365760">
              <a:lnSpc>
                <a:spcPct val="100000"/>
              </a:lnSpc>
            </a:pPr>
            <a:r>
              <a:rPr sz="1400" b="1" spc="90" dirty="0">
                <a:latin typeface="Cambria"/>
                <a:cs typeface="Cambria"/>
              </a:rPr>
              <a:t>public </a:t>
            </a:r>
            <a:r>
              <a:rPr sz="1400" b="1" spc="75" dirty="0">
                <a:latin typeface="Cambria"/>
                <a:cs typeface="Cambria"/>
              </a:rPr>
              <a:t>class </a:t>
            </a:r>
            <a:r>
              <a:rPr sz="1400" b="1" spc="125" dirty="0">
                <a:latin typeface="Cambria"/>
                <a:cs typeface="Cambria"/>
              </a:rPr>
              <a:t>GUITest </a:t>
            </a:r>
            <a:r>
              <a:rPr sz="1400" b="1" spc="85" dirty="0">
                <a:latin typeface="Cambria"/>
                <a:cs typeface="Cambria"/>
              </a:rPr>
              <a:t>extends </a:t>
            </a:r>
            <a:r>
              <a:rPr sz="1400" b="1" spc="120" dirty="0">
                <a:latin typeface="Cambria"/>
                <a:cs typeface="Cambria"/>
              </a:rPr>
              <a:t>Jframe{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GUITest()</a:t>
            </a:r>
            <a:r>
              <a:rPr sz="1400" spc="75" dirty="0">
                <a:latin typeface="Cambria"/>
                <a:cs typeface="Cambria"/>
              </a:rPr>
              <a:t>{</a:t>
            </a:r>
            <a:endParaRPr sz="1400" dirty="0">
              <a:latin typeface="Cambria"/>
              <a:cs typeface="Cambria"/>
            </a:endParaRPr>
          </a:p>
          <a:p>
            <a:pPr marL="744220">
              <a:lnSpc>
                <a:spcPts val="1670"/>
              </a:lnSpc>
            </a:pPr>
            <a:r>
              <a:rPr sz="1400" b="1" spc="45" dirty="0">
                <a:latin typeface="Cambria"/>
                <a:cs typeface="Cambria"/>
              </a:rPr>
              <a:t>super();</a:t>
            </a:r>
            <a:endParaRPr sz="1400" dirty="0">
              <a:latin typeface="Cambria"/>
              <a:cs typeface="Cambria"/>
            </a:endParaRPr>
          </a:p>
          <a:p>
            <a:pPr marL="744220" marR="3997325">
              <a:lnSpc>
                <a:spcPct val="100000"/>
              </a:lnSpc>
              <a:spcBef>
                <a:spcPts val="15"/>
              </a:spcBef>
            </a:pPr>
            <a:r>
              <a:rPr sz="1400" spc="50" dirty="0">
                <a:latin typeface="Cambria"/>
                <a:cs typeface="Cambria"/>
              </a:rPr>
              <a:t>setTitle("Create </a:t>
            </a:r>
            <a:r>
              <a:rPr sz="1400" spc="25" dirty="0">
                <a:latin typeface="Cambria"/>
                <a:cs typeface="Cambria"/>
              </a:rPr>
              <a:t>Account");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setSize(300,300); 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setLayout(</a:t>
            </a:r>
            <a:r>
              <a:rPr sz="1400" b="1" spc="50" dirty="0">
                <a:latin typeface="Cambria"/>
                <a:cs typeface="Cambria"/>
              </a:rPr>
              <a:t>null);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Cambria"/>
              <a:cs typeface="Cambria"/>
            </a:endParaRPr>
          </a:p>
          <a:p>
            <a:pPr marL="744220" marR="2284730">
              <a:lnSpc>
                <a:spcPct val="100000"/>
              </a:lnSpc>
            </a:pPr>
            <a:r>
              <a:rPr sz="1400" spc="114" dirty="0">
                <a:latin typeface="Cambria"/>
                <a:cs typeface="Cambria"/>
              </a:rPr>
              <a:t>JLabel </a:t>
            </a:r>
            <a:r>
              <a:rPr sz="1400" spc="70" dirty="0">
                <a:latin typeface="Cambria"/>
                <a:cs typeface="Cambria"/>
              </a:rPr>
              <a:t>nm  </a:t>
            </a:r>
            <a:r>
              <a:rPr sz="1400" spc="75" dirty="0">
                <a:latin typeface="Cambria"/>
                <a:cs typeface="Cambria"/>
              </a:rPr>
              <a:t>=  </a:t>
            </a:r>
            <a:r>
              <a:rPr sz="1400" b="1" spc="100" dirty="0">
                <a:latin typeface="Cambria"/>
                <a:cs typeface="Cambria"/>
              </a:rPr>
              <a:t>new </a:t>
            </a:r>
            <a:r>
              <a:rPr sz="1400" b="1" spc="75" dirty="0">
                <a:latin typeface="Cambria"/>
                <a:cs typeface="Cambria"/>
              </a:rPr>
              <a:t>JLabel("Name"); 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spc="95" dirty="0">
                <a:latin typeface="Cambria"/>
                <a:cs typeface="Cambria"/>
              </a:rPr>
              <a:t>JTextField </a:t>
            </a:r>
            <a:r>
              <a:rPr sz="1400" spc="65" dirty="0">
                <a:latin typeface="Cambria"/>
                <a:cs typeface="Cambria"/>
              </a:rPr>
              <a:t>nmtf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 </a:t>
            </a:r>
            <a:r>
              <a:rPr sz="1400" b="1" spc="80" dirty="0">
                <a:latin typeface="Cambria"/>
                <a:cs typeface="Cambria"/>
              </a:rPr>
              <a:t>JTextField(20); 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spc="114" dirty="0">
                <a:latin typeface="Cambria"/>
                <a:cs typeface="Cambria"/>
              </a:rPr>
              <a:t>JLabel </a:t>
            </a:r>
            <a:r>
              <a:rPr sz="1400" spc="50" dirty="0">
                <a:latin typeface="Cambria"/>
                <a:cs typeface="Cambria"/>
              </a:rPr>
              <a:t>gen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 </a:t>
            </a:r>
            <a:r>
              <a:rPr sz="1400" b="1" spc="75" dirty="0">
                <a:latin typeface="Cambria"/>
                <a:cs typeface="Cambria"/>
              </a:rPr>
              <a:t>JLabel("Gender"); 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JCheckBox </a:t>
            </a:r>
            <a:r>
              <a:rPr sz="1400" spc="70" dirty="0">
                <a:latin typeface="Cambria"/>
                <a:cs typeface="Cambria"/>
              </a:rPr>
              <a:t>ml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 </a:t>
            </a:r>
            <a:r>
              <a:rPr sz="1400" b="1" spc="85" dirty="0">
                <a:latin typeface="Cambria"/>
                <a:cs typeface="Cambria"/>
              </a:rPr>
              <a:t>JCheckBox("Male"); </a:t>
            </a:r>
            <a:r>
              <a:rPr sz="1400" b="1" spc="90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JCheckBox </a:t>
            </a:r>
            <a:r>
              <a:rPr sz="1400" spc="60" dirty="0">
                <a:latin typeface="Cambria"/>
                <a:cs typeface="Cambria"/>
              </a:rPr>
              <a:t>fml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 </a:t>
            </a:r>
            <a:r>
              <a:rPr sz="1400" b="1" spc="85" dirty="0">
                <a:latin typeface="Cambria"/>
                <a:cs typeface="Cambria"/>
              </a:rPr>
              <a:t>JCheckBox("Female");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spc="114" dirty="0">
                <a:latin typeface="Cambria"/>
                <a:cs typeface="Cambria"/>
              </a:rPr>
              <a:t>JLabel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note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spc="70" dirty="0">
                <a:latin typeface="Cambria"/>
                <a:cs typeface="Cambria"/>
              </a:rPr>
              <a:t>JLabel("Note");</a:t>
            </a:r>
            <a:endParaRPr sz="1400" dirty="0">
              <a:latin typeface="Cambria"/>
              <a:cs typeface="Cambria"/>
            </a:endParaRPr>
          </a:p>
          <a:p>
            <a:pPr marL="744220" marR="2578735">
              <a:lnSpc>
                <a:spcPct val="100000"/>
              </a:lnSpc>
            </a:pPr>
            <a:r>
              <a:rPr sz="1400" spc="100" dirty="0">
                <a:latin typeface="Cambria"/>
                <a:cs typeface="Cambria"/>
              </a:rPr>
              <a:t>JTextArea </a:t>
            </a:r>
            <a:r>
              <a:rPr sz="1400" spc="65" dirty="0">
                <a:latin typeface="Cambria"/>
                <a:cs typeface="Cambria"/>
              </a:rPr>
              <a:t>nt </a:t>
            </a:r>
            <a:r>
              <a:rPr sz="1400" spc="75" dirty="0">
                <a:latin typeface="Cambria"/>
                <a:cs typeface="Cambria"/>
              </a:rPr>
              <a:t>= </a:t>
            </a:r>
            <a:r>
              <a:rPr sz="1400" b="1" spc="100" dirty="0">
                <a:latin typeface="Cambria"/>
                <a:cs typeface="Cambria"/>
              </a:rPr>
              <a:t>new </a:t>
            </a:r>
            <a:r>
              <a:rPr sz="1400" b="1" spc="65" dirty="0">
                <a:latin typeface="Cambria"/>
                <a:cs typeface="Cambria"/>
              </a:rPr>
              <a:t>JTextArea(5,10); </a:t>
            </a:r>
            <a:r>
              <a:rPr sz="1400" b="1" spc="70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JButton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submit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0" dirty="0">
                <a:latin typeface="Cambria"/>
                <a:cs typeface="Cambria"/>
              </a:rPr>
              <a:t> JButton("Create"); </a:t>
            </a:r>
            <a:r>
              <a:rPr sz="1400" b="1" spc="-290" dirty="0">
                <a:latin typeface="Cambria"/>
                <a:cs typeface="Cambria"/>
              </a:rPr>
              <a:t> </a:t>
            </a:r>
            <a:r>
              <a:rPr sz="1400" spc="85" dirty="0">
                <a:latin typeface="Cambria"/>
                <a:cs typeface="Cambria"/>
              </a:rPr>
              <a:t>JScrollPane</a:t>
            </a:r>
            <a:r>
              <a:rPr sz="1400" spc="40" dirty="0">
                <a:latin typeface="Cambria"/>
                <a:cs typeface="Cambria"/>
              </a:rPr>
              <a:t> jsp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=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114" dirty="0">
                <a:latin typeface="Cambria"/>
                <a:cs typeface="Cambria"/>
              </a:rPr>
              <a:t>JScrollPane(nt,</a:t>
            </a:r>
            <a:endParaRPr sz="1400" dirty="0">
              <a:latin typeface="Cambria"/>
              <a:cs typeface="Cambria"/>
            </a:endParaRPr>
          </a:p>
          <a:p>
            <a:pPr marL="927100" marR="5080">
              <a:lnSpc>
                <a:spcPct val="100000"/>
              </a:lnSpc>
              <a:spcBef>
                <a:spcPts val="5"/>
              </a:spcBef>
            </a:pPr>
            <a:r>
              <a:rPr sz="1400" b="1" spc="155" dirty="0">
                <a:latin typeface="Cambria"/>
                <a:cs typeface="Cambria"/>
              </a:rPr>
              <a:t>ScrollPaneConstants.</a:t>
            </a:r>
            <a:r>
              <a:rPr sz="1400" b="1" i="1" spc="155" dirty="0">
                <a:latin typeface="Cambria"/>
                <a:cs typeface="Cambria"/>
              </a:rPr>
              <a:t>VERTICAL_SCROLLBAR_ALWAYS, </a:t>
            </a:r>
            <a:r>
              <a:rPr sz="1400" b="1" i="1" spc="160" dirty="0">
                <a:latin typeface="Cambria"/>
                <a:cs typeface="Cambria"/>
              </a:rPr>
              <a:t> </a:t>
            </a:r>
            <a:r>
              <a:rPr sz="1400" b="1" i="1" spc="170" dirty="0">
                <a:latin typeface="Cambria"/>
                <a:cs typeface="Cambria"/>
              </a:rPr>
              <a:t>ScrollPaneConstants.HORIZONTAL_SCROLLBAR_AS_NEEDED);</a:t>
            </a:r>
            <a:endParaRPr sz="1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94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E</a:t>
            </a:r>
            <a:r>
              <a:rPr spc="310" dirty="0"/>
              <a:t>XAMPLE</a:t>
            </a:r>
            <a:r>
              <a:rPr spc="290" dirty="0"/>
              <a:t> </a:t>
            </a:r>
            <a:r>
              <a:rPr sz="3000" spc="165" dirty="0"/>
              <a:t>–</a:t>
            </a:r>
            <a:r>
              <a:rPr sz="3000" spc="155" dirty="0"/>
              <a:t> </a:t>
            </a:r>
            <a:r>
              <a:rPr spc="215" dirty="0"/>
              <a:t>WITH</a:t>
            </a:r>
            <a:r>
              <a:rPr spc="295" dirty="0"/>
              <a:t> </a:t>
            </a:r>
            <a:r>
              <a:rPr spc="285" dirty="0"/>
              <a:t>SCROLLBAR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426"/>
            <a:ext cx="3935729" cy="5147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4220" marR="756920">
              <a:lnSpc>
                <a:spcPct val="100000"/>
              </a:lnSpc>
              <a:spcBef>
                <a:spcPts val="105"/>
              </a:spcBef>
            </a:pPr>
            <a:r>
              <a:rPr sz="1400" spc="45" dirty="0">
                <a:latin typeface="Cambria"/>
                <a:cs typeface="Cambria"/>
              </a:rPr>
              <a:t>nm.setBounds(10,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20,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50,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add(nm);</a:t>
            </a:r>
            <a:endParaRPr sz="1400" dirty="0">
              <a:latin typeface="Cambria"/>
              <a:cs typeface="Cambria"/>
            </a:endParaRPr>
          </a:p>
          <a:p>
            <a:pPr marL="744220" marR="529590">
              <a:lnSpc>
                <a:spcPct val="100000"/>
              </a:lnSpc>
            </a:pPr>
            <a:r>
              <a:rPr sz="1400" spc="45" dirty="0">
                <a:latin typeface="Cambria"/>
                <a:cs typeface="Cambria"/>
              </a:rPr>
              <a:t>nmtf.setBounds(60,</a:t>
            </a:r>
            <a:r>
              <a:rPr sz="1400" spc="30" dirty="0">
                <a:latin typeface="Cambria"/>
                <a:cs typeface="Cambria"/>
              </a:rPr>
              <a:t> 20,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200,</a:t>
            </a:r>
            <a:r>
              <a:rPr sz="1400" spc="55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 </a:t>
            </a:r>
            <a:r>
              <a:rPr sz="1400" spc="-29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add(nmtf);</a:t>
            </a:r>
            <a:endParaRPr sz="1400" dirty="0">
              <a:latin typeface="Cambria"/>
              <a:cs typeface="Cambria"/>
            </a:endParaRPr>
          </a:p>
          <a:p>
            <a:pPr marL="744220" marR="732155">
              <a:lnSpc>
                <a:spcPct val="100000"/>
              </a:lnSpc>
            </a:pPr>
            <a:r>
              <a:rPr sz="1400" spc="40" dirty="0">
                <a:latin typeface="Cambria"/>
                <a:cs typeface="Cambria"/>
              </a:rPr>
              <a:t>gen.setBounds(10, </a:t>
            </a:r>
            <a:r>
              <a:rPr sz="1400" spc="30" dirty="0">
                <a:latin typeface="Cambria"/>
                <a:cs typeface="Cambria"/>
              </a:rPr>
              <a:t>50,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50,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add(gen);</a:t>
            </a:r>
            <a:endParaRPr sz="14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45" dirty="0">
                <a:latin typeface="Cambria"/>
                <a:cs typeface="Cambria"/>
              </a:rPr>
              <a:t>ml.setBounds(60,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50,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80, </a:t>
            </a:r>
            <a:r>
              <a:rPr sz="1400" spc="-15" dirty="0">
                <a:latin typeface="Cambria"/>
                <a:cs typeface="Cambria"/>
              </a:rPr>
              <a:t>20);</a:t>
            </a:r>
            <a:endParaRPr sz="14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20" dirty="0">
                <a:latin typeface="Cambria"/>
                <a:cs typeface="Cambria"/>
              </a:rPr>
              <a:t>add(ml);</a:t>
            </a:r>
            <a:endParaRPr sz="1400" dirty="0">
              <a:latin typeface="Cambria"/>
              <a:cs typeface="Cambria"/>
            </a:endParaRPr>
          </a:p>
          <a:p>
            <a:pPr marL="744220" marR="554355">
              <a:lnSpc>
                <a:spcPct val="100000"/>
              </a:lnSpc>
            </a:pPr>
            <a:r>
              <a:rPr sz="1400" spc="40" dirty="0">
                <a:latin typeface="Cambria"/>
                <a:cs typeface="Cambria"/>
              </a:rPr>
              <a:t>fml.setBounds(140,</a:t>
            </a:r>
            <a:r>
              <a:rPr sz="1400" spc="30" dirty="0">
                <a:latin typeface="Cambria"/>
                <a:cs typeface="Cambria"/>
              </a:rPr>
              <a:t> 50,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100,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add(fml);</a:t>
            </a:r>
            <a:endParaRPr sz="1400" dirty="0">
              <a:latin typeface="Cambria"/>
              <a:cs typeface="Cambria"/>
            </a:endParaRPr>
          </a:p>
          <a:p>
            <a:pPr marL="744220" marR="668655">
              <a:lnSpc>
                <a:spcPct val="100000"/>
              </a:lnSpc>
            </a:pPr>
            <a:r>
              <a:rPr sz="1400" spc="35" dirty="0">
                <a:latin typeface="Cambria"/>
                <a:cs typeface="Cambria"/>
              </a:rPr>
              <a:t>note.setBounds(10,</a:t>
            </a:r>
            <a:r>
              <a:rPr sz="1400" spc="30" dirty="0">
                <a:latin typeface="Cambria"/>
                <a:cs typeface="Cambria"/>
              </a:rPr>
              <a:t> 80,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40,</a:t>
            </a:r>
            <a:r>
              <a:rPr sz="1400" spc="70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add(note);</a:t>
            </a:r>
            <a:endParaRPr sz="14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400" spc="40" dirty="0">
                <a:latin typeface="Cambria"/>
                <a:cs typeface="Cambria"/>
              </a:rPr>
              <a:t>jsp.setBounds(60,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80,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200,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120);</a:t>
            </a:r>
            <a:endParaRPr sz="14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15" dirty="0">
                <a:latin typeface="Cambria"/>
                <a:cs typeface="Cambria"/>
              </a:rPr>
              <a:t>add(jsp);</a:t>
            </a:r>
            <a:endParaRPr sz="1400" dirty="0">
              <a:latin typeface="Cambria"/>
              <a:cs typeface="Cambria"/>
            </a:endParaRPr>
          </a:p>
          <a:p>
            <a:pPr marL="744220" marR="254000">
              <a:lnSpc>
                <a:spcPct val="100000"/>
              </a:lnSpc>
            </a:pPr>
            <a:r>
              <a:rPr sz="1400" spc="40" dirty="0">
                <a:latin typeface="Cambria"/>
                <a:cs typeface="Cambria"/>
              </a:rPr>
              <a:t>submit.setBounds(180,</a:t>
            </a:r>
            <a:r>
              <a:rPr sz="1400" spc="45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210,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80,</a:t>
            </a:r>
            <a:r>
              <a:rPr sz="1400" spc="65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add(submit);</a:t>
            </a:r>
            <a:endParaRPr sz="14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400" spc="45" dirty="0">
                <a:latin typeface="Cambria"/>
                <a:cs typeface="Cambria"/>
              </a:rPr>
              <a:t>setVisible(</a:t>
            </a:r>
            <a:r>
              <a:rPr sz="1400" b="1" spc="45" dirty="0">
                <a:latin typeface="Cambria"/>
                <a:cs typeface="Cambria"/>
              </a:rPr>
              <a:t>true);</a:t>
            </a:r>
            <a:endParaRPr sz="14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 dirty="0">
              <a:latin typeface="Cambria"/>
              <a:cs typeface="Cambria"/>
            </a:endParaRPr>
          </a:p>
          <a:p>
            <a:pPr marL="652780" marR="5080" indent="-274955">
              <a:lnSpc>
                <a:spcPct val="100699"/>
              </a:lnSpc>
            </a:pPr>
            <a:r>
              <a:rPr sz="1400" b="1" spc="90" dirty="0">
                <a:latin typeface="Cambria"/>
                <a:cs typeface="Cambria"/>
              </a:rPr>
              <a:t>public </a:t>
            </a:r>
            <a:r>
              <a:rPr sz="1400" b="1" spc="85" dirty="0">
                <a:latin typeface="Cambria"/>
                <a:cs typeface="Cambria"/>
              </a:rPr>
              <a:t>static </a:t>
            </a:r>
            <a:r>
              <a:rPr sz="1400" b="1" spc="80" dirty="0">
                <a:latin typeface="Cambria"/>
                <a:cs typeface="Cambria"/>
              </a:rPr>
              <a:t>void </a:t>
            </a:r>
            <a:r>
              <a:rPr sz="1400" b="1" spc="85" dirty="0">
                <a:latin typeface="Cambria"/>
                <a:cs typeface="Cambria"/>
              </a:rPr>
              <a:t>main(String[] </a:t>
            </a:r>
            <a:r>
              <a:rPr sz="1400" b="1" spc="65" dirty="0">
                <a:latin typeface="Cambria"/>
                <a:cs typeface="Cambria"/>
              </a:rPr>
              <a:t>args) </a:t>
            </a:r>
            <a:r>
              <a:rPr sz="1400" b="1" spc="-5" dirty="0">
                <a:latin typeface="Cambria"/>
                <a:cs typeface="Cambria"/>
              </a:rPr>
              <a:t>{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85" dirty="0">
                <a:latin typeface="Cambria"/>
                <a:cs typeface="Cambria"/>
              </a:rPr>
              <a:t>GUITest();</a:t>
            </a:r>
            <a:endParaRPr sz="1400" dirty="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700" y="16764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5134" cy="6858000"/>
          </a:xfrm>
          <a:custGeom>
            <a:avLst/>
            <a:gdLst/>
            <a:ahLst/>
            <a:cxnLst/>
            <a:rect l="l" t="t" r="r" b="b"/>
            <a:pathLst>
              <a:path w="445134" h="6858000">
                <a:moveTo>
                  <a:pt x="0" y="6858000"/>
                </a:moveTo>
                <a:lnTo>
                  <a:pt x="444538" y="6858000"/>
                </a:lnTo>
                <a:lnTo>
                  <a:pt x="44453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688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36" y="6858000"/>
                </a:lnTo>
                <a:lnTo>
                  <a:pt x="31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339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664" y="0"/>
                </a:moveTo>
                <a:lnTo>
                  <a:pt x="0" y="0"/>
                </a:lnTo>
                <a:lnTo>
                  <a:pt x="0" y="6858000"/>
                </a:lnTo>
                <a:lnTo>
                  <a:pt x="104664" y="6858000"/>
                </a:lnTo>
                <a:lnTo>
                  <a:pt x="104664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2245" cy="6858000"/>
            </a:xfrm>
            <a:custGeom>
              <a:avLst/>
              <a:gdLst/>
              <a:ahLst/>
              <a:cxnLst/>
              <a:rect l="l" t="t" r="r" b="b"/>
              <a:pathLst>
                <a:path w="182244" h="6858000">
                  <a:moveTo>
                    <a:pt x="1818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1876" y="6858000"/>
                  </a:lnTo>
                  <a:lnTo>
                    <a:pt x="181876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323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2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276" y="6858000"/>
                  </a:lnTo>
                  <a:lnTo>
                    <a:pt x="230276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634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5538" y="0"/>
            <a:ext cx="117475" cy="6858000"/>
            <a:chOff x="825538" y="0"/>
            <a:chExt cx="117475" cy="6858000"/>
          </a:xfrm>
        </p:grpSpPr>
        <p:sp>
          <p:nvSpPr>
            <p:cNvPr id="11" name="object 11"/>
            <p:cNvSpPr/>
            <p:nvPr/>
          </p:nvSpPr>
          <p:spPr>
            <a:xfrm>
              <a:off x="914399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FE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113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669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5326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1160" cy="6858000"/>
            <a:chOff x="609600" y="0"/>
            <a:chExt cx="1661160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8999"/>
              <a:ext cx="1341755" cy="2079625"/>
            </a:xfrm>
            <a:custGeom>
              <a:avLst/>
              <a:gdLst/>
              <a:ahLst/>
              <a:cxnLst/>
              <a:rect l="l" t="t" r="r" b="b"/>
              <a:pathLst>
                <a:path w="1341755" h="2079625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755" h="2079625">
                  <a:moveTo>
                    <a:pt x="1341501" y="1758442"/>
                  </a:moveTo>
                  <a:lnTo>
                    <a:pt x="1338021" y="1711045"/>
                  </a:lnTo>
                  <a:lnTo>
                    <a:pt x="1327912" y="1665808"/>
                  </a:lnTo>
                  <a:lnTo>
                    <a:pt x="1311681" y="1623237"/>
                  </a:lnTo>
                  <a:lnTo>
                    <a:pt x="1289812" y="1583804"/>
                  </a:lnTo>
                  <a:lnTo>
                    <a:pt x="1262799" y="1548041"/>
                  </a:lnTo>
                  <a:lnTo>
                    <a:pt x="1231163" y="1516405"/>
                  </a:lnTo>
                  <a:lnTo>
                    <a:pt x="1195374" y="1489417"/>
                  </a:lnTo>
                  <a:lnTo>
                    <a:pt x="1155928" y="1467573"/>
                  </a:lnTo>
                  <a:lnTo>
                    <a:pt x="1113345" y="1451343"/>
                  </a:lnTo>
                  <a:lnTo>
                    <a:pt x="1068095" y="1441246"/>
                  </a:lnTo>
                  <a:lnTo>
                    <a:pt x="1020699" y="1437767"/>
                  </a:lnTo>
                  <a:lnTo>
                    <a:pt x="973315" y="1441246"/>
                  </a:lnTo>
                  <a:lnTo>
                    <a:pt x="928103" y="1451343"/>
                  </a:lnTo>
                  <a:lnTo>
                    <a:pt x="885532" y="1467573"/>
                  </a:lnTo>
                  <a:lnTo>
                    <a:pt x="846112" y="1489417"/>
                  </a:lnTo>
                  <a:lnTo>
                    <a:pt x="810336" y="1516405"/>
                  </a:lnTo>
                  <a:lnTo>
                    <a:pt x="778700" y="1548041"/>
                  </a:lnTo>
                  <a:lnTo>
                    <a:pt x="751700" y="1583804"/>
                  </a:lnTo>
                  <a:lnTo>
                    <a:pt x="729830" y="1623237"/>
                  </a:lnTo>
                  <a:lnTo>
                    <a:pt x="713600" y="1665808"/>
                  </a:lnTo>
                  <a:lnTo>
                    <a:pt x="703491" y="1711045"/>
                  </a:lnTo>
                  <a:lnTo>
                    <a:pt x="700024" y="1758442"/>
                  </a:lnTo>
                  <a:lnTo>
                    <a:pt x="703491" y="1805851"/>
                  </a:lnTo>
                  <a:lnTo>
                    <a:pt x="713600" y="1851088"/>
                  </a:lnTo>
                  <a:lnTo>
                    <a:pt x="729830" y="1893658"/>
                  </a:lnTo>
                  <a:lnTo>
                    <a:pt x="751700" y="1933092"/>
                  </a:lnTo>
                  <a:lnTo>
                    <a:pt x="778700" y="1968855"/>
                  </a:lnTo>
                  <a:lnTo>
                    <a:pt x="810336" y="2000491"/>
                  </a:lnTo>
                  <a:lnTo>
                    <a:pt x="846112" y="2027478"/>
                  </a:lnTo>
                  <a:lnTo>
                    <a:pt x="885532" y="2049322"/>
                  </a:lnTo>
                  <a:lnTo>
                    <a:pt x="928103" y="2065553"/>
                  </a:lnTo>
                  <a:lnTo>
                    <a:pt x="973315" y="2075649"/>
                  </a:lnTo>
                  <a:lnTo>
                    <a:pt x="1020699" y="2079117"/>
                  </a:lnTo>
                  <a:lnTo>
                    <a:pt x="1068095" y="2075649"/>
                  </a:lnTo>
                  <a:lnTo>
                    <a:pt x="1113345" y="2065553"/>
                  </a:lnTo>
                  <a:lnTo>
                    <a:pt x="1155928" y="2049322"/>
                  </a:lnTo>
                  <a:lnTo>
                    <a:pt x="1195374" y="2027478"/>
                  </a:lnTo>
                  <a:lnTo>
                    <a:pt x="1231163" y="2000491"/>
                  </a:lnTo>
                  <a:lnTo>
                    <a:pt x="1262799" y="1968855"/>
                  </a:lnTo>
                  <a:lnTo>
                    <a:pt x="1289812" y="1933092"/>
                  </a:lnTo>
                  <a:lnTo>
                    <a:pt x="1311681" y="1893658"/>
                  </a:lnTo>
                  <a:lnTo>
                    <a:pt x="1327912" y="1851088"/>
                  </a:lnTo>
                  <a:lnTo>
                    <a:pt x="1338021" y="1805851"/>
                  </a:lnTo>
                  <a:lnTo>
                    <a:pt x="1341501" y="1758442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082" y="5500623"/>
              <a:ext cx="137159" cy="137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4195" y="4495799"/>
              <a:ext cx="607060" cy="1567180"/>
            </a:xfrm>
            <a:custGeom>
              <a:avLst/>
              <a:gdLst/>
              <a:ahLst/>
              <a:cxnLst/>
              <a:rect l="l" t="t" r="r" b="b"/>
              <a:pathLst>
                <a:path w="607060" h="1567179">
                  <a:moveTo>
                    <a:pt x="274332" y="1429512"/>
                  </a:moveTo>
                  <a:lnTo>
                    <a:pt x="267322" y="1386166"/>
                  </a:lnTo>
                  <a:lnTo>
                    <a:pt x="247840" y="1348511"/>
                  </a:lnTo>
                  <a:lnTo>
                    <a:pt x="218147" y="1318818"/>
                  </a:lnTo>
                  <a:lnTo>
                    <a:pt x="180492" y="1299349"/>
                  </a:lnTo>
                  <a:lnTo>
                    <a:pt x="137172" y="1292352"/>
                  </a:lnTo>
                  <a:lnTo>
                    <a:pt x="93840" y="1299349"/>
                  </a:lnTo>
                  <a:lnTo>
                    <a:pt x="56184" y="1318818"/>
                  </a:lnTo>
                  <a:lnTo>
                    <a:pt x="26492" y="1348511"/>
                  </a:lnTo>
                  <a:lnTo>
                    <a:pt x="7010" y="1386166"/>
                  </a:lnTo>
                  <a:lnTo>
                    <a:pt x="0" y="1429512"/>
                  </a:lnTo>
                  <a:lnTo>
                    <a:pt x="7010" y="1472869"/>
                  </a:lnTo>
                  <a:lnTo>
                    <a:pt x="26492" y="1510525"/>
                  </a:lnTo>
                  <a:lnTo>
                    <a:pt x="56184" y="1540217"/>
                  </a:lnTo>
                  <a:lnTo>
                    <a:pt x="93840" y="1559687"/>
                  </a:lnTo>
                  <a:lnTo>
                    <a:pt x="137172" y="1566672"/>
                  </a:lnTo>
                  <a:lnTo>
                    <a:pt x="180492" y="1559687"/>
                  </a:lnTo>
                  <a:lnTo>
                    <a:pt x="218147" y="1540217"/>
                  </a:lnTo>
                  <a:lnTo>
                    <a:pt x="247840" y="1510525"/>
                  </a:lnTo>
                  <a:lnTo>
                    <a:pt x="267322" y="1472869"/>
                  </a:lnTo>
                  <a:lnTo>
                    <a:pt x="274332" y="1429512"/>
                  </a:lnTo>
                  <a:close/>
                </a:path>
                <a:path w="607060" h="1567179">
                  <a:moveTo>
                    <a:pt x="606564" y="182880"/>
                  </a:moveTo>
                  <a:lnTo>
                    <a:pt x="600024" y="134277"/>
                  </a:lnTo>
                  <a:lnTo>
                    <a:pt x="581583" y="90601"/>
                  </a:lnTo>
                  <a:lnTo>
                    <a:pt x="552983" y="53581"/>
                  </a:lnTo>
                  <a:lnTo>
                    <a:pt x="515962" y="24980"/>
                  </a:lnTo>
                  <a:lnTo>
                    <a:pt x="472287" y="6540"/>
                  </a:lnTo>
                  <a:lnTo>
                    <a:pt x="423684" y="0"/>
                  </a:lnTo>
                  <a:lnTo>
                    <a:pt x="375069" y="6540"/>
                  </a:lnTo>
                  <a:lnTo>
                    <a:pt x="331393" y="24980"/>
                  </a:lnTo>
                  <a:lnTo>
                    <a:pt x="294373" y="53581"/>
                  </a:lnTo>
                  <a:lnTo>
                    <a:pt x="265772" y="90601"/>
                  </a:lnTo>
                  <a:lnTo>
                    <a:pt x="247332" y="134277"/>
                  </a:lnTo>
                  <a:lnTo>
                    <a:pt x="240804" y="182880"/>
                  </a:lnTo>
                  <a:lnTo>
                    <a:pt x="247332" y="231495"/>
                  </a:lnTo>
                  <a:lnTo>
                    <a:pt x="265772" y="275170"/>
                  </a:lnTo>
                  <a:lnTo>
                    <a:pt x="294373" y="312191"/>
                  </a:lnTo>
                  <a:lnTo>
                    <a:pt x="331393" y="340791"/>
                  </a:lnTo>
                  <a:lnTo>
                    <a:pt x="375069" y="359232"/>
                  </a:lnTo>
                  <a:lnTo>
                    <a:pt x="423684" y="365760"/>
                  </a:lnTo>
                  <a:lnTo>
                    <a:pt x="472287" y="359232"/>
                  </a:lnTo>
                  <a:lnTo>
                    <a:pt x="515962" y="340791"/>
                  </a:lnTo>
                  <a:lnTo>
                    <a:pt x="552983" y="312191"/>
                  </a:lnTo>
                  <a:lnTo>
                    <a:pt x="581583" y="275170"/>
                  </a:lnTo>
                  <a:lnTo>
                    <a:pt x="600024" y="231495"/>
                  </a:lnTo>
                  <a:lnTo>
                    <a:pt x="606564" y="18288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364994" y="3565017"/>
            <a:ext cx="1772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615" dirty="0">
                <a:latin typeface="Cambria"/>
                <a:cs typeface="Cambria"/>
              </a:rPr>
              <a:t>L</a:t>
            </a:r>
            <a:r>
              <a:rPr sz="2850" b="1" spc="365" dirty="0">
                <a:latin typeface="Cambria"/>
                <a:cs typeface="Cambria"/>
              </a:rPr>
              <a:t>AYOUT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825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54" dirty="0"/>
              <a:t> IS</a:t>
            </a:r>
            <a:r>
              <a:rPr spc="265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108825" cy="425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LayoutManagers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used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arrange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400" spc="50" dirty="0">
                <a:latin typeface="Cambria"/>
                <a:cs typeface="Cambria"/>
              </a:rPr>
              <a:t>components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particular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manner.</a:t>
            </a:r>
            <a:endParaRPr sz="2400">
              <a:latin typeface="Cambria"/>
              <a:cs typeface="Cambri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80" dirty="0">
                <a:latin typeface="Cambria"/>
                <a:cs typeface="Cambria"/>
              </a:rPr>
              <a:t>AWT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provides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following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layout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managers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(in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package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java.awt):</a:t>
            </a:r>
            <a:endParaRPr sz="24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FlowLayout,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GridLayout,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BorderLayout,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5" dirty="0">
                <a:latin typeface="Cambria"/>
                <a:cs typeface="Cambria"/>
              </a:rPr>
              <a:t>GridBagLayout,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BoxLayout,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CardLayout,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and</a:t>
            </a:r>
            <a:r>
              <a:rPr sz="2100" spc="6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others.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825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54" dirty="0"/>
              <a:t> IS</a:t>
            </a:r>
            <a:r>
              <a:rPr spc="265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7420" cy="2965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35" dirty="0">
                <a:latin typeface="Cambria"/>
                <a:cs typeface="Cambria"/>
              </a:rPr>
              <a:t>Each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Container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object</a:t>
            </a:r>
            <a:r>
              <a:rPr sz="2000" b="1" spc="12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has </a:t>
            </a:r>
            <a:r>
              <a:rPr sz="2000" b="1" spc="155" dirty="0">
                <a:latin typeface="Cambria"/>
                <a:cs typeface="Cambria"/>
              </a:rPr>
              <a:t>a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layout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140" dirty="0">
                <a:latin typeface="Cambria"/>
                <a:cs typeface="Cambria"/>
              </a:rPr>
              <a:t>manager</a:t>
            </a:r>
            <a:endParaRPr sz="20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000" b="1" spc="120" dirty="0">
                <a:latin typeface="Cambria"/>
                <a:cs typeface="Cambria"/>
              </a:rPr>
              <a:t>associated</a:t>
            </a:r>
            <a:r>
              <a:rPr sz="2000" b="1" spc="85" dirty="0">
                <a:latin typeface="Cambria"/>
                <a:cs typeface="Cambria"/>
              </a:rPr>
              <a:t> </a:t>
            </a:r>
            <a:r>
              <a:rPr sz="2000" b="1" spc="145" dirty="0">
                <a:latin typeface="Cambria"/>
                <a:cs typeface="Cambria"/>
              </a:rPr>
              <a:t>with</a:t>
            </a:r>
            <a:r>
              <a:rPr sz="2000" b="1" spc="100" dirty="0">
                <a:latin typeface="Cambria"/>
                <a:cs typeface="Cambria"/>
              </a:rPr>
              <a:t> it.</a:t>
            </a:r>
            <a:endParaRPr sz="2000">
              <a:latin typeface="Cambria"/>
              <a:cs typeface="Cambria"/>
            </a:endParaRPr>
          </a:p>
          <a:p>
            <a:pPr marL="286385" marR="1223645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200" dirty="0">
                <a:latin typeface="Cambria"/>
                <a:cs typeface="Cambria"/>
              </a:rPr>
              <a:t>A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layout </a:t>
            </a:r>
            <a:r>
              <a:rPr sz="2000" spc="90" dirty="0">
                <a:latin typeface="Cambria"/>
                <a:cs typeface="Cambria"/>
              </a:rPr>
              <a:t>manager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an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instance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any </a:t>
            </a:r>
            <a:r>
              <a:rPr sz="2000" spc="70" dirty="0">
                <a:latin typeface="Cambria"/>
                <a:cs typeface="Cambria"/>
              </a:rPr>
              <a:t>class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implements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LayoutManager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interface.</a:t>
            </a:r>
            <a:endParaRPr sz="20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95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layout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manager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set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by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setLayout(</a:t>
            </a:r>
            <a:r>
              <a:rPr sz="2000" b="1" spc="120" dirty="0">
                <a:latin typeface="Cambria"/>
                <a:cs typeface="Cambria"/>
              </a:rPr>
              <a:t> </a:t>
            </a:r>
            <a:r>
              <a:rPr sz="2000" b="1" spc="-40" dirty="0">
                <a:latin typeface="Cambria"/>
                <a:cs typeface="Cambria"/>
              </a:rPr>
              <a:t>)</a:t>
            </a:r>
            <a:r>
              <a:rPr sz="2000" b="1" spc="120" dirty="0">
                <a:latin typeface="Cambria"/>
                <a:cs typeface="Cambria"/>
              </a:rPr>
              <a:t> method.</a:t>
            </a:r>
            <a:endParaRPr sz="2000">
              <a:latin typeface="Cambria"/>
              <a:cs typeface="Cambri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100" dirty="0">
                <a:latin typeface="Cambria"/>
                <a:cs typeface="Cambria"/>
              </a:rPr>
              <a:t>If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you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-20" dirty="0">
                <a:latin typeface="Cambria"/>
                <a:cs typeface="Cambria"/>
              </a:rPr>
              <a:t>do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not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specify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 </a:t>
            </a:r>
            <a:r>
              <a:rPr sz="1900" spc="65" dirty="0">
                <a:latin typeface="Cambria"/>
                <a:cs typeface="Cambria"/>
              </a:rPr>
              <a:t>layout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manager,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container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will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use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default:</a:t>
            </a:r>
            <a:endParaRPr sz="1900">
              <a:latin typeface="Cambria"/>
              <a:cs typeface="Cambria"/>
            </a:endParaRPr>
          </a:p>
          <a:p>
            <a:pPr marL="515620" lvl="1" indent="-171450">
              <a:lnSpc>
                <a:spcPct val="100000"/>
              </a:lnSpc>
              <a:spcBef>
                <a:spcPts val="285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516255" algn="l"/>
              </a:tabLst>
            </a:pPr>
            <a:r>
              <a:rPr sz="1700" b="1" spc="-5" dirty="0">
                <a:latin typeface="Courier New"/>
                <a:cs typeface="Courier New"/>
              </a:rPr>
              <a:t>JPane</a:t>
            </a:r>
            <a:r>
              <a:rPr sz="1700" b="1" dirty="0">
                <a:latin typeface="Courier New"/>
                <a:cs typeface="Courier New"/>
              </a:rPr>
              <a:t>l</a:t>
            </a:r>
            <a:r>
              <a:rPr sz="1700" b="1" spc="-520" dirty="0">
                <a:latin typeface="Courier New"/>
                <a:cs typeface="Courier New"/>
              </a:rPr>
              <a:t> </a:t>
            </a:r>
            <a:r>
              <a:rPr sz="1700" spc="35" dirty="0">
                <a:latin typeface="Cambria"/>
                <a:cs typeface="Cambria"/>
              </a:rPr>
              <a:t>d</a:t>
            </a:r>
            <a:r>
              <a:rPr sz="1700" spc="75" dirty="0">
                <a:latin typeface="Cambria"/>
                <a:cs typeface="Cambria"/>
              </a:rPr>
              <a:t>efault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FlowLayout</a:t>
            </a:r>
            <a:endParaRPr sz="1700">
              <a:latin typeface="Courier New"/>
              <a:cs typeface="Courier New"/>
            </a:endParaRPr>
          </a:p>
          <a:p>
            <a:pPr marL="515620" lvl="1" indent="-171450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79411"/>
              <a:buFont typeface="Segoe UI Symbol"/>
              <a:buChar char="⚫"/>
              <a:tabLst>
                <a:tab pos="516255" algn="l"/>
              </a:tabLst>
            </a:pPr>
            <a:r>
              <a:rPr sz="1700" b="1" spc="-5" dirty="0">
                <a:latin typeface="Courier New"/>
                <a:cs typeface="Courier New"/>
              </a:rPr>
              <a:t>JFram</a:t>
            </a:r>
            <a:r>
              <a:rPr sz="1700" b="1" dirty="0">
                <a:latin typeface="Courier New"/>
                <a:cs typeface="Courier New"/>
              </a:rPr>
              <a:t>e</a:t>
            </a:r>
            <a:r>
              <a:rPr sz="1700" b="1" spc="-525" dirty="0">
                <a:latin typeface="Courier New"/>
                <a:cs typeface="Courier New"/>
              </a:rPr>
              <a:t> </a:t>
            </a:r>
            <a:r>
              <a:rPr sz="1700" spc="65" dirty="0">
                <a:latin typeface="Cambria"/>
                <a:cs typeface="Cambria"/>
              </a:rPr>
              <a:t>defaul</a:t>
            </a:r>
            <a:r>
              <a:rPr sz="1700" spc="55" dirty="0">
                <a:latin typeface="Cambria"/>
                <a:cs typeface="Cambria"/>
              </a:rPr>
              <a:t>t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b="1" spc="-5" dirty="0">
                <a:latin typeface="Courier New"/>
                <a:cs typeface="Courier New"/>
              </a:rPr>
              <a:t>BorderLayout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502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F</a:t>
            </a:r>
            <a:r>
              <a:rPr spc="285" dirty="0"/>
              <a:t>LOW</a:t>
            </a:r>
            <a:r>
              <a:rPr spc="215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95449"/>
            <a:ext cx="6975475" cy="481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51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45" dirty="0">
                <a:latin typeface="Cambria"/>
                <a:cs typeface="Cambria"/>
              </a:rPr>
              <a:t>In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the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java.awt.FlowLayout,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components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endParaRPr sz="2200">
              <a:latin typeface="Cambria"/>
              <a:cs typeface="Cambria"/>
            </a:endParaRPr>
          </a:p>
          <a:p>
            <a:pPr marL="286385">
              <a:lnSpc>
                <a:spcPts val="2510"/>
              </a:lnSpc>
            </a:pPr>
            <a:r>
              <a:rPr sz="2200" spc="80" dirty="0">
                <a:latin typeface="Cambria"/>
                <a:cs typeface="Cambria"/>
              </a:rPr>
              <a:t>arranged</a:t>
            </a:r>
            <a:endParaRPr sz="2200">
              <a:latin typeface="Cambria"/>
              <a:cs typeface="Cambria"/>
            </a:endParaRPr>
          </a:p>
          <a:p>
            <a:pPr marL="652780" marR="226060" lvl="1" indent="-274955">
              <a:lnSpc>
                <a:spcPts val="2050"/>
              </a:lnSpc>
              <a:spcBef>
                <a:spcPts val="50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35" dirty="0">
                <a:latin typeface="Cambria"/>
                <a:cs typeface="Cambria"/>
              </a:rPr>
              <a:t>from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left-to-right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inside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container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20" dirty="0">
                <a:latin typeface="Cambria"/>
                <a:cs typeface="Cambria"/>
              </a:rPr>
              <a:t>order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that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they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are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added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04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85" dirty="0">
                <a:latin typeface="Cambria"/>
                <a:cs typeface="Cambria"/>
              </a:rPr>
              <a:t>When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20" dirty="0">
                <a:latin typeface="Cambria"/>
                <a:cs typeface="Cambria"/>
              </a:rPr>
              <a:t>one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row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filled,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new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row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will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be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started.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2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70" dirty="0">
                <a:latin typeface="Cambria"/>
                <a:cs typeface="Cambria"/>
              </a:rPr>
              <a:t>Constructors:</a:t>
            </a:r>
            <a:endParaRPr sz="22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45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75" dirty="0">
                <a:latin typeface="Cambria"/>
                <a:cs typeface="Cambria"/>
              </a:rPr>
              <a:t>FlowLayout(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10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927100" marR="5080" lvl="2" indent="-182880">
              <a:lnSpc>
                <a:spcPts val="1730"/>
              </a:lnSpc>
              <a:spcBef>
                <a:spcPts val="414"/>
              </a:spcBef>
              <a:buClr>
                <a:srgbClr val="DF752E"/>
              </a:buClr>
              <a:buSzPct val="59375"/>
              <a:buFont typeface="Wingdings"/>
              <a:buChar char=""/>
              <a:tabLst>
                <a:tab pos="927735" algn="l"/>
              </a:tabLst>
            </a:pPr>
            <a:r>
              <a:rPr sz="1600" spc="45" dirty="0">
                <a:latin typeface="Cambria"/>
                <a:cs typeface="Cambria"/>
              </a:rPr>
              <a:t>creates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default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layout,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which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centers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components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and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leaves </a:t>
            </a:r>
            <a:r>
              <a:rPr sz="1600" spc="-34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five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pixels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of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space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between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each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component.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10"/>
              </a:spcBef>
              <a:buClr>
                <a:srgbClr val="FD8537"/>
              </a:buClr>
              <a:buSzPct val="80000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000" spc="75" dirty="0">
                <a:latin typeface="Cambria"/>
                <a:cs typeface="Cambria"/>
              </a:rPr>
              <a:t>FlowLayout(int</a:t>
            </a:r>
            <a:r>
              <a:rPr sz="2000" spc="65" dirty="0">
                <a:latin typeface="Cambria"/>
                <a:cs typeface="Cambria"/>
              </a:rPr>
              <a:t> </a:t>
            </a:r>
            <a:r>
              <a:rPr sz="2000" i="1" spc="40" dirty="0">
                <a:latin typeface="Cambria"/>
                <a:cs typeface="Cambria"/>
              </a:rPr>
              <a:t>how)</a:t>
            </a:r>
            <a:endParaRPr sz="20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195"/>
              </a:spcBef>
              <a:buClr>
                <a:srgbClr val="DF752E"/>
              </a:buClr>
              <a:buSzPct val="59375"/>
              <a:buFont typeface="Wingdings"/>
              <a:buChar char=""/>
              <a:tabLst>
                <a:tab pos="927735" algn="l"/>
              </a:tabLst>
            </a:pPr>
            <a:r>
              <a:rPr sz="1600" spc="30" dirty="0">
                <a:latin typeface="Cambria"/>
                <a:cs typeface="Cambria"/>
              </a:rPr>
              <a:t>specify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how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each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line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is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aligned.</a:t>
            </a:r>
            <a:endParaRPr sz="16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190"/>
              </a:spcBef>
              <a:buClr>
                <a:srgbClr val="DF752E"/>
              </a:buClr>
              <a:buSzPct val="59375"/>
              <a:buFont typeface="Wingdings"/>
              <a:buChar char=""/>
              <a:tabLst>
                <a:tab pos="927735" algn="l"/>
              </a:tabLst>
            </a:pPr>
            <a:r>
              <a:rPr sz="1600" spc="85" dirty="0">
                <a:latin typeface="Cambria"/>
                <a:cs typeface="Cambria"/>
              </a:rPr>
              <a:t>Valid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values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" dirty="0">
                <a:latin typeface="Cambria"/>
                <a:cs typeface="Cambria"/>
              </a:rPr>
              <a:t>for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i="1" spc="60" dirty="0">
                <a:latin typeface="Cambria"/>
                <a:cs typeface="Cambria"/>
              </a:rPr>
              <a:t>how</a:t>
            </a:r>
            <a:r>
              <a:rPr sz="1600" i="1" spc="105" dirty="0">
                <a:latin typeface="Cambria"/>
                <a:cs typeface="Cambria"/>
              </a:rPr>
              <a:t> </a:t>
            </a:r>
            <a:r>
              <a:rPr sz="1600" i="1" spc="30" dirty="0">
                <a:latin typeface="Cambria"/>
                <a:cs typeface="Cambria"/>
              </a:rPr>
              <a:t>are</a:t>
            </a:r>
            <a:r>
              <a:rPr sz="1600" i="1" spc="95" dirty="0">
                <a:latin typeface="Cambria"/>
                <a:cs typeface="Cambria"/>
              </a:rPr>
              <a:t> </a:t>
            </a:r>
            <a:r>
              <a:rPr sz="1600" i="1" spc="80" dirty="0">
                <a:latin typeface="Cambria"/>
                <a:cs typeface="Cambria"/>
              </a:rPr>
              <a:t>as</a:t>
            </a:r>
            <a:r>
              <a:rPr sz="1600" i="1" spc="100" dirty="0">
                <a:latin typeface="Cambria"/>
                <a:cs typeface="Cambria"/>
              </a:rPr>
              <a:t> </a:t>
            </a:r>
            <a:r>
              <a:rPr sz="1600" i="1" spc="55" dirty="0">
                <a:latin typeface="Cambria"/>
                <a:cs typeface="Cambria"/>
              </a:rPr>
              <a:t>follows:</a:t>
            </a:r>
            <a:endParaRPr sz="1600">
              <a:latin typeface="Cambria"/>
              <a:cs typeface="Cambria"/>
            </a:endParaRPr>
          </a:p>
          <a:p>
            <a:pPr marL="1201420" lvl="3" indent="-183515">
              <a:lnSpc>
                <a:spcPct val="100000"/>
              </a:lnSpc>
              <a:spcBef>
                <a:spcPts val="180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02055" algn="l"/>
              </a:tabLst>
            </a:pPr>
            <a:r>
              <a:rPr sz="1400" spc="95" dirty="0">
                <a:latin typeface="Cambria"/>
                <a:cs typeface="Cambria"/>
              </a:rPr>
              <a:t>FlowLayout.LEFT</a:t>
            </a:r>
            <a:endParaRPr sz="1400">
              <a:latin typeface="Cambria"/>
              <a:cs typeface="Cambria"/>
            </a:endParaRPr>
          </a:p>
          <a:p>
            <a:pPr marL="1201420" lvl="3" indent="-183515">
              <a:lnSpc>
                <a:spcPct val="100000"/>
              </a:lnSpc>
              <a:spcBef>
                <a:spcPts val="170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02055" algn="l"/>
              </a:tabLst>
            </a:pPr>
            <a:r>
              <a:rPr sz="1400" spc="105" dirty="0">
                <a:latin typeface="Cambria"/>
                <a:cs typeface="Cambria"/>
              </a:rPr>
              <a:t>FlowLayout.CENTER</a:t>
            </a:r>
            <a:endParaRPr sz="1400">
              <a:latin typeface="Cambria"/>
              <a:cs typeface="Cambria"/>
            </a:endParaRPr>
          </a:p>
          <a:p>
            <a:pPr marL="1201420" lvl="3" indent="-183515">
              <a:lnSpc>
                <a:spcPct val="100000"/>
              </a:lnSpc>
              <a:spcBef>
                <a:spcPts val="165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02055" algn="l"/>
              </a:tabLst>
            </a:pPr>
            <a:r>
              <a:rPr sz="1400" spc="95" dirty="0">
                <a:latin typeface="Cambria"/>
                <a:cs typeface="Cambria"/>
              </a:rPr>
              <a:t>FlowLayout.RIGHT</a:t>
            </a:r>
            <a:endParaRPr sz="1400">
              <a:latin typeface="Cambria"/>
              <a:cs typeface="Cambria"/>
            </a:endParaRPr>
          </a:p>
          <a:p>
            <a:pPr marL="1201420" lvl="3" indent="-183515">
              <a:lnSpc>
                <a:spcPct val="100000"/>
              </a:lnSpc>
              <a:spcBef>
                <a:spcPts val="170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02055" algn="l"/>
              </a:tabLst>
            </a:pPr>
            <a:r>
              <a:rPr sz="1400" spc="105" dirty="0">
                <a:latin typeface="Cambria"/>
                <a:cs typeface="Cambria"/>
              </a:rPr>
              <a:t>FlowLayout.LEADING</a:t>
            </a:r>
            <a:endParaRPr sz="1400">
              <a:latin typeface="Cambria"/>
              <a:cs typeface="Cambria"/>
            </a:endParaRPr>
          </a:p>
          <a:p>
            <a:pPr marL="1201420" lvl="3" indent="-183515">
              <a:lnSpc>
                <a:spcPct val="100000"/>
              </a:lnSpc>
              <a:spcBef>
                <a:spcPts val="165"/>
              </a:spcBef>
              <a:buClr>
                <a:srgbClr val="FDC3AD"/>
              </a:buClr>
              <a:buSzPct val="60714"/>
              <a:buFont typeface="Wingdings"/>
              <a:buChar char=""/>
              <a:tabLst>
                <a:tab pos="1202055" algn="l"/>
              </a:tabLst>
            </a:pPr>
            <a:r>
              <a:rPr sz="1400" spc="100" dirty="0">
                <a:latin typeface="Cambria"/>
                <a:cs typeface="Cambria"/>
              </a:rPr>
              <a:t>FlowLayout.TRAILING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502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F</a:t>
            </a:r>
            <a:r>
              <a:rPr spc="285" dirty="0"/>
              <a:t>LOW</a:t>
            </a:r>
            <a:r>
              <a:rPr spc="215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84705"/>
            <a:ext cx="5517515" cy="482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sz="1500" b="1" spc="95" dirty="0">
                <a:latin typeface="Cambria"/>
                <a:cs typeface="Cambria"/>
              </a:rPr>
              <a:t>public</a:t>
            </a:r>
            <a:r>
              <a:rPr sz="1500" b="1" spc="80" dirty="0">
                <a:latin typeface="Cambria"/>
                <a:cs typeface="Cambria"/>
              </a:rPr>
              <a:t> class </a:t>
            </a:r>
            <a:r>
              <a:rPr sz="1500" b="1" spc="130" dirty="0">
                <a:latin typeface="Cambria"/>
                <a:cs typeface="Cambria"/>
              </a:rPr>
              <a:t>MyLayOut{</a:t>
            </a:r>
            <a:endParaRPr sz="1500" dirty="0">
              <a:latin typeface="Cambria"/>
              <a:cs typeface="Cambria"/>
            </a:endParaRPr>
          </a:p>
          <a:p>
            <a:pPr marL="222885" marR="4138929">
              <a:lnSpc>
                <a:spcPct val="80000"/>
              </a:lnSpc>
              <a:spcBef>
                <a:spcPts val="120"/>
              </a:spcBef>
            </a:pPr>
            <a:r>
              <a:rPr sz="1500" spc="130" dirty="0">
                <a:latin typeface="Cambria"/>
                <a:cs typeface="Cambria"/>
              </a:rPr>
              <a:t>JFrame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f;</a:t>
            </a:r>
            <a:endParaRPr sz="1500" dirty="0">
              <a:latin typeface="Cambria"/>
              <a:cs typeface="Cambria"/>
            </a:endParaRPr>
          </a:p>
          <a:p>
            <a:pPr marL="222885" marR="4138929">
              <a:lnSpc>
                <a:spcPct val="80000"/>
              </a:lnSpc>
            </a:pPr>
            <a:r>
              <a:rPr sz="1500" spc="155" dirty="0">
                <a:latin typeface="Cambria"/>
                <a:cs typeface="Cambria"/>
              </a:rPr>
              <a:t>My</a:t>
            </a:r>
            <a:r>
              <a:rPr sz="1500" spc="114" dirty="0">
                <a:latin typeface="Cambria"/>
                <a:cs typeface="Cambria"/>
              </a:rPr>
              <a:t>L</a:t>
            </a:r>
            <a:r>
              <a:rPr sz="1500" spc="100" dirty="0">
                <a:latin typeface="Cambria"/>
                <a:cs typeface="Cambria"/>
              </a:rPr>
              <a:t>a</a:t>
            </a:r>
            <a:r>
              <a:rPr sz="1500" spc="110" dirty="0">
                <a:latin typeface="Cambria"/>
                <a:cs typeface="Cambria"/>
              </a:rPr>
              <a:t>yO</a:t>
            </a:r>
            <a:r>
              <a:rPr sz="1500" spc="80" dirty="0">
                <a:latin typeface="Cambria"/>
                <a:cs typeface="Cambria"/>
              </a:rPr>
              <a:t>ut</a:t>
            </a:r>
            <a:r>
              <a:rPr sz="1500" spc="-75" dirty="0">
                <a:latin typeface="Cambria"/>
                <a:cs typeface="Cambria"/>
              </a:rPr>
              <a:t>(</a:t>
            </a:r>
            <a:r>
              <a:rPr sz="1500" spc="-70" dirty="0">
                <a:latin typeface="Cambria"/>
                <a:cs typeface="Cambria"/>
              </a:rPr>
              <a:t>)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 dirty="0">
              <a:latin typeface="Cambria"/>
              <a:cs typeface="Cambria"/>
            </a:endParaRPr>
          </a:p>
          <a:p>
            <a:pPr marL="433070" marR="5080">
              <a:lnSpc>
                <a:spcPct val="80000"/>
              </a:lnSpc>
              <a:spcBef>
                <a:spcPts val="60"/>
              </a:spcBef>
            </a:pPr>
            <a:r>
              <a:rPr sz="1500" spc="90" dirty="0">
                <a:latin typeface="Cambria"/>
                <a:cs typeface="Cambria"/>
              </a:rPr>
              <a:t>f=</a:t>
            </a:r>
            <a:r>
              <a:rPr sz="1500" b="1" spc="90" dirty="0">
                <a:latin typeface="Cambria"/>
                <a:cs typeface="Cambria"/>
              </a:rPr>
              <a:t>new </a:t>
            </a:r>
            <a:r>
              <a:rPr sz="1500" b="1" spc="110" dirty="0">
                <a:latin typeface="Cambria"/>
                <a:cs typeface="Cambria"/>
              </a:rPr>
              <a:t>JFrame(); </a:t>
            </a:r>
            <a:r>
              <a:rPr sz="1500" b="1" spc="114" dirty="0">
                <a:latin typeface="Cambria"/>
                <a:cs typeface="Cambria"/>
              </a:rPr>
              <a:t> </a:t>
            </a:r>
            <a:r>
              <a:rPr sz="1500" spc="114" dirty="0">
                <a:latin typeface="Cambria"/>
                <a:cs typeface="Cambria"/>
              </a:rPr>
              <a:t>f.setDefaultCloseOperation(JFrame.</a:t>
            </a:r>
            <a:r>
              <a:rPr sz="1500" b="1" i="1" spc="114" dirty="0">
                <a:latin typeface="Cambria"/>
                <a:cs typeface="Cambria"/>
              </a:rPr>
              <a:t>EXIT_ON_CLOSE); </a:t>
            </a:r>
            <a:r>
              <a:rPr sz="1500" b="1" i="1" spc="-32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f.setLayout(</a:t>
            </a:r>
            <a:r>
              <a:rPr sz="1500" b="1" spc="65" dirty="0">
                <a:latin typeface="Cambria"/>
                <a:cs typeface="Cambria"/>
              </a:rPr>
              <a:t>new</a:t>
            </a:r>
            <a:r>
              <a:rPr sz="1500" b="1" spc="55" dirty="0">
                <a:latin typeface="Cambria"/>
                <a:cs typeface="Cambria"/>
              </a:rPr>
              <a:t> </a:t>
            </a:r>
            <a:r>
              <a:rPr sz="1500" b="1" spc="80" dirty="0">
                <a:latin typeface="Cambria"/>
                <a:cs typeface="Cambria"/>
              </a:rPr>
              <a:t>FlowLayout());</a:t>
            </a:r>
            <a:endParaRPr sz="1500" dirty="0">
              <a:latin typeface="Cambria"/>
              <a:cs typeface="Cambria"/>
            </a:endParaRPr>
          </a:p>
          <a:p>
            <a:pPr marL="433070">
              <a:lnSpc>
                <a:spcPts val="1440"/>
              </a:lnSpc>
            </a:pPr>
            <a:r>
              <a:rPr sz="1500" spc="30" dirty="0">
                <a:latin typeface="Cambria"/>
                <a:cs typeface="Cambria"/>
              </a:rPr>
              <a:t>f.setSize(200,200);</a:t>
            </a:r>
            <a:endParaRPr sz="1500" dirty="0">
              <a:latin typeface="Cambria"/>
              <a:cs typeface="Cambria"/>
            </a:endParaRPr>
          </a:p>
          <a:p>
            <a:pPr marL="433070" marR="1778635">
              <a:lnSpc>
                <a:spcPct val="80000"/>
              </a:lnSpc>
              <a:spcBef>
                <a:spcPts val="1440"/>
              </a:spcBef>
            </a:pP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b1=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60" dirty="0">
                <a:latin typeface="Cambria"/>
                <a:cs typeface="Cambria"/>
              </a:rPr>
              <a:t>JButton("1"); </a:t>
            </a:r>
            <a:r>
              <a:rPr sz="1500" b="1" spc="65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b2=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100" dirty="0">
                <a:latin typeface="Cambria"/>
                <a:cs typeface="Cambria"/>
              </a:rPr>
              <a:t>JButton("Test </a:t>
            </a:r>
            <a:r>
              <a:rPr sz="1500" b="1" spc="-50" dirty="0">
                <a:latin typeface="Cambria"/>
                <a:cs typeface="Cambria"/>
              </a:rPr>
              <a:t>2"); </a:t>
            </a:r>
            <a:r>
              <a:rPr sz="1500" b="1" spc="-320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b3=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60" dirty="0">
                <a:latin typeface="Cambria"/>
                <a:cs typeface="Cambria"/>
              </a:rPr>
              <a:t>JButton("3"); </a:t>
            </a:r>
            <a:r>
              <a:rPr sz="1500" b="1" spc="65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b4=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60" dirty="0">
                <a:latin typeface="Cambria"/>
                <a:cs typeface="Cambria"/>
              </a:rPr>
              <a:t>JButton("4"); </a:t>
            </a:r>
            <a:r>
              <a:rPr sz="1500" b="1" spc="65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b5=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60" dirty="0">
                <a:latin typeface="Cambria"/>
                <a:cs typeface="Cambria"/>
              </a:rPr>
              <a:t>JButton("5"); </a:t>
            </a:r>
            <a:r>
              <a:rPr sz="1500" b="1" spc="65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b6=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60" dirty="0">
                <a:latin typeface="Cambria"/>
                <a:cs typeface="Cambria"/>
              </a:rPr>
              <a:t>JButton("6"); </a:t>
            </a:r>
            <a:r>
              <a:rPr sz="1500" b="1" spc="65" dirty="0">
                <a:latin typeface="Cambria"/>
                <a:cs typeface="Cambria"/>
              </a:rPr>
              <a:t> </a:t>
            </a:r>
            <a:r>
              <a:rPr sz="1500" spc="114" dirty="0">
                <a:latin typeface="Cambria"/>
                <a:cs typeface="Cambria"/>
              </a:rPr>
              <a:t>JButton </a:t>
            </a:r>
            <a:r>
              <a:rPr sz="1500" spc="65" dirty="0">
                <a:latin typeface="Cambria"/>
                <a:cs typeface="Cambria"/>
              </a:rPr>
              <a:t>b7=</a:t>
            </a:r>
            <a:r>
              <a:rPr sz="1500" b="1" spc="65" dirty="0">
                <a:latin typeface="Cambria"/>
                <a:cs typeface="Cambria"/>
              </a:rPr>
              <a:t>new </a:t>
            </a:r>
            <a:r>
              <a:rPr sz="1500" b="1" spc="55" dirty="0">
                <a:latin typeface="Cambria"/>
                <a:cs typeface="Cambria"/>
              </a:rPr>
              <a:t>JButton("7"); </a:t>
            </a:r>
            <a:r>
              <a:rPr sz="1500" b="1" spc="60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 </a:t>
            </a:r>
            <a:r>
              <a:rPr sz="1500" spc="70" dirty="0">
                <a:latin typeface="Cambria"/>
                <a:cs typeface="Cambria"/>
              </a:rPr>
              <a:t>b8=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60" dirty="0">
                <a:latin typeface="Cambria"/>
                <a:cs typeface="Cambria"/>
              </a:rPr>
              <a:t>JButton("8"); </a:t>
            </a:r>
            <a:r>
              <a:rPr sz="1500" b="1" spc="65" dirty="0">
                <a:latin typeface="Cambria"/>
                <a:cs typeface="Cambria"/>
              </a:rPr>
              <a:t> </a:t>
            </a:r>
            <a:r>
              <a:rPr sz="1500" spc="110" dirty="0">
                <a:latin typeface="Cambria"/>
                <a:cs typeface="Cambria"/>
              </a:rPr>
              <a:t>JButton</a:t>
            </a:r>
            <a:r>
              <a:rPr sz="1500" spc="5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b9=</a:t>
            </a:r>
            <a:r>
              <a:rPr sz="1500" b="1" spc="70" dirty="0">
                <a:latin typeface="Cambria"/>
                <a:cs typeface="Cambria"/>
              </a:rPr>
              <a:t>new </a:t>
            </a:r>
            <a:r>
              <a:rPr sz="1500" b="1" spc="114" dirty="0">
                <a:latin typeface="Cambria"/>
                <a:cs typeface="Cambria"/>
              </a:rPr>
              <a:t>JButton("Last</a:t>
            </a:r>
            <a:r>
              <a:rPr sz="1500" b="1" spc="70" dirty="0">
                <a:latin typeface="Cambria"/>
                <a:cs typeface="Cambria"/>
              </a:rPr>
              <a:t> </a:t>
            </a:r>
            <a:r>
              <a:rPr sz="1500" b="1" spc="-50" dirty="0">
                <a:latin typeface="Cambria"/>
                <a:cs typeface="Cambria"/>
              </a:rPr>
              <a:t>9");</a:t>
            </a:r>
            <a:endParaRPr sz="1500" dirty="0">
              <a:latin typeface="Cambria"/>
              <a:cs typeface="Cambria"/>
            </a:endParaRPr>
          </a:p>
          <a:p>
            <a:pPr marL="433070">
              <a:lnSpc>
                <a:spcPts val="1620"/>
              </a:lnSpc>
              <a:spcBef>
                <a:spcPts val="1080"/>
              </a:spcBef>
            </a:pPr>
            <a:r>
              <a:rPr sz="1500" spc="15" dirty="0">
                <a:latin typeface="Cambria"/>
                <a:cs typeface="Cambria"/>
              </a:rPr>
              <a:t>f.add(b1);f.add(b2);f.add(b3);f.add(b4);f.add(b5);</a:t>
            </a:r>
            <a:endParaRPr sz="1500" dirty="0">
              <a:latin typeface="Cambria"/>
              <a:cs typeface="Cambria"/>
            </a:endParaRPr>
          </a:p>
          <a:p>
            <a:pPr marL="433070" marR="1738630">
              <a:lnSpc>
                <a:spcPts val="1440"/>
              </a:lnSpc>
              <a:spcBef>
                <a:spcPts val="170"/>
              </a:spcBef>
            </a:pPr>
            <a:r>
              <a:rPr sz="1500" spc="15" dirty="0">
                <a:latin typeface="Cambria"/>
                <a:cs typeface="Cambria"/>
              </a:rPr>
              <a:t>f.add(b6);f.add(b7);f.add(b8);f.add(b9); </a:t>
            </a:r>
            <a:r>
              <a:rPr sz="1500" spc="-32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f.setVisible(</a:t>
            </a:r>
            <a:r>
              <a:rPr sz="1500" b="1" spc="50" dirty="0">
                <a:latin typeface="Cambria"/>
                <a:cs typeface="Cambria"/>
              </a:rPr>
              <a:t>true);</a:t>
            </a:r>
            <a:endParaRPr sz="1500" dirty="0">
              <a:latin typeface="Cambria"/>
              <a:cs typeface="Cambria"/>
            </a:endParaRPr>
          </a:p>
          <a:p>
            <a:pPr marL="222885">
              <a:lnSpc>
                <a:spcPts val="1275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 dirty="0">
              <a:latin typeface="Cambria"/>
              <a:cs typeface="Cambria"/>
            </a:endParaRPr>
          </a:p>
          <a:p>
            <a:pPr marL="433070" marR="1494790" indent="-210820">
              <a:lnSpc>
                <a:spcPts val="1440"/>
              </a:lnSpc>
              <a:spcBef>
                <a:spcPts val="170"/>
              </a:spcBef>
            </a:pPr>
            <a:r>
              <a:rPr sz="1500" b="1" spc="95" dirty="0">
                <a:latin typeface="Cambria"/>
                <a:cs typeface="Cambria"/>
              </a:rPr>
              <a:t>public </a:t>
            </a:r>
            <a:r>
              <a:rPr sz="1500" b="1" spc="90" dirty="0">
                <a:latin typeface="Cambria"/>
                <a:cs typeface="Cambria"/>
              </a:rPr>
              <a:t>static </a:t>
            </a:r>
            <a:r>
              <a:rPr sz="1500" b="1" spc="85" dirty="0">
                <a:latin typeface="Cambria"/>
                <a:cs typeface="Cambria"/>
              </a:rPr>
              <a:t>void </a:t>
            </a:r>
            <a:r>
              <a:rPr sz="1500" b="1" spc="90" dirty="0">
                <a:latin typeface="Cambria"/>
                <a:cs typeface="Cambria"/>
              </a:rPr>
              <a:t>main(String[] </a:t>
            </a:r>
            <a:r>
              <a:rPr sz="1500" b="1" spc="70" dirty="0">
                <a:latin typeface="Cambria"/>
                <a:cs typeface="Cambria"/>
              </a:rPr>
              <a:t>args) </a:t>
            </a:r>
            <a:r>
              <a:rPr sz="1500" b="1" spc="-10" dirty="0">
                <a:latin typeface="Cambria"/>
                <a:cs typeface="Cambria"/>
              </a:rPr>
              <a:t>{ </a:t>
            </a:r>
            <a:r>
              <a:rPr sz="1500" b="1" spc="-320" dirty="0">
                <a:latin typeface="Cambria"/>
                <a:cs typeface="Cambria"/>
              </a:rPr>
              <a:t> </a:t>
            </a:r>
            <a:r>
              <a:rPr sz="1500" b="1" spc="105" dirty="0">
                <a:latin typeface="Cambria"/>
                <a:cs typeface="Cambria"/>
              </a:rPr>
              <a:t>new</a:t>
            </a:r>
            <a:r>
              <a:rPr sz="1500" b="1" spc="70" dirty="0">
                <a:latin typeface="Cambria"/>
                <a:cs typeface="Cambria"/>
              </a:rPr>
              <a:t> </a:t>
            </a:r>
            <a:r>
              <a:rPr sz="1500" b="1" spc="105" dirty="0">
                <a:latin typeface="Cambria"/>
                <a:cs typeface="Cambria"/>
              </a:rPr>
              <a:t>MyLayOut();</a:t>
            </a:r>
            <a:endParaRPr sz="1500" dirty="0">
              <a:latin typeface="Cambria"/>
              <a:cs typeface="Cambria"/>
            </a:endParaRPr>
          </a:p>
          <a:p>
            <a:pPr marL="222885">
              <a:lnSpc>
                <a:spcPts val="127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 dirty="0">
              <a:latin typeface="Cambria"/>
              <a:cs typeface="Cambria"/>
            </a:endParaRPr>
          </a:p>
          <a:p>
            <a:pPr marL="117475">
              <a:lnSpc>
                <a:spcPts val="162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23622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20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B</a:t>
            </a:r>
            <a:r>
              <a:rPr spc="290" dirty="0"/>
              <a:t>ORDER</a:t>
            </a:r>
            <a:r>
              <a:rPr spc="229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7016750" cy="49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59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0" dirty="0">
                <a:latin typeface="Cambria"/>
                <a:cs typeface="Cambria"/>
              </a:rPr>
              <a:t>Default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layout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frame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divides</a:t>
            </a:r>
            <a:r>
              <a:rPr sz="2400" spc="100" dirty="0">
                <a:latin typeface="Cambria"/>
                <a:cs typeface="Cambria"/>
              </a:rPr>
              <a:t> area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into</a:t>
            </a:r>
            <a:endParaRPr sz="2400" dirty="0">
              <a:latin typeface="Cambria"/>
              <a:cs typeface="Cambria"/>
            </a:endParaRPr>
          </a:p>
          <a:p>
            <a:pPr marL="286385">
              <a:lnSpc>
                <a:spcPts val="2595"/>
              </a:lnSpc>
            </a:pPr>
            <a:r>
              <a:rPr sz="2400" spc="100" dirty="0">
                <a:latin typeface="Cambria"/>
                <a:cs typeface="Cambria"/>
              </a:rPr>
              <a:t>named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regions:</a:t>
            </a:r>
            <a:endParaRPr sz="2400" dirty="0">
              <a:latin typeface="Cambria"/>
              <a:cs typeface="Cambria"/>
            </a:endParaRPr>
          </a:p>
          <a:p>
            <a:pPr marL="55244" marR="5269230" indent="-43180">
              <a:lnSpc>
                <a:spcPts val="1150"/>
              </a:lnSpc>
              <a:spcBef>
                <a:spcPts val="1180"/>
              </a:spcBef>
            </a:pPr>
            <a:r>
              <a:rPr sz="1200" b="1" spc="65" dirty="0">
                <a:latin typeface="Cambria"/>
                <a:cs typeface="Cambria"/>
              </a:rPr>
              <a:t>import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java.awt.*;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import</a:t>
            </a:r>
            <a:r>
              <a:rPr sz="1200" b="1" spc="60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javax.swing.*;</a:t>
            </a:r>
            <a:endParaRPr sz="1200" dirty="0">
              <a:latin typeface="Cambria"/>
              <a:cs typeface="Cambria"/>
            </a:endParaRPr>
          </a:p>
          <a:p>
            <a:pPr marL="12700">
              <a:lnSpc>
                <a:spcPts val="1295"/>
              </a:lnSpc>
              <a:spcBef>
                <a:spcPts val="875"/>
              </a:spcBef>
            </a:pP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55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class</a:t>
            </a:r>
            <a:r>
              <a:rPr sz="1200" b="1" spc="75" dirty="0">
                <a:latin typeface="Cambria"/>
                <a:cs typeface="Cambria"/>
              </a:rPr>
              <a:t> Border</a:t>
            </a:r>
            <a:r>
              <a:rPr sz="1200" b="1" spc="60" dirty="0">
                <a:latin typeface="Cambria"/>
                <a:cs typeface="Cambria"/>
              </a:rPr>
              <a:t> </a:t>
            </a:r>
            <a:r>
              <a:rPr sz="1200" b="1" spc="-5" dirty="0">
                <a:latin typeface="Cambria"/>
                <a:cs typeface="Cambria"/>
              </a:rPr>
              <a:t>{</a:t>
            </a:r>
            <a:endParaRPr sz="1200" dirty="0">
              <a:latin typeface="Cambria"/>
              <a:cs typeface="Cambria"/>
            </a:endParaRPr>
          </a:p>
          <a:p>
            <a:pPr marL="182880" marR="6139180">
              <a:lnSpc>
                <a:spcPts val="1150"/>
              </a:lnSpc>
              <a:spcBef>
                <a:spcPts val="140"/>
              </a:spcBef>
            </a:pPr>
            <a:r>
              <a:rPr sz="1200" spc="105" dirty="0">
                <a:latin typeface="Cambria"/>
                <a:cs typeface="Cambria"/>
              </a:rPr>
              <a:t>JFrame</a:t>
            </a:r>
            <a:r>
              <a:rPr sz="1200" spc="-10" dirty="0">
                <a:latin typeface="Cambria"/>
                <a:cs typeface="Cambria"/>
              </a:rPr>
              <a:t> </a:t>
            </a:r>
            <a:r>
              <a:rPr sz="1200" spc="25" dirty="0">
                <a:latin typeface="Cambria"/>
                <a:cs typeface="Cambria"/>
              </a:rPr>
              <a:t>f;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-5" dirty="0">
                <a:latin typeface="Cambria"/>
                <a:cs typeface="Cambria"/>
              </a:rPr>
              <a:t>Border(){</a:t>
            </a:r>
            <a:endParaRPr sz="1200" dirty="0">
              <a:latin typeface="Cambria"/>
              <a:cs typeface="Cambria"/>
            </a:endParaRPr>
          </a:p>
          <a:p>
            <a:pPr marL="355600">
              <a:lnSpc>
                <a:spcPts val="1165"/>
              </a:lnSpc>
            </a:pPr>
            <a:r>
              <a:rPr sz="1200" spc="65" dirty="0">
                <a:latin typeface="Cambria"/>
                <a:cs typeface="Cambria"/>
              </a:rPr>
              <a:t>f=</a:t>
            </a:r>
            <a:r>
              <a:rPr sz="1200" b="1" spc="65" dirty="0">
                <a:latin typeface="Cambria"/>
                <a:cs typeface="Cambria"/>
              </a:rPr>
              <a:t>new</a:t>
            </a:r>
            <a:r>
              <a:rPr sz="1200" b="1" spc="50" dirty="0">
                <a:latin typeface="Cambria"/>
                <a:cs typeface="Cambria"/>
              </a:rPr>
              <a:t> </a:t>
            </a:r>
            <a:r>
              <a:rPr sz="1200" b="1" spc="85" dirty="0">
                <a:latin typeface="Cambria"/>
                <a:cs typeface="Cambria"/>
              </a:rPr>
              <a:t>JFrame();</a:t>
            </a:r>
            <a:endParaRPr sz="1200" dirty="0">
              <a:latin typeface="Cambria"/>
              <a:cs typeface="Cambria"/>
            </a:endParaRPr>
          </a:p>
          <a:p>
            <a:pPr marL="355600" marR="3735070">
              <a:lnSpc>
                <a:spcPts val="1150"/>
              </a:lnSpc>
              <a:spcBef>
                <a:spcPts val="1140"/>
              </a:spcBef>
            </a:pPr>
            <a:r>
              <a:rPr sz="1200" spc="85" dirty="0">
                <a:latin typeface="Cambria"/>
                <a:cs typeface="Cambria"/>
              </a:rPr>
              <a:t>JButton </a:t>
            </a:r>
            <a:r>
              <a:rPr sz="1200" spc="50" dirty="0">
                <a:latin typeface="Cambria"/>
                <a:cs typeface="Cambria"/>
              </a:rPr>
              <a:t>b1=</a:t>
            </a:r>
            <a:r>
              <a:rPr sz="1200" b="1" spc="50" dirty="0">
                <a:latin typeface="Cambria"/>
                <a:cs typeface="Cambria"/>
              </a:rPr>
              <a:t>new </a:t>
            </a:r>
            <a:r>
              <a:rPr sz="1200" b="1" spc="75" dirty="0">
                <a:latin typeface="Cambria"/>
                <a:cs typeface="Cambria"/>
              </a:rPr>
              <a:t>JButton("NORTH");; 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JButton </a:t>
            </a:r>
            <a:r>
              <a:rPr sz="1200" spc="50" dirty="0">
                <a:latin typeface="Cambria"/>
                <a:cs typeface="Cambria"/>
              </a:rPr>
              <a:t>b2=</a:t>
            </a:r>
            <a:r>
              <a:rPr sz="1200" b="1" spc="50" dirty="0">
                <a:latin typeface="Cambria"/>
                <a:cs typeface="Cambria"/>
              </a:rPr>
              <a:t>new </a:t>
            </a:r>
            <a:r>
              <a:rPr sz="1200" b="1" spc="75" dirty="0">
                <a:latin typeface="Cambria"/>
                <a:cs typeface="Cambria"/>
              </a:rPr>
              <a:t>JButton("SOUTH");; 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JButton </a:t>
            </a:r>
            <a:r>
              <a:rPr sz="1200" spc="50" dirty="0">
                <a:latin typeface="Cambria"/>
                <a:cs typeface="Cambria"/>
              </a:rPr>
              <a:t>b3=</a:t>
            </a:r>
            <a:r>
              <a:rPr sz="1200" b="1" spc="50" dirty="0">
                <a:latin typeface="Cambria"/>
                <a:cs typeface="Cambria"/>
              </a:rPr>
              <a:t>new </a:t>
            </a:r>
            <a:r>
              <a:rPr sz="1200" b="1" spc="70" dirty="0">
                <a:latin typeface="Cambria"/>
                <a:cs typeface="Cambria"/>
              </a:rPr>
              <a:t>JButton("EAST");; 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JButton </a:t>
            </a:r>
            <a:r>
              <a:rPr sz="1200" spc="50" dirty="0">
                <a:latin typeface="Cambria"/>
                <a:cs typeface="Cambria"/>
              </a:rPr>
              <a:t>b4=</a:t>
            </a:r>
            <a:r>
              <a:rPr sz="1200" b="1" spc="5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JButton("WEST");;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85" dirty="0">
                <a:latin typeface="Cambria"/>
                <a:cs typeface="Cambria"/>
              </a:rPr>
              <a:t>JButton</a:t>
            </a:r>
            <a:r>
              <a:rPr sz="1200" spc="70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b5=</a:t>
            </a:r>
            <a:r>
              <a:rPr sz="1200" b="1" spc="50" dirty="0">
                <a:latin typeface="Cambria"/>
                <a:cs typeface="Cambria"/>
              </a:rPr>
              <a:t>new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90" dirty="0">
                <a:latin typeface="Cambria"/>
                <a:cs typeface="Cambria"/>
              </a:rPr>
              <a:t>JButton("CENTER");;</a:t>
            </a:r>
            <a:endParaRPr sz="1200" dirty="0">
              <a:latin typeface="Cambria"/>
              <a:cs typeface="Cambria"/>
            </a:endParaRPr>
          </a:p>
          <a:p>
            <a:pPr marL="355600" marR="4201795">
              <a:lnSpc>
                <a:spcPts val="1150"/>
              </a:lnSpc>
              <a:spcBef>
                <a:spcPts val="1165"/>
              </a:spcBef>
            </a:pPr>
            <a:r>
              <a:rPr sz="1200" spc="65" dirty="0">
                <a:latin typeface="Cambria"/>
                <a:cs typeface="Cambria"/>
              </a:rPr>
              <a:t>f.add(b1,BorderLayout.</a:t>
            </a:r>
            <a:r>
              <a:rPr sz="1200" b="1" i="1" spc="65" dirty="0">
                <a:latin typeface="Cambria"/>
                <a:cs typeface="Cambria"/>
              </a:rPr>
              <a:t>NORTH); </a:t>
            </a:r>
            <a:r>
              <a:rPr sz="1200" b="1" i="1" spc="70" dirty="0">
                <a:latin typeface="Cambria"/>
                <a:cs typeface="Cambria"/>
              </a:rPr>
              <a:t> </a:t>
            </a:r>
            <a:r>
              <a:rPr sz="1200" spc="65" dirty="0">
                <a:latin typeface="Cambria"/>
                <a:cs typeface="Cambria"/>
              </a:rPr>
              <a:t>f.add(b2,BorderLayout.</a:t>
            </a:r>
            <a:r>
              <a:rPr sz="1200" b="1" i="1" spc="65" dirty="0">
                <a:latin typeface="Cambria"/>
                <a:cs typeface="Cambria"/>
              </a:rPr>
              <a:t>SOUTH); </a:t>
            </a:r>
            <a:r>
              <a:rPr sz="1200" b="1" i="1" spc="7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f.add(b3,BorderLayout.</a:t>
            </a:r>
            <a:r>
              <a:rPr sz="1200" b="1" i="1" spc="60" dirty="0">
                <a:latin typeface="Cambria"/>
                <a:cs typeface="Cambria"/>
              </a:rPr>
              <a:t>EAST); </a:t>
            </a:r>
            <a:r>
              <a:rPr sz="1200" b="1" i="1" spc="65" dirty="0">
                <a:latin typeface="Cambria"/>
                <a:cs typeface="Cambria"/>
              </a:rPr>
              <a:t> </a:t>
            </a:r>
            <a:r>
              <a:rPr sz="1200" spc="55" dirty="0">
                <a:latin typeface="Cambria"/>
                <a:cs typeface="Cambria"/>
              </a:rPr>
              <a:t>f.add(b4,BorderLayout.</a:t>
            </a:r>
            <a:r>
              <a:rPr sz="1200" b="1" i="1" spc="55" dirty="0">
                <a:latin typeface="Cambria"/>
                <a:cs typeface="Cambria"/>
              </a:rPr>
              <a:t>WEST); </a:t>
            </a:r>
            <a:r>
              <a:rPr sz="1200" b="1" i="1" spc="60" dirty="0">
                <a:latin typeface="Cambria"/>
                <a:cs typeface="Cambria"/>
              </a:rPr>
              <a:t> </a:t>
            </a:r>
            <a:r>
              <a:rPr sz="1200" spc="70" dirty="0">
                <a:latin typeface="Cambria"/>
                <a:cs typeface="Cambria"/>
              </a:rPr>
              <a:t>f.add(b5,BorderLayout.</a:t>
            </a:r>
            <a:r>
              <a:rPr sz="1200" b="1" i="1" spc="70" dirty="0">
                <a:latin typeface="Cambria"/>
                <a:cs typeface="Cambria"/>
              </a:rPr>
              <a:t>CENTER);</a:t>
            </a:r>
            <a:endParaRPr sz="1200" dirty="0">
              <a:latin typeface="Cambria"/>
              <a:cs typeface="Cambria"/>
            </a:endParaRPr>
          </a:p>
          <a:p>
            <a:pPr marL="355600" marR="5366385">
              <a:lnSpc>
                <a:spcPct val="80000"/>
              </a:lnSpc>
              <a:spcBef>
                <a:spcPts val="1170"/>
              </a:spcBef>
            </a:pPr>
            <a:r>
              <a:rPr sz="1200" spc="20" dirty="0">
                <a:latin typeface="Cambria"/>
                <a:cs typeface="Cambria"/>
              </a:rPr>
              <a:t>f.setSize(300,300); </a:t>
            </a:r>
            <a:r>
              <a:rPr sz="1200" spc="-250" dirty="0">
                <a:latin typeface="Cambria"/>
                <a:cs typeface="Cambria"/>
              </a:rPr>
              <a:t> </a:t>
            </a:r>
            <a:r>
              <a:rPr sz="1200" spc="40" dirty="0">
                <a:latin typeface="Cambria"/>
                <a:cs typeface="Cambria"/>
              </a:rPr>
              <a:t>f.setVisible(</a:t>
            </a:r>
            <a:r>
              <a:rPr sz="1200" b="1" spc="40" dirty="0">
                <a:latin typeface="Cambria"/>
                <a:cs typeface="Cambria"/>
              </a:rPr>
              <a:t>true);</a:t>
            </a:r>
            <a:endParaRPr sz="1200" dirty="0">
              <a:latin typeface="Cambria"/>
              <a:cs typeface="Cambria"/>
            </a:endParaRPr>
          </a:p>
          <a:p>
            <a:pPr marL="182880">
              <a:lnSpc>
                <a:spcPts val="1155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  <a:p>
            <a:pPr marL="355600" marR="3773804" indent="-172720">
              <a:lnSpc>
                <a:spcPts val="1150"/>
              </a:lnSpc>
              <a:spcBef>
                <a:spcPts val="1145"/>
              </a:spcBef>
            </a:pP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75" dirty="0">
                <a:latin typeface="Cambria"/>
                <a:cs typeface="Cambria"/>
              </a:rPr>
              <a:t> static </a:t>
            </a:r>
            <a:r>
              <a:rPr sz="1200" b="1" spc="70" dirty="0">
                <a:latin typeface="Cambria"/>
                <a:cs typeface="Cambria"/>
              </a:rPr>
              <a:t>void</a:t>
            </a:r>
            <a:r>
              <a:rPr sz="1200" b="1" spc="95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main(String[]</a:t>
            </a:r>
            <a:r>
              <a:rPr sz="1200" b="1" spc="85" dirty="0">
                <a:latin typeface="Cambria"/>
                <a:cs typeface="Cambria"/>
              </a:rPr>
              <a:t> </a:t>
            </a:r>
            <a:r>
              <a:rPr sz="1200" b="1" spc="55" dirty="0">
                <a:latin typeface="Cambria"/>
                <a:cs typeface="Cambria"/>
              </a:rPr>
              <a:t>args)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-5" dirty="0">
                <a:latin typeface="Cambria"/>
                <a:cs typeface="Cambria"/>
              </a:rPr>
              <a:t>{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45" dirty="0">
                <a:latin typeface="Cambria"/>
                <a:cs typeface="Cambria"/>
              </a:rPr>
              <a:t>Border();</a:t>
            </a:r>
            <a:endParaRPr sz="1200" dirty="0">
              <a:latin typeface="Cambria"/>
              <a:cs typeface="Cambria"/>
            </a:endParaRPr>
          </a:p>
          <a:p>
            <a:pPr marL="182880">
              <a:lnSpc>
                <a:spcPts val="1019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  <a:p>
            <a:pPr marL="12700">
              <a:lnSpc>
                <a:spcPts val="1295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26670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388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G</a:t>
            </a:r>
            <a:r>
              <a:rPr spc="295" dirty="0"/>
              <a:t>RID</a:t>
            </a:r>
            <a:r>
              <a:rPr spc="254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7309484" cy="4600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375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45" dirty="0">
                <a:latin typeface="Cambria"/>
                <a:cs typeface="Cambria"/>
              </a:rPr>
              <a:t>In </a:t>
            </a:r>
            <a:r>
              <a:rPr sz="2200" spc="120" dirty="0">
                <a:latin typeface="Cambria"/>
                <a:cs typeface="Cambria"/>
              </a:rPr>
              <a:t>GridLayout,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components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arranged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45" dirty="0">
                <a:latin typeface="Cambria"/>
                <a:cs typeface="Cambria"/>
              </a:rPr>
              <a:t>a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grid</a:t>
            </a:r>
            <a:endParaRPr sz="2200" dirty="0">
              <a:latin typeface="Cambria"/>
              <a:cs typeface="Cambria"/>
            </a:endParaRPr>
          </a:p>
          <a:p>
            <a:pPr marL="286385">
              <a:lnSpc>
                <a:spcPts val="2375"/>
              </a:lnSpc>
            </a:pPr>
            <a:r>
              <a:rPr sz="2200" spc="50" dirty="0">
                <a:latin typeface="Cambria"/>
                <a:cs typeface="Cambria"/>
              </a:rPr>
              <a:t>(matrix)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5" dirty="0">
                <a:latin typeface="Cambria"/>
                <a:cs typeface="Cambria"/>
              </a:rPr>
              <a:t>rows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and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columns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inside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the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Container.</a:t>
            </a:r>
            <a:endParaRPr sz="2200" dirty="0">
              <a:latin typeface="Cambria"/>
              <a:cs typeface="Cambria"/>
            </a:endParaRPr>
          </a:p>
          <a:p>
            <a:pPr marL="286385" marR="5080" indent="-274320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75" dirty="0">
                <a:latin typeface="Cambria"/>
                <a:cs typeface="Cambria"/>
              </a:rPr>
              <a:t>Components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added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145" dirty="0">
                <a:latin typeface="Cambria"/>
                <a:cs typeface="Cambria"/>
              </a:rPr>
              <a:t>a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left-to-right,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20" dirty="0">
                <a:latin typeface="Cambria"/>
                <a:cs typeface="Cambria"/>
              </a:rPr>
              <a:t>top-to-bottom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manner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the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25" dirty="0">
                <a:latin typeface="Cambria"/>
                <a:cs typeface="Cambria"/>
              </a:rPr>
              <a:t>order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they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are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added.</a:t>
            </a:r>
            <a:endParaRPr sz="2200" dirty="0">
              <a:latin typeface="Cambria"/>
              <a:cs typeface="Cambria"/>
            </a:endParaRPr>
          </a:p>
          <a:p>
            <a:pPr marL="12700">
              <a:lnSpc>
                <a:spcPts val="1620"/>
              </a:lnSpc>
              <a:spcBef>
                <a:spcPts val="1605"/>
              </a:spcBef>
            </a:pPr>
            <a:r>
              <a:rPr sz="1500" spc="35" dirty="0">
                <a:latin typeface="Cambria"/>
                <a:cs typeface="Cambria"/>
              </a:rPr>
              <a:t>import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java.awt.*;</a:t>
            </a:r>
            <a:endParaRPr sz="1500" dirty="0">
              <a:latin typeface="Cambria"/>
              <a:cs typeface="Cambria"/>
            </a:endParaRPr>
          </a:p>
          <a:p>
            <a:pPr marL="12700">
              <a:lnSpc>
                <a:spcPts val="1440"/>
              </a:lnSpc>
            </a:pPr>
            <a:r>
              <a:rPr sz="1500" spc="50" dirty="0">
                <a:latin typeface="Cambria"/>
                <a:cs typeface="Cambria"/>
              </a:rPr>
              <a:t>class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GridLayoutExample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extends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85" dirty="0">
                <a:latin typeface="Cambria"/>
                <a:cs typeface="Cambria"/>
              </a:rPr>
              <a:t>Frame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 dirty="0">
              <a:latin typeface="Cambria"/>
              <a:cs typeface="Cambria"/>
            </a:endParaRPr>
          </a:p>
          <a:p>
            <a:pPr marL="812800" marR="909955" indent="-400050">
              <a:lnSpc>
                <a:spcPts val="1440"/>
              </a:lnSpc>
              <a:spcBef>
                <a:spcPts val="165"/>
              </a:spcBef>
            </a:pP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GridLayoutExample(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widthInPixels,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heightInPixels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)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40" dirty="0">
                <a:latin typeface="Cambria"/>
                <a:cs typeface="Cambria"/>
              </a:rPr>
              <a:t>setTitle(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"Grid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Example"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-25" dirty="0">
                <a:latin typeface="Cambria"/>
                <a:cs typeface="Cambria"/>
              </a:rPr>
              <a:t>);</a:t>
            </a:r>
            <a:endParaRPr sz="1500" dirty="0">
              <a:latin typeface="Cambria"/>
              <a:cs typeface="Cambria"/>
            </a:endParaRPr>
          </a:p>
          <a:p>
            <a:pPr marL="812800" marR="2943860">
              <a:lnSpc>
                <a:spcPct val="80000"/>
              </a:lnSpc>
              <a:spcBef>
                <a:spcPts val="15"/>
              </a:spcBef>
            </a:pPr>
            <a:r>
              <a:rPr sz="1500" spc="45" dirty="0">
                <a:latin typeface="Cambria"/>
                <a:cs typeface="Cambria"/>
              </a:rPr>
              <a:t>setSize(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widthInPixels,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heightInPixels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-30" dirty="0">
                <a:latin typeface="Cambria"/>
                <a:cs typeface="Cambria"/>
              </a:rPr>
              <a:t>);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numberOfRows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4;</a:t>
            </a:r>
            <a:endParaRPr sz="1500" dirty="0">
              <a:latin typeface="Cambria"/>
              <a:cs typeface="Cambria"/>
            </a:endParaRPr>
          </a:p>
          <a:p>
            <a:pPr marL="812800">
              <a:lnSpc>
                <a:spcPts val="1260"/>
              </a:lnSpc>
            </a:pP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numberOfColumns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3;</a:t>
            </a:r>
            <a:endParaRPr sz="1500" dirty="0">
              <a:latin typeface="Cambria"/>
              <a:cs typeface="Cambria"/>
            </a:endParaRPr>
          </a:p>
          <a:p>
            <a:pPr marL="812800" marR="2520950">
              <a:lnSpc>
                <a:spcPct val="80000"/>
              </a:lnSpc>
              <a:spcBef>
                <a:spcPts val="180"/>
              </a:spcBef>
            </a:pPr>
            <a:r>
              <a:rPr sz="1500" spc="50" dirty="0">
                <a:latin typeface="Cambria"/>
                <a:cs typeface="Cambria"/>
              </a:rPr>
              <a:t>setLayout(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new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GridLayout(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numberOfRows,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numberOfColumns</a:t>
            </a:r>
            <a:r>
              <a:rPr sz="1500" spc="100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)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30" dirty="0">
                <a:latin typeface="Cambria"/>
                <a:cs typeface="Cambria"/>
              </a:rPr>
              <a:t>);</a:t>
            </a:r>
            <a:endParaRPr sz="1500" dirty="0">
              <a:latin typeface="Cambria"/>
              <a:cs typeface="Cambria"/>
            </a:endParaRPr>
          </a:p>
          <a:p>
            <a:pPr marL="812800">
              <a:lnSpc>
                <a:spcPts val="1260"/>
              </a:lnSpc>
            </a:pPr>
            <a:r>
              <a:rPr sz="1500" spc="15" dirty="0">
                <a:latin typeface="Cambria"/>
                <a:cs typeface="Cambria"/>
              </a:rPr>
              <a:t>for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(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int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label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=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1;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label</a:t>
            </a:r>
            <a:r>
              <a:rPr sz="1500" spc="75" dirty="0">
                <a:latin typeface="Cambria"/>
                <a:cs typeface="Cambria"/>
              </a:rPr>
              <a:t> &lt;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" dirty="0">
                <a:latin typeface="Cambria"/>
                <a:cs typeface="Cambria"/>
              </a:rPr>
              <a:t>13;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label++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)</a:t>
            </a:r>
            <a:endParaRPr sz="1500" dirty="0">
              <a:latin typeface="Cambria"/>
              <a:cs typeface="Cambria"/>
            </a:endParaRPr>
          </a:p>
          <a:p>
            <a:pPr marL="812800" marR="2546350" indent="114300">
              <a:lnSpc>
                <a:spcPct val="80000"/>
              </a:lnSpc>
              <a:spcBef>
                <a:spcPts val="180"/>
              </a:spcBef>
            </a:pPr>
            <a:r>
              <a:rPr sz="1500" spc="20" dirty="0">
                <a:latin typeface="Cambria"/>
                <a:cs typeface="Cambria"/>
              </a:rPr>
              <a:t>add( </a:t>
            </a:r>
            <a:r>
              <a:rPr sz="1500" spc="30" dirty="0">
                <a:latin typeface="Cambria"/>
                <a:cs typeface="Cambria"/>
              </a:rPr>
              <a:t>new </a:t>
            </a:r>
            <a:r>
              <a:rPr sz="1500" spc="45" dirty="0">
                <a:latin typeface="Cambria"/>
                <a:cs typeface="Cambria"/>
              </a:rPr>
              <a:t>Button( </a:t>
            </a:r>
            <a:r>
              <a:rPr sz="1500" spc="70" dirty="0">
                <a:latin typeface="Cambria"/>
                <a:cs typeface="Cambria"/>
              </a:rPr>
              <a:t>String.valueOf( </a:t>
            </a:r>
            <a:r>
              <a:rPr sz="1500" spc="50" dirty="0">
                <a:latin typeface="Cambria"/>
                <a:cs typeface="Cambria"/>
              </a:rPr>
              <a:t>label </a:t>
            </a:r>
            <a:r>
              <a:rPr sz="1500" spc="-75" dirty="0">
                <a:latin typeface="Cambria"/>
                <a:cs typeface="Cambria"/>
              </a:rPr>
              <a:t>)</a:t>
            </a:r>
            <a:r>
              <a:rPr sz="1500" spc="-70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)</a:t>
            </a:r>
            <a:r>
              <a:rPr sz="1500" spc="-70" dirty="0">
                <a:latin typeface="Cambria"/>
                <a:cs typeface="Cambria"/>
              </a:rPr>
              <a:t> </a:t>
            </a:r>
            <a:r>
              <a:rPr sz="1500" spc="-30" dirty="0">
                <a:latin typeface="Cambria"/>
                <a:cs typeface="Cambria"/>
              </a:rPr>
              <a:t>); </a:t>
            </a:r>
            <a:r>
              <a:rPr sz="1500" spc="-320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show();</a:t>
            </a:r>
            <a:endParaRPr sz="1500" dirty="0">
              <a:latin typeface="Cambria"/>
              <a:cs typeface="Cambria"/>
            </a:endParaRPr>
          </a:p>
          <a:p>
            <a:pPr marL="413384">
              <a:lnSpc>
                <a:spcPts val="126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 dirty="0">
              <a:latin typeface="Cambria"/>
              <a:cs typeface="Cambria"/>
            </a:endParaRPr>
          </a:p>
          <a:p>
            <a:pPr marL="413384">
              <a:lnSpc>
                <a:spcPts val="1440"/>
              </a:lnSpc>
            </a:pPr>
            <a:r>
              <a:rPr sz="1500" spc="35" dirty="0">
                <a:latin typeface="Cambria"/>
                <a:cs typeface="Cambria"/>
              </a:rPr>
              <a:t>public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static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15" dirty="0">
                <a:latin typeface="Cambria"/>
                <a:cs typeface="Cambria"/>
              </a:rPr>
              <a:t>void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main(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String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args[]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-75" dirty="0">
                <a:latin typeface="Cambria"/>
                <a:cs typeface="Cambria"/>
              </a:rPr>
              <a:t>)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85" dirty="0">
                <a:latin typeface="Cambria"/>
                <a:cs typeface="Cambria"/>
              </a:rPr>
              <a:t>{</a:t>
            </a:r>
            <a:endParaRPr sz="1500" dirty="0">
              <a:latin typeface="Cambria"/>
              <a:cs typeface="Cambria"/>
            </a:endParaRPr>
          </a:p>
          <a:p>
            <a:pPr marL="927100">
              <a:lnSpc>
                <a:spcPts val="1440"/>
              </a:lnSpc>
            </a:pPr>
            <a:r>
              <a:rPr sz="1500" spc="30" dirty="0">
                <a:latin typeface="Cambria"/>
                <a:cs typeface="Cambria"/>
              </a:rPr>
              <a:t>new</a:t>
            </a:r>
            <a:r>
              <a:rPr sz="1500" spc="70" dirty="0">
                <a:latin typeface="Cambria"/>
                <a:cs typeface="Cambria"/>
              </a:rPr>
              <a:t> GridLayoutExample(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175,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100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-30" dirty="0">
                <a:latin typeface="Cambria"/>
                <a:cs typeface="Cambria"/>
              </a:rPr>
              <a:t>);</a:t>
            </a:r>
            <a:endParaRPr sz="1500" dirty="0">
              <a:latin typeface="Cambria"/>
              <a:cs typeface="Cambria"/>
            </a:endParaRPr>
          </a:p>
          <a:p>
            <a:pPr marL="413384">
              <a:lnSpc>
                <a:spcPts val="144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 dirty="0">
              <a:latin typeface="Cambria"/>
              <a:cs typeface="Cambria"/>
            </a:endParaRPr>
          </a:p>
          <a:p>
            <a:pPr marL="12700">
              <a:lnSpc>
                <a:spcPts val="1620"/>
              </a:lnSpc>
            </a:pPr>
            <a:r>
              <a:rPr sz="1500" spc="-85" dirty="0">
                <a:latin typeface="Cambria"/>
                <a:cs typeface="Cambria"/>
              </a:rPr>
              <a:t>}</a:t>
            </a:r>
            <a:endParaRPr sz="15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4097211"/>
            <a:ext cx="1771650" cy="150912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57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50" dirty="0"/>
              <a:t>N</a:t>
            </a:r>
            <a:r>
              <a:rPr spc="350" dirty="0"/>
              <a:t>O</a:t>
            </a:r>
            <a:r>
              <a:rPr spc="220" dirty="0"/>
              <a:t> </a:t>
            </a:r>
            <a:r>
              <a:rPr sz="3000" spc="300" dirty="0"/>
              <a:t>L</a:t>
            </a:r>
            <a:r>
              <a:rPr spc="300" dirty="0"/>
              <a:t>AYOUT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6217920" cy="487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59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want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add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component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specific</a:t>
            </a:r>
            <a:endParaRPr sz="2400" dirty="0">
              <a:latin typeface="Cambria"/>
              <a:cs typeface="Cambria"/>
            </a:endParaRPr>
          </a:p>
          <a:p>
            <a:pPr marL="286385">
              <a:lnSpc>
                <a:spcPts val="2595"/>
              </a:lnSpc>
            </a:pPr>
            <a:r>
              <a:rPr sz="2400" spc="70" dirty="0">
                <a:latin typeface="Cambria"/>
                <a:cs typeface="Cambria"/>
              </a:rPr>
              <a:t>location.</a:t>
            </a:r>
            <a:endParaRPr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55" dirty="0">
                <a:latin typeface="Cambria"/>
                <a:cs typeface="Cambria"/>
              </a:rPr>
              <a:t>Set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Layout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null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1520"/>
              </a:lnSpc>
              <a:spcBef>
                <a:spcPts val="1515"/>
              </a:spcBef>
            </a:pPr>
            <a:r>
              <a:rPr sz="1400" b="1" spc="90" dirty="0">
                <a:latin typeface="Cambria"/>
                <a:cs typeface="Cambria"/>
              </a:rPr>
              <a:t>public</a:t>
            </a:r>
            <a:r>
              <a:rPr sz="1400" b="1" spc="65" dirty="0">
                <a:latin typeface="Cambria"/>
                <a:cs typeface="Cambria"/>
              </a:rPr>
              <a:t> </a:t>
            </a:r>
            <a:r>
              <a:rPr sz="1400" b="1" spc="75" dirty="0">
                <a:latin typeface="Cambria"/>
                <a:cs typeface="Cambria"/>
              </a:rPr>
              <a:t>class</a:t>
            </a:r>
            <a:r>
              <a:rPr sz="1400" b="1" spc="55" dirty="0">
                <a:latin typeface="Cambria"/>
                <a:cs typeface="Cambria"/>
              </a:rPr>
              <a:t> </a:t>
            </a:r>
            <a:r>
              <a:rPr sz="1400" b="1" spc="125" dirty="0">
                <a:latin typeface="Cambria"/>
                <a:cs typeface="Cambria"/>
              </a:rPr>
              <a:t>MyLayOut{</a:t>
            </a:r>
            <a:endParaRPr sz="1400" dirty="0">
              <a:latin typeface="Cambria"/>
              <a:cs typeface="Cambria"/>
            </a:endParaRPr>
          </a:p>
          <a:p>
            <a:pPr marL="210185">
              <a:lnSpc>
                <a:spcPts val="1350"/>
              </a:lnSpc>
            </a:pPr>
            <a:r>
              <a:rPr sz="1400" spc="125" dirty="0">
                <a:latin typeface="Cambria"/>
                <a:cs typeface="Cambria"/>
              </a:rPr>
              <a:t>JFrame</a:t>
            </a:r>
            <a:r>
              <a:rPr sz="1400" spc="2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f;</a:t>
            </a:r>
            <a:endParaRPr sz="1400" dirty="0">
              <a:latin typeface="Cambria"/>
              <a:cs typeface="Cambria"/>
            </a:endParaRPr>
          </a:p>
          <a:p>
            <a:pPr marL="485140">
              <a:lnSpc>
                <a:spcPts val="1345"/>
              </a:lnSpc>
            </a:pPr>
            <a:r>
              <a:rPr sz="1400" spc="55" dirty="0">
                <a:latin typeface="Cambria"/>
                <a:cs typeface="Cambria"/>
              </a:rPr>
              <a:t>MyLayOut(){</a:t>
            </a:r>
            <a:endParaRPr sz="1400" dirty="0">
              <a:latin typeface="Cambria"/>
              <a:cs typeface="Cambria"/>
            </a:endParaRPr>
          </a:p>
          <a:p>
            <a:pPr marL="692150" marR="4011929" indent="-10795" algn="just">
              <a:lnSpc>
                <a:spcPts val="1340"/>
              </a:lnSpc>
              <a:spcBef>
                <a:spcPts val="160"/>
              </a:spcBef>
            </a:pPr>
            <a:r>
              <a:rPr sz="1400" spc="80" dirty="0">
                <a:latin typeface="Cambria"/>
                <a:cs typeface="Cambria"/>
              </a:rPr>
              <a:t>f=</a:t>
            </a:r>
            <a:r>
              <a:rPr sz="1400" b="1" spc="80" dirty="0">
                <a:latin typeface="Cambria"/>
                <a:cs typeface="Cambria"/>
              </a:rPr>
              <a:t>new </a:t>
            </a:r>
            <a:r>
              <a:rPr sz="1400" b="1" spc="105" dirty="0">
                <a:latin typeface="Cambria"/>
                <a:cs typeface="Cambria"/>
              </a:rPr>
              <a:t>JFrame();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f.setSize(200,200); </a:t>
            </a:r>
            <a:r>
              <a:rPr sz="1400" spc="-30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f.setLayout(</a:t>
            </a:r>
            <a:r>
              <a:rPr sz="1400" b="1" spc="50" dirty="0">
                <a:latin typeface="Cambria"/>
                <a:cs typeface="Cambria"/>
              </a:rPr>
              <a:t>null);</a:t>
            </a:r>
            <a:endParaRPr sz="1400" dirty="0">
              <a:latin typeface="Cambria"/>
              <a:cs typeface="Cambria"/>
            </a:endParaRPr>
          </a:p>
          <a:p>
            <a:pPr marL="681990">
              <a:lnSpc>
                <a:spcPts val="1365"/>
              </a:lnSpc>
            </a:pPr>
            <a:r>
              <a:rPr sz="1400" spc="105" dirty="0">
                <a:latin typeface="Cambria"/>
                <a:cs typeface="Cambria"/>
              </a:rPr>
              <a:t>f.setDefaultCloseOperation(JFrame.</a:t>
            </a:r>
            <a:r>
              <a:rPr sz="1400" b="1" i="1" spc="105" dirty="0">
                <a:latin typeface="Cambria"/>
                <a:cs typeface="Cambria"/>
              </a:rPr>
              <a:t>EXIT_ON_CLOSE);</a:t>
            </a:r>
            <a:endParaRPr sz="1400" dirty="0">
              <a:latin typeface="Cambria"/>
              <a:cs typeface="Cambria"/>
            </a:endParaRPr>
          </a:p>
          <a:p>
            <a:pPr marL="681990" marR="2454910">
              <a:lnSpc>
                <a:spcPct val="80100"/>
              </a:lnSpc>
              <a:spcBef>
                <a:spcPts val="1345"/>
              </a:spcBef>
            </a:pPr>
            <a:r>
              <a:rPr sz="1400" spc="105" dirty="0">
                <a:latin typeface="Cambria"/>
                <a:cs typeface="Cambria"/>
              </a:rPr>
              <a:t>JButton </a:t>
            </a:r>
            <a:r>
              <a:rPr sz="1400" spc="60" dirty="0">
                <a:latin typeface="Cambria"/>
                <a:cs typeface="Cambria"/>
              </a:rPr>
              <a:t>b1=</a:t>
            </a:r>
            <a:r>
              <a:rPr sz="1400" b="1" spc="60" dirty="0">
                <a:latin typeface="Cambria"/>
                <a:cs typeface="Cambria"/>
              </a:rPr>
              <a:t>new </a:t>
            </a:r>
            <a:r>
              <a:rPr sz="1400" b="1" spc="55" dirty="0">
                <a:latin typeface="Cambria"/>
                <a:cs typeface="Cambria"/>
              </a:rPr>
              <a:t>JButton("1"); 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JButton </a:t>
            </a:r>
            <a:r>
              <a:rPr sz="1400" spc="60" dirty="0">
                <a:latin typeface="Cambria"/>
                <a:cs typeface="Cambria"/>
              </a:rPr>
              <a:t>b2=</a:t>
            </a:r>
            <a:r>
              <a:rPr sz="1400" b="1" spc="60" dirty="0">
                <a:latin typeface="Cambria"/>
                <a:cs typeface="Cambria"/>
              </a:rPr>
              <a:t>new </a:t>
            </a:r>
            <a:r>
              <a:rPr sz="1400" b="1" spc="95" dirty="0">
                <a:latin typeface="Cambria"/>
                <a:cs typeface="Cambria"/>
              </a:rPr>
              <a:t>JButton("Test </a:t>
            </a:r>
            <a:r>
              <a:rPr sz="1400" b="1" spc="-50" dirty="0">
                <a:latin typeface="Cambria"/>
                <a:cs typeface="Cambria"/>
              </a:rPr>
              <a:t>2"); </a:t>
            </a:r>
            <a:r>
              <a:rPr sz="1400" b="1" spc="-300" dirty="0">
                <a:latin typeface="Cambria"/>
                <a:cs typeface="Cambria"/>
              </a:rPr>
              <a:t> </a:t>
            </a:r>
            <a:r>
              <a:rPr sz="1400" spc="105" dirty="0">
                <a:latin typeface="Cambria"/>
                <a:cs typeface="Cambria"/>
              </a:rPr>
              <a:t>JButton </a:t>
            </a:r>
            <a:r>
              <a:rPr sz="1400" spc="60" dirty="0">
                <a:latin typeface="Cambria"/>
                <a:cs typeface="Cambria"/>
              </a:rPr>
              <a:t>b3=</a:t>
            </a:r>
            <a:r>
              <a:rPr sz="1400" b="1" spc="60" dirty="0">
                <a:latin typeface="Cambria"/>
                <a:cs typeface="Cambria"/>
              </a:rPr>
              <a:t>new </a:t>
            </a:r>
            <a:r>
              <a:rPr sz="1400" b="1" spc="55" dirty="0">
                <a:latin typeface="Cambria"/>
                <a:cs typeface="Cambria"/>
              </a:rPr>
              <a:t>JButton("3"); </a:t>
            </a:r>
            <a:r>
              <a:rPr sz="1400" b="1" spc="6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b1.setBounds(10, </a:t>
            </a:r>
            <a:r>
              <a:rPr sz="1400" spc="30" dirty="0">
                <a:latin typeface="Cambria"/>
                <a:cs typeface="Cambria"/>
              </a:rPr>
              <a:t>10,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50,</a:t>
            </a:r>
            <a:r>
              <a:rPr sz="1400" spc="60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</a:t>
            </a:r>
            <a:endParaRPr sz="1400" dirty="0">
              <a:latin typeface="Cambria"/>
              <a:cs typeface="Cambria"/>
            </a:endParaRPr>
          </a:p>
          <a:p>
            <a:pPr marL="681990">
              <a:lnSpc>
                <a:spcPts val="1175"/>
              </a:lnSpc>
            </a:pPr>
            <a:r>
              <a:rPr sz="1400" spc="35" dirty="0">
                <a:latin typeface="Cambria"/>
                <a:cs typeface="Cambria"/>
              </a:rPr>
              <a:t>b2.setBounds(10,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50,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25" dirty="0">
                <a:latin typeface="Cambria"/>
                <a:cs typeface="Cambria"/>
              </a:rPr>
              <a:t>150,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15" dirty="0">
                <a:latin typeface="Cambria"/>
                <a:cs typeface="Cambria"/>
              </a:rPr>
              <a:t>20);</a:t>
            </a:r>
            <a:endParaRPr sz="1400" dirty="0">
              <a:latin typeface="Cambria"/>
              <a:cs typeface="Cambria"/>
            </a:endParaRPr>
          </a:p>
          <a:p>
            <a:pPr marL="681990" marR="3072765">
              <a:lnSpc>
                <a:spcPct val="80000"/>
              </a:lnSpc>
              <a:spcBef>
                <a:spcPts val="165"/>
              </a:spcBef>
            </a:pPr>
            <a:r>
              <a:rPr sz="1400" spc="35" dirty="0">
                <a:latin typeface="Cambria"/>
                <a:cs typeface="Cambria"/>
              </a:rPr>
              <a:t>b3.setBounds(50,</a:t>
            </a:r>
            <a:r>
              <a:rPr sz="1400" spc="25" dirty="0">
                <a:latin typeface="Cambria"/>
                <a:cs typeface="Cambria"/>
              </a:rPr>
              <a:t> 100,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30" dirty="0">
                <a:latin typeface="Cambria"/>
                <a:cs typeface="Cambria"/>
              </a:rPr>
              <a:t>50,</a:t>
            </a:r>
            <a:r>
              <a:rPr sz="1400" spc="5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20); </a:t>
            </a:r>
            <a:r>
              <a:rPr sz="1400" spc="-295" dirty="0">
                <a:latin typeface="Cambria"/>
                <a:cs typeface="Cambria"/>
              </a:rPr>
              <a:t> </a:t>
            </a:r>
            <a:r>
              <a:rPr sz="1400" spc="10" dirty="0">
                <a:latin typeface="Cambria"/>
                <a:cs typeface="Cambria"/>
              </a:rPr>
              <a:t>f.add(b1);f.add(b2);f.add(b3); 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f.setVisible(</a:t>
            </a:r>
            <a:r>
              <a:rPr sz="1400" b="1" spc="45" dirty="0">
                <a:latin typeface="Cambria"/>
                <a:cs typeface="Cambria"/>
              </a:rPr>
              <a:t>true);</a:t>
            </a:r>
            <a:endParaRPr sz="1400" dirty="0">
              <a:latin typeface="Cambria"/>
              <a:cs typeface="Cambria"/>
            </a:endParaRPr>
          </a:p>
          <a:p>
            <a:pPr marL="485140">
              <a:lnSpc>
                <a:spcPts val="118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 dirty="0">
              <a:latin typeface="Cambria"/>
              <a:cs typeface="Cambria"/>
            </a:endParaRPr>
          </a:p>
          <a:p>
            <a:pPr marL="681990" marR="2181225" indent="-197485">
              <a:lnSpc>
                <a:spcPts val="1340"/>
              </a:lnSpc>
              <a:spcBef>
                <a:spcPts val="160"/>
              </a:spcBef>
            </a:pPr>
            <a:r>
              <a:rPr sz="1400" b="1" spc="90" dirty="0">
                <a:latin typeface="Cambria"/>
                <a:cs typeface="Cambria"/>
              </a:rPr>
              <a:t>public </a:t>
            </a:r>
            <a:r>
              <a:rPr sz="1400" b="1" spc="85" dirty="0">
                <a:latin typeface="Cambria"/>
                <a:cs typeface="Cambria"/>
              </a:rPr>
              <a:t>static </a:t>
            </a:r>
            <a:r>
              <a:rPr sz="1400" b="1" spc="80" dirty="0">
                <a:latin typeface="Cambria"/>
                <a:cs typeface="Cambria"/>
              </a:rPr>
              <a:t>void </a:t>
            </a:r>
            <a:r>
              <a:rPr sz="1400" b="1" spc="85" dirty="0">
                <a:latin typeface="Cambria"/>
                <a:cs typeface="Cambria"/>
              </a:rPr>
              <a:t>main(String[] </a:t>
            </a:r>
            <a:r>
              <a:rPr sz="1400" b="1" spc="65" dirty="0">
                <a:latin typeface="Cambria"/>
                <a:cs typeface="Cambria"/>
              </a:rPr>
              <a:t>args) </a:t>
            </a:r>
            <a:r>
              <a:rPr sz="1400" b="1" spc="-5" dirty="0">
                <a:latin typeface="Cambria"/>
                <a:cs typeface="Cambria"/>
              </a:rPr>
              <a:t>{ </a:t>
            </a:r>
            <a:r>
              <a:rPr sz="1400" b="1" spc="-295" dirty="0">
                <a:latin typeface="Cambria"/>
                <a:cs typeface="Cambria"/>
              </a:rPr>
              <a:t> </a:t>
            </a:r>
            <a:r>
              <a:rPr sz="1400" b="1" spc="100" dirty="0">
                <a:latin typeface="Cambria"/>
                <a:cs typeface="Cambria"/>
              </a:rPr>
              <a:t>new</a:t>
            </a:r>
            <a:r>
              <a:rPr sz="1400" b="1" spc="75" dirty="0">
                <a:latin typeface="Cambria"/>
                <a:cs typeface="Cambria"/>
              </a:rPr>
              <a:t> </a:t>
            </a:r>
            <a:r>
              <a:rPr sz="1400" b="1" spc="95" dirty="0">
                <a:latin typeface="Cambria"/>
                <a:cs typeface="Cambria"/>
              </a:rPr>
              <a:t>MyLayOut();</a:t>
            </a:r>
            <a:endParaRPr sz="1400" dirty="0">
              <a:latin typeface="Cambria"/>
              <a:cs typeface="Cambria"/>
            </a:endParaRPr>
          </a:p>
          <a:p>
            <a:pPr marL="485140">
              <a:lnSpc>
                <a:spcPts val="119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 dirty="0">
              <a:latin typeface="Cambria"/>
              <a:cs typeface="Cambria"/>
            </a:endParaRPr>
          </a:p>
          <a:p>
            <a:pPr marL="210185">
              <a:lnSpc>
                <a:spcPts val="1510"/>
              </a:lnSpc>
            </a:pPr>
            <a:r>
              <a:rPr sz="1400" spc="-75" dirty="0">
                <a:latin typeface="Cambria"/>
                <a:cs typeface="Cambria"/>
              </a:rPr>
              <a:t>}</a:t>
            </a:r>
            <a:endParaRPr sz="1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42672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651885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5"/>
              </a:lnSpc>
              <a:spcBef>
                <a:spcPts val="100"/>
              </a:spcBef>
            </a:pPr>
            <a:r>
              <a:rPr sz="3000" spc="300" dirty="0"/>
              <a:t>L</a:t>
            </a:r>
            <a:r>
              <a:rPr spc="300" dirty="0"/>
              <a:t>AYOUTS</a:t>
            </a:r>
            <a:r>
              <a:rPr spc="265" dirty="0"/>
              <a:t> </a:t>
            </a:r>
            <a:r>
              <a:rPr sz="3000" dirty="0"/>
              <a:t>-</a:t>
            </a:r>
            <a:r>
              <a:rPr sz="3000" spc="145" dirty="0"/>
              <a:t> </a:t>
            </a:r>
            <a:r>
              <a:rPr sz="3000" spc="315" dirty="0"/>
              <a:t>S</a:t>
            </a:r>
            <a:r>
              <a:rPr spc="315" dirty="0"/>
              <a:t>UMMARY</a:t>
            </a:r>
            <a:endParaRPr sz="3000"/>
          </a:p>
          <a:p>
            <a:pPr marL="1749425">
              <a:lnSpc>
                <a:spcPts val="2605"/>
              </a:lnSpc>
            </a:pP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FlowLayout</a:t>
            </a:r>
          </a:p>
        </p:txBody>
      </p:sp>
      <p:sp>
        <p:nvSpPr>
          <p:cNvPr id="3" name="object 3"/>
          <p:cNvSpPr/>
          <p:nvPr/>
        </p:nvSpPr>
        <p:spPr>
          <a:xfrm>
            <a:off x="1828800" y="1752600"/>
            <a:ext cx="2362200" cy="2133600"/>
          </a:xfrm>
          <a:custGeom>
            <a:avLst/>
            <a:gdLst/>
            <a:ahLst/>
            <a:cxnLst/>
            <a:rect l="l" t="t" r="r" b="b"/>
            <a:pathLst>
              <a:path w="2362200" h="2133600">
                <a:moveTo>
                  <a:pt x="2362200" y="0"/>
                </a:moveTo>
                <a:lnTo>
                  <a:pt x="0" y="0"/>
                </a:lnTo>
                <a:lnTo>
                  <a:pt x="0" y="2133600"/>
                </a:lnTo>
                <a:lnTo>
                  <a:pt x="2362200" y="2133600"/>
                </a:lnTo>
                <a:lnTo>
                  <a:pt x="236220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8800" y="1752600"/>
            <a:ext cx="2362200" cy="2133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Times New Roman"/>
              <a:cs typeface="Times New Roman"/>
            </a:endParaRPr>
          </a:p>
          <a:p>
            <a:pPr marL="320675" marR="310515" indent="8509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Left to right,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Top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bottom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3600" y="2171699"/>
            <a:ext cx="1752600" cy="1371600"/>
          </a:xfrm>
          <a:custGeom>
            <a:avLst/>
            <a:gdLst/>
            <a:ahLst/>
            <a:cxnLst/>
            <a:rect l="l" t="t" r="r" b="b"/>
            <a:pathLst>
              <a:path w="1752600" h="1371600">
                <a:moveTo>
                  <a:pt x="1752600" y="1333500"/>
                </a:moveTo>
                <a:lnTo>
                  <a:pt x="1742948" y="1328674"/>
                </a:lnTo>
                <a:lnTo>
                  <a:pt x="1676400" y="1295400"/>
                </a:lnTo>
                <a:lnTo>
                  <a:pt x="1676400" y="1328674"/>
                </a:lnTo>
                <a:lnTo>
                  <a:pt x="0" y="1328674"/>
                </a:lnTo>
                <a:lnTo>
                  <a:pt x="0" y="1338199"/>
                </a:lnTo>
                <a:lnTo>
                  <a:pt x="1676400" y="1338199"/>
                </a:lnTo>
                <a:lnTo>
                  <a:pt x="1676400" y="1371600"/>
                </a:lnTo>
                <a:lnTo>
                  <a:pt x="1743202" y="1338199"/>
                </a:lnTo>
                <a:lnTo>
                  <a:pt x="1752600" y="1333500"/>
                </a:lnTo>
                <a:close/>
              </a:path>
              <a:path w="1752600" h="1371600">
                <a:moveTo>
                  <a:pt x="1752600" y="647700"/>
                </a:moveTo>
                <a:lnTo>
                  <a:pt x="1676400" y="609600"/>
                </a:lnTo>
                <a:lnTo>
                  <a:pt x="1676400" y="643001"/>
                </a:lnTo>
                <a:lnTo>
                  <a:pt x="0" y="642874"/>
                </a:lnTo>
                <a:lnTo>
                  <a:pt x="0" y="652399"/>
                </a:lnTo>
                <a:lnTo>
                  <a:pt x="1676400" y="652526"/>
                </a:lnTo>
                <a:lnTo>
                  <a:pt x="1676400" y="685800"/>
                </a:lnTo>
                <a:lnTo>
                  <a:pt x="1742948" y="652526"/>
                </a:lnTo>
                <a:lnTo>
                  <a:pt x="1752600" y="647700"/>
                </a:lnTo>
                <a:close/>
              </a:path>
              <a:path w="1752600" h="1371600">
                <a:moveTo>
                  <a:pt x="1752600" y="38100"/>
                </a:moveTo>
                <a:lnTo>
                  <a:pt x="1742948" y="33274"/>
                </a:lnTo>
                <a:lnTo>
                  <a:pt x="1676400" y="0"/>
                </a:lnTo>
                <a:lnTo>
                  <a:pt x="1676400" y="33274"/>
                </a:lnTo>
                <a:lnTo>
                  <a:pt x="0" y="33274"/>
                </a:lnTo>
                <a:lnTo>
                  <a:pt x="0" y="42799"/>
                </a:lnTo>
                <a:lnTo>
                  <a:pt x="1676400" y="42799"/>
                </a:lnTo>
                <a:lnTo>
                  <a:pt x="1676400" y="76200"/>
                </a:lnTo>
                <a:lnTo>
                  <a:pt x="1743202" y="42799"/>
                </a:lnTo>
                <a:lnTo>
                  <a:pt x="17526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00237" y="4567237"/>
          <a:ext cx="2362200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R="68580" algn="ctr">
                        <a:lnSpc>
                          <a:spcPts val="229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w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3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 gridSpan="3">
                  <a:txBody>
                    <a:bodyPr/>
                    <a:lstStyle/>
                    <a:p>
                      <a:pPr marL="19431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225420" y="4138117"/>
            <a:ext cx="17367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rderLayout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481637" y="1706562"/>
          <a:ext cx="2362200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947028" y="1241805"/>
            <a:ext cx="144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GridLayout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2600" y="4572000"/>
            <a:ext cx="2362200" cy="213360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Times New Roman"/>
              <a:cs typeface="Times New Roman"/>
            </a:endParaRPr>
          </a:p>
          <a:p>
            <a:pPr marL="389890" marR="460375" indent="3175" algn="ctr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none,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er  sets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x,y,w,h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0428" y="4138117"/>
            <a:ext cx="500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null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5134" cy="6858000"/>
          </a:xfrm>
          <a:custGeom>
            <a:avLst/>
            <a:gdLst/>
            <a:ahLst/>
            <a:cxnLst/>
            <a:rect l="l" t="t" r="r" b="b"/>
            <a:pathLst>
              <a:path w="445134" h="6858000">
                <a:moveTo>
                  <a:pt x="0" y="6858000"/>
                </a:moveTo>
                <a:lnTo>
                  <a:pt x="444538" y="6858000"/>
                </a:lnTo>
                <a:lnTo>
                  <a:pt x="444538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688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36" y="6858000"/>
                </a:lnTo>
                <a:lnTo>
                  <a:pt x="313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339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664" y="0"/>
                </a:moveTo>
                <a:lnTo>
                  <a:pt x="0" y="0"/>
                </a:lnTo>
                <a:lnTo>
                  <a:pt x="0" y="6858000"/>
                </a:lnTo>
                <a:lnTo>
                  <a:pt x="104664" y="6858000"/>
                </a:lnTo>
                <a:lnTo>
                  <a:pt x="104664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2245" cy="6858000"/>
            </a:xfrm>
            <a:custGeom>
              <a:avLst/>
              <a:gdLst/>
              <a:ahLst/>
              <a:cxnLst/>
              <a:rect l="l" t="t" r="r" b="b"/>
              <a:pathLst>
                <a:path w="182244" h="6858000">
                  <a:moveTo>
                    <a:pt x="1818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1876" y="6858000"/>
                  </a:lnTo>
                  <a:lnTo>
                    <a:pt x="181876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323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27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276" y="6858000"/>
                  </a:lnTo>
                  <a:lnTo>
                    <a:pt x="230276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634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5538" y="0"/>
            <a:ext cx="117475" cy="6858000"/>
            <a:chOff x="825538" y="0"/>
            <a:chExt cx="117475" cy="6858000"/>
          </a:xfrm>
        </p:grpSpPr>
        <p:sp>
          <p:nvSpPr>
            <p:cNvPr id="11" name="object 11"/>
            <p:cNvSpPr/>
            <p:nvPr/>
          </p:nvSpPr>
          <p:spPr>
            <a:xfrm>
              <a:off x="914399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FE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113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669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5326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1160" cy="6858000"/>
            <a:chOff x="609600" y="0"/>
            <a:chExt cx="1661160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8999"/>
              <a:ext cx="1341755" cy="2079625"/>
            </a:xfrm>
            <a:custGeom>
              <a:avLst/>
              <a:gdLst/>
              <a:ahLst/>
              <a:cxnLst/>
              <a:rect l="l" t="t" r="r" b="b"/>
              <a:pathLst>
                <a:path w="1341755" h="2079625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755" h="2079625">
                  <a:moveTo>
                    <a:pt x="1341501" y="1758442"/>
                  </a:moveTo>
                  <a:lnTo>
                    <a:pt x="1338021" y="1711045"/>
                  </a:lnTo>
                  <a:lnTo>
                    <a:pt x="1327912" y="1665808"/>
                  </a:lnTo>
                  <a:lnTo>
                    <a:pt x="1311681" y="1623237"/>
                  </a:lnTo>
                  <a:lnTo>
                    <a:pt x="1289812" y="1583804"/>
                  </a:lnTo>
                  <a:lnTo>
                    <a:pt x="1262799" y="1548041"/>
                  </a:lnTo>
                  <a:lnTo>
                    <a:pt x="1231163" y="1516405"/>
                  </a:lnTo>
                  <a:lnTo>
                    <a:pt x="1195374" y="1489417"/>
                  </a:lnTo>
                  <a:lnTo>
                    <a:pt x="1155928" y="1467573"/>
                  </a:lnTo>
                  <a:lnTo>
                    <a:pt x="1113345" y="1451343"/>
                  </a:lnTo>
                  <a:lnTo>
                    <a:pt x="1068095" y="1441246"/>
                  </a:lnTo>
                  <a:lnTo>
                    <a:pt x="1020699" y="1437767"/>
                  </a:lnTo>
                  <a:lnTo>
                    <a:pt x="973315" y="1441246"/>
                  </a:lnTo>
                  <a:lnTo>
                    <a:pt x="928103" y="1451343"/>
                  </a:lnTo>
                  <a:lnTo>
                    <a:pt x="885532" y="1467573"/>
                  </a:lnTo>
                  <a:lnTo>
                    <a:pt x="846112" y="1489417"/>
                  </a:lnTo>
                  <a:lnTo>
                    <a:pt x="810336" y="1516405"/>
                  </a:lnTo>
                  <a:lnTo>
                    <a:pt x="778700" y="1548041"/>
                  </a:lnTo>
                  <a:lnTo>
                    <a:pt x="751700" y="1583804"/>
                  </a:lnTo>
                  <a:lnTo>
                    <a:pt x="729830" y="1623237"/>
                  </a:lnTo>
                  <a:lnTo>
                    <a:pt x="713600" y="1665808"/>
                  </a:lnTo>
                  <a:lnTo>
                    <a:pt x="703491" y="1711045"/>
                  </a:lnTo>
                  <a:lnTo>
                    <a:pt x="700024" y="1758442"/>
                  </a:lnTo>
                  <a:lnTo>
                    <a:pt x="703491" y="1805851"/>
                  </a:lnTo>
                  <a:lnTo>
                    <a:pt x="713600" y="1851088"/>
                  </a:lnTo>
                  <a:lnTo>
                    <a:pt x="729830" y="1893658"/>
                  </a:lnTo>
                  <a:lnTo>
                    <a:pt x="751700" y="1933092"/>
                  </a:lnTo>
                  <a:lnTo>
                    <a:pt x="778700" y="1968855"/>
                  </a:lnTo>
                  <a:lnTo>
                    <a:pt x="810336" y="2000491"/>
                  </a:lnTo>
                  <a:lnTo>
                    <a:pt x="846112" y="2027478"/>
                  </a:lnTo>
                  <a:lnTo>
                    <a:pt x="885532" y="2049322"/>
                  </a:lnTo>
                  <a:lnTo>
                    <a:pt x="928103" y="2065553"/>
                  </a:lnTo>
                  <a:lnTo>
                    <a:pt x="973315" y="2075649"/>
                  </a:lnTo>
                  <a:lnTo>
                    <a:pt x="1020699" y="2079117"/>
                  </a:lnTo>
                  <a:lnTo>
                    <a:pt x="1068095" y="2075649"/>
                  </a:lnTo>
                  <a:lnTo>
                    <a:pt x="1113345" y="2065553"/>
                  </a:lnTo>
                  <a:lnTo>
                    <a:pt x="1155928" y="2049322"/>
                  </a:lnTo>
                  <a:lnTo>
                    <a:pt x="1195374" y="2027478"/>
                  </a:lnTo>
                  <a:lnTo>
                    <a:pt x="1231163" y="2000491"/>
                  </a:lnTo>
                  <a:lnTo>
                    <a:pt x="1262799" y="1968855"/>
                  </a:lnTo>
                  <a:lnTo>
                    <a:pt x="1289812" y="1933092"/>
                  </a:lnTo>
                  <a:lnTo>
                    <a:pt x="1311681" y="1893658"/>
                  </a:lnTo>
                  <a:lnTo>
                    <a:pt x="1327912" y="1851088"/>
                  </a:lnTo>
                  <a:lnTo>
                    <a:pt x="1338021" y="1805851"/>
                  </a:lnTo>
                  <a:lnTo>
                    <a:pt x="1341501" y="1758442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082" y="5500623"/>
              <a:ext cx="137159" cy="13717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4195" y="4495799"/>
              <a:ext cx="607060" cy="1567180"/>
            </a:xfrm>
            <a:custGeom>
              <a:avLst/>
              <a:gdLst/>
              <a:ahLst/>
              <a:cxnLst/>
              <a:rect l="l" t="t" r="r" b="b"/>
              <a:pathLst>
                <a:path w="607060" h="1567179">
                  <a:moveTo>
                    <a:pt x="274332" y="1429512"/>
                  </a:moveTo>
                  <a:lnTo>
                    <a:pt x="267322" y="1386166"/>
                  </a:lnTo>
                  <a:lnTo>
                    <a:pt x="247840" y="1348511"/>
                  </a:lnTo>
                  <a:lnTo>
                    <a:pt x="218147" y="1318818"/>
                  </a:lnTo>
                  <a:lnTo>
                    <a:pt x="180492" y="1299349"/>
                  </a:lnTo>
                  <a:lnTo>
                    <a:pt x="137172" y="1292352"/>
                  </a:lnTo>
                  <a:lnTo>
                    <a:pt x="93840" y="1299349"/>
                  </a:lnTo>
                  <a:lnTo>
                    <a:pt x="56184" y="1318818"/>
                  </a:lnTo>
                  <a:lnTo>
                    <a:pt x="26492" y="1348511"/>
                  </a:lnTo>
                  <a:lnTo>
                    <a:pt x="7010" y="1386166"/>
                  </a:lnTo>
                  <a:lnTo>
                    <a:pt x="0" y="1429512"/>
                  </a:lnTo>
                  <a:lnTo>
                    <a:pt x="7010" y="1472869"/>
                  </a:lnTo>
                  <a:lnTo>
                    <a:pt x="26492" y="1510525"/>
                  </a:lnTo>
                  <a:lnTo>
                    <a:pt x="56184" y="1540217"/>
                  </a:lnTo>
                  <a:lnTo>
                    <a:pt x="93840" y="1559687"/>
                  </a:lnTo>
                  <a:lnTo>
                    <a:pt x="137172" y="1566672"/>
                  </a:lnTo>
                  <a:lnTo>
                    <a:pt x="180492" y="1559687"/>
                  </a:lnTo>
                  <a:lnTo>
                    <a:pt x="218147" y="1540217"/>
                  </a:lnTo>
                  <a:lnTo>
                    <a:pt x="247840" y="1510525"/>
                  </a:lnTo>
                  <a:lnTo>
                    <a:pt x="267322" y="1472869"/>
                  </a:lnTo>
                  <a:lnTo>
                    <a:pt x="274332" y="1429512"/>
                  </a:lnTo>
                  <a:close/>
                </a:path>
                <a:path w="607060" h="1567179">
                  <a:moveTo>
                    <a:pt x="606564" y="182880"/>
                  </a:moveTo>
                  <a:lnTo>
                    <a:pt x="600024" y="134277"/>
                  </a:lnTo>
                  <a:lnTo>
                    <a:pt x="581583" y="90601"/>
                  </a:lnTo>
                  <a:lnTo>
                    <a:pt x="552983" y="53581"/>
                  </a:lnTo>
                  <a:lnTo>
                    <a:pt x="515962" y="24980"/>
                  </a:lnTo>
                  <a:lnTo>
                    <a:pt x="472287" y="6540"/>
                  </a:lnTo>
                  <a:lnTo>
                    <a:pt x="423684" y="0"/>
                  </a:lnTo>
                  <a:lnTo>
                    <a:pt x="375069" y="6540"/>
                  </a:lnTo>
                  <a:lnTo>
                    <a:pt x="331393" y="24980"/>
                  </a:lnTo>
                  <a:lnTo>
                    <a:pt x="294373" y="53581"/>
                  </a:lnTo>
                  <a:lnTo>
                    <a:pt x="265772" y="90601"/>
                  </a:lnTo>
                  <a:lnTo>
                    <a:pt x="247332" y="134277"/>
                  </a:lnTo>
                  <a:lnTo>
                    <a:pt x="240804" y="182880"/>
                  </a:lnTo>
                  <a:lnTo>
                    <a:pt x="247332" y="231495"/>
                  </a:lnTo>
                  <a:lnTo>
                    <a:pt x="265772" y="275170"/>
                  </a:lnTo>
                  <a:lnTo>
                    <a:pt x="294373" y="312191"/>
                  </a:lnTo>
                  <a:lnTo>
                    <a:pt x="331393" y="340791"/>
                  </a:lnTo>
                  <a:lnTo>
                    <a:pt x="375069" y="359232"/>
                  </a:lnTo>
                  <a:lnTo>
                    <a:pt x="423684" y="365760"/>
                  </a:lnTo>
                  <a:lnTo>
                    <a:pt x="472287" y="359232"/>
                  </a:lnTo>
                  <a:lnTo>
                    <a:pt x="515962" y="340791"/>
                  </a:lnTo>
                  <a:lnTo>
                    <a:pt x="552983" y="312191"/>
                  </a:lnTo>
                  <a:lnTo>
                    <a:pt x="581583" y="275170"/>
                  </a:lnTo>
                  <a:lnTo>
                    <a:pt x="600024" y="231495"/>
                  </a:lnTo>
                  <a:lnTo>
                    <a:pt x="606564" y="18288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364994" y="3565017"/>
            <a:ext cx="3950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6075" algn="l"/>
              </a:tabLst>
            </a:pPr>
            <a:r>
              <a:rPr sz="3600" b="1" spc="650" dirty="0">
                <a:latin typeface="Cambria"/>
                <a:cs typeface="Cambria"/>
              </a:rPr>
              <a:t>E</a:t>
            </a:r>
            <a:r>
              <a:rPr sz="2850" b="1" spc="405" dirty="0">
                <a:latin typeface="Cambria"/>
                <a:cs typeface="Cambria"/>
              </a:rPr>
              <a:t>VENT	</a:t>
            </a:r>
            <a:r>
              <a:rPr sz="3600" b="1" spc="525" dirty="0">
                <a:latin typeface="Cambria"/>
                <a:cs typeface="Cambria"/>
              </a:rPr>
              <a:t>H</a:t>
            </a:r>
            <a:r>
              <a:rPr sz="2850" b="1" spc="425" dirty="0">
                <a:latin typeface="Cambria"/>
                <a:cs typeface="Cambria"/>
              </a:rPr>
              <a:t>ANDLING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4715"/>
            <a:ext cx="43611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204" dirty="0">
                <a:latin typeface="Cambria"/>
                <a:cs typeface="Cambria"/>
              </a:rPr>
              <a:t>AWT</a:t>
            </a:r>
            <a:r>
              <a:rPr sz="3000" b="1" spc="155" dirty="0">
                <a:latin typeface="Cambria"/>
                <a:cs typeface="Cambria"/>
              </a:rPr>
              <a:t> </a:t>
            </a:r>
            <a:r>
              <a:rPr sz="3000" b="1" spc="330" dirty="0">
                <a:latin typeface="Cambria"/>
                <a:cs typeface="Cambria"/>
              </a:rPr>
              <a:t>E</a:t>
            </a:r>
            <a:r>
              <a:rPr b="1" spc="330" dirty="0">
                <a:latin typeface="Cambria"/>
                <a:cs typeface="Cambria"/>
              </a:rPr>
              <a:t>VENT</a:t>
            </a:r>
            <a:r>
              <a:rPr sz="3000" b="1" spc="330" dirty="0">
                <a:latin typeface="Cambria"/>
                <a:cs typeface="Cambria"/>
              </a:rPr>
              <a:t>-H</a:t>
            </a:r>
            <a:r>
              <a:rPr b="1" spc="330" dirty="0">
                <a:latin typeface="Cambria"/>
                <a:cs typeface="Cambria"/>
              </a:rPr>
              <a:t>ANDLING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92402"/>
            <a:ext cx="7160895" cy="476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35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5" dirty="0">
                <a:latin typeface="Cambria"/>
                <a:cs typeface="Cambria"/>
              </a:rPr>
              <a:t>Event </a:t>
            </a:r>
            <a:r>
              <a:rPr sz="2400" spc="105" dirty="0">
                <a:latin typeface="Cambria"/>
                <a:cs typeface="Cambria"/>
              </a:rPr>
              <a:t>handling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basic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concept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graphical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ts val="2735"/>
              </a:lnSpc>
            </a:pPr>
            <a:r>
              <a:rPr sz="2400" spc="80" dirty="0">
                <a:latin typeface="Cambria"/>
                <a:cs typeface="Cambria"/>
              </a:rPr>
              <a:t>user </a:t>
            </a:r>
            <a:r>
              <a:rPr sz="2400" spc="85" dirty="0">
                <a:latin typeface="Cambria"/>
                <a:cs typeface="Cambria"/>
              </a:rPr>
              <a:t>interfaces.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event-driven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programming,</a:t>
            </a:r>
            <a:endParaRPr sz="2400">
              <a:latin typeface="Cambria"/>
              <a:cs typeface="Cambria"/>
            </a:endParaRPr>
          </a:p>
          <a:p>
            <a:pPr marL="652780" marR="31115" lvl="1" indent="-274955">
              <a:lnSpc>
                <a:spcPts val="2270"/>
              </a:lnSpc>
              <a:spcBef>
                <a:spcPts val="53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piece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event-handling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codes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executed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35" dirty="0">
                <a:latin typeface="Cambria"/>
                <a:cs typeface="Cambria"/>
              </a:rPr>
              <a:t>(or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called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back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graphics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subsystem)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when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event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110" dirty="0">
                <a:latin typeface="Cambria"/>
                <a:cs typeface="Cambria"/>
              </a:rPr>
              <a:t>has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been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fired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response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user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input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5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Example: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229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40" dirty="0">
                <a:latin typeface="Cambria"/>
                <a:cs typeface="Cambria"/>
              </a:rPr>
              <a:t>mouse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clicks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219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40" dirty="0">
                <a:latin typeface="Cambria"/>
                <a:cs typeface="Cambria"/>
              </a:rPr>
              <a:t>keyboard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entries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21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5" dirty="0">
                <a:latin typeface="Cambria"/>
                <a:cs typeface="Cambria"/>
              </a:rPr>
              <a:t>time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intervals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21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80" dirty="0">
                <a:latin typeface="Cambria"/>
                <a:cs typeface="Cambria"/>
              </a:rPr>
              <a:t>Button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click</a:t>
            </a:r>
            <a:endParaRPr sz="1800">
              <a:latin typeface="Cambria"/>
              <a:cs typeface="Cambria"/>
            </a:endParaRPr>
          </a:p>
          <a:p>
            <a:pPr marL="286385" marR="5080" indent="-274320">
              <a:lnSpc>
                <a:spcPts val="2590"/>
              </a:lnSpc>
              <a:spcBef>
                <a:spcPts val="63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0" dirty="0">
                <a:latin typeface="Cambria"/>
                <a:cs typeface="Cambria"/>
              </a:rPr>
              <a:t>This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unlike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procedural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model,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where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codes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executed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sequential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manner.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378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0" dirty="0"/>
              <a:t>M</a:t>
            </a:r>
            <a:r>
              <a:rPr spc="280" dirty="0"/>
              <a:t>AIN</a:t>
            </a:r>
            <a:r>
              <a:rPr spc="254" dirty="0"/>
              <a:t> </a:t>
            </a:r>
            <a:r>
              <a:rPr sz="3000" spc="310" dirty="0"/>
              <a:t>C</a:t>
            </a:r>
            <a:r>
              <a:rPr spc="310" dirty="0"/>
              <a:t>OMPONENTS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191375" cy="38684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85" dirty="0">
                <a:latin typeface="Cambria"/>
                <a:cs typeface="Cambria"/>
              </a:rPr>
              <a:t>Three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objects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involved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event-handling:</a:t>
            </a:r>
            <a:endParaRPr sz="24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i="1" spc="55" dirty="0">
                <a:latin typeface="Cambria"/>
                <a:cs typeface="Cambria"/>
              </a:rPr>
              <a:t>source</a:t>
            </a:r>
            <a:r>
              <a:rPr sz="2100" i="1" spc="95" dirty="0">
                <a:latin typeface="Cambria"/>
                <a:cs typeface="Cambria"/>
              </a:rPr>
              <a:t> </a:t>
            </a:r>
            <a:r>
              <a:rPr sz="2100" i="1" spc="275" dirty="0">
                <a:latin typeface="Trebuchet MS"/>
                <a:cs typeface="Trebuchet MS"/>
              </a:rPr>
              <a:t>–</a:t>
            </a:r>
            <a:endParaRPr sz="2100">
              <a:latin typeface="Trebuchet MS"/>
              <a:cs typeface="Trebuchet MS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i="1" spc="275" dirty="0">
                <a:latin typeface="Cambria"/>
                <a:cs typeface="Cambria"/>
              </a:rPr>
              <a:t>GUI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i="1" spc="55" dirty="0">
                <a:latin typeface="Cambria"/>
                <a:cs typeface="Cambria"/>
              </a:rPr>
              <a:t>component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i="1" spc="90" dirty="0">
                <a:latin typeface="Cambria"/>
                <a:cs typeface="Cambria"/>
              </a:rPr>
              <a:t>with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i="1" spc="100" dirty="0">
                <a:latin typeface="Cambria"/>
                <a:cs typeface="Cambria"/>
              </a:rPr>
              <a:t>which</a:t>
            </a:r>
            <a:r>
              <a:rPr sz="1800" i="1" spc="80" dirty="0">
                <a:latin typeface="Cambria"/>
                <a:cs typeface="Cambria"/>
              </a:rPr>
              <a:t> </a:t>
            </a:r>
            <a:r>
              <a:rPr sz="1800" i="1" spc="70" dirty="0">
                <a:latin typeface="Cambria"/>
                <a:cs typeface="Cambria"/>
              </a:rPr>
              <a:t>user</a:t>
            </a:r>
            <a:r>
              <a:rPr sz="1800" i="1" spc="95" dirty="0">
                <a:latin typeface="Cambria"/>
                <a:cs typeface="Cambria"/>
              </a:rPr>
              <a:t> </a:t>
            </a:r>
            <a:r>
              <a:rPr sz="1800" i="1" spc="60" dirty="0">
                <a:latin typeface="Cambria"/>
                <a:cs typeface="Cambria"/>
              </a:rPr>
              <a:t>interact.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0" dirty="0">
                <a:latin typeface="Cambria"/>
                <a:cs typeface="Cambria"/>
              </a:rPr>
              <a:t>generates</a:t>
            </a:r>
            <a:r>
              <a:rPr sz="1800" spc="105" dirty="0">
                <a:latin typeface="Cambria"/>
                <a:cs typeface="Cambria"/>
              </a:rPr>
              <a:t> an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event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sends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one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more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listeners.</a:t>
            </a:r>
            <a:endParaRPr sz="18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49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  <a:tab pos="2014855" algn="l"/>
              </a:tabLst>
            </a:pPr>
            <a:r>
              <a:rPr sz="2100" i="1" spc="40" dirty="0">
                <a:latin typeface="Cambria"/>
                <a:cs typeface="Cambria"/>
              </a:rPr>
              <a:t>listener</a:t>
            </a:r>
            <a:r>
              <a:rPr sz="2100" spc="40" dirty="0">
                <a:latin typeface="Cambria"/>
                <a:cs typeface="Cambria"/>
              </a:rPr>
              <a:t>(s)	</a:t>
            </a:r>
            <a:r>
              <a:rPr sz="2100" dirty="0">
                <a:latin typeface="Cambria"/>
                <a:cs typeface="Cambria"/>
              </a:rPr>
              <a:t>-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60" dirty="0">
                <a:latin typeface="Cambria"/>
                <a:cs typeface="Cambria"/>
              </a:rPr>
              <a:t>simply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waits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until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receives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an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event.</a:t>
            </a:r>
            <a:endParaRPr sz="1800">
              <a:latin typeface="Cambria"/>
              <a:cs typeface="Cambria"/>
            </a:endParaRPr>
          </a:p>
          <a:p>
            <a:pPr marL="927100" marR="1245870" lvl="2" indent="-182880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0" dirty="0">
                <a:latin typeface="Cambria"/>
                <a:cs typeface="Cambria"/>
              </a:rPr>
              <a:t>Receives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event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object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when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notified,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then 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responds(processes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event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then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returns)</a:t>
            </a:r>
            <a:endParaRPr sz="18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49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i="1" spc="45" dirty="0">
                <a:latin typeface="Cambria"/>
                <a:cs typeface="Cambria"/>
              </a:rPr>
              <a:t>event</a:t>
            </a:r>
            <a:r>
              <a:rPr sz="2100" i="1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object.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14" dirty="0">
                <a:latin typeface="Cambria"/>
                <a:cs typeface="Cambria"/>
              </a:rPr>
              <a:t>–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80" dirty="0">
                <a:latin typeface="Cambria"/>
                <a:cs typeface="Cambria"/>
              </a:rPr>
              <a:t>Encapsulates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information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about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event</a:t>
            </a:r>
            <a:r>
              <a:rPr sz="1800" spc="95" dirty="0">
                <a:latin typeface="Cambria"/>
                <a:cs typeface="Cambria"/>
              </a:rPr>
              <a:t> that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occurred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5" dirty="0">
                <a:latin typeface="Cambria"/>
                <a:cs typeface="Cambria"/>
              </a:rPr>
              <a:t>Describe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state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change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of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source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5529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60" dirty="0"/>
              <a:t>P</a:t>
            </a:r>
            <a:r>
              <a:rPr spc="260" dirty="0"/>
              <a:t>ROGRAMMER</a:t>
            </a:r>
            <a:r>
              <a:rPr sz="3000" spc="260" dirty="0"/>
              <a:t>’</a:t>
            </a:r>
            <a:r>
              <a:rPr spc="260" dirty="0"/>
              <a:t>S</a:t>
            </a:r>
            <a:r>
              <a:rPr spc="325" dirty="0"/>
              <a:t> </a:t>
            </a:r>
            <a:r>
              <a:rPr spc="260" dirty="0"/>
              <a:t>RESPONSIBILITY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43043"/>
            <a:ext cx="6525259" cy="17824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75"/>
              </a:spcBef>
              <a:buClr>
                <a:srgbClr val="FD8537"/>
              </a:buClr>
              <a:buSzPct val="69642"/>
              <a:buFont typeface="Wingdings"/>
              <a:buChar char=""/>
              <a:tabLst>
                <a:tab pos="287020" algn="l"/>
              </a:tabLst>
            </a:pPr>
            <a:r>
              <a:rPr sz="2800" spc="105" dirty="0">
                <a:latin typeface="Cambria"/>
                <a:cs typeface="Cambria"/>
              </a:rPr>
              <a:t>Programmer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must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perform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15" dirty="0">
                <a:latin typeface="Cambria"/>
                <a:cs typeface="Cambria"/>
              </a:rPr>
              <a:t>two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tasks</a:t>
            </a:r>
            <a:endParaRPr sz="28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80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spc="90" dirty="0">
                <a:latin typeface="Cambria"/>
                <a:cs typeface="Cambria"/>
              </a:rPr>
              <a:t>Register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event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listener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event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source</a:t>
            </a:r>
            <a:endParaRPr sz="2400">
              <a:latin typeface="Cambria"/>
              <a:cs typeface="Cambria"/>
            </a:endParaRPr>
          </a:p>
          <a:p>
            <a:pPr marL="652780" marR="5080" lvl="1" indent="-274955">
              <a:lnSpc>
                <a:spcPct val="100000"/>
              </a:lnSpc>
              <a:spcBef>
                <a:spcPts val="575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spc="95" dirty="0">
                <a:latin typeface="Cambria"/>
                <a:cs typeface="Cambria"/>
              </a:rPr>
              <a:t>Implement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event-handling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method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(event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handler)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384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445" dirty="0"/>
              <a:t>E</a:t>
            </a:r>
            <a:r>
              <a:rPr spc="320" dirty="0"/>
              <a:t>V</a:t>
            </a:r>
            <a:r>
              <a:rPr spc="300" dirty="0"/>
              <a:t>E</a:t>
            </a:r>
            <a:r>
              <a:rPr spc="270" dirty="0"/>
              <a:t>NTS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72209"/>
            <a:ext cx="7177405" cy="4580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045"/>
              </a:lnSpc>
              <a:spcBef>
                <a:spcPts val="95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125" dirty="0">
                <a:latin typeface="Cambria"/>
                <a:cs typeface="Cambria"/>
              </a:rPr>
              <a:t>In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delegation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model,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10" dirty="0">
                <a:latin typeface="Cambria"/>
                <a:cs typeface="Cambria"/>
              </a:rPr>
              <a:t>an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event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110" dirty="0">
                <a:latin typeface="Cambria"/>
                <a:cs typeface="Cambria"/>
              </a:rPr>
              <a:t>an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20" dirty="0">
                <a:latin typeface="Cambria"/>
                <a:cs typeface="Cambria"/>
              </a:rPr>
              <a:t>object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that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describes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endParaRPr sz="1900">
              <a:latin typeface="Cambria"/>
              <a:cs typeface="Cambria"/>
            </a:endParaRPr>
          </a:p>
          <a:p>
            <a:pPr marL="286385">
              <a:lnSpc>
                <a:spcPts val="2045"/>
              </a:lnSpc>
            </a:pPr>
            <a:r>
              <a:rPr sz="1900" b="1" spc="100" dirty="0">
                <a:latin typeface="Cambria"/>
                <a:cs typeface="Cambria"/>
              </a:rPr>
              <a:t>state</a:t>
            </a:r>
            <a:r>
              <a:rPr sz="1900" b="1" spc="130" dirty="0">
                <a:latin typeface="Cambria"/>
                <a:cs typeface="Cambria"/>
              </a:rPr>
              <a:t> chang</a:t>
            </a:r>
            <a:r>
              <a:rPr sz="1900" spc="130" dirty="0">
                <a:latin typeface="Cambria"/>
                <a:cs typeface="Cambria"/>
              </a:rPr>
              <a:t>e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source.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ts val="1385"/>
              </a:lnSpc>
              <a:spcBef>
                <a:spcPts val="760"/>
              </a:spcBef>
            </a:pPr>
            <a:r>
              <a:rPr sz="1300" spc="25" dirty="0">
                <a:solidFill>
                  <a:srgbClr val="FD8537"/>
                </a:solidFill>
                <a:latin typeface="Wingdings"/>
                <a:cs typeface="Wingdings"/>
              </a:rPr>
              <a:t></a:t>
            </a:r>
            <a:endParaRPr sz="1300">
              <a:latin typeface="Wingdings"/>
              <a:cs typeface="Wingdings"/>
            </a:endParaRPr>
          </a:p>
          <a:p>
            <a:pPr marL="286385" marR="130175">
              <a:lnSpc>
                <a:spcPct val="80000"/>
              </a:lnSpc>
              <a:spcBef>
                <a:spcPts val="280"/>
              </a:spcBef>
            </a:pPr>
            <a:r>
              <a:rPr sz="1900" spc="105" dirty="0">
                <a:latin typeface="Cambria"/>
                <a:cs typeface="Cambria"/>
              </a:rPr>
              <a:t>an </a:t>
            </a:r>
            <a:r>
              <a:rPr sz="1900" spc="60" dirty="0">
                <a:latin typeface="Cambria"/>
                <a:cs typeface="Cambria"/>
              </a:rPr>
              <a:t>event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can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be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b="1" spc="114" dirty="0">
                <a:latin typeface="Cambria"/>
                <a:cs typeface="Cambria"/>
              </a:rPr>
              <a:t>generated</a:t>
            </a:r>
            <a:r>
              <a:rPr sz="1900" b="1" spc="125" dirty="0">
                <a:latin typeface="Cambria"/>
                <a:cs typeface="Cambria"/>
              </a:rPr>
              <a:t> </a:t>
            </a:r>
            <a:r>
              <a:rPr sz="1900" b="1" spc="110" dirty="0">
                <a:latin typeface="Cambria"/>
                <a:cs typeface="Cambria"/>
              </a:rPr>
              <a:t>as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140" dirty="0">
                <a:latin typeface="Cambria"/>
                <a:cs typeface="Cambria"/>
              </a:rPr>
              <a:t>a</a:t>
            </a:r>
            <a:r>
              <a:rPr sz="1900" b="1" spc="135" dirty="0">
                <a:latin typeface="Cambria"/>
                <a:cs typeface="Cambria"/>
              </a:rPr>
              <a:t> </a:t>
            </a:r>
            <a:r>
              <a:rPr sz="1900" b="1" spc="110" dirty="0">
                <a:latin typeface="Cambria"/>
                <a:cs typeface="Cambria"/>
              </a:rPr>
              <a:t>consequence</a:t>
            </a:r>
            <a:r>
              <a:rPr sz="1900" b="1" spc="145" dirty="0">
                <a:latin typeface="Cambria"/>
                <a:cs typeface="Cambria"/>
              </a:rPr>
              <a:t> </a:t>
            </a:r>
            <a:r>
              <a:rPr sz="1900" b="1" spc="95" dirty="0">
                <a:latin typeface="Cambria"/>
                <a:cs typeface="Cambria"/>
              </a:rPr>
              <a:t>of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140" dirty="0">
                <a:latin typeface="Cambria"/>
                <a:cs typeface="Cambria"/>
              </a:rPr>
              <a:t>a</a:t>
            </a:r>
            <a:r>
              <a:rPr sz="1900" b="1" spc="135" dirty="0">
                <a:latin typeface="Cambria"/>
                <a:cs typeface="Cambria"/>
              </a:rPr>
              <a:t> </a:t>
            </a:r>
            <a:r>
              <a:rPr sz="1900" b="1" spc="100" dirty="0">
                <a:latin typeface="Cambria"/>
                <a:cs typeface="Cambria"/>
              </a:rPr>
              <a:t>person </a:t>
            </a:r>
            <a:r>
              <a:rPr sz="1900" b="1" spc="-405" dirty="0">
                <a:latin typeface="Cambria"/>
                <a:cs typeface="Cambria"/>
              </a:rPr>
              <a:t> </a:t>
            </a:r>
            <a:r>
              <a:rPr sz="1900" b="1" spc="125" dirty="0">
                <a:latin typeface="Cambria"/>
                <a:cs typeface="Cambria"/>
              </a:rPr>
              <a:t>interacting</a:t>
            </a:r>
            <a:r>
              <a:rPr sz="1900" b="1" spc="16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with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elements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graphical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user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interface</a:t>
            </a:r>
            <a:endParaRPr sz="19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160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90" dirty="0">
                <a:latin typeface="Cambria"/>
                <a:cs typeface="Cambria"/>
              </a:rPr>
              <a:t>Example: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45" dirty="0">
                <a:latin typeface="Cambria"/>
                <a:cs typeface="Cambria"/>
              </a:rPr>
              <a:t>pressing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button,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55" dirty="0">
                <a:latin typeface="Cambria"/>
                <a:cs typeface="Cambria"/>
              </a:rPr>
              <a:t>entering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character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via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keyboard,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45" dirty="0">
                <a:latin typeface="Cambria"/>
                <a:cs typeface="Cambria"/>
              </a:rPr>
              <a:t>selecting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an </a:t>
            </a:r>
            <a:r>
              <a:rPr sz="1600" spc="60" dirty="0">
                <a:latin typeface="Cambria"/>
                <a:cs typeface="Cambria"/>
              </a:rPr>
              <a:t>item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in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list,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and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55" dirty="0">
                <a:latin typeface="Cambria"/>
                <a:cs typeface="Cambria"/>
              </a:rPr>
              <a:t>clicking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the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mouse.</a:t>
            </a:r>
            <a:endParaRPr sz="1600">
              <a:latin typeface="Cambria"/>
              <a:cs typeface="Cambria"/>
            </a:endParaRPr>
          </a:p>
          <a:p>
            <a:pPr marL="12700">
              <a:lnSpc>
                <a:spcPts val="1390"/>
              </a:lnSpc>
              <a:spcBef>
                <a:spcPts val="745"/>
              </a:spcBef>
            </a:pPr>
            <a:r>
              <a:rPr sz="1300" spc="30" dirty="0">
                <a:solidFill>
                  <a:srgbClr val="FD8537"/>
                </a:solidFill>
                <a:latin typeface="Wingdings"/>
                <a:cs typeface="Wingdings"/>
              </a:rPr>
              <a:t></a:t>
            </a:r>
            <a:endParaRPr sz="1300">
              <a:latin typeface="Wingdings"/>
              <a:cs typeface="Wingdings"/>
            </a:endParaRPr>
          </a:p>
          <a:p>
            <a:pPr marL="286385" marR="8890">
              <a:lnSpc>
                <a:spcPts val="1820"/>
              </a:lnSpc>
              <a:spcBef>
                <a:spcPts val="275"/>
              </a:spcBef>
            </a:pPr>
            <a:r>
              <a:rPr sz="1900" spc="95" dirty="0">
                <a:latin typeface="Cambria"/>
                <a:cs typeface="Cambria"/>
              </a:rPr>
              <a:t>Events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may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also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20" dirty="0">
                <a:latin typeface="Cambria"/>
                <a:cs typeface="Cambria"/>
              </a:rPr>
              <a:t>occur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that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are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not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directly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caused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by </a:t>
            </a:r>
            <a:r>
              <a:rPr sz="1900" spc="3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interactions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with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5" dirty="0">
                <a:latin typeface="Cambria"/>
                <a:cs typeface="Cambria"/>
              </a:rPr>
              <a:t>a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user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interface.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For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example,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105" dirty="0">
                <a:latin typeface="Cambria"/>
                <a:cs typeface="Cambria"/>
              </a:rPr>
              <a:t>an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event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may </a:t>
            </a:r>
            <a:r>
              <a:rPr sz="1900" spc="-400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be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generated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when</a:t>
            </a:r>
            <a:endParaRPr sz="19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5"/>
              </a:spcBef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timer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expires,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counter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exceeds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70" dirty="0">
                <a:latin typeface="Cambria"/>
                <a:cs typeface="Cambria"/>
              </a:rPr>
              <a:t>value,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software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5" dirty="0">
                <a:latin typeface="Cambria"/>
                <a:cs typeface="Cambria"/>
              </a:rPr>
              <a:t>or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hardware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failure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occurs,</a:t>
            </a:r>
            <a:endParaRPr sz="16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buClr>
                <a:srgbClr val="FD8537"/>
              </a:buClr>
              <a:buSzPct val="7812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600" spc="-5" dirty="0">
                <a:latin typeface="Cambria"/>
                <a:cs typeface="Cambria"/>
              </a:rPr>
              <a:t>or</a:t>
            </a:r>
            <a:r>
              <a:rPr sz="1600" spc="90" dirty="0">
                <a:latin typeface="Cambria"/>
                <a:cs typeface="Cambria"/>
              </a:rPr>
              <a:t> an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operation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is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completed.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6841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E</a:t>
            </a:r>
            <a:r>
              <a:rPr spc="310" dirty="0"/>
              <a:t>VENT</a:t>
            </a:r>
            <a:r>
              <a:rPr spc="260" dirty="0"/>
              <a:t> </a:t>
            </a:r>
            <a:r>
              <a:rPr sz="3000" spc="340" dirty="0"/>
              <a:t>S</a:t>
            </a:r>
            <a:r>
              <a:rPr spc="340" dirty="0"/>
              <a:t>OURCE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99"/>
            <a:ext cx="7206615" cy="46736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14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source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object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generates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event.</a:t>
            </a:r>
            <a:endParaRPr sz="2400">
              <a:latin typeface="Cambria"/>
              <a:cs typeface="Cambria"/>
            </a:endParaRPr>
          </a:p>
          <a:p>
            <a:pPr marL="286385" marR="5080" indent="-274320">
              <a:lnSpc>
                <a:spcPts val="2590"/>
              </a:lnSpc>
              <a:spcBef>
                <a:spcPts val="6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0" dirty="0">
                <a:latin typeface="Cambria"/>
                <a:cs typeface="Cambria"/>
              </a:rPr>
              <a:t>This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occurs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when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internal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state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object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changes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some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way.</a:t>
            </a:r>
            <a:endParaRPr sz="2400">
              <a:latin typeface="Cambria"/>
              <a:cs typeface="Cambria"/>
            </a:endParaRPr>
          </a:p>
          <a:p>
            <a:pPr marL="286385" marR="668655" indent="-274320">
              <a:lnSpc>
                <a:spcPts val="259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80" dirty="0">
                <a:latin typeface="Cambria"/>
                <a:cs typeface="Cambria"/>
              </a:rPr>
              <a:t>Sources</a:t>
            </a:r>
            <a:r>
              <a:rPr sz="2400" spc="120" dirty="0">
                <a:latin typeface="Cambria"/>
                <a:cs typeface="Cambria"/>
              </a:rPr>
              <a:t> may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generate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more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than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one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event.</a:t>
            </a:r>
            <a:endParaRPr sz="2400">
              <a:latin typeface="Cambria"/>
              <a:cs typeface="Cambria"/>
            </a:endParaRPr>
          </a:p>
          <a:p>
            <a:pPr marL="652780" marR="39370" lvl="1" indent="-274955">
              <a:lnSpc>
                <a:spcPts val="227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4" dirty="0">
                <a:latin typeface="Cambria"/>
                <a:cs typeface="Cambria"/>
              </a:rPr>
              <a:t>A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source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00" dirty="0">
                <a:latin typeface="Cambria"/>
                <a:cs typeface="Cambria"/>
              </a:rPr>
              <a:t>must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register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listeners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order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for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 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listeners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receive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notifications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about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specific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 </a:t>
            </a:r>
            <a:r>
              <a:rPr sz="2100" spc="-45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event.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0" dirty="0">
                <a:latin typeface="Cambria"/>
                <a:cs typeface="Cambria"/>
              </a:rPr>
              <a:t>Each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type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event</a:t>
            </a:r>
            <a:r>
              <a:rPr sz="2100" spc="110" dirty="0">
                <a:latin typeface="Cambria"/>
                <a:cs typeface="Cambria"/>
              </a:rPr>
              <a:t> has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its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own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registration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method.</a:t>
            </a:r>
            <a:endParaRPr sz="21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54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5" dirty="0">
                <a:latin typeface="Cambria"/>
                <a:cs typeface="Cambria"/>
              </a:rPr>
              <a:t>Here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general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form: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Cambria"/>
              <a:cs typeface="Cambria"/>
            </a:endParaRPr>
          </a:p>
          <a:p>
            <a:pPr marL="720090" algn="ctr">
              <a:lnSpc>
                <a:spcPts val="2735"/>
              </a:lnSpc>
            </a:pP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public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FF0000"/>
                </a:solidFill>
                <a:latin typeface="Cambria"/>
                <a:cs typeface="Cambria"/>
              </a:rPr>
              <a:t>void</a:t>
            </a:r>
            <a:r>
              <a:rPr sz="2400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FF0000"/>
                </a:solidFill>
                <a:latin typeface="Cambria"/>
                <a:cs typeface="Cambria"/>
              </a:rPr>
              <a:t>addTypeListener</a:t>
            </a:r>
            <a:r>
              <a:rPr sz="240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(TypeListener</a:t>
            </a:r>
            <a:endParaRPr sz="2400">
              <a:latin typeface="Cambria"/>
              <a:cs typeface="Cambria"/>
            </a:endParaRPr>
          </a:p>
          <a:p>
            <a:pPr marR="6738620" algn="ctr">
              <a:lnSpc>
                <a:spcPts val="2735"/>
              </a:lnSpc>
            </a:pPr>
            <a:r>
              <a:rPr sz="2400" spc="65" dirty="0">
                <a:solidFill>
                  <a:srgbClr val="FF0000"/>
                </a:solidFill>
                <a:latin typeface="Cambria"/>
                <a:cs typeface="Cambria"/>
              </a:rPr>
              <a:t>el</a:t>
            </a:r>
            <a:r>
              <a:rPr sz="24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-120" dirty="0">
                <a:solidFill>
                  <a:srgbClr val="FF0000"/>
                </a:solidFill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4715"/>
            <a:ext cx="33655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370" dirty="0">
                <a:latin typeface="Cambria"/>
                <a:cs typeface="Cambria"/>
              </a:rPr>
              <a:t>E</a:t>
            </a:r>
            <a:r>
              <a:rPr b="1" spc="370" dirty="0">
                <a:latin typeface="Cambria"/>
                <a:cs typeface="Cambria"/>
              </a:rPr>
              <a:t>VENT</a:t>
            </a:r>
            <a:r>
              <a:rPr b="1" spc="285" dirty="0">
                <a:latin typeface="Cambria"/>
                <a:cs typeface="Cambria"/>
              </a:rPr>
              <a:t> </a:t>
            </a:r>
            <a:r>
              <a:rPr sz="3000" b="1" spc="360" dirty="0">
                <a:latin typeface="Cambria"/>
                <a:cs typeface="Cambria"/>
              </a:rPr>
              <a:t>L</a:t>
            </a:r>
            <a:r>
              <a:rPr b="1" spc="360" dirty="0">
                <a:latin typeface="Cambria"/>
                <a:cs typeface="Cambria"/>
              </a:rPr>
              <a:t>ISTENERS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8055" cy="4753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215" dirty="0">
                <a:latin typeface="Cambria"/>
                <a:cs typeface="Cambria"/>
              </a:rPr>
              <a:t>A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listener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is</a:t>
            </a:r>
            <a:r>
              <a:rPr sz="2200" spc="125" dirty="0">
                <a:latin typeface="Cambria"/>
                <a:cs typeface="Cambria"/>
              </a:rPr>
              <a:t> an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25" dirty="0">
                <a:latin typeface="Cambria"/>
                <a:cs typeface="Cambria"/>
              </a:rPr>
              <a:t>object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that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is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notified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when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an </a:t>
            </a:r>
            <a:r>
              <a:rPr sz="2200" spc="65" dirty="0">
                <a:latin typeface="Cambria"/>
                <a:cs typeface="Cambria"/>
              </a:rPr>
              <a:t>event</a:t>
            </a:r>
            <a:endParaRPr sz="22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200" spc="50" dirty="0">
                <a:latin typeface="Cambria"/>
                <a:cs typeface="Cambria"/>
              </a:rPr>
              <a:t>occurs.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45" dirty="0">
                <a:latin typeface="Cambria"/>
                <a:cs typeface="Cambria"/>
              </a:rPr>
              <a:t>It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has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" dirty="0">
                <a:latin typeface="Cambria"/>
                <a:cs typeface="Cambria"/>
              </a:rPr>
              <a:t>two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major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requirements.</a:t>
            </a:r>
            <a:endParaRPr sz="2200">
              <a:latin typeface="Cambria"/>
              <a:cs typeface="Cambria"/>
            </a:endParaRPr>
          </a:p>
          <a:p>
            <a:pPr marL="652780" marR="427355" lvl="1" indent="-274955">
              <a:lnSpc>
                <a:spcPct val="100299"/>
              </a:lnSpc>
              <a:spcBef>
                <a:spcPts val="45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95" dirty="0">
                <a:latin typeface="Cambria"/>
                <a:cs typeface="Cambria"/>
              </a:rPr>
              <a:t>First</a:t>
            </a:r>
            <a:r>
              <a:rPr sz="1900" b="1" spc="95" dirty="0">
                <a:latin typeface="Cambria"/>
                <a:cs typeface="Cambria"/>
              </a:rPr>
              <a:t>,</a:t>
            </a:r>
            <a:r>
              <a:rPr sz="1900" b="1" spc="125" dirty="0">
                <a:latin typeface="Cambria"/>
                <a:cs typeface="Cambria"/>
              </a:rPr>
              <a:t> </a:t>
            </a:r>
            <a:r>
              <a:rPr sz="1900" b="1" spc="105" dirty="0">
                <a:latin typeface="Cambria"/>
                <a:cs typeface="Cambria"/>
              </a:rPr>
              <a:t>it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120" dirty="0">
                <a:latin typeface="Cambria"/>
                <a:cs typeface="Cambria"/>
              </a:rPr>
              <a:t>must</a:t>
            </a:r>
            <a:r>
              <a:rPr sz="1900" b="1" spc="135" dirty="0">
                <a:latin typeface="Cambria"/>
                <a:cs typeface="Cambria"/>
              </a:rPr>
              <a:t> </a:t>
            </a:r>
            <a:r>
              <a:rPr sz="1900" b="1" spc="130" dirty="0">
                <a:latin typeface="Cambria"/>
                <a:cs typeface="Cambria"/>
              </a:rPr>
              <a:t>have </a:t>
            </a:r>
            <a:r>
              <a:rPr sz="1900" b="1" spc="100" dirty="0">
                <a:latin typeface="Cambria"/>
                <a:cs typeface="Cambria"/>
              </a:rPr>
              <a:t>been</a:t>
            </a:r>
            <a:r>
              <a:rPr sz="1900" b="1" spc="125" dirty="0">
                <a:latin typeface="Cambria"/>
                <a:cs typeface="Cambria"/>
              </a:rPr>
              <a:t> </a:t>
            </a:r>
            <a:r>
              <a:rPr sz="1900" b="1" spc="100" dirty="0">
                <a:latin typeface="Cambria"/>
                <a:cs typeface="Cambria"/>
              </a:rPr>
              <a:t>registered</a:t>
            </a:r>
            <a:r>
              <a:rPr sz="1900" b="1" spc="16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with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20" dirty="0">
                <a:latin typeface="Cambria"/>
                <a:cs typeface="Cambria"/>
              </a:rPr>
              <a:t>one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or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more </a:t>
            </a:r>
            <a:r>
              <a:rPr sz="1900" spc="-400" dirty="0">
                <a:latin typeface="Cambria"/>
                <a:cs typeface="Cambria"/>
              </a:rPr>
              <a:t> </a:t>
            </a:r>
            <a:r>
              <a:rPr sz="1900" b="1" spc="105" dirty="0">
                <a:latin typeface="Cambria"/>
                <a:cs typeface="Cambria"/>
              </a:rPr>
              <a:t>sources</a:t>
            </a:r>
            <a:r>
              <a:rPr sz="1900" b="1" spc="120" dirty="0">
                <a:latin typeface="Cambria"/>
                <a:cs typeface="Cambria"/>
              </a:rPr>
              <a:t> </a:t>
            </a:r>
            <a:r>
              <a:rPr sz="1900" spc="10" dirty="0">
                <a:latin typeface="Cambria"/>
                <a:cs typeface="Cambria"/>
              </a:rPr>
              <a:t>to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receive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notifications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about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specific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types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of </a:t>
            </a:r>
            <a:r>
              <a:rPr sz="190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events.</a:t>
            </a:r>
            <a:endParaRPr sz="1900">
              <a:latin typeface="Cambria"/>
              <a:cs typeface="Cambria"/>
            </a:endParaRPr>
          </a:p>
          <a:p>
            <a:pPr marL="927100" marR="244475" lvl="2" indent="-182880" algn="just">
              <a:lnSpc>
                <a:spcPct val="100000"/>
              </a:lnSpc>
              <a:spcBef>
                <a:spcPts val="405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927735" algn="l"/>
              </a:tabLst>
            </a:pPr>
            <a:r>
              <a:rPr sz="1700" spc="75" dirty="0">
                <a:latin typeface="Cambria"/>
                <a:cs typeface="Cambria"/>
              </a:rPr>
              <a:t>For </a:t>
            </a:r>
            <a:r>
              <a:rPr sz="1700" spc="114" dirty="0">
                <a:latin typeface="Cambria"/>
                <a:cs typeface="Cambria"/>
              </a:rPr>
              <a:t>a </a:t>
            </a:r>
            <a:r>
              <a:rPr sz="1700" spc="50" dirty="0">
                <a:latin typeface="Cambria"/>
                <a:cs typeface="Cambria"/>
              </a:rPr>
              <a:t>program </a:t>
            </a:r>
            <a:r>
              <a:rPr sz="1700" spc="15" dirty="0">
                <a:latin typeface="Cambria"/>
                <a:cs typeface="Cambria"/>
              </a:rPr>
              <a:t>to </a:t>
            </a:r>
            <a:r>
              <a:rPr sz="1700" spc="30" dirty="0">
                <a:latin typeface="Cambria"/>
                <a:cs typeface="Cambria"/>
              </a:rPr>
              <a:t>respond </a:t>
            </a:r>
            <a:r>
              <a:rPr sz="1700" spc="15" dirty="0">
                <a:latin typeface="Cambria"/>
                <a:cs typeface="Cambria"/>
              </a:rPr>
              <a:t>to </a:t>
            </a:r>
            <a:r>
              <a:rPr sz="1700" spc="100" dirty="0">
                <a:latin typeface="Cambria"/>
                <a:cs typeface="Cambria"/>
              </a:rPr>
              <a:t>an </a:t>
            </a:r>
            <a:r>
              <a:rPr sz="1700" spc="55" dirty="0">
                <a:latin typeface="Cambria"/>
                <a:cs typeface="Cambria"/>
              </a:rPr>
              <a:t>event </a:t>
            </a:r>
            <a:r>
              <a:rPr sz="1700" spc="50" dirty="0">
                <a:latin typeface="Cambria"/>
                <a:cs typeface="Cambria"/>
              </a:rPr>
              <a:t>there </a:t>
            </a:r>
            <a:r>
              <a:rPr sz="1700" spc="80" dirty="0">
                <a:latin typeface="Cambria"/>
                <a:cs typeface="Cambria"/>
              </a:rPr>
              <a:t>must </a:t>
            </a:r>
            <a:r>
              <a:rPr sz="1700" spc="15" dirty="0">
                <a:latin typeface="Cambria"/>
                <a:cs typeface="Cambria"/>
              </a:rPr>
              <a:t>be </a:t>
            </a:r>
            <a:r>
              <a:rPr sz="1700" spc="100" dirty="0">
                <a:latin typeface="Cambria"/>
                <a:cs typeface="Cambria"/>
              </a:rPr>
              <a:t>an </a:t>
            </a:r>
            <a:r>
              <a:rPr sz="1700" spc="50" dirty="0">
                <a:latin typeface="Cambria"/>
                <a:cs typeface="Cambria"/>
              </a:rPr>
              <a:t>event 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listener </a:t>
            </a:r>
            <a:r>
              <a:rPr sz="1700" spc="20" dirty="0">
                <a:latin typeface="Cambria"/>
                <a:cs typeface="Cambria"/>
              </a:rPr>
              <a:t>object </a:t>
            </a:r>
            <a:r>
              <a:rPr sz="1700" spc="75" dirty="0">
                <a:latin typeface="Cambria"/>
                <a:cs typeface="Cambria"/>
              </a:rPr>
              <a:t>in </a:t>
            </a:r>
            <a:r>
              <a:rPr sz="1700" spc="65" dirty="0">
                <a:latin typeface="Cambria"/>
                <a:cs typeface="Cambria"/>
              </a:rPr>
              <a:t>the </a:t>
            </a:r>
            <a:r>
              <a:rPr sz="1700" spc="235" dirty="0">
                <a:latin typeface="Cambria"/>
                <a:cs typeface="Cambria"/>
              </a:rPr>
              <a:t>GUI </a:t>
            </a:r>
            <a:r>
              <a:rPr sz="1700" spc="50" dirty="0">
                <a:latin typeface="Cambria"/>
                <a:cs typeface="Cambria"/>
              </a:rPr>
              <a:t>program </a:t>
            </a:r>
            <a:r>
              <a:rPr sz="1700" spc="95" dirty="0">
                <a:latin typeface="Cambria"/>
                <a:cs typeface="Cambria"/>
              </a:rPr>
              <a:t>that </a:t>
            </a:r>
            <a:r>
              <a:rPr sz="1700" spc="60" dirty="0">
                <a:latin typeface="Cambria"/>
                <a:cs typeface="Cambria"/>
              </a:rPr>
              <a:t>listens </a:t>
            </a:r>
            <a:r>
              <a:rPr sz="1700" spc="15" dirty="0">
                <a:latin typeface="Cambria"/>
                <a:cs typeface="Cambria"/>
              </a:rPr>
              <a:t>to </a:t>
            </a:r>
            <a:r>
              <a:rPr sz="1700" spc="95" dirty="0">
                <a:latin typeface="Cambria"/>
                <a:cs typeface="Cambria"/>
              </a:rPr>
              <a:t>that </a:t>
            </a:r>
            <a:r>
              <a:rPr sz="1700" spc="45" dirty="0">
                <a:latin typeface="Cambria"/>
                <a:cs typeface="Cambria"/>
              </a:rPr>
              <a:t>type </a:t>
            </a:r>
            <a:r>
              <a:rPr sz="1700" dirty="0">
                <a:latin typeface="Cambria"/>
                <a:cs typeface="Cambria"/>
              </a:rPr>
              <a:t>of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event</a:t>
            </a:r>
            <a:endParaRPr sz="1700">
              <a:latin typeface="Cambria"/>
              <a:cs typeface="Cambria"/>
            </a:endParaRPr>
          </a:p>
          <a:p>
            <a:pPr marL="652780" lvl="1" indent="-275590" algn="just">
              <a:lnSpc>
                <a:spcPct val="100000"/>
              </a:lnSpc>
              <a:spcBef>
                <a:spcPts val="450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3415" algn="l"/>
              </a:tabLst>
            </a:pPr>
            <a:r>
              <a:rPr sz="1900" spc="70" dirty="0">
                <a:latin typeface="Cambria"/>
                <a:cs typeface="Cambria"/>
              </a:rPr>
              <a:t>Second,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it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b="1" spc="120" dirty="0">
                <a:latin typeface="Cambria"/>
                <a:cs typeface="Cambria"/>
              </a:rPr>
              <a:t>must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110" dirty="0">
                <a:latin typeface="Cambria"/>
                <a:cs typeface="Cambria"/>
              </a:rPr>
              <a:t>implement</a:t>
            </a:r>
            <a:r>
              <a:rPr sz="1900" b="1" spc="145" dirty="0">
                <a:latin typeface="Cambria"/>
                <a:cs typeface="Cambria"/>
              </a:rPr>
              <a:t> </a:t>
            </a:r>
            <a:r>
              <a:rPr sz="1900" b="1" spc="105" dirty="0">
                <a:latin typeface="Cambria"/>
                <a:cs typeface="Cambria"/>
              </a:rPr>
              <a:t>methods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spc="10" dirty="0">
                <a:latin typeface="Cambria"/>
                <a:cs typeface="Cambria"/>
              </a:rPr>
              <a:t>to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receive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and</a:t>
            </a:r>
            <a:endParaRPr sz="1900">
              <a:latin typeface="Cambria"/>
              <a:cs typeface="Cambria"/>
            </a:endParaRPr>
          </a:p>
          <a:p>
            <a:pPr marL="652780" algn="just">
              <a:lnSpc>
                <a:spcPct val="100000"/>
              </a:lnSpc>
              <a:spcBef>
                <a:spcPts val="15"/>
              </a:spcBef>
            </a:pPr>
            <a:r>
              <a:rPr sz="1900" spc="20" dirty="0">
                <a:latin typeface="Cambria"/>
                <a:cs typeface="Cambria"/>
              </a:rPr>
              <a:t>process</a:t>
            </a:r>
            <a:r>
              <a:rPr sz="1900" spc="7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these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notifications.</a:t>
            </a:r>
            <a:endParaRPr sz="1900">
              <a:latin typeface="Cambria"/>
              <a:cs typeface="Cambria"/>
            </a:endParaRPr>
          </a:p>
          <a:p>
            <a:pPr marL="927100" marR="5080" lvl="2" indent="-182880" algn="just">
              <a:lnSpc>
                <a:spcPct val="100000"/>
              </a:lnSpc>
              <a:spcBef>
                <a:spcPts val="400"/>
              </a:spcBef>
              <a:buClr>
                <a:srgbClr val="DF752E"/>
              </a:buClr>
              <a:buSzPct val="58823"/>
              <a:buFont typeface="Wingdings"/>
              <a:buChar char=""/>
              <a:tabLst>
                <a:tab pos="927735" algn="l"/>
              </a:tabLst>
            </a:pPr>
            <a:r>
              <a:rPr sz="1700" spc="80" dirty="0">
                <a:latin typeface="Cambria"/>
                <a:cs typeface="Cambria"/>
              </a:rPr>
              <a:t>When </a:t>
            </a:r>
            <a:r>
              <a:rPr sz="1700" spc="100" dirty="0">
                <a:latin typeface="Cambria"/>
                <a:cs typeface="Cambria"/>
              </a:rPr>
              <a:t>an </a:t>
            </a:r>
            <a:r>
              <a:rPr sz="1700" spc="50" dirty="0">
                <a:latin typeface="Cambria"/>
                <a:cs typeface="Cambria"/>
              </a:rPr>
              <a:t>event </a:t>
            </a:r>
            <a:r>
              <a:rPr sz="1700" spc="60" dirty="0">
                <a:latin typeface="Cambria"/>
                <a:cs typeface="Cambria"/>
              </a:rPr>
              <a:t>is </a:t>
            </a:r>
            <a:r>
              <a:rPr sz="1700" spc="50" dirty="0">
                <a:latin typeface="Cambria"/>
                <a:cs typeface="Cambria"/>
              </a:rPr>
              <a:t>generated </a:t>
            </a:r>
            <a:r>
              <a:rPr sz="1700" spc="35" dirty="0">
                <a:latin typeface="Cambria"/>
                <a:cs typeface="Cambria"/>
              </a:rPr>
              <a:t>by </a:t>
            </a:r>
            <a:r>
              <a:rPr sz="1700" spc="65" dirty="0">
                <a:latin typeface="Cambria"/>
                <a:cs typeface="Cambria"/>
              </a:rPr>
              <a:t>the </a:t>
            </a:r>
            <a:r>
              <a:rPr sz="1700" spc="235" dirty="0">
                <a:latin typeface="Cambria"/>
                <a:cs typeface="Cambria"/>
              </a:rPr>
              <a:t>GUI </a:t>
            </a:r>
            <a:r>
              <a:rPr sz="1700" spc="35" dirty="0">
                <a:latin typeface="Cambria"/>
                <a:cs typeface="Cambria"/>
              </a:rPr>
              <a:t>component </a:t>
            </a:r>
            <a:r>
              <a:rPr sz="1700" spc="70" dirty="0">
                <a:latin typeface="Cambria"/>
                <a:cs typeface="Cambria"/>
              </a:rPr>
              <a:t>this </a:t>
            </a:r>
            <a:r>
              <a:rPr sz="1700" spc="45" dirty="0">
                <a:latin typeface="Cambria"/>
                <a:cs typeface="Cambria"/>
              </a:rPr>
              <a:t>method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in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listener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object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is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invoked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respond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event</a:t>
            </a:r>
            <a:endParaRPr sz="1700">
              <a:latin typeface="Cambria"/>
              <a:cs typeface="Cambria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Clr>
                <a:srgbClr val="DF752E"/>
              </a:buClr>
              <a:buFont typeface="Wingdings"/>
              <a:buChar char=""/>
            </a:pPr>
            <a:endParaRPr sz="2800">
              <a:latin typeface="Cambria"/>
              <a:cs typeface="Cambria"/>
            </a:endParaRPr>
          </a:p>
          <a:p>
            <a:pPr marL="286385" marR="7315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100" dirty="0">
                <a:latin typeface="Cambria"/>
                <a:cs typeface="Cambria"/>
              </a:rPr>
              <a:t>The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methods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that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40" dirty="0">
                <a:latin typeface="Cambria"/>
                <a:cs typeface="Cambria"/>
              </a:rPr>
              <a:t>receive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and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25" dirty="0">
                <a:latin typeface="Cambria"/>
                <a:cs typeface="Cambria"/>
              </a:rPr>
              <a:t>process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events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are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defined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45" dirty="0">
                <a:latin typeface="Cambria"/>
                <a:cs typeface="Cambria"/>
              </a:rPr>
              <a:t>a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set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of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interfaces.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199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35" dirty="0"/>
              <a:t>W</a:t>
            </a:r>
            <a:r>
              <a:rPr spc="235" dirty="0"/>
              <a:t>HAT</a:t>
            </a:r>
            <a:r>
              <a:rPr spc="260" dirty="0"/>
              <a:t> </a:t>
            </a:r>
            <a:r>
              <a:rPr sz="3000" spc="280" dirty="0"/>
              <a:t>I</a:t>
            </a:r>
            <a:r>
              <a:rPr spc="280" dirty="0"/>
              <a:t>F</a:t>
            </a:r>
            <a:r>
              <a:rPr spc="275" dirty="0"/>
              <a:t> </a:t>
            </a:r>
            <a:r>
              <a:rPr sz="3000" spc="400" dirty="0"/>
              <a:t>…?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6938645" cy="15532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When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there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no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event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listener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event</a:t>
            </a:r>
            <a:endParaRPr sz="24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4" dirty="0">
                <a:latin typeface="Cambria"/>
                <a:cs typeface="Cambria"/>
              </a:rPr>
              <a:t>A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program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can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ignore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events</a:t>
            </a:r>
            <a:endParaRPr sz="2100">
              <a:latin typeface="Cambria"/>
              <a:cs typeface="Cambria"/>
            </a:endParaRPr>
          </a:p>
          <a:p>
            <a:pPr marL="652780" marR="5080" lvl="1" indent="-27495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If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there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no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listener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for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 </a:t>
            </a:r>
            <a:r>
              <a:rPr sz="2100" spc="80" dirty="0">
                <a:latin typeface="Cambria"/>
                <a:cs typeface="Cambria"/>
              </a:rPr>
              <a:t>event,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event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just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ignored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0826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310" dirty="0"/>
              <a:t>T</a:t>
            </a:r>
            <a:r>
              <a:rPr spc="310" dirty="0"/>
              <a:t>HE </a:t>
            </a:r>
            <a:r>
              <a:rPr spc="345" dirty="0"/>
              <a:t>SEQUENCE </a:t>
            </a:r>
            <a:r>
              <a:rPr spc="305" dirty="0"/>
              <a:t>OF </a:t>
            </a:r>
            <a:r>
              <a:rPr spc="275" dirty="0"/>
              <a:t>STEPS </a:t>
            </a:r>
            <a:r>
              <a:rPr spc="254" dirty="0"/>
              <a:t>IN </a:t>
            </a:r>
            <a:r>
              <a:rPr sz="3000" spc="310" dirty="0"/>
              <a:t>E</a:t>
            </a:r>
            <a:r>
              <a:rPr spc="310" dirty="0"/>
              <a:t>VENT </a:t>
            </a:r>
            <a:r>
              <a:rPr spc="-515" dirty="0"/>
              <a:t> </a:t>
            </a:r>
            <a:r>
              <a:rPr sz="3000" spc="305" dirty="0"/>
              <a:t>H</a:t>
            </a:r>
            <a:r>
              <a:rPr spc="305" dirty="0"/>
              <a:t>ANDLING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275" y="2266950"/>
            <a:ext cx="652462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7575" y="4450842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Register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the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55" dirty="0">
                <a:solidFill>
                  <a:srgbClr val="FF0000"/>
                </a:solidFill>
                <a:latin typeface="Cambria"/>
                <a:cs typeface="Cambria"/>
              </a:rPr>
              <a:t>listener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1200" b="1" spc="-2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 source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3628" y="5912611"/>
            <a:ext cx="1897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Implement</a:t>
            </a:r>
            <a:r>
              <a:rPr sz="1200" b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Listener </a:t>
            </a:r>
            <a:r>
              <a:rPr sz="1200" b="1" spc="-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Inner</a:t>
            </a:r>
            <a:r>
              <a:rPr sz="1200" b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95" dirty="0">
                <a:solidFill>
                  <a:srgbClr val="FF0000"/>
                </a:solidFill>
                <a:latin typeface="Cambria"/>
                <a:cs typeface="Cambria"/>
              </a:rPr>
              <a:t>Class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478026"/>
            <a:ext cx="4404995" cy="2876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40965">
              <a:lnSpc>
                <a:spcPct val="100000"/>
              </a:lnSpc>
              <a:spcBef>
                <a:spcPts val="105"/>
              </a:spcBef>
            </a:pPr>
            <a:r>
              <a:rPr sz="1100" b="1" spc="65" dirty="0">
                <a:latin typeface="Cambria"/>
                <a:cs typeface="Cambria"/>
              </a:rPr>
              <a:t>import java.awt.*; </a:t>
            </a:r>
            <a:r>
              <a:rPr sz="1100" b="1" spc="70" dirty="0">
                <a:latin typeface="Cambria"/>
                <a:cs typeface="Cambria"/>
              </a:rPr>
              <a:t> </a:t>
            </a:r>
            <a:r>
              <a:rPr sz="1100" b="1" spc="65" dirty="0">
                <a:latin typeface="Cambria"/>
                <a:cs typeface="Cambria"/>
              </a:rPr>
              <a:t>import </a:t>
            </a:r>
            <a:r>
              <a:rPr sz="1100" b="1" spc="60" dirty="0">
                <a:latin typeface="Cambria"/>
                <a:cs typeface="Cambria"/>
              </a:rPr>
              <a:t>java.awt.event.*; </a:t>
            </a:r>
            <a:r>
              <a:rPr sz="1100" b="1" spc="-229" dirty="0">
                <a:latin typeface="Cambria"/>
                <a:cs typeface="Cambria"/>
              </a:rPr>
              <a:t> </a:t>
            </a:r>
            <a:r>
              <a:rPr sz="1100" b="1" spc="65" dirty="0">
                <a:latin typeface="Cambria"/>
                <a:cs typeface="Cambria"/>
              </a:rPr>
              <a:t>import javax.swing.*; </a:t>
            </a:r>
            <a:r>
              <a:rPr sz="1100" b="1" spc="70" dirty="0">
                <a:latin typeface="Cambria"/>
                <a:cs typeface="Cambria"/>
              </a:rPr>
              <a:t> public</a:t>
            </a:r>
            <a:r>
              <a:rPr sz="1100" b="1" spc="55" dirty="0">
                <a:latin typeface="Cambria"/>
                <a:cs typeface="Cambria"/>
              </a:rPr>
              <a:t> </a:t>
            </a:r>
            <a:r>
              <a:rPr sz="1100" b="1" spc="60" dirty="0">
                <a:latin typeface="Cambria"/>
                <a:cs typeface="Cambria"/>
              </a:rPr>
              <a:t>class </a:t>
            </a:r>
            <a:r>
              <a:rPr sz="1100" b="1" spc="75" dirty="0">
                <a:latin typeface="Cambria"/>
                <a:cs typeface="Cambria"/>
              </a:rPr>
              <a:t>Counter{</a:t>
            </a:r>
            <a:endParaRPr sz="1100">
              <a:latin typeface="Cambria"/>
              <a:cs typeface="Cambria"/>
            </a:endParaRPr>
          </a:p>
          <a:p>
            <a:pPr marL="377825" marR="2755265">
              <a:lnSpc>
                <a:spcPct val="100000"/>
              </a:lnSpc>
            </a:pPr>
            <a:r>
              <a:rPr sz="1100" spc="100" dirty="0">
                <a:latin typeface="Cambria"/>
                <a:cs typeface="Cambria"/>
              </a:rPr>
              <a:t>JFrame </a:t>
            </a:r>
            <a:r>
              <a:rPr sz="1100" spc="25" dirty="0">
                <a:latin typeface="Cambria"/>
                <a:cs typeface="Cambria"/>
              </a:rPr>
              <a:t>f; 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JTextField </a:t>
            </a:r>
            <a:r>
              <a:rPr sz="1100" spc="35" dirty="0">
                <a:latin typeface="Cambria"/>
                <a:cs typeface="Cambria"/>
              </a:rPr>
              <a:t>tf; 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b="1" spc="70" dirty="0">
                <a:latin typeface="Cambria"/>
                <a:cs typeface="Cambria"/>
              </a:rPr>
              <a:t>public</a:t>
            </a:r>
            <a:r>
              <a:rPr sz="1100" b="1" spc="25" dirty="0">
                <a:latin typeface="Cambria"/>
                <a:cs typeface="Cambria"/>
              </a:rPr>
              <a:t> </a:t>
            </a:r>
            <a:r>
              <a:rPr sz="1100" b="1" spc="55" dirty="0">
                <a:latin typeface="Cambria"/>
                <a:cs typeface="Cambria"/>
              </a:rPr>
              <a:t>Counter(){</a:t>
            </a:r>
            <a:endParaRPr sz="1100">
              <a:latin typeface="Cambria"/>
              <a:cs typeface="Cambria"/>
            </a:endParaRPr>
          </a:p>
          <a:p>
            <a:pPr marL="744220" marR="1461770">
              <a:lnSpc>
                <a:spcPct val="100000"/>
              </a:lnSpc>
            </a:pPr>
            <a:r>
              <a:rPr sz="1100" spc="30" dirty="0">
                <a:latin typeface="Cambria"/>
                <a:cs typeface="Cambria"/>
              </a:rPr>
              <a:t>f </a:t>
            </a:r>
            <a:r>
              <a:rPr sz="1100" spc="55" dirty="0">
                <a:latin typeface="Cambria"/>
                <a:cs typeface="Cambria"/>
              </a:rPr>
              <a:t>= </a:t>
            </a:r>
            <a:r>
              <a:rPr sz="1100" b="1" spc="75" dirty="0">
                <a:latin typeface="Cambria"/>
                <a:cs typeface="Cambria"/>
              </a:rPr>
              <a:t>new </a:t>
            </a:r>
            <a:r>
              <a:rPr sz="1100" b="1" spc="65" dirty="0">
                <a:latin typeface="Cambria"/>
                <a:cs typeface="Cambria"/>
              </a:rPr>
              <a:t>JFrame("Counter"); </a:t>
            </a:r>
            <a:r>
              <a:rPr sz="1100" b="1" spc="70" dirty="0">
                <a:latin typeface="Cambria"/>
                <a:cs typeface="Cambria"/>
              </a:rPr>
              <a:t> </a:t>
            </a:r>
            <a:r>
              <a:rPr sz="1100" spc="45" dirty="0">
                <a:latin typeface="Cambria"/>
                <a:cs typeface="Cambria"/>
              </a:rPr>
              <a:t>f.setLayout(</a:t>
            </a:r>
            <a:r>
              <a:rPr sz="1100" b="1" spc="45" dirty="0">
                <a:latin typeface="Cambria"/>
                <a:cs typeface="Cambria"/>
              </a:rPr>
              <a:t>new </a:t>
            </a:r>
            <a:r>
              <a:rPr sz="1100" b="1" spc="60" dirty="0">
                <a:latin typeface="Cambria"/>
                <a:cs typeface="Cambria"/>
              </a:rPr>
              <a:t>FlowLayout()); </a:t>
            </a:r>
            <a:r>
              <a:rPr sz="1100" b="1" spc="-229" dirty="0">
                <a:latin typeface="Cambria"/>
                <a:cs typeface="Cambria"/>
              </a:rPr>
              <a:t> </a:t>
            </a:r>
            <a:r>
              <a:rPr sz="1100" spc="30" dirty="0">
                <a:latin typeface="Cambria"/>
                <a:cs typeface="Cambria"/>
              </a:rPr>
              <a:t>f.setSize(200,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100);</a:t>
            </a:r>
            <a:endParaRPr sz="1100">
              <a:latin typeface="Cambria"/>
              <a:cs typeface="Cambria"/>
            </a:endParaRPr>
          </a:p>
          <a:p>
            <a:pPr marL="744220" marR="5080">
              <a:lnSpc>
                <a:spcPct val="100000"/>
              </a:lnSpc>
            </a:pPr>
            <a:r>
              <a:rPr sz="1100" spc="70" dirty="0">
                <a:latin typeface="Cambria"/>
                <a:cs typeface="Cambria"/>
              </a:rPr>
              <a:t>f.setDefaultCloseOperation(JFrame.EXIT_ON_CLOSE); </a:t>
            </a:r>
            <a:r>
              <a:rPr sz="1100" spc="-229" dirty="0">
                <a:latin typeface="Cambria"/>
                <a:cs typeface="Cambria"/>
              </a:rPr>
              <a:t> </a:t>
            </a:r>
            <a:r>
              <a:rPr sz="1100" spc="45" dirty="0">
                <a:latin typeface="Cambria"/>
                <a:cs typeface="Cambria"/>
              </a:rPr>
              <a:t>f.add(</a:t>
            </a:r>
            <a:r>
              <a:rPr sz="1100" b="1" spc="45" dirty="0">
                <a:latin typeface="Cambria"/>
                <a:cs typeface="Cambria"/>
              </a:rPr>
              <a:t>new</a:t>
            </a:r>
            <a:r>
              <a:rPr sz="1100" b="1" spc="30" dirty="0">
                <a:latin typeface="Cambria"/>
                <a:cs typeface="Cambria"/>
              </a:rPr>
              <a:t> </a:t>
            </a:r>
            <a:r>
              <a:rPr sz="1100" b="1" spc="55" dirty="0">
                <a:latin typeface="Cambria"/>
                <a:cs typeface="Cambria"/>
              </a:rPr>
              <a:t>JLabel("Counter"));</a:t>
            </a:r>
            <a:endParaRPr sz="11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100" spc="45" dirty="0">
                <a:latin typeface="Cambria"/>
                <a:cs typeface="Cambria"/>
              </a:rPr>
              <a:t>tf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spc="55" dirty="0">
                <a:latin typeface="Cambria"/>
                <a:cs typeface="Cambria"/>
              </a:rPr>
              <a:t>=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b="1" spc="75" dirty="0">
                <a:latin typeface="Cambria"/>
                <a:cs typeface="Cambria"/>
              </a:rPr>
              <a:t>new</a:t>
            </a:r>
            <a:r>
              <a:rPr sz="1100" b="1" spc="50" dirty="0">
                <a:latin typeface="Cambria"/>
                <a:cs typeface="Cambria"/>
              </a:rPr>
              <a:t> </a:t>
            </a:r>
            <a:r>
              <a:rPr sz="1100" b="1" spc="60" dirty="0">
                <a:latin typeface="Cambria"/>
                <a:cs typeface="Cambria"/>
              </a:rPr>
              <a:t>JTextField(10);</a:t>
            </a:r>
            <a:endParaRPr sz="1100">
              <a:latin typeface="Cambria"/>
              <a:cs typeface="Cambria"/>
            </a:endParaRPr>
          </a:p>
          <a:p>
            <a:pPr marL="744220" marR="2710815">
              <a:lnSpc>
                <a:spcPct val="100000"/>
              </a:lnSpc>
            </a:pPr>
            <a:r>
              <a:rPr sz="1100" spc="20" dirty="0">
                <a:latin typeface="Cambria"/>
                <a:cs typeface="Cambria"/>
              </a:rPr>
              <a:t>f.add(tf); </a:t>
            </a:r>
            <a:r>
              <a:rPr sz="1100" spc="25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</a:t>
            </a:r>
            <a:r>
              <a:rPr sz="1100" spc="45" dirty="0">
                <a:latin typeface="Cambria"/>
                <a:cs typeface="Cambria"/>
              </a:rPr>
              <a:t>f</a:t>
            </a:r>
            <a:r>
              <a:rPr sz="1100" spc="80" dirty="0">
                <a:latin typeface="Cambria"/>
                <a:cs typeface="Cambria"/>
              </a:rPr>
              <a:t>.</a:t>
            </a:r>
            <a:r>
              <a:rPr sz="1100" spc="35" dirty="0">
                <a:latin typeface="Cambria"/>
                <a:cs typeface="Cambria"/>
              </a:rPr>
              <a:t>s</a:t>
            </a:r>
            <a:r>
              <a:rPr sz="1100" spc="45" dirty="0">
                <a:latin typeface="Cambria"/>
                <a:cs typeface="Cambria"/>
              </a:rPr>
              <a:t>etTe</a:t>
            </a:r>
            <a:r>
              <a:rPr sz="1100" spc="35" dirty="0">
                <a:latin typeface="Cambria"/>
                <a:cs typeface="Cambria"/>
              </a:rPr>
              <a:t>x</a:t>
            </a:r>
            <a:r>
              <a:rPr sz="1100" spc="45" dirty="0">
                <a:latin typeface="Cambria"/>
                <a:cs typeface="Cambria"/>
              </a:rPr>
              <a:t>t</a:t>
            </a:r>
            <a:r>
              <a:rPr sz="1100" spc="-65" dirty="0">
                <a:latin typeface="Cambria"/>
                <a:cs typeface="Cambria"/>
              </a:rPr>
              <a:t>(</a:t>
            </a:r>
            <a:r>
              <a:rPr sz="1100" spc="-10" dirty="0">
                <a:latin typeface="Cambria"/>
                <a:cs typeface="Cambria"/>
              </a:rPr>
              <a:t>"0</a:t>
            </a:r>
            <a:r>
              <a:rPr sz="1100" spc="-15" dirty="0">
                <a:latin typeface="Cambria"/>
                <a:cs typeface="Cambria"/>
              </a:rPr>
              <a:t>"</a:t>
            </a:r>
            <a:r>
              <a:rPr sz="1100" spc="-55" dirty="0">
                <a:latin typeface="Cambria"/>
                <a:cs typeface="Cambria"/>
              </a:rPr>
              <a:t>)</a:t>
            </a:r>
            <a:r>
              <a:rPr sz="1100" spc="15" dirty="0">
                <a:latin typeface="Cambria"/>
                <a:cs typeface="Cambria"/>
              </a:rPr>
              <a:t>;</a:t>
            </a:r>
            <a:endParaRPr sz="11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100" spc="85" dirty="0">
                <a:latin typeface="Cambria"/>
                <a:cs typeface="Cambria"/>
              </a:rPr>
              <a:t>JButton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10" dirty="0">
                <a:latin typeface="Cambria"/>
                <a:cs typeface="Cambria"/>
              </a:rPr>
              <a:t>b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55" dirty="0">
                <a:latin typeface="Cambria"/>
                <a:cs typeface="Cambria"/>
              </a:rPr>
              <a:t>=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b="1" spc="75" dirty="0">
                <a:latin typeface="Cambria"/>
                <a:cs typeface="Cambria"/>
              </a:rPr>
              <a:t>new</a:t>
            </a:r>
            <a:r>
              <a:rPr sz="1100" b="1" spc="50" dirty="0">
                <a:latin typeface="Cambria"/>
                <a:cs typeface="Cambria"/>
              </a:rPr>
              <a:t> </a:t>
            </a:r>
            <a:r>
              <a:rPr sz="1100" b="1" spc="60" dirty="0">
                <a:latin typeface="Cambria"/>
                <a:cs typeface="Cambria"/>
              </a:rPr>
              <a:t>JButton("Count");</a:t>
            </a:r>
            <a:endParaRPr sz="11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100" spc="15" dirty="0">
                <a:latin typeface="Cambria"/>
                <a:cs typeface="Cambria"/>
              </a:rPr>
              <a:t>f.add(b);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1557" y="4447285"/>
            <a:ext cx="3124200" cy="304800"/>
          </a:xfrm>
          <a:prstGeom prst="rect">
            <a:avLst/>
          </a:prstGeom>
          <a:solidFill>
            <a:srgbClr val="92D050"/>
          </a:solidFill>
          <a:ln w="25400">
            <a:solidFill>
              <a:srgbClr val="BA6025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r>
              <a:rPr sz="1100" spc="40" dirty="0">
                <a:latin typeface="Cambria"/>
                <a:cs typeface="Cambria"/>
              </a:rPr>
              <a:t>b.addActionListener(</a:t>
            </a:r>
            <a:r>
              <a:rPr sz="1100" b="1" spc="40" dirty="0">
                <a:latin typeface="Cambria"/>
                <a:cs typeface="Cambria"/>
              </a:rPr>
              <a:t>new</a:t>
            </a:r>
            <a:r>
              <a:rPr sz="1100" b="1" spc="20" dirty="0">
                <a:latin typeface="Cambria"/>
                <a:cs typeface="Cambria"/>
              </a:rPr>
              <a:t> </a:t>
            </a:r>
            <a:r>
              <a:rPr sz="1100" b="1" spc="60" dirty="0">
                <a:latin typeface="Cambria"/>
                <a:cs typeface="Cambria"/>
              </a:rPr>
              <a:t>CounterAction());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4831841"/>
            <a:ext cx="2816860" cy="864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Cambria"/>
                <a:cs typeface="Cambria"/>
              </a:rPr>
              <a:t>f.setVisible(</a:t>
            </a:r>
            <a:r>
              <a:rPr sz="1100" b="1" spc="35" dirty="0">
                <a:latin typeface="Cambria"/>
                <a:cs typeface="Cambria"/>
              </a:rPr>
              <a:t>true);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287020" marR="5080" indent="-274955">
              <a:lnSpc>
                <a:spcPct val="100000"/>
              </a:lnSpc>
              <a:spcBef>
                <a:spcPts val="5"/>
              </a:spcBef>
            </a:pPr>
            <a:r>
              <a:rPr sz="1100" b="1" spc="70" dirty="0">
                <a:latin typeface="Cambria"/>
                <a:cs typeface="Cambria"/>
              </a:rPr>
              <a:t>public static </a:t>
            </a:r>
            <a:r>
              <a:rPr sz="1100" b="1" spc="65" dirty="0">
                <a:latin typeface="Cambria"/>
                <a:cs typeface="Cambria"/>
              </a:rPr>
              <a:t>void main(String[] </a:t>
            </a:r>
            <a:r>
              <a:rPr sz="1100" b="1" spc="55" dirty="0">
                <a:latin typeface="Cambria"/>
                <a:cs typeface="Cambria"/>
              </a:rPr>
              <a:t>args) </a:t>
            </a:r>
            <a:r>
              <a:rPr sz="1100" b="1" spc="-5" dirty="0">
                <a:latin typeface="Cambria"/>
                <a:cs typeface="Cambria"/>
              </a:rPr>
              <a:t>{ </a:t>
            </a:r>
            <a:r>
              <a:rPr sz="1100" b="1" spc="-229" dirty="0">
                <a:latin typeface="Cambria"/>
                <a:cs typeface="Cambria"/>
              </a:rPr>
              <a:t> </a:t>
            </a:r>
            <a:r>
              <a:rPr sz="1100" b="1" spc="75" dirty="0">
                <a:latin typeface="Cambria"/>
                <a:cs typeface="Cambria"/>
              </a:rPr>
              <a:t>new</a:t>
            </a:r>
            <a:r>
              <a:rPr sz="1100" b="1" spc="55" dirty="0">
                <a:latin typeface="Cambria"/>
                <a:cs typeface="Cambria"/>
              </a:rPr>
              <a:t> Counter();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5853544"/>
            <a:ext cx="4343400" cy="838200"/>
          </a:xfrm>
          <a:prstGeom prst="rect">
            <a:avLst/>
          </a:prstGeom>
          <a:solidFill>
            <a:srgbClr val="92D050"/>
          </a:solidFill>
          <a:ln w="25400">
            <a:solidFill>
              <a:srgbClr val="BA6025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441959" marR="180975" indent="-366395">
              <a:lnSpc>
                <a:spcPts val="1320"/>
              </a:lnSpc>
              <a:spcBef>
                <a:spcPts val="25"/>
              </a:spcBef>
            </a:pPr>
            <a:r>
              <a:rPr sz="1100" b="1" spc="70" dirty="0">
                <a:latin typeface="Cambria"/>
                <a:cs typeface="Cambria"/>
              </a:rPr>
              <a:t>public </a:t>
            </a:r>
            <a:r>
              <a:rPr sz="1100" b="1" spc="60" dirty="0">
                <a:latin typeface="Cambria"/>
                <a:cs typeface="Cambria"/>
              </a:rPr>
              <a:t>class </a:t>
            </a:r>
            <a:r>
              <a:rPr sz="1100" b="1" spc="85" dirty="0">
                <a:latin typeface="Cambria"/>
                <a:cs typeface="Cambria"/>
              </a:rPr>
              <a:t>CounterAction </a:t>
            </a:r>
            <a:r>
              <a:rPr sz="1100" b="1" spc="60" dirty="0">
                <a:latin typeface="Cambria"/>
                <a:cs typeface="Cambria"/>
              </a:rPr>
              <a:t>implements </a:t>
            </a:r>
            <a:r>
              <a:rPr sz="1100" b="1" spc="75" dirty="0">
                <a:latin typeface="Cambria"/>
                <a:cs typeface="Cambria"/>
              </a:rPr>
              <a:t>ActionListener </a:t>
            </a:r>
            <a:r>
              <a:rPr sz="1100" b="1" spc="-5" dirty="0">
                <a:latin typeface="Cambria"/>
                <a:cs typeface="Cambria"/>
              </a:rPr>
              <a:t>{ </a:t>
            </a:r>
            <a:r>
              <a:rPr sz="1100" b="1" spc="-229" dirty="0">
                <a:latin typeface="Cambria"/>
                <a:cs typeface="Cambria"/>
              </a:rPr>
              <a:t> </a:t>
            </a:r>
            <a:r>
              <a:rPr sz="1100" b="1" spc="70" dirty="0">
                <a:latin typeface="Cambria"/>
                <a:cs typeface="Cambria"/>
              </a:rPr>
              <a:t>public</a:t>
            </a:r>
            <a:r>
              <a:rPr sz="1100" b="1" spc="60" dirty="0">
                <a:latin typeface="Cambria"/>
                <a:cs typeface="Cambria"/>
              </a:rPr>
              <a:t> </a:t>
            </a:r>
            <a:r>
              <a:rPr sz="1100" b="1" spc="65" dirty="0">
                <a:latin typeface="Cambria"/>
                <a:cs typeface="Cambria"/>
              </a:rPr>
              <a:t>void</a:t>
            </a:r>
            <a:r>
              <a:rPr sz="1100" b="1" spc="70" dirty="0">
                <a:latin typeface="Cambria"/>
                <a:cs typeface="Cambria"/>
              </a:rPr>
              <a:t> </a:t>
            </a:r>
            <a:r>
              <a:rPr sz="1100" b="1" spc="75" dirty="0">
                <a:latin typeface="Cambria"/>
                <a:cs typeface="Cambria"/>
              </a:rPr>
              <a:t>actionPerformed(ActionEvent</a:t>
            </a:r>
            <a:r>
              <a:rPr sz="1100" b="1" spc="40" dirty="0">
                <a:latin typeface="Cambria"/>
                <a:cs typeface="Cambria"/>
              </a:rPr>
              <a:t> </a:t>
            </a:r>
            <a:r>
              <a:rPr sz="1100" b="1" spc="10" dirty="0">
                <a:latin typeface="Cambria"/>
                <a:cs typeface="Cambria"/>
              </a:rPr>
              <a:t>e)</a:t>
            </a:r>
            <a:r>
              <a:rPr sz="1100" b="1" spc="65" dirty="0">
                <a:latin typeface="Cambria"/>
                <a:cs typeface="Cambria"/>
              </a:rPr>
              <a:t> </a:t>
            </a:r>
            <a:r>
              <a:rPr sz="1100" b="1" spc="-5" dirty="0">
                <a:latin typeface="Cambria"/>
                <a:cs typeface="Cambria"/>
              </a:rPr>
              <a:t>{</a:t>
            </a:r>
            <a:endParaRPr sz="1100">
              <a:latin typeface="Cambria"/>
              <a:cs typeface="Cambria"/>
            </a:endParaRPr>
          </a:p>
          <a:p>
            <a:pPr marL="624840">
              <a:lnSpc>
                <a:spcPts val="1275"/>
              </a:lnSpc>
            </a:pPr>
            <a:r>
              <a:rPr sz="1100" spc="30" dirty="0">
                <a:latin typeface="Cambria"/>
                <a:cs typeface="Cambria"/>
              </a:rPr>
              <a:t>tf.setText(Integer.parseInt(tf.getText()) </a:t>
            </a:r>
            <a:r>
              <a:rPr sz="1100" spc="55" dirty="0">
                <a:latin typeface="Cambria"/>
                <a:cs typeface="Cambria"/>
              </a:rPr>
              <a:t>+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</a:t>
            </a:r>
            <a:r>
              <a:rPr sz="1100" spc="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+"");</a:t>
            </a:r>
            <a:endParaRPr sz="1100">
              <a:latin typeface="Cambria"/>
              <a:cs typeface="Cambria"/>
            </a:endParaRPr>
          </a:p>
          <a:p>
            <a:pPr marL="441959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70940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pc="285" dirty="0"/>
              <a:t>MPLEMENT</a:t>
            </a:r>
            <a:r>
              <a:rPr spc="310" dirty="0"/>
              <a:t> </a:t>
            </a:r>
            <a:r>
              <a:rPr sz="3000" spc="285" dirty="0"/>
              <a:t>L</a:t>
            </a:r>
            <a:r>
              <a:rPr spc="285" dirty="0"/>
              <a:t>ISTENER</a:t>
            </a:r>
            <a:r>
              <a:rPr spc="330" dirty="0"/>
              <a:t> </a:t>
            </a:r>
            <a:r>
              <a:rPr spc="254" dirty="0"/>
              <a:t>IN</a:t>
            </a:r>
            <a:r>
              <a:rPr spc="310" dirty="0"/>
              <a:t> </a:t>
            </a:r>
            <a:r>
              <a:rPr sz="3000" spc="295" dirty="0"/>
              <a:t>I</a:t>
            </a:r>
            <a:r>
              <a:rPr spc="295" dirty="0"/>
              <a:t>NNER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1375" y="5543194"/>
            <a:ext cx="183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Implement</a:t>
            </a: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method </a:t>
            </a:r>
            <a:r>
              <a:rPr sz="1200" b="1" spc="-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handle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the</a:t>
            </a:r>
            <a:r>
              <a:rPr sz="12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event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8828" y="5742685"/>
            <a:ext cx="233172" cy="2353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61561" y="4543170"/>
            <a:ext cx="185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Register</a:t>
            </a:r>
            <a:r>
              <a:rPr sz="1200" b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55" dirty="0">
                <a:solidFill>
                  <a:srgbClr val="FF0000"/>
                </a:solidFill>
                <a:latin typeface="Cambria"/>
                <a:cs typeface="Cambria"/>
              </a:rPr>
              <a:t>listener</a:t>
            </a:r>
            <a:r>
              <a:rPr sz="1200" b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to </a:t>
            </a:r>
            <a:r>
              <a:rPr sz="1200" b="1" spc="-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 source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6729" y="4643501"/>
            <a:ext cx="735965" cy="191770"/>
          </a:xfrm>
          <a:custGeom>
            <a:avLst/>
            <a:gdLst/>
            <a:ahLst/>
            <a:cxnLst/>
            <a:rect l="l" t="t" r="r" b="b"/>
            <a:pathLst>
              <a:path w="735964" h="191770">
                <a:moveTo>
                  <a:pt x="698834" y="33763"/>
                </a:moveTo>
                <a:lnTo>
                  <a:pt x="0" y="178816"/>
                </a:lnTo>
                <a:lnTo>
                  <a:pt x="2539" y="191262"/>
                </a:lnTo>
                <a:lnTo>
                  <a:pt x="701526" y="46177"/>
                </a:lnTo>
                <a:lnTo>
                  <a:pt x="710836" y="37788"/>
                </a:lnTo>
                <a:lnTo>
                  <a:pt x="698834" y="33763"/>
                </a:lnTo>
                <a:close/>
              </a:path>
              <a:path w="735964" h="191770">
                <a:moveTo>
                  <a:pt x="724594" y="28956"/>
                </a:moveTo>
                <a:lnTo>
                  <a:pt x="721994" y="28956"/>
                </a:lnTo>
                <a:lnTo>
                  <a:pt x="724534" y="41401"/>
                </a:lnTo>
                <a:lnTo>
                  <a:pt x="701526" y="46177"/>
                </a:lnTo>
                <a:lnTo>
                  <a:pt x="650874" y="91821"/>
                </a:lnTo>
                <a:lnTo>
                  <a:pt x="650620" y="95885"/>
                </a:lnTo>
                <a:lnTo>
                  <a:pt x="655319" y="101092"/>
                </a:lnTo>
                <a:lnTo>
                  <a:pt x="659257" y="101218"/>
                </a:lnTo>
                <a:lnTo>
                  <a:pt x="661923" y="98932"/>
                </a:lnTo>
                <a:lnTo>
                  <a:pt x="735583" y="32638"/>
                </a:lnTo>
                <a:lnTo>
                  <a:pt x="724594" y="28956"/>
                </a:lnTo>
                <a:close/>
              </a:path>
              <a:path w="735964" h="191770">
                <a:moveTo>
                  <a:pt x="710836" y="37788"/>
                </a:moveTo>
                <a:lnTo>
                  <a:pt x="701526" y="46177"/>
                </a:lnTo>
                <a:lnTo>
                  <a:pt x="724534" y="41401"/>
                </a:lnTo>
                <a:lnTo>
                  <a:pt x="721232" y="41275"/>
                </a:lnTo>
                <a:lnTo>
                  <a:pt x="710836" y="37788"/>
                </a:lnTo>
                <a:close/>
              </a:path>
              <a:path w="735964" h="191770">
                <a:moveTo>
                  <a:pt x="718946" y="30480"/>
                </a:moveTo>
                <a:lnTo>
                  <a:pt x="710836" y="37788"/>
                </a:lnTo>
                <a:lnTo>
                  <a:pt x="721232" y="41275"/>
                </a:lnTo>
                <a:lnTo>
                  <a:pt x="718946" y="30480"/>
                </a:lnTo>
                <a:close/>
              </a:path>
              <a:path w="735964" h="191770">
                <a:moveTo>
                  <a:pt x="722306" y="30480"/>
                </a:moveTo>
                <a:lnTo>
                  <a:pt x="718946" y="30480"/>
                </a:lnTo>
                <a:lnTo>
                  <a:pt x="721232" y="41275"/>
                </a:lnTo>
                <a:lnTo>
                  <a:pt x="724509" y="41275"/>
                </a:lnTo>
                <a:lnTo>
                  <a:pt x="722306" y="30480"/>
                </a:lnTo>
                <a:close/>
              </a:path>
              <a:path w="735964" h="191770">
                <a:moveTo>
                  <a:pt x="721994" y="28956"/>
                </a:moveTo>
                <a:lnTo>
                  <a:pt x="698834" y="33763"/>
                </a:lnTo>
                <a:lnTo>
                  <a:pt x="710836" y="37788"/>
                </a:lnTo>
                <a:lnTo>
                  <a:pt x="718946" y="30480"/>
                </a:lnTo>
                <a:lnTo>
                  <a:pt x="722306" y="30480"/>
                </a:lnTo>
                <a:lnTo>
                  <a:pt x="721994" y="28956"/>
                </a:lnTo>
                <a:close/>
              </a:path>
              <a:path w="735964" h="191770">
                <a:moveTo>
                  <a:pt x="638302" y="0"/>
                </a:moveTo>
                <a:lnTo>
                  <a:pt x="634745" y="1778"/>
                </a:lnTo>
                <a:lnTo>
                  <a:pt x="633603" y="5080"/>
                </a:lnTo>
                <a:lnTo>
                  <a:pt x="632459" y="8509"/>
                </a:lnTo>
                <a:lnTo>
                  <a:pt x="634237" y="12065"/>
                </a:lnTo>
                <a:lnTo>
                  <a:pt x="637540" y="13207"/>
                </a:lnTo>
                <a:lnTo>
                  <a:pt x="698834" y="33763"/>
                </a:lnTo>
                <a:lnTo>
                  <a:pt x="721994" y="28956"/>
                </a:lnTo>
                <a:lnTo>
                  <a:pt x="724594" y="28956"/>
                </a:lnTo>
                <a:lnTo>
                  <a:pt x="641604" y="1143"/>
                </a:lnTo>
                <a:lnTo>
                  <a:pt x="638302" y="0"/>
                </a:lnTo>
                <a:close/>
              </a:path>
            </a:pathLst>
          </a:custGeom>
          <a:solidFill>
            <a:srgbClr val="FF6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023872" y="2026920"/>
            <a:ext cx="1374140" cy="320675"/>
            <a:chOff x="2023872" y="2026920"/>
            <a:chExt cx="1374140" cy="320675"/>
          </a:xfrm>
        </p:grpSpPr>
        <p:sp>
          <p:nvSpPr>
            <p:cNvPr id="7" name="object 7"/>
            <p:cNvSpPr/>
            <p:nvPr/>
          </p:nvSpPr>
          <p:spPr>
            <a:xfrm>
              <a:off x="2036572" y="2182114"/>
              <a:ext cx="960755" cy="152400"/>
            </a:xfrm>
            <a:custGeom>
              <a:avLst/>
              <a:gdLst/>
              <a:ahLst/>
              <a:cxnLst/>
              <a:rect l="l" t="t" r="r" b="b"/>
              <a:pathLst>
                <a:path w="960755" h="152400">
                  <a:moveTo>
                    <a:pt x="960577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960577" y="152400"/>
                  </a:lnTo>
                  <a:lnTo>
                    <a:pt x="96057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36572" y="2182114"/>
              <a:ext cx="960755" cy="152400"/>
            </a:xfrm>
            <a:custGeom>
              <a:avLst/>
              <a:gdLst/>
              <a:ahLst/>
              <a:cxnLst/>
              <a:rect l="l" t="t" r="r" b="b"/>
              <a:pathLst>
                <a:path w="960755" h="152400">
                  <a:moveTo>
                    <a:pt x="0" y="152400"/>
                  </a:moveTo>
                  <a:lnTo>
                    <a:pt x="960577" y="152400"/>
                  </a:lnTo>
                  <a:lnTo>
                    <a:pt x="960577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4025" y="2026920"/>
              <a:ext cx="403860" cy="236854"/>
            </a:xfrm>
            <a:custGeom>
              <a:avLst/>
              <a:gdLst/>
              <a:ahLst/>
              <a:cxnLst/>
              <a:rect l="l" t="t" r="r" b="b"/>
              <a:pathLst>
                <a:path w="403860" h="236855">
                  <a:moveTo>
                    <a:pt x="368926" y="13071"/>
                  </a:moveTo>
                  <a:lnTo>
                    <a:pt x="0" y="225932"/>
                  </a:lnTo>
                  <a:lnTo>
                    <a:pt x="6350" y="236854"/>
                  </a:lnTo>
                  <a:lnTo>
                    <a:pt x="375280" y="24112"/>
                  </a:lnTo>
                  <a:lnTo>
                    <a:pt x="381555" y="13144"/>
                  </a:lnTo>
                  <a:lnTo>
                    <a:pt x="368926" y="13071"/>
                  </a:lnTo>
                  <a:close/>
                </a:path>
                <a:path w="403860" h="236855">
                  <a:moveTo>
                    <a:pt x="403042" y="1269"/>
                  </a:moveTo>
                  <a:lnTo>
                    <a:pt x="389382" y="1269"/>
                  </a:lnTo>
                  <a:lnTo>
                    <a:pt x="395732" y="12318"/>
                  </a:lnTo>
                  <a:lnTo>
                    <a:pt x="375280" y="24112"/>
                  </a:lnTo>
                  <a:lnTo>
                    <a:pt x="343153" y="80263"/>
                  </a:lnTo>
                  <a:lnTo>
                    <a:pt x="341502" y="83312"/>
                  </a:lnTo>
                  <a:lnTo>
                    <a:pt x="342519" y="87121"/>
                  </a:lnTo>
                  <a:lnTo>
                    <a:pt x="348614" y="90677"/>
                  </a:lnTo>
                  <a:lnTo>
                    <a:pt x="352551" y="89534"/>
                  </a:lnTo>
                  <a:lnTo>
                    <a:pt x="354202" y="86487"/>
                  </a:lnTo>
                  <a:lnTo>
                    <a:pt x="403042" y="1269"/>
                  </a:lnTo>
                  <a:close/>
                </a:path>
                <a:path w="403860" h="236855">
                  <a:moveTo>
                    <a:pt x="390768" y="3682"/>
                  </a:moveTo>
                  <a:lnTo>
                    <a:pt x="386969" y="3682"/>
                  </a:lnTo>
                  <a:lnTo>
                    <a:pt x="392557" y="13207"/>
                  </a:lnTo>
                  <a:lnTo>
                    <a:pt x="381519" y="13207"/>
                  </a:lnTo>
                  <a:lnTo>
                    <a:pt x="375280" y="24112"/>
                  </a:lnTo>
                  <a:lnTo>
                    <a:pt x="394190" y="13207"/>
                  </a:lnTo>
                  <a:lnTo>
                    <a:pt x="392557" y="13207"/>
                  </a:lnTo>
                  <a:lnTo>
                    <a:pt x="394300" y="13144"/>
                  </a:lnTo>
                  <a:lnTo>
                    <a:pt x="395732" y="12318"/>
                  </a:lnTo>
                  <a:lnTo>
                    <a:pt x="390768" y="3682"/>
                  </a:lnTo>
                  <a:close/>
                </a:path>
                <a:path w="403860" h="236855">
                  <a:moveTo>
                    <a:pt x="386969" y="3682"/>
                  </a:moveTo>
                  <a:lnTo>
                    <a:pt x="381555" y="13144"/>
                  </a:lnTo>
                  <a:lnTo>
                    <a:pt x="392557" y="13207"/>
                  </a:lnTo>
                  <a:lnTo>
                    <a:pt x="386969" y="3682"/>
                  </a:lnTo>
                  <a:close/>
                </a:path>
                <a:path w="403860" h="236855">
                  <a:moveTo>
                    <a:pt x="389382" y="1269"/>
                  </a:moveTo>
                  <a:lnTo>
                    <a:pt x="368926" y="13071"/>
                  </a:lnTo>
                  <a:lnTo>
                    <a:pt x="381555" y="13144"/>
                  </a:lnTo>
                  <a:lnTo>
                    <a:pt x="386969" y="3682"/>
                  </a:lnTo>
                  <a:lnTo>
                    <a:pt x="390768" y="3682"/>
                  </a:lnTo>
                  <a:lnTo>
                    <a:pt x="389382" y="1269"/>
                  </a:lnTo>
                  <a:close/>
                </a:path>
                <a:path w="403860" h="236855">
                  <a:moveTo>
                    <a:pt x="304291" y="0"/>
                  </a:moveTo>
                  <a:lnTo>
                    <a:pt x="300863" y="0"/>
                  </a:lnTo>
                  <a:lnTo>
                    <a:pt x="297941" y="2793"/>
                  </a:lnTo>
                  <a:lnTo>
                    <a:pt x="297941" y="9905"/>
                  </a:lnTo>
                  <a:lnTo>
                    <a:pt x="300736" y="12700"/>
                  </a:lnTo>
                  <a:lnTo>
                    <a:pt x="368926" y="13071"/>
                  </a:lnTo>
                  <a:lnTo>
                    <a:pt x="389382" y="1269"/>
                  </a:lnTo>
                  <a:lnTo>
                    <a:pt x="403042" y="1269"/>
                  </a:lnTo>
                  <a:lnTo>
                    <a:pt x="403478" y="507"/>
                  </a:lnTo>
                  <a:lnTo>
                    <a:pt x="304291" y="0"/>
                  </a:lnTo>
                  <a:close/>
                </a:path>
              </a:pathLst>
            </a:custGeom>
            <a:solidFill>
              <a:srgbClr val="FF690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76625" y="1782902"/>
            <a:ext cx="18415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Implement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listener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1630426"/>
            <a:ext cx="13265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65" dirty="0">
                <a:latin typeface="Cambria"/>
                <a:cs typeface="Cambria"/>
              </a:rPr>
              <a:t>import</a:t>
            </a:r>
            <a:r>
              <a:rPr sz="1100" b="1" dirty="0">
                <a:latin typeface="Cambria"/>
                <a:cs typeface="Cambria"/>
              </a:rPr>
              <a:t> </a:t>
            </a:r>
            <a:r>
              <a:rPr sz="1100" b="1" spc="65" dirty="0">
                <a:latin typeface="Cambria"/>
                <a:cs typeface="Cambria"/>
              </a:rPr>
              <a:t>java.awt.*;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798142"/>
            <a:ext cx="176911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65" dirty="0">
                <a:latin typeface="Cambria"/>
                <a:cs typeface="Cambria"/>
              </a:rPr>
              <a:t>import</a:t>
            </a:r>
            <a:r>
              <a:rPr sz="1100" b="1" spc="45" dirty="0">
                <a:latin typeface="Cambria"/>
                <a:cs typeface="Cambria"/>
              </a:rPr>
              <a:t> </a:t>
            </a:r>
            <a:r>
              <a:rPr sz="1100" b="1" spc="60" dirty="0">
                <a:latin typeface="Cambria"/>
                <a:cs typeface="Cambria"/>
              </a:rPr>
              <a:t>java.awt.event.*;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5" dirty="0"/>
              <a:t>import</a:t>
            </a:r>
            <a:r>
              <a:rPr spc="45" dirty="0"/>
              <a:t> </a:t>
            </a:r>
            <a:r>
              <a:rPr spc="65" dirty="0"/>
              <a:t>javax.swing.*;</a:t>
            </a:r>
          </a:p>
          <a:p>
            <a:pPr marL="12700">
              <a:lnSpc>
                <a:spcPct val="100000"/>
              </a:lnSpc>
            </a:pPr>
            <a:r>
              <a:rPr spc="70" dirty="0"/>
              <a:t>public</a:t>
            </a:r>
            <a:r>
              <a:rPr spc="60" dirty="0"/>
              <a:t> class</a:t>
            </a:r>
            <a:r>
              <a:rPr spc="65" dirty="0"/>
              <a:t> </a:t>
            </a:r>
            <a:r>
              <a:rPr spc="90" dirty="0"/>
              <a:t>Counter</a:t>
            </a:r>
            <a:r>
              <a:rPr spc="45" dirty="0"/>
              <a:t> </a:t>
            </a:r>
            <a:r>
              <a:rPr spc="60" dirty="0"/>
              <a:t>implements</a:t>
            </a:r>
            <a:r>
              <a:rPr spc="65" dirty="0"/>
              <a:t> </a:t>
            </a:r>
            <a:r>
              <a:rPr spc="70" dirty="0"/>
              <a:t>ActionListener{</a:t>
            </a:r>
          </a:p>
          <a:p>
            <a:pPr marL="377825" marR="2823845">
              <a:lnSpc>
                <a:spcPct val="100000"/>
              </a:lnSpc>
            </a:pPr>
            <a:r>
              <a:rPr b="0" spc="100" dirty="0">
                <a:latin typeface="Cambria"/>
                <a:cs typeface="Cambria"/>
              </a:rPr>
              <a:t>JFrame </a:t>
            </a:r>
            <a:r>
              <a:rPr b="0" spc="25" dirty="0">
                <a:latin typeface="Cambria"/>
                <a:cs typeface="Cambria"/>
              </a:rPr>
              <a:t>f; </a:t>
            </a:r>
            <a:r>
              <a:rPr b="0" spc="30" dirty="0">
                <a:latin typeface="Cambria"/>
                <a:cs typeface="Cambria"/>
              </a:rPr>
              <a:t> </a:t>
            </a:r>
            <a:r>
              <a:rPr b="0" spc="70" dirty="0">
                <a:latin typeface="Cambria"/>
                <a:cs typeface="Cambria"/>
              </a:rPr>
              <a:t>JTextField </a:t>
            </a:r>
            <a:r>
              <a:rPr b="0" spc="35" dirty="0">
                <a:latin typeface="Cambria"/>
                <a:cs typeface="Cambria"/>
              </a:rPr>
              <a:t>tf; </a:t>
            </a:r>
            <a:r>
              <a:rPr b="0" spc="40" dirty="0">
                <a:latin typeface="Cambria"/>
                <a:cs typeface="Cambria"/>
              </a:rPr>
              <a:t> </a:t>
            </a:r>
            <a:r>
              <a:rPr spc="70" dirty="0"/>
              <a:t>public</a:t>
            </a:r>
            <a:r>
              <a:rPr spc="25" dirty="0"/>
              <a:t> </a:t>
            </a:r>
            <a:r>
              <a:rPr spc="55" dirty="0"/>
              <a:t>Counter(){</a:t>
            </a:r>
          </a:p>
          <a:p>
            <a:pPr marL="744220" marR="1530350">
              <a:lnSpc>
                <a:spcPct val="100000"/>
              </a:lnSpc>
            </a:pPr>
            <a:r>
              <a:rPr b="0" spc="30" dirty="0">
                <a:latin typeface="Cambria"/>
                <a:cs typeface="Cambria"/>
              </a:rPr>
              <a:t>f </a:t>
            </a:r>
            <a:r>
              <a:rPr b="0" spc="55" dirty="0">
                <a:latin typeface="Cambria"/>
                <a:cs typeface="Cambria"/>
              </a:rPr>
              <a:t>= </a:t>
            </a:r>
            <a:r>
              <a:rPr spc="75" dirty="0"/>
              <a:t>new </a:t>
            </a:r>
            <a:r>
              <a:rPr spc="65" dirty="0"/>
              <a:t>JFrame("Counter"); </a:t>
            </a:r>
            <a:r>
              <a:rPr spc="70" dirty="0"/>
              <a:t> </a:t>
            </a:r>
            <a:r>
              <a:rPr b="0" spc="45" dirty="0">
                <a:latin typeface="Cambria"/>
                <a:cs typeface="Cambria"/>
              </a:rPr>
              <a:t>f.setLayout(</a:t>
            </a:r>
            <a:r>
              <a:rPr spc="45" dirty="0"/>
              <a:t>new </a:t>
            </a:r>
            <a:r>
              <a:rPr spc="60" dirty="0"/>
              <a:t>FlowLayout()); </a:t>
            </a:r>
            <a:r>
              <a:rPr spc="-229" dirty="0"/>
              <a:t> </a:t>
            </a:r>
            <a:r>
              <a:rPr b="0" spc="30" dirty="0">
                <a:latin typeface="Cambria"/>
                <a:cs typeface="Cambria"/>
              </a:rPr>
              <a:t>f.setSize(200,</a:t>
            </a:r>
            <a:r>
              <a:rPr b="0" spc="15" dirty="0">
                <a:latin typeface="Cambria"/>
                <a:cs typeface="Cambria"/>
              </a:rPr>
              <a:t> </a:t>
            </a:r>
            <a:r>
              <a:rPr b="0" spc="-10" dirty="0">
                <a:latin typeface="Cambria"/>
                <a:cs typeface="Cambria"/>
              </a:rPr>
              <a:t>100);</a:t>
            </a:r>
          </a:p>
          <a:p>
            <a:pPr marL="744220" marR="5080">
              <a:lnSpc>
                <a:spcPct val="100000"/>
              </a:lnSpc>
            </a:pPr>
            <a:r>
              <a:rPr b="0" spc="30" dirty="0">
                <a:latin typeface="Cambria"/>
                <a:cs typeface="Cambria"/>
              </a:rPr>
              <a:t>f</a:t>
            </a:r>
            <a:r>
              <a:rPr b="0" spc="80" dirty="0">
                <a:latin typeface="Cambria"/>
                <a:cs typeface="Cambria"/>
              </a:rPr>
              <a:t>.</a:t>
            </a:r>
            <a:r>
              <a:rPr b="0" spc="35" dirty="0">
                <a:latin typeface="Cambria"/>
                <a:cs typeface="Cambria"/>
              </a:rPr>
              <a:t>s</a:t>
            </a:r>
            <a:r>
              <a:rPr b="0" spc="55" dirty="0">
                <a:latin typeface="Cambria"/>
                <a:cs typeface="Cambria"/>
              </a:rPr>
              <a:t>et</a:t>
            </a:r>
            <a:r>
              <a:rPr b="0" spc="85" dirty="0">
                <a:latin typeface="Cambria"/>
                <a:cs typeface="Cambria"/>
              </a:rPr>
              <a:t>D</a:t>
            </a:r>
            <a:r>
              <a:rPr b="0" spc="30" dirty="0">
                <a:latin typeface="Cambria"/>
                <a:cs typeface="Cambria"/>
              </a:rPr>
              <a:t>e</a:t>
            </a:r>
            <a:r>
              <a:rPr b="0" spc="5" dirty="0">
                <a:latin typeface="Cambria"/>
                <a:cs typeface="Cambria"/>
              </a:rPr>
              <a:t>f</a:t>
            </a:r>
            <a:r>
              <a:rPr b="0" spc="65" dirty="0">
                <a:latin typeface="Cambria"/>
                <a:cs typeface="Cambria"/>
              </a:rPr>
              <a:t>au</a:t>
            </a:r>
            <a:r>
              <a:rPr b="0" spc="55" dirty="0">
                <a:latin typeface="Cambria"/>
                <a:cs typeface="Cambria"/>
              </a:rPr>
              <a:t>ltClose</a:t>
            </a:r>
            <a:r>
              <a:rPr b="0" spc="85" dirty="0">
                <a:latin typeface="Cambria"/>
                <a:cs typeface="Cambria"/>
              </a:rPr>
              <a:t>O</a:t>
            </a:r>
            <a:r>
              <a:rPr b="0" spc="20" dirty="0">
                <a:latin typeface="Cambria"/>
                <a:cs typeface="Cambria"/>
              </a:rPr>
              <a:t>per</a:t>
            </a:r>
            <a:r>
              <a:rPr b="0" spc="70" dirty="0">
                <a:latin typeface="Cambria"/>
                <a:cs typeface="Cambria"/>
              </a:rPr>
              <a:t>a</a:t>
            </a:r>
            <a:r>
              <a:rPr b="0" spc="40" dirty="0">
                <a:latin typeface="Cambria"/>
                <a:cs typeface="Cambria"/>
              </a:rPr>
              <a:t>t</a:t>
            </a:r>
            <a:r>
              <a:rPr b="0" spc="20" dirty="0">
                <a:latin typeface="Cambria"/>
                <a:cs typeface="Cambria"/>
              </a:rPr>
              <a:t>io</a:t>
            </a:r>
            <a:r>
              <a:rPr b="0" spc="30" dirty="0">
                <a:latin typeface="Cambria"/>
                <a:cs typeface="Cambria"/>
              </a:rPr>
              <a:t>n</a:t>
            </a:r>
            <a:r>
              <a:rPr b="0" spc="-65" dirty="0">
                <a:latin typeface="Cambria"/>
                <a:cs typeface="Cambria"/>
              </a:rPr>
              <a:t>(</a:t>
            </a:r>
            <a:r>
              <a:rPr b="0" spc="145" dirty="0">
                <a:latin typeface="Cambria"/>
                <a:cs typeface="Cambria"/>
              </a:rPr>
              <a:t>J</a:t>
            </a:r>
            <a:r>
              <a:rPr b="0" spc="254" dirty="0">
                <a:latin typeface="Cambria"/>
                <a:cs typeface="Cambria"/>
              </a:rPr>
              <a:t>F</a:t>
            </a:r>
            <a:r>
              <a:rPr b="0" spc="60" dirty="0">
                <a:latin typeface="Cambria"/>
                <a:cs typeface="Cambria"/>
              </a:rPr>
              <a:t>rame</a:t>
            </a:r>
            <a:r>
              <a:rPr b="0" spc="15" dirty="0">
                <a:latin typeface="Cambria"/>
                <a:cs typeface="Cambria"/>
              </a:rPr>
              <a:t>.</a:t>
            </a:r>
            <a:r>
              <a:rPr i="1" spc="185" dirty="0">
                <a:latin typeface="Cambria"/>
                <a:cs typeface="Cambria"/>
              </a:rPr>
              <a:t>E</a:t>
            </a:r>
            <a:r>
              <a:rPr i="1" spc="120" dirty="0">
                <a:latin typeface="Cambria"/>
                <a:cs typeface="Cambria"/>
              </a:rPr>
              <a:t>XI</a:t>
            </a:r>
            <a:r>
              <a:rPr i="1" spc="155" dirty="0">
                <a:latin typeface="Cambria"/>
                <a:cs typeface="Cambria"/>
              </a:rPr>
              <a:t>T</a:t>
            </a:r>
            <a:r>
              <a:rPr i="1" spc="114" dirty="0">
                <a:latin typeface="Cambria"/>
                <a:cs typeface="Cambria"/>
              </a:rPr>
              <a:t>_</a:t>
            </a:r>
            <a:r>
              <a:rPr i="1" spc="210" dirty="0">
                <a:latin typeface="Cambria"/>
                <a:cs typeface="Cambria"/>
              </a:rPr>
              <a:t>O</a:t>
            </a:r>
            <a:r>
              <a:rPr i="1" spc="204" dirty="0">
                <a:latin typeface="Cambria"/>
                <a:cs typeface="Cambria"/>
              </a:rPr>
              <a:t>N</a:t>
            </a:r>
            <a:r>
              <a:rPr i="1" spc="195" dirty="0">
                <a:latin typeface="Cambria"/>
                <a:cs typeface="Cambria"/>
              </a:rPr>
              <a:t>_CL</a:t>
            </a:r>
            <a:r>
              <a:rPr i="1" spc="165" dirty="0">
                <a:latin typeface="Cambria"/>
                <a:cs typeface="Cambria"/>
              </a:rPr>
              <a:t>O</a:t>
            </a:r>
            <a:r>
              <a:rPr i="1" spc="190" dirty="0">
                <a:latin typeface="Cambria"/>
                <a:cs typeface="Cambria"/>
              </a:rPr>
              <a:t>S</a:t>
            </a:r>
            <a:r>
              <a:rPr i="1" spc="200" dirty="0">
                <a:latin typeface="Cambria"/>
                <a:cs typeface="Cambria"/>
              </a:rPr>
              <a:t>E</a:t>
            </a:r>
            <a:r>
              <a:rPr i="1" dirty="0">
                <a:latin typeface="Cambria"/>
                <a:cs typeface="Cambria"/>
              </a:rPr>
              <a:t>);  </a:t>
            </a:r>
            <a:r>
              <a:rPr b="0" spc="45" dirty="0">
                <a:latin typeface="Cambria"/>
                <a:cs typeface="Cambria"/>
              </a:rPr>
              <a:t>f.add(</a:t>
            </a:r>
            <a:r>
              <a:rPr spc="45" dirty="0"/>
              <a:t>new</a:t>
            </a:r>
            <a:r>
              <a:rPr spc="30" dirty="0"/>
              <a:t> </a:t>
            </a:r>
            <a:r>
              <a:rPr spc="55" dirty="0"/>
              <a:t>JLabel("Counter"));</a:t>
            </a:r>
          </a:p>
          <a:p>
            <a:pPr marL="744220">
              <a:lnSpc>
                <a:spcPct val="100000"/>
              </a:lnSpc>
            </a:pPr>
            <a:r>
              <a:rPr b="0" spc="45" dirty="0">
                <a:latin typeface="Cambria"/>
                <a:cs typeface="Cambria"/>
              </a:rPr>
              <a:t>tf</a:t>
            </a:r>
            <a:r>
              <a:rPr b="0" spc="40" dirty="0">
                <a:latin typeface="Cambria"/>
                <a:cs typeface="Cambria"/>
              </a:rPr>
              <a:t> </a:t>
            </a:r>
            <a:r>
              <a:rPr b="0" spc="55" dirty="0">
                <a:latin typeface="Cambria"/>
                <a:cs typeface="Cambria"/>
              </a:rPr>
              <a:t>=</a:t>
            </a:r>
            <a:r>
              <a:rPr b="0" spc="40" dirty="0">
                <a:latin typeface="Cambria"/>
                <a:cs typeface="Cambria"/>
              </a:rPr>
              <a:t> </a:t>
            </a:r>
            <a:r>
              <a:rPr spc="75" dirty="0"/>
              <a:t>new</a:t>
            </a:r>
            <a:r>
              <a:rPr spc="50" dirty="0"/>
              <a:t> </a:t>
            </a:r>
            <a:r>
              <a:rPr spc="60" dirty="0"/>
              <a:t>JTextField(10);</a:t>
            </a:r>
          </a:p>
          <a:p>
            <a:pPr marL="744220" marR="2779395">
              <a:lnSpc>
                <a:spcPct val="100000"/>
              </a:lnSpc>
            </a:pPr>
            <a:r>
              <a:rPr b="0" spc="20" dirty="0">
                <a:latin typeface="Cambria"/>
                <a:cs typeface="Cambria"/>
              </a:rPr>
              <a:t>f.add(tf); </a:t>
            </a:r>
            <a:r>
              <a:rPr b="0" spc="25" dirty="0">
                <a:latin typeface="Cambria"/>
                <a:cs typeface="Cambria"/>
              </a:rPr>
              <a:t> </a:t>
            </a:r>
            <a:r>
              <a:rPr b="0" spc="40" dirty="0">
                <a:latin typeface="Cambria"/>
                <a:cs typeface="Cambria"/>
              </a:rPr>
              <a:t>t</a:t>
            </a:r>
            <a:r>
              <a:rPr b="0" spc="45" dirty="0">
                <a:latin typeface="Cambria"/>
                <a:cs typeface="Cambria"/>
              </a:rPr>
              <a:t>f</a:t>
            </a:r>
            <a:r>
              <a:rPr b="0" spc="80" dirty="0">
                <a:latin typeface="Cambria"/>
                <a:cs typeface="Cambria"/>
              </a:rPr>
              <a:t>.</a:t>
            </a:r>
            <a:r>
              <a:rPr b="0" spc="35" dirty="0">
                <a:latin typeface="Cambria"/>
                <a:cs typeface="Cambria"/>
              </a:rPr>
              <a:t>s</a:t>
            </a:r>
            <a:r>
              <a:rPr b="0" spc="45" dirty="0">
                <a:latin typeface="Cambria"/>
                <a:cs typeface="Cambria"/>
              </a:rPr>
              <a:t>etTe</a:t>
            </a:r>
            <a:r>
              <a:rPr b="0" spc="35" dirty="0">
                <a:latin typeface="Cambria"/>
                <a:cs typeface="Cambria"/>
              </a:rPr>
              <a:t>x</a:t>
            </a:r>
            <a:r>
              <a:rPr b="0" spc="45" dirty="0">
                <a:latin typeface="Cambria"/>
                <a:cs typeface="Cambria"/>
              </a:rPr>
              <a:t>t</a:t>
            </a:r>
            <a:r>
              <a:rPr b="0" spc="-65" dirty="0">
                <a:latin typeface="Cambria"/>
                <a:cs typeface="Cambria"/>
              </a:rPr>
              <a:t>(</a:t>
            </a:r>
            <a:r>
              <a:rPr b="0" spc="-10" dirty="0">
                <a:latin typeface="Cambria"/>
                <a:cs typeface="Cambria"/>
              </a:rPr>
              <a:t>"0</a:t>
            </a:r>
            <a:r>
              <a:rPr b="0" spc="-15" dirty="0">
                <a:latin typeface="Cambria"/>
                <a:cs typeface="Cambria"/>
              </a:rPr>
              <a:t>"</a:t>
            </a:r>
            <a:r>
              <a:rPr b="0" spc="-55" dirty="0">
                <a:latin typeface="Cambria"/>
                <a:cs typeface="Cambria"/>
              </a:rPr>
              <a:t>)</a:t>
            </a:r>
            <a:r>
              <a:rPr b="0" spc="15" dirty="0">
                <a:latin typeface="Cambria"/>
                <a:cs typeface="Cambria"/>
              </a:rPr>
              <a:t>;</a:t>
            </a:r>
          </a:p>
          <a:p>
            <a:pPr marL="744220">
              <a:lnSpc>
                <a:spcPct val="100000"/>
              </a:lnSpc>
            </a:pPr>
            <a:r>
              <a:rPr b="0" spc="85" dirty="0">
                <a:latin typeface="Cambria"/>
                <a:cs typeface="Cambria"/>
              </a:rPr>
              <a:t>JButton</a:t>
            </a:r>
            <a:r>
              <a:rPr b="0" spc="45" dirty="0">
                <a:latin typeface="Cambria"/>
                <a:cs typeface="Cambria"/>
              </a:rPr>
              <a:t> </a:t>
            </a:r>
            <a:r>
              <a:rPr b="0" spc="10" dirty="0">
                <a:latin typeface="Cambria"/>
                <a:cs typeface="Cambria"/>
              </a:rPr>
              <a:t>b</a:t>
            </a:r>
            <a:r>
              <a:rPr b="0" spc="50" dirty="0">
                <a:latin typeface="Cambria"/>
                <a:cs typeface="Cambria"/>
              </a:rPr>
              <a:t> </a:t>
            </a:r>
            <a:r>
              <a:rPr b="0" spc="55" dirty="0">
                <a:latin typeface="Cambria"/>
                <a:cs typeface="Cambria"/>
              </a:rPr>
              <a:t>=</a:t>
            </a:r>
            <a:r>
              <a:rPr b="0" spc="40" dirty="0">
                <a:latin typeface="Cambria"/>
                <a:cs typeface="Cambria"/>
              </a:rPr>
              <a:t> </a:t>
            </a:r>
            <a:r>
              <a:rPr spc="75" dirty="0"/>
              <a:t>new</a:t>
            </a:r>
            <a:r>
              <a:rPr spc="50" dirty="0"/>
              <a:t> </a:t>
            </a:r>
            <a:r>
              <a:rPr spc="60" dirty="0"/>
              <a:t>JButton("Count");</a:t>
            </a:r>
          </a:p>
          <a:p>
            <a:pPr marL="744220">
              <a:lnSpc>
                <a:spcPct val="100000"/>
              </a:lnSpc>
            </a:pPr>
            <a:r>
              <a:rPr b="0" spc="15" dirty="0">
                <a:latin typeface="Cambria"/>
                <a:cs typeface="Cambria"/>
              </a:rPr>
              <a:t>f.add(b);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67688" y="4608893"/>
            <a:ext cx="1780539" cy="316865"/>
          </a:xfrm>
          <a:prstGeom prst="rect">
            <a:avLst/>
          </a:prstGeom>
          <a:solidFill>
            <a:srgbClr val="FFFF00"/>
          </a:solidFill>
          <a:ln w="25400">
            <a:solidFill>
              <a:srgbClr val="BA6025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spc="35" dirty="0">
                <a:latin typeface="Cambria"/>
                <a:cs typeface="Cambria"/>
              </a:rPr>
              <a:t>b.addActionListener(</a:t>
            </a:r>
            <a:r>
              <a:rPr sz="1100" b="1" spc="35" dirty="0">
                <a:latin typeface="Cambria"/>
                <a:cs typeface="Cambria"/>
              </a:rPr>
              <a:t>this);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1700" y="4984241"/>
            <a:ext cx="15646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</a:pPr>
            <a:r>
              <a:rPr sz="1100" spc="35" dirty="0">
                <a:latin typeface="Cambria"/>
                <a:cs typeface="Cambria"/>
              </a:rPr>
              <a:t>f.setVisible(</a:t>
            </a:r>
            <a:r>
              <a:rPr sz="1100" b="1" spc="35" dirty="0">
                <a:latin typeface="Cambria"/>
                <a:cs typeface="Cambria"/>
              </a:rPr>
              <a:t>true);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8200" y="5437911"/>
            <a:ext cx="3467100" cy="609600"/>
          </a:xfrm>
          <a:prstGeom prst="rect">
            <a:avLst/>
          </a:prstGeom>
          <a:solidFill>
            <a:srgbClr val="FFFF00"/>
          </a:solidFill>
          <a:ln w="25400">
            <a:solidFill>
              <a:srgbClr val="BA6025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R="61594" algn="r">
              <a:lnSpc>
                <a:spcPct val="100000"/>
              </a:lnSpc>
              <a:spcBef>
                <a:spcPts val="490"/>
              </a:spcBef>
            </a:pPr>
            <a:r>
              <a:rPr sz="1100" b="1" spc="70" dirty="0">
                <a:latin typeface="Cambria"/>
                <a:cs typeface="Cambria"/>
              </a:rPr>
              <a:t>public</a:t>
            </a:r>
            <a:r>
              <a:rPr sz="1100" b="1" spc="75" dirty="0">
                <a:latin typeface="Cambria"/>
                <a:cs typeface="Cambria"/>
              </a:rPr>
              <a:t> </a:t>
            </a:r>
            <a:r>
              <a:rPr sz="1100" b="1" spc="65" dirty="0">
                <a:latin typeface="Cambria"/>
                <a:cs typeface="Cambria"/>
              </a:rPr>
              <a:t>void</a:t>
            </a:r>
            <a:r>
              <a:rPr sz="1100" b="1" spc="90" dirty="0">
                <a:latin typeface="Cambria"/>
                <a:cs typeface="Cambria"/>
              </a:rPr>
              <a:t> </a:t>
            </a:r>
            <a:r>
              <a:rPr sz="1100" b="1" spc="70" dirty="0">
                <a:latin typeface="Cambria"/>
                <a:cs typeface="Cambria"/>
              </a:rPr>
              <a:t>actionPerformed(ActionEvent</a:t>
            </a:r>
            <a:r>
              <a:rPr sz="1100" b="1" spc="55" dirty="0">
                <a:latin typeface="Cambria"/>
                <a:cs typeface="Cambria"/>
              </a:rPr>
              <a:t> </a:t>
            </a:r>
            <a:r>
              <a:rPr sz="1100" b="1" spc="10" dirty="0">
                <a:latin typeface="Cambria"/>
                <a:cs typeface="Cambria"/>
              </a:rPr>
              <a:t>e)</a:t>
            </a:r>
            <a:r>
              <a:rPr sz="1100" b="1" spc="85" dirty="0">
                <a:latin typeface="Cambria"/>
                <a:cs typeface="Cambria"/>
              </a:rPr>
              <a:t> </a:t>
            </a:r>
            <a:r>
              <a:rPr sz="1100" b="1" spc="-5" dirty="0">
                <a:latin typeface="Cambria"/>
                <a:cs typeface="Cambria"/>
              </a:rPr>
              <a:t>{</a:t>
            </a:r>
            <a:endParaRPr sz="1100">
              <a:latin typeface="Cambria"/>
              <a:cs typeface="Cambria"/>
            </a:endParaRPr>
          </a:p>
          <a:p>
            <a:pPr marR="52069" algn="r">
              <a:lnSpc>
                <a:spcPct val="100000"/>
              </a:lnSpc>
            </a:pPr>
            <a:r>
              <a:rPr sz="1100" spc="30" dirty="0">
                <a:latin typeface="Cambria"/>
                <a:cs typeface="Cambria"/>
              </a:rPr>
              <a:t>tf.setText(Integer.</a:t>
            </a:r>
            <a:r>
              <a:rPr sz="1100" i="1" spc="30" dirty="0">
                <a:latin typeface="Cambria"/>
                <a:cs typeface="Cambria"/>
              </a:rPr>
              <a:t>parseInt(tf.getText())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i="1" spc="85" dirty="0">
                <a:latin typeface="Cambria"/>
                <a:cs typeface="Cambria"/>
              </a:rPr>
              <a:t>+</a:t>
            </a:r>
            <a:r>
              <a:rPr sz="1100" i="1" spc="30" dirty="0">
                <a:latin typeface="Cambria"/>
                <a:cs typeface="Cambria"/>
              </a:rPr>
              <a:t> 1</a:t>
            </a:r>
            <a:r>
              <a:rPr sz="1100" i="1" spc="35" dirty="0">
                <a:latin typeface="Cambria"/>
                <a:cs typeface="Cambria"/>
              </a:rPr>
              <a:t> </a:t>
            </a:r>
            <a:r>
              <a:rPr sz="1100" i="1" spc="20" dirty="0">
                <a:latin typeface="Cambria"/>
                <a:cs typeface="Cambria"/>
              </a:rPr>
              <a:t>+"");</a:t>
            </a:r>
            <a:endParaRPr sz="11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5940" y="6157976"/>
            <a:ext cx="31826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2780" marR="5080" indent="-274955">
              <a:lnSpc>
                <a:spcPct val="100000"/>
              </a:lnSpc>
              <a:spcBef>
                <a:spcPts val="100"/>
              </a:spcBef>
            </a:pPr>
            <a:r>
              <a:rPr sz="1100" b="1" spc="70" dirty="0">
                <a:latin typeface="Cambria"/>
                <a:cs typeface="Cambria"/>
              </a:rPr>
              <a:t>public static </a:t>
            </a:r>
            <a:r>
              <a:rPr sz="1100" b="1" spc="65" dirty="0">
                <a:latin typeface="Cambria"/>
                <a:cs typeface="Cambria"/>
              </a:rPr>
              <a:t>void main(String[] </a:t>
            </a:r>
            <a:r>
              <a:rPr sz="1100" b="1" spc="55" dirty="0">
                <a:latin typeface="Cambria"/>
                <a:cs typeface="Cambria"/>
              </a:rPr>
              <a:t>args) </a:t>
            </a:r>
            <a:r>
              <a:rPr sz="1100" b="1" spc="-5" dirty="0">
                <a:latin typeface="Cambria"/>
                <a:cs typeface="Cambria"/>
              </a:rPr>
              <a:t>{ </a:t>
            </a:r>
            <a:r>
              <a:rPr sz="1100" b="1" spc="-229" dirty="0">
                <a:latin typeface="Cambria"/>
                <a:cs typeface="Cambria"/>
              </a:rPr>
              <a:t> </a:t>
            </a:r>
            <a:r>
              <a:rPr sz="1100" b="1" spc="75" dirty="0">
                <a:latin typeface="Cambria"/>
                <a:cs typeface="Cambria"/>
              </a:rPr>
              <a:t>new</a:t>
            </a:r>
            <a:r>
              <a:rPr sz="1100" b="1" spc="55" dirty="0">
                <a:latin typeface="Cambria"/>
                <a:cs typeface="Cambria"/>
              </a:rPr>
              <a:t> Counter();</a:t>
            </a:r>
            <a:endParaRPr sz="11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  <a:spcBef>
                <a:spcPts val="5"/>
              </a:spcBef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459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pc="285" dirty="0"/>
              <a:t>MPLEMENT</a:t>
            </a:r>
            <a:r>
              <a:rPr spc="305" dirty="0"/>
              <a:t> </a:t>
            </a:r>
            <a:r>
              <a:rPr sz="3000" spc="285" dirty="0"/>
              <a:t>L</a:t>
            </a:r>
            <a:r>
              <a:rPr spc="285" dirty="0"/>
              <a:t>ISTENER</a:t>
            </a:r>
            <a:r>
              <a:rPr spc="330" dirty="0"/>
              <a:t> </a:t>
            </a:r>
            <a:r>
              <a:rPr spc="254" dirty="0"/>
              <a:t>IN</a:t>
            </a:r>
            <a:r>
              <a:rPr spc="305" dirty="0"/>
              <a:t> </a:t>
            </a:r>
            <a:r>
              <a:rPr sz="3000" spc="275" dirty="0"/>
              <a:t>O</a:t>
            </a:r>
            <a:r>
              <a:rPr spc="275" dirty="0"/>
              <a:t>WN</a:t>
            </a:r>
            <a:r>
              <a:rPr spc="295" dirty="0"/>
              <a:t>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61228" y="4754371"/>
            <a:ext cx="1950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Register the </a:t>
            </a: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anonymous </a:t>
            </a:r>
            <a:r>
              <a:rPr sz="1200" b="1" spc="-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55" dirty="0">
                <a:solidFill>
                  <a:srgbClr val="FF0000"/>
                </a:solidFill>
                <a:latin typeface="Cambria"/>
                <a:cs typeface="Cambria"/>
              </a:rPr>
              <a:t>listener</a:t>
            </a:r>
            <a:r>
              <a:rPr sz="1200" b="1" spc="9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65" dirty="0">
                <a:solidFill>
                  <a:srgbClr val="FF0000"/>
                </a:solidFill>
                <a:latin typeface="Cambria"/>
                <a:cs typeface="Cambria"/>
              </a:rPr>
              <a:t>object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the </a:t>
            </a: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78026"/>
            <a:ext cx="481203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93695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latin typeface="Cambria"/>
                <a:cs typeface="Cambria"/>
              </a:rPr>
              <a:t>import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java.awt.*;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import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java.awt.event.*;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import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javax.swing.*; 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65" dirty="0">
                <a:latin typeface="Cambria"/>
                <a:cs typeface="Cambria"/>
              </a:rPr>
              <a:t> class</a:t>
            </a:r>
            <a:r>
              <a:rPr sz="1200" b="1" spc="80" dirty="0">
                <a:latin typeface="Cambria"/>
                <a:cs typeface="Cambria"/>
              </a:rPr>
              <a:t> Counter{</a:t>
            </a:r>
            <a:endParaRPr sz="1200">
              <a:latin typeface="Cambria"/>
              <a:cs typeface="Cambria"/>
            </a:endParaRPr>
          </a:p>
          <a:p>
            <a:pPr marL="377825" marR="3049905">
              <a:lnSpc>
                <a:spcPct val="100000"/>
              </a:lnSpc>
            </a:pPr>
            <a:r>
              <a:rPr sz="1200" spc="105" dirty="0">
                <a:latin typeface="Cambria"/>
                <a:cs typeface="Cambria"/>
              </a:rPr>
              <a:t>JFrame </a:t>
            </a:r>
            <a:r>
              <a:rPr sz="1200" spc="20" dirty="0">
                <a:latin typeface="Cambria"/>
                <a:cs typeface="Cambria"/>
              </a:rPr>
              <a:t>f; </a:t>
            </a:r>
            <a:r>
              <a:rPr sz="1200" spc="25" dirty="0">
                <a:latin typeface="Cambria"/>
                <a:cs typeface="Cambria"/>
              </a:rPr>
              <a:t> </a:t>
            </a:r>
            <a:r>
              <a:rPr sz="1200" spc="80" dirty="0">
                <a:latin typeface="Cambria"/>
                <a:cs typeface="Cambria"/>
              </a:rPr>
              <a:t>JTextField </a:t>
            </a:r>
            <a:r>
              <a:rPr sz="1200" spc="35" dirty="0">
                <a:latin typeface="Cambria"/>
                <a:cs typeface="Cambria"/>
              </a:rPr>
              <a:t>tf; </a:t>
            </a:r>
            <a:r>
              <a:rPr sz="1200" spc="4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10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Counter(){</a:t>
            </a:r>
            <a:endParaRPr sz="1200">
              <a:latin typeface="Cambria"/>
              <a:cs typeface="Cambria"/>
            </a:endParaRPr>
          </a:p>
          <a:p>
            <a:pPr marL="744220" marR="1669414">
              <a:lnSpc>
                <a:spcPct val="100000"/>
              </a:lnSpc>
            </a:pPr>
            <a:r>
              <a:rPr sz="1200" spc="35" dirty="0">
                <a:latin typeface="Cambria"/>
                <a:cs typeface="Cambria"/>
              </a:rPr>
              <a:t>f</a:t>
            </a:r>
            <a:r>
              <a:rPr sz="1200" spc="60" dirty="0">
                <a:latin typeface="Cambria"/>
                <a:cs typeface="Cambria"/>
              </a:rPr>
              <a:t> =</a:t>
            </a:r>
            <a:r>
              <a:rPr sz="1200" spc="7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65" dirty="0">
                <a:latin typeface="Cambria"/>
                <a:cs typeface="Cambria"/>
              </a:rPr>
              <a:t>JFrame("Counter"); 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spc="50" dirty="0">
                <a:latin typeface="Cambria"/>
                <a:cs typeface="Cambria"/>
              </a:rPr>
              <a:t>f.setLayout(</a:t>
            </a:r>
            <a:r>
              <a:rPr sz="1200" b="1" spc="50" dirty="0">
                <a:latin typeface="Cambria"/>
                <a:cs typeface="Cambria"/>
              </a:rPr>
              <a:t>new</a:t>
            </a:r>
            <a:r>
              <a:rPr sz="1200" b="1" spc="60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FlowLayout());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spc="35" dirty="0">
                <a:latin typeface="Cambria"/>
                <a:cs typeface="Cambria"/>
              </a:rPr>
              <a:t>f.setSize(200,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100);</a:t>
            </a:r>
            <a:endParaRPr sz="1200">
              <a:latin typeface="Cambria"/>
              <a:cs typeface="Cambria"/>
            </a:endParaRPr>
          </a:p>
          <a:p>
            <a:pPr marL="744220" marR="5080">
              <a:lnSpc>
                <a:spcPct val="100000"/>
              </a:lnSpc>
              <a:spcBef>
                <a:spcPts val="5"/>
              </a:spcBef>
            </a:pPr>
            <a:r>
              <a:rPr sz="1200" spc="90" dirty="0">
                <a:latin typeface="Cambria"/>
                <a:cs typeface="Cambria"/>
              </a:rPr>
              <a:t>f.setDefaultCloseOperation(JFrame.</a:t>
            </a:r>
            <a:r>
              <a:rPr sz="1200" b="1" i="1" spc="90" dirty="0">
                <a:latin typeface="Cambria"/>
                <a:cs typeface="Cambria"/>
              </a:rPr>
              <a:t>EXIT_ON_CLOSE); </a:t>
            </a:r>
            <a:r>
              <a:rPr sz="1200" b="1" i="1" spc="-250" dirty="0">
                <a:latin typeface="Cambria"/>
                <a:cs typeface="Cambria"/>
              </a:rPr>
              <a:t> </a:t>
            </a:r>
            <a:r>
              <a:rPr sz="1200" spc="45" dirty="0">
                <a:latin typeface="Cambria"/>
                <a:cs typeface="Cambria"/>
              </a:rPr>
              <a:t>f.add(</a:t>
            </a:r>
            <a:r>
              <a:rPr sz="1200" b="1" spc="45" dirty="0">
                <a:latin typeface="Cambria"/>
                <a:cs typeface="Cambria"/>
              </a:rPr>
              <a:t>new</a:t>
            </a:r>
            <a:r>
              <a:rPr sz="1200" b="1" spc="80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JLabel("Counter"));</a:t>
            </a:r>
            <a:endParaRPr sz="12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200" spc="45" dirty="0">
                <a:latin typeface="Cambria"/>
                <a:cs typeface="Cambria"/>
              </a:rPr>
              <a:t>tf</a:t>
            </a:r>
            <a:r>
              <a:rPr sz="1200" spc="50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55" dirty="0">
                <a:latin typeface="Cambria"/>
                <a:cs typeface="Cambria"/>
              </a:rPr>
              <a:t> </a:t>
            </a:r>
            <a:r>
              <a:rPr sz="1200" b="1" spc="65" dirty="0">
                <a:latin typeface="Cambria"/>
                <a:cs typeface="Cambria"/>
              </a:rPr>
              <a:t>JTextField(10);</a:t>
            </a:r>
            <a:endParaRPr sz="12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200" spc="25" dirty="0">
                <a:latin typeface="Cambria"/>
                <a:cs typeface="Cambria"/>
              </a:rPr>
              <a:t>tf.setText("0");</a:t>
            </a:r>
            <a:endParaRPr sz="12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200" spc="85" dirty="0">
                <a:latin typeface="Cambria"/>
                <a:cs typeface="Cambria"/>
              </a:rPr>
              <a:t>JButton</a:t>
            </a:r>
            <a:r>
              <a:rPr sz="1200" spc="4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b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60" dirty="0">
                <a:latin typeface="Cambria"/>
                <a:cs typeface="Cambria"/>
              </a:rPr>
              <a:t>= </a:t>
            </a:r>
            <a:r>
              <a:rPr sz="1200" b="1" spc="80" dirty="0">
                <a:latin typeface="Cambria"/>
                <a:cs typeface="Cambria"/>
              </a:rPr>
              <a:t>new </a:t>
            </a:r>
            <a:r>
              <a:rPr sz="1200" b="1" spc="70" dirty="0">
                <a:latin typeface="Cambria"/>
                <a:cs typeface="Cambria"/>
              </a:rPr>
              <a:t>JButton("Count");</a:t>
            </a:r>
            <a:endParaRPr sz="12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200" spc="20" dirty="0">
                <a:latin typeface="Cambria"/>
                <a:cs typeface="Cambria"/>
              </a:rPr>
              <a:t>f.add(tf);</a:t>
            </a:r>
            <a:r>
              <a:rPr sz="1200" spc="65" dirty="0">
                <a:latin typeface="Cambria"/>
                <a:cs typeface="Cambria"/>
              </a:rPr>
              <a:t> </a:t>
            </a:r>
            <a:r>
              <a:rPr sz="1200" spc="10" dirty="0">
                <a:latin typeface="Cambria"/>
                <a:cs typeface="Cambria"/>
              </a:rPr>
              <a:t>f.add(b);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4572050"/>
            <a:ext cx="3886200" cy="949325"/>
          </a:xfrm>
          <a:prstGeom prst="rect">
            <a:avLst/>
          </a:prstGeom>
          <a:solidFill>
            <a:srgbClr val="00AFEF"/>
          </a:solidFill>
          <a:ln w="25400">
            <a:solidFill>
              <a:srgbClr val="BA6025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137160" marR="116839">
              <a:lnSpc>
                <a:spcPts val="1440"/>
              </a:lnSpc>
              <a:spcBef>
                <a:spcPts val="30"/>
              </a:spcBef>
            </a:pPr>
            <a:r>
              <a:rPr sz="1200" spc="45" dirty="0">
                <a:latin typeface="Cambria"/>
                <a:cs typeface="Cambria"/>
              </a:rPr>
              <a:t>b.addActionListener(</a:t>
            </a:r>
            <a:r>
              <a:rPr sz="1200" b="1" spc="45" dirty="0">
                <a:latin typeface="Cambria"/>
                <a:cs typeface="Cambria"/>
              </a:rPr>
              <a:t>new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ActionListener(){ </a:t>
            </a:r>
            <a:r>
              <a:rPr sz="1200" b="1" spc="6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65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void</a:t>
            </a:r>
            <a:r>
              <a:rPr sz="1200" b="1" spc="105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actionPerformed(ActionEvent</a:t>
            </a:r>
            <a:r>
              <a:rPr sz="1200" b="1" spc="85" dirty="0">
                <a:latin typeface="Cambria"/>
                <a:cs typeface="Cambria"/>
              </a:rPr>
              <a:t> </a:t>
            </a:r>
            <a:r>
              <a:rPr sz="1200" b="1" spc="5" dirty="0">
                <a:latin typeface="Cambria"/>
                <a:cs typeface="Cambria"/>
              </a:rPr>
              <a:t>e)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-5" dirty="0">
                <a:latin typeface="Cambria"/>
                <a:cs typeface="Cambria"/>
              </a:rPr>
              <a:t>{</a:t>
            </a:r>
            <a:endParaRPr sz="1200">
              <a:latin typeface="Cambria"/>
              <a:cs typeface="Cambria"/>
            </a:endParaRPr>
          </a:p>
          <a:p>
            <a:pPr marL="320040">
              <a:lnSpc>
                <a:spcPts val="1390"/>
              </a:lnSpc>
            </a:pPr>
            <a:r>
              <a:rPr sz="1200" spc="30" dirty="0">
                <a:latin typeface="Cambria"/>
                <a:cs typeface="Cambria"/>
              </a:rPr>
              <a:t>tf.setText(Integer.</a:t>
            </a:r>
            <a:r>
              <a:rPr sz="1200" i="1" spc="30" dirty="0">
                <a:latin typeface="Cambria"/>
                <a:cs typeface="Cambria"/>
              </a:rPr>
              <a:t>parseInt(tf.getText())</a:t>
            </a:r>
            <a:r>
              <a:rPr sz="1200" i="1" spc="145" dirty="0">
                <a:latin typeface="Cambria"/>
                <a:cs typeface="Cambria"/>
              </a:rPr>
              <a:t> </a:t>
            </a:r>
            <a:r>
              <a:rPr sz="1200" i="1" spc="90" dirty="0">
                <a:latin typeface="Cambria"/>
                <a:cs typeface="Cambria"/>
              </a:rPr>
              <a:t>+</a:t>
            </a:r>
            <a:r>
              <a:rPr sz="1200" i="1" spc="75" dirty="0">
                <a:latin typeface="Cambria"/>
                <a:cs typeface="Cambria"/>
              </a:rPr>
              <a:t> </a:t>
            </a:r>
            <a:r>
              <a:rPr sz="1200" i="1" spc="30" dirty="0">
                <a:latin typeface="Cambria"/>
                <a:cs typeface="Cambria"/>
              </a:rPr>
              <a:t>1</a:t>
            </a:r>
            <a:r>
              <a:rPr sz="1200" i="1" spc="90" dirty="0">
                <a:latin typeface="Cambria"/>
                <a:cs typeface="Cambria"/>
              </a:rPr>
              <a:t> </a:t>
            </a:r>
            <a:r>
              <a:rPr sz="1200" i="1" spc="15" dirty="0">
                <a:latin typeface="Cambria"/>
                <a:cs typeface="Cambria"/>
              </a:rPr>
              <a:t>+"");</a:t>
            </a:r>
            <a:endParaRPr sz="1200">
              <a:latin typeface="Cambria"/>
              <a:cs typeface="Cambria"/>
            </a:endParaRPr>
          </a:p>
          <a:p>
            <a:pPr marL="320040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>
              <a:latin typeface="Cambria"/>
              <a:cs typeface="Cambria"/>
            </a:endParaRPr>
          </a:p>
          <a:p>
            <a:pPr marL="137160">
              <a:lnSpc>
                <a:spcPct val="100000"/>
              </a:lnSpc>
            </a:pPr>
            <a:r>
              <a:rPr sz="1200" spc="-45" dirty="0">
                <a:latin typeface="Cambria"/>
                <a:cs typeface="Cambria"/>
              </a:rPr>
              <a:t>});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624576"/>
            <a:ext cx="34429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422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latin typeface="Cambria"/>
                <a:cs typeface="Cambria"/>
              </a:rPr>
              <a:t>f.setVisible(</a:t>
            </a:r>
            <a:r>
              <a:rPr sz="1200" b="1" spc="40" dirty="0">
                <a:latin typeface="Cambria"/>
                <a:cs typeface="Cambria"/>
              </a:rPr>
              <a:t>true);</a:t>
            </a:r>
            <a:endParaRPr sz="12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>
              <a:latin typeface="Cambria"/>
              <a:cs typeface="Cambria"/>
            </a:endParaRPr>
          </a:p>
          <a:p>
            <a:pPr marL="377825" marR="5080">
              <a:lnSpc>
                <a:spcPct val="100000"/>
              </a:lnSpc>
            </a:pPr>
            <a:r>
              <a:rPr sz="1200" b="1" spc="80" dirty="0">
                <a:latin typeface="Cambria"/>
                <a:cs typeface="Cambria"/>
              </a:rPr>
              <a:t>public</a:t>
            </a:r>
            <a:r>
              <a:rPr sz="1200" b="1" spc="70" dirty="0">
                <a:latin typeface="Cambria"/>
                <a:cs typeface="Cambria"/>
              </a:rPr>
              <a:t> </a:t>
            </a:r>
            <a:r>
              <a:rPr sz="1200" b="1" spc="75" dirty="0">
                <a:latin typeface="Cambria"/>
                <a:cs typeface="Cambria"/>
              </a:rPr>
              <a:t>static </a:t>
            </a:r>
            <a:r>
              <a:rPr sz="1200" b="1" spc="70" dirty="0">
                <a:latin typeface="Cambria"/>
                <a:cs typeface="Cambria"/>
              </a:rPr>
              <a:t>void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main(String[]</a:t>
            </a:r>
            <a:r>
              <a:rPr sz="1200" b="1" spc="95" dirty="0">
                <a:latin typeface="Cambria"/>
                <a:cs typeface="Cambria"/>
              </a:rPr>
              <a:t> </a:t>
            </a:r>
            <a:r>
              <a:rPr sz="1200" b="1" spc="55" dirty="0">
                <a:latin typeface="Cambria"/>
                <a:cs typeface="Cambria"/>
              </a:rPr>
              <a:t>args)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-5" dirty="0">
                <a:latin typeface="Cambria"/>
                <a:cs typeface="Cambria"/>
              </a:rPr>
              <a:t>{ </a:t>
            </a:r>
            <a:r>
              <a:rPr sz="1200" b="1" spc="-250" dirty="0">
                <a:latin typeface="Cambria"/>
                <a:cs typeface="Cambria"/>
              </a:rPr>
              <a:t> </a:t>
            </a:r>
            <a:r>
              <a:rPr sz="1200" b="1" spc="80" dirty="0">
                <a:latin typeface="Cambria"/>
                <a:cs typeface="Cambria"/>
              </a:rPr>
              <a:t>new</a:t>
            </a:r>
            <a:r>
              <a:rPr sz="1200" b="1" spc="7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Counter();</a:t>
            </a:r>
            <a:endParaRPr sz="12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200" spc="-65" dirty="0">
                <a:latin typeface="Cambria"/>
                <a:cs typeface="Cambria"/>
              </a:rPr>
              <a:t>}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6179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285" dirty="0"/>
              <a:t>I</a:t>
            </a:r>
            <a:r>
              <a:rPr spc="285" dirty="0"/>
              <a:t>MPLEMENT</a:t>
            </a:r>
            <a:r>
              <a:rPr spc="295" dirty="0"/>
              <a:t> </a:t>
            </a:r>
            <a:r>
              <a:rPr sz="3000" spc="290" dirty="0"/>
              <a:t>L</a:t>
            </a:r>
            <a:r>
              <a:rPr spc="290" dirty="0"/>
              <a:t>ISTENER</a:t>
            </a:r>
            <a:r>
              <a:rPr spc="315" dirty="0"/>
              <a:t> </a:t>
            </a:r>
            <a:r>
              <a:rPr spc="254" dirty="0"/>
              <a:t>IN</a:t>
            </a:r>
            <a:r>
              <a:rPr spc="295" dirty="0"/>
              <a:t> </a:t>
            </a:r>
            <a:r>
              <a:rPr sz="3000" spc="320" dirty="0"/>
              <a:t>A</a:t>
            </a:r>
            <a:r>
              <a:rPr spc="320" dirty="0"/>
              <a:t>NONYMOUS </a:t>
            </a:r>
            <a:r>
              <a:rPr spc="-509" dirty="0"/>
              <a:t> </a:t>
            </a:r>
            <a:r>
              <a:rPr sz="3000" spc="330" dirty="0"/>
              <a:t>C</a:t>
            </a:r>
            <a:r>
              <a:rPr spc="330" dirty="0"/>
              <a:t>LASS</a:t>
            </a:r>
            <a:endParaRPr sz="3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5028" y="5517591"/>
            <a:ext cx="2258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80" dirty="0">
                <a:solidFill>
                  <a:srgbClr val="FF0000"/>
                </a:solidFill>
                <a:latin typeface="Cambria"/>
                <a:cs typeface="Cambria"/>
              </a:rPr>
              <a:t>Identify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source 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first </a:t>
            </a:r>
            <a:r>
              <a:rPr sz="1200" b="1" spc="90" dirty="0">
                <a:solidFill>
                  <a:srgbClr val="FF0000"/>
                </a:solidFill>
                <a:latin typeface="Cambria"/>
                <a:cs typeface="Cambria"/>
              </a:rPr>
              <a:t>and </a:t>
            </a:r>
            <a:r>
              <a:rPr sz="1200" b="1" spc="-2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then </a:t>
            </a:r>
            <a:r>
              <a:rPr sz="1200" b="1" spc="65" dirty="0">
                <a:solidFill>
                  <a:srgbClr val="FF0000"/>
                </a:solidFill>
                <a:latin typeface="Cambria"/>
                <a:cs typeface="Cambria"/>
              </a:rPr>
              <a:t>implement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the 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logic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 depending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 on</a:t>
            </a:r>
            <a:r>
              <a:rPr sz="1200" b="1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5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2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200" b="1" spc="70" dirty="0">
                <a:solidFill>
                  <a:srgbClr val="FF0000"/>
                </a:solidFill>
                <a:latin typeface="Cambria"/>
                <a:cs typeface="Cambria"/>
              </a:rPr>
              <a:t>source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4486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M</a:t>
            </a:r>
            <a:r>
              <a:rPr spc="290" dirty="0"/>
              <a:t>ULTIPLE</a:t>
            </a:r>
            <a:r>
              <a:rPr spc="280" dirty="0"/>
              <a:t> </a:t>
            </a:r>
            <a:r>
              <a:rPr spc="275" dirty="0"/>
              <a:t>BUTTONS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2133600"/>
            <a:ext cx="1905000" cy="9525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5940" y="1630426"/>
            <a:ext cx="4270375" cy="3380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82875">
              <a:lnSpc>
                <a:spcPct val="100000"/>
              </a:lnSpc>
              <a:spcBef>
                <a:spcPts val="105"/>
              </a:spcBef>
            </a:pPr>
            <a:r>
              <a:rPr sz="1100" spc="30" dirty="0">
                <a:latin typeface="Cambria"/>
                <a:cs typeface="Cambria"/>
              </a:rPr>
              <a:t>import </a:t>
            </a:r>
            <a:r>
              <a:rPr sz="1100" spc="55" dirty="0">
                <a:latin typeface="Cambria"/>
                <a:cs typeface="Cambria"/>
              </a:rPr>
              <a:t>java.awt.*; 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30" dirty="0">
                <a:latin typeface="Cambria"/>
                <a:cs typeface="Cambria"/>
              </a:rPr>
              <a:t>import </a:t>
            </a:r>
            <a:r>
              <a:rPr sz="1100" spc="45" dirty="0">
                <a:latin typeface="Cambria"/>
                <a:cs typeface="Cambria"/>
              </a:rPr>
              <a:t>java.awt.event.*; </a:t>
            </a:r>
            <a:r>
              <a:rPr sz="1100" spc="-229" dirty="0">
                <a:latin typeface="Cambria"/>
                <a:cs typeface="Cambria"/>
              </a:rPr>
              <a:t> </a:t>
            </a:r>
            <a:r>
              <a:rPr sz="1100" spc="30" dirty="0">
                <a:latin typeface="Cambria"/>
                <a:cs typeface="Cambria"/>
              </a:rPr>
              <a:t>import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spc="50" dirty="0">
                <a:latin typeface="Cambria"/>
                <a:cs typeface="Cambria"/>
              </a:rPr>
              <a:t>javax.swing.*;</a:t>
            </a:r>
            <a:endParaRPr sz="1100">
              <a:latin typeface="Cambria"/>
              <a:cs typeface="Cambria"/>
            </a:endParaRPr>
          </a:p>
          <a:p>
            <a:pPr marL="377825" marR="5080" indent="-365760">
              <a:lnSpc>
                <a:spcPct val="100000"/>
              </a:lnSpc>
            </a:pPr>
            <a:r>
              <a:rPr sz="1100" spc="25" dirty="0">
                <a:latin typeface="Cambria"/>
                <a:cs typeface="Cambria"/>
              </a:rPr>
              <a:t>public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class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50" dirty="0">
                <a:latin typeface="Cambria"/>
                <a:cs typeface="Cambria"/>
              </a:rPr>
              <a:t>Counter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35" dirty="0">
                <a:latin typeface="Cambria"/>
                <a:cs typeface="Cambria"/>
              </a:rPr>
              <a:t>extends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spc="100" dirty="0">
                <a:latin typeface="Cambria"/>
                <a:cs typeface="Cambria"/>
              </a:rPr>
              <a:t>JFrame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implements </a:t>
            </a:r>
            <a:r>
              <a:rPr sz="1100" spc="35" dirty="0">
                <a:latin typeface="Cambria"/>
                <a:cs typeface="Cambria"/>
              </a:rPr>
              <a:t>ActionListener{ </a:t>
            </a:r>
            <a:r>
              <a:rPr sz="1100" spc="-229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JTextField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35" dirty="0">
                <a:latin typeface="Cambria"/>
                <a:cs typeface="Cambria"/>
              </a:rPr>
              <a:t>tf;</a:t>
            </a:r>
            <a:endParaRPr sz="1100">
              <a:latin typeface="Cambria"/>
              <a:cs typeface="Cambria"/>
            </a:endParaRPr>
          </a:p>
          <a:p>
            <a:pPr marL="377825" marR="2781300">
              <a:lnSpc>
                <a:spcPct val="100000"/>
              </a:lnSpc>
            </a:pPr>
            <a:r>
              <a:rPr sz="1100" spc="85" dirty="0">
                <a:latin typeface="Cambria"/>
                <a:cs typeface="Cambria"/>
              </a:rPr>
              <a:t>JButton </a:t>
            </a:r>
            <a:r>
              <a:rPr sz="1100" spc="40" dirty="0">
                <a:latin typeface="Cambria"/>
                <a:cs typeface="Cambria"/>
              </a:rPr>
              <a:t>b, </a:t>
            </a:r>
            <a:r>
              <a:rPr sz="1100" spc="25" dirty="0">
                <a:latin typeface="Cambria"/>
                <a:cs typeface="Cambria"/>
              </a:rPr>
              <a:t>r; 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25" dirty="0">
                <a:latin typeface="Cambria"/>
                <a:cs typeface="Cambria"/>
              </a:rPr>
              <a:t>public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spc="15" dirty="0">
                <a:latin typeface="Cambria"/>
                <a:cs typeface="Cambria"/>
              </a:rPr>
              <a:t>Counter(){</a:t>
            </a:r>
            <a:endParaRPr sz="11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1100" spc="25" dirty="0">
                <a:latin typeface="Cambria"/>
                <a:cs typeface="Cambria"/>
              </a:rPr>
              <a:t>super("Counter");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30" dirty="0">
                <a:latin typeface="Cambria"/>
                <a:cs typeface="Cambria"/>
              </a:rPr>
              <a:t>setSize(200,</a:t>
            </a:r>
            <a:r>
              <a:rPr sz="1100" spc="-10" dirty="0">
                <a:latin typeface="Cambria"/>
                <a:cs typeface="Cambria"/>
              </a:rPr>
              <a:t> 100);</a:t>
            </a:r>
            <a:endParaRPr sz="1100">
              <a:latin typeface="Cambria"/>
              <a:cs typeface="Cambria"/>
            </a:endParaRPr>
          </a:p>
          <a:p>
            <a:pPr marL="652780" marR="39370">
              <a:lnSpc>
                <a:spcPct val="100000"/>
              </a:lnSpc>
            </a:pPr>
            <a:r>
              <a:rPr sz="1100" spc="35" dirty="0">
                <a:latin typeface="Cambria"/>
                <a:cs typeface="Cambria"/>
              </a:rPr>
              <a:t>setLayout(new </a:t>
            </a:r>
            <a:r>
              <a:rPr sz="1100" spc="25" dirty="0">
                <a:latin typeface="Cambria"/>
                <a:cs typeface="Cambria"/>
              </a:rPr>
              <a:t>FlowLayout()); 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80" dirty="0">
                <a:latin typeface="Cambria"/>
                <a:cs typeface="Cambria"/>
              </a:rPr>
              <a:t>setDefaultCloseOperation(JFrame.</a:t>
            </a:r>
            <a:r>
              <a:rPr sz="1100" i="1" spc="80" dirty="0">
                <a:latin typeface="Cambria"/>
                <a:cs typeface="Cambria"/>
              </a:rPr>
              <a:t>EXIT_ON_CLOSE); </a:t>
            </a:r>
            <a:r>
              <a:rPr sz="1100" i="1" spc="-229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add(new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JLabel("Counter"));</a:t>
            </a:r>
            <a:endParaRPr sz="1100">
              <a:latin typeface="Cambria"/>
              <a:cs typeface="Cambria"/>
            </a:endParaRPr>
          </a:p>
          <a:p>
            <a:pPr marL="652780" marR="1794510">
              <a:lnSpc>
                <a:spcPct val="100000"/>
              </a:lnSpc>
            </a:pPr>
            <a:r>
              <a:rPr sz="1100" spc="45" dirty="0">
                <a:latin typeface="Cambria"/>
                <a:cs typeface="Cambria"/>
              </a:rPr>
              <a:t>tf </a:t>
            </a:r>
            <a:r>
              <a:rPr sz="1100" spc="55" dirty="0">
                <a:latin typeface="Cambria"/>
                <a:cs typeface="Cambria"/>
              </a:rPr>
              <a:t>= </a:t>
            </a:r>
            <a:r>
              <a:rPr sz="1100" spc="25" dirty="0">
                <a:latin typeface="Cambria"/>
                <a:cs typeface="Cambria"/>
              </a:rPr>
              <a:t>new </a:t>
            </a:r>
            <a:r>
              <a:rPr sz="1100" spc="50" dirty="0">
                <a:latin typeface="Cambria"/>
                <a:cs typeface="Cambria"/>
              </a:rPr>
              <a:t>JTextField("0“, </a:t>
            </a:r>
            <a:r>
              <a:rPr sz="1100" spc="-10" dirty="0">
                <a:latin typeface="Cambria"/>
                <a:cs typeface="Cambria"/>
              </a:rPr>
              <a:t>10); </a:t>
            </a:r>
            <a:r>
              <a:rPr sz="1100" spc="-235" dirty="0">
                <a:latin typeface="Cambria"/>
                <a:cs typeface="Cambria"/>
              </a:rPr>
              <a:t> </a:t>
            </a:r>
            <a:r>
              <a:rPr sz="1100" spc="10" dirty="0">
                <a:latin typeface="Cambria"/>
                <a:cs typeface="Cambria"/>
              </a:rPr>
              <a:t>b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55" dirty="0">
                <a:latin typeface="Cambria"/>
                <a:cs typeface="Cambria"/>
              </a:rPr>
              <a:t>=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spc="25" dirty="0">
                <a:latin typeface="Cambria"/>
                <a:cs typeface="Cambria"/>
              </a:rPr>
              <a:t>new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1100" spc="45" dirty="0">
                <a:latin typeface="Cambria"/>
                <a:cs typeface="Cambria"/>
              </a:rPr>
              <a:t>JButton("Count");</a:t>
            </a:r>
            <a:endParaRPr sz="1100">
              <a:latin typeface="Cambria"/>
              <a:cs typeface="Cambria"/>
            </a:endParaRPr>
          </a:p>
          <a:p>
            <a:pPr marL="652780" marR="1953260">
              <a:lnSpc>
                <a:spcPct val="100000"/>
              </a:lnSpc>
            </a:pPr>
            <a:r>
              <a:rPr sz="1100" spc="35" dirty="0">
                <a:latin typeface="Cambria"/>
                <a:cs typeface="Cambria"/>
              </a:rPr>
              <a:t>r </a:t>
            </a:r>
            <a:r>
              <a:rPr sz="1100" spc="55" dirty="0">
                <a:latin typeface="Cambria"/>
                <a:cs typeface="Cambria"/>
              </a:rPr>
              <a:t>= </a:t>
            </a:r>
            <a:r>
              <a:rPr sz="1100" spc="25" dirty="0">
                <a:latin typeface="Cambria"/>
                <a:cs typeface="Cambria"/>
              </a:rPr>
              <a:t>new </a:t>
            </a:r>
            <a:r>
              <a:rPr sz="1100" spc="40" dirty="0">
                <a:latin typeface="Cambria"/>
                <a:cs typeface="Cambria"/>
              </a:rPr>
              <a:t>JButton("Reset"); </a:t>
            </a:r>
            <a:r>
              <a:rPr sz="1100" spc="-229" dirty="0">
                <a:latin typeface="Cambria"/>
                <a:cs typeface="Cambria"/>
              </a:rPr>
              <a:t> </a:t>
            </a:r>
            <a:r>
              <a:rPr sz="1100" spc="5" dirty="0">
                <a:latin typeface="Cambria"/>
                <a:cs typeface="Cambria"/>
              </a:rPr>
              <a:t>add(tf);add(b);add(r); </a:t>
            </a:r>
            <a:r>
              <a:rPr sz="1100" spc="10" dirty="0">
                <a:latin typeface="Cambria"/>
                <a:cs typeface="Cambria"/>
              </a:rPr>
              <a:t> </a:t>
            </a:r>
            <a:r>
              <a:rPr sz="1100" spc="30" dirty="0">
                <a:latin typeface="Cambria"/>
                <a:cs typeface="Cambria"/>
              </a:rPr>
              <a:t>setVisible(true);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Cambria"/>
              <a:cs typeface="Cambria"/>
            </a:endParaRPr>
          </a:p>
          <a:p>
            <a:pPr marL="652780" marR="1906270">
              <a:lnSpc>
                <a:spcPct val="100000"/>
              </a:lnSpc>
            </a:pPr>
            <a:r>
              <a:rPr sz="1100" spc="30" dirty="0">
                <a:latin typeface="Cambria"/>
                <a:cs typeface="Cambria"/>
              </a:rPr>
              <a:t>b.addActionListener(this); </a:t>
            </a:r>
            <a:r>
              <a:rPr sz="1100" spc="-229" dirty="0">
                <a:latin typeface="Cambria"/>
                <a:cs typeface="Cambria"/>
              </a:rPr>
              <a:t> </a:t>
            </a:r>
            <a:r>
              <a:rPr sz="1100" spc="35" dirty="0">
                <a:latin typeface="Cambria"/>
                <a:cs typeface="Cambria"/>
              </a:rPr>
              <a:t>r.addActionListener(this);</a:t>
            </a:r>
            <a:endParaRPr sz="1100">
              <a:latin typeface="Cambria"/>
              <a:cs typeface="Cambria"/>
            </a:endParaRPr>
          </a:p>
          <a:p>
            <a:pPr marL="377825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200" y="5105400"/>
            <a:ext cx="4191000" cy="1219200"/>
          </a:xfrm>
          <a:prstGeom prst="rect">
            <a:avLst/>
          </a:prstGeom>
          <a:solidFill>
            <a:srgbClr val="F8CFC7"/>
          </a:solidFill>
          <a:ln w="25400">
            <a:solidFill>
              <a:srgbClr val="BA6025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350520" marR="1205230" indent="-274955">
              <a:lnSpc>
                <a:spcPct val="100000"/>
              </a:lnSpc>
              <a:spcBef>
                <a:spcPts val="470"/>
              </a:spcBef>
            </a:pPr>
            <a:r>
              <a:rPr sz="1100" spc="25" dirty="0">
                <a:latin typeface="Cambria"/>
                <a:cs typeface="Cambria"/>
              </a:rPr>
              <a:t>public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15" dirty="0">
                <a:latin typeface="Cambria"/>
                <a:cs typeface="Cambria"/>
              </a:rPr>
              <a:t>void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35" dirty="0">
                <a:latin typeface="Cambria"/>
                <a:cs typeface="Cambria"/>
              </a:rPr>
              <a:t>actionPerformed(ActionEvent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e)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60" dirty="0">
                <a:latin typeface="Cambria"/>
                <a:cs typeface="Cambria"/>
              </a:rPr>
              <a:t>{ </a:t>
            </a:r>
            <a:r>
              <a:rPr sz="1100" spc="-229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Object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obj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55" dirty="0">
                <a:latin typeface="Cambria"/>
                <a:cs typeface="Cambria"/>
              </a:rPr>
              <a:t>=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20" dirty="0">
                <a:latin typeface="Cambria"/>
                <a:cs typeface="Cambria"/>
              </a:rPr>
              <a:t>e.getSource();</a:t>
            </a:r>
            <a:endParaRPr sz="1100">
              <a:latin typeface="Cambria"/>
              <a:cs typeface="Cambria"/>
            </a:endParaRPr>
          </a:p>
          <a:p>
            <a:pPr marL="350520">
              <a:lnSpc>
                <a:spcPct val="100000"/>
              </a:lnSpc>
            </a:pPr>
            <a:r>
              <a:rPr sz="1100" spc="35" dirty="0">
                <a:latin typeface="Cambria"/>
                <a:cs typeface="Cambria"/>
              </a:rPr>
              <a:t>if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(obj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60" dirty="0">
                <a:latin typeface="Cambria"/>
                <a:cs typeface="Cambria"/>
              </a:rPr>
              <a:t>==</a:t>
            </a:r>
            <a:r>
              <a:rPr sz="1100" spc="1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b)</a:t>
            </a:r>
            <a:endParaRPr sz="1100">
              <a:latin typeface="Cambria"/>
              <a:cs typeface="Cambria"/>
            </a:endParaRPr>
          </a:p>
          <a:p>
            <a:pPr marL="624840">
              <a:lnSpc>
                <a:spcPct val="100000"/>
              </a:lnSpc>
            </a:pPr>
            <a:r>
              <a:rPr sz="1100" spc="30" dirty="0">
                <a:latin typeface="Cambria"/>
                <a:cs typeface="Cambria"/>
              </a:rPr>
              <a:t>tf.setText(Integer.</a:t>
            </a:r>
            <a:r>
              <a:rPr sz="1100" i="1" spc="30" dirty="0">
                <a:latin typeface="Cambria"/>
                <a:cs typeface="Cambria"/>
              </a:rPr>
              <a:t>parseInt(tf.getText())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i="1" spc="85" dirty="0">
                <a:latin typeface="Cambria"/>
                <a:cs typeface="Cambria"/>
              </a:rPr>
              <a:t>+</a:t>
            </a:r>
            <a:r>
              <a:rPr sz="1100" i="1" spc="35" dirty="0">
                <a:latin typeface="Cambria"/>
                <a:cs typeface="Cambria"/>
              </a:rPr>
              <a:t> </a:t>
            </a:r>
            <a:r>
              <a:rPr sz="1100" i="1" spc="30" dirty="0">
                <a:latin typeface="Cambria"/>
                <a:cs typeface="Cambria"/>
              </a:rPr>
              <a:t>1</a:t>
            </a:r>
            <a:r>
              <a:rPr sz="1100" i="1" spc="45" dirty="0">
                <a:latin typeface="Cambria"/>
                <a:cs typeface="Cambria"/>
              </a:rPr>
              <a:t> </a:t>
            </a:r>
            <a:r>
              <a:rPr sz="1100" i="1" spc="20" dirty="0">
                <a:latin typeface="Cambria"/>
                <a:cs typeface="Cambria"/>
              </a:rPr>
              <a:t>+"");</a:t>
            </a:r>
            <a:endParaRPr sz="1100">
              <a:latin typeface="Cambria"/>
              <a:cs typeface="Cambria"/>
            </a:endParaRPr>
          </a:p>
          <a:p>
            <a:pPr marL="624840" marR="2616835" indent="-274320">
              <a:lnSpc>
                <a:spcPct val="100000"/>
              </a:lnSpc>
            </a:pPr>
            <a:r>
              <a:rPr sz="1100" spc="25" dirty="0">
                <a:latin typeface="Cambria"/>
                <a:cs typeface="Cambria"/>
              </a:rPr>
              <a:t>else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5" dirty="0">
                <a:latin typeface="Cambria"/>
                <a:cs typeface="Cambria"/>
              </a:rPr>
              <a:t>if(obj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spc="55" dirty="0">
                <a:latin typeface="Cambria"/>
                <a:cs typeface="Cambria"/>
              </a:rPr>
              <a:t>==</a:t>
            </a:r>
            <a:r>
              <a:rPr sz="1100" spc="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r) </a:t>
            </a:r>
            <a:r>
              <a:rPr sz="1100" spc="-5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</a:t>
            </a:r>
            <a:r>
              <a:rPr sz="1100" spc="45" dirty="0">
                <a:latin typeface="Cambria"/>
                <a:cs typeface="Cambria"/>
              </a:rPr>
              <a:t>f</a:t>
            </a:r>
            <a:r>
              <a:rPr sz="1100" spc="80" dirty="0">
                <a:latin typeface="Cambria"/>
                <a:cs typeface="Cambria"/>
              </a:rPr>
              <a:t>.</a:t>
            </a:r>
            <a:r>
              <a:rPr sz="1100" spc="35" dirty="0">
                <a:latin typeface="Cambria"/>
                <a:cs typeface="Cambria"/>
              </a:rPr>
              <a:t>s</a:t>
            </a:r>
            <a:r>
              <a:rPr sz="1100" spc="45" dirty="0">
                <a:latin typeface="Cambria"/>
                <a:cs typeface="Cambria"/>
              </a:rPr>
              <a:t>etTe</a:t>
            </a:r>
            <a:r>
              <a:rPr sz="1100" spc="35" dirty="0">
                <a:latin typeface="Cambria"/>
                <a:cs typeface="Cambria"/>
              </a:rPr>
              <a:t>x</a:t>
            </a:r>
            <a:r>
              <a:rPr sz="1100" spc="45" dirty="0">
                <a:latin typeface="Cambria"/>
                <a:cs typeface="Cambria"/>
              </a:rPr>
              <a:t>t</a:t>
            </a:r>
            <a:r>
              <a:rPr sz="1100" spc="-65" dirty="0">
                <a:latin typeface="Cambria"/>
                <a:cs typeface="Cambria"/>
              </a:rPr>
              <a:t>(</a:t>
            </a:r>
            <a:r>
              <a:rPr sz="1100" spc="-10" dirty="0">
                <a:latin typeface="Cambria"/>
                <a:cs typeface="Cambria"/>
              </a:rPr>
              <a:t>"0</a:t>
            </a:r>
            <a:r>
              <a:rPr sz="1100" spc="-15" dirty="0">
                <a:latin typeface="Cambria"/>
                <a:cs typeface="Cambria"/>
              </a:rPr>
              <a:t>"</a:t>
            </a:r>
            <a:r>
              <a:rPr sz="1100" spc="-55" dirty="0">
                <a:latin typeface="Cambria"/>
                <a:cs typeface="Cambria"/>
              </a:rPr>
              <a:t>)</a:t>
            </a:r>
            <a:r>
              <a:rPr sz="1100" spc="15" dirty="0">
                <a:latin typeface="Cambria"/>
                <a:cs typeface="Cambria"/>
              </a:rPr>
              <a:t>;</a:t>
            </a:r>
            <a:endParaRPr sz="1100">
              <a:latin typeface="Cambria"/>
              <a:cs typeface="Cambria"/>
            </a:endParaRPr>
          </a:p>
          <a:p>
            <a:pPr marL="76200">
              <a:lnSpc>
                <a:spcPts val="121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6325615"/>
            <a:ext cx="39046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100"/>
              </a:spcBef>
            </a:pPr>
            <a:r>
              <a:rPr sz="1100" spc="25" dirty="0">
                <a:latin typeface="Cambria"/>
                <a:cs typeface="Cambria"/>
              </a:rPr>
              <a:t>public</a:t>
            </a:r>
            <a:r>
              <a:rPr sz="1100" spc="65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static</a:t>
            </a:r>
            <a:r>
              <a:rPr sz="1100" spc="50" dirty="0">
                <a:latin typeface="Cambria"/>
                <a:cs typeface="Cambria"/>
              </a:rPr>
              <a:t> </a:t>
            </a:r>
            <a:r>
              <a:rPr sz="1100" spc="15" dirty="0">
                <a:latin typeface="Cambria"/>
                <a:cs typeface="Cambria"/>
              </a:rPr>
              <a:t>void</a:t>
            </a:r>
            <a:r>
              <a:rPr sz="1100" spc="75" dirty="0">
                <a:latin typeface="Cambria"/>
                <a:cs typeface="Cambria"/>
              </a:rPr>
              <a:t> </a:t>
            </a:r>
            <a:r>
              <a:rPr sz="1100" spc="35" dirty="0">
                <a:latin typeface="Cambria"/>
                <a:cs typeface="Cambria"/>
              </a:rPr>
              <a:t>main(String[]</a:t>
            </a:r>
            <a:r>
              <a:rPr sz="1100" spc="25" dirty="0">
                <a:latin typeface="Cambria"/>
                <a:cs typeface="Cambria"/>
              </a:rPr>
              <a:t> args)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spc="-60" dirty="0">
                <a:latin typeface="Cambria"/>
                <a:cs typeface="Cambria"/>
              </a:rPr>
              <a:t>{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spc="25" dirty="0">
                <a:latin typeface="Cambria"/>
                <a:cs typeface="Cambria"/>
              </a:rPr>
              <a:t>new</a:t>
            </a:r>
            <a:r>
              <a:rPr sz="1100" spc="55" dirty="0">
                <a:latin typeface="Cambria"/>
                <a:cs typeface="Cambria"/>
              </a:rPr>
              <a:t> </a:t>
            </a:r>
            <a:r>
              <a:rPr sz="1100" spc="15" dirty="0">
                <a:latin typeface="Cambria"/>
                <a:cs typeface="Cambria"/>
              </a:rPr>
              <a:t>Counter();}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931659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0" dirty="0"/>
              <a:t>L</a:t>
            </a:r>
            <a:r>
              <a:rPr spc="270" dirty="0"/>
              <a:t>IST</a:t>
            </a:r>
            <a:r>
              <a:rPr spc="300" dirty="0"/>
              <a:t> </a:t>
            </a:r>
            <a:r>
              <a:rPr spc="305" dirty="0"/>
              <a:t>OF</a:t>
            </a:r>
            <a:r>
              <a:rPr spc="285" dirty="0"/>
              <a:t> </a:t>
            </a:r>
            <a:r>
              <a:rPr sz="3000" spc="335" dirty="0"/>
              <a:t>S</a:t>
            </a:r>
            <a:r>
              <a:rPr spc="335" dirty="0"/>
              <a:t>OME</a:t>
            </a:r>
            <a:r>
              <a:rPr spc="310" dirty="0"/>
              <a:t> </a:t>
            </a:r>
            <a:r>
              <a:rPr spc="315" dirty="0"/>
              <a:t>COMMON</a:t>
            </a:r>
            <a:r>
              <a:rPr spc="280" dirty="0"/>
              <a:t> </a:t>
            </a:r>
            <a:r>
              <a:rPr sz="3000" spc="320" dirty="0"/>
              <a:t>S</a:t>
            </a:r>
            <a:r>
              <a:rPr spc="320" dirty="0"/>
              <a:t>OURCE</a:t>
            </a:r>
            <a:r>
              <a:rPr sz="3000" spc="320" dirty="0"/>
              <a:t>,</a:t>
            </a:r>
            <a:r>
              <a:rPr sz="3000" spc="195" dirty="0"/>
              <a:t> </a:t>
            </a:r>
            <a:r>
              <a:rPr sz="3000" spc="310" dirty="0"/>
              <a:t>E</a:t>
            </a:r>
            <a:r>
              <a:rPr spc="310" dirty="0"/>
              <a:t>VENT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pc="275" dirty="0"/>
              <a:t>AND</a:t>
            </a:r>
            <a:r>
              <a:rPr spc="265" dirty="0"/>
              <a:t> </a:t>
            </a:r>
            <a:r>
              <a:rPr sz="3000" spc="285" dirty="0"/>
              <a:t>L</a:t>
            </a:r>
            <a:r>
              <a:rPr spc="285" dirty="0"/>
              <a:t>ISTENER</a:t>
            </a:r>
            <a:endParaRPr sz="30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54025" y="1673225"/>
          <a:ext cx="8227694" cy="50626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6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4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254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spc="-5" dirty="0">
                          <a:latin typeface="Calibri"/>
                          <a:cs typeface="Calibri"/>
                        </a:rPr>
                        <a:t>Source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spc="-15" dirty="0">
                          <a:latin typeface="Calibri"/>
                          <a:cs typeface="Calibri"/>
                        </a:rPr>
                        <a:t>Event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spc="-5" dirty="0">
                          <a:latin typeface="Calibri"/>
                          <a:cs typeface="Calibri"/>
                        </a:rPr>
                        <a:t>Interface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Methods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marL="9525" algn="just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tt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(Click)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9525" marR="593725" algn="just">
                        <a:lnSpc>
                          <a:spcPct val="10000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ub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le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clicked)  Men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Item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(Clicked) 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Timer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ActionEvent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ActionListener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actionPerformed(ActionEvent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676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CheckBox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ItemEvent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ItemListener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itemStateChanged(ItemEvent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ie)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28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Frame(via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Keyboard)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KeyEvent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KeyListener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1967864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 keyPressed(KeyEvent ke)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keyReleased(KeyEvent</a:t>
                      </a:r>
                      <a:r>
                        <a:rPr sz="11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ke)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keyTyped(KeyEvent</a:t>
                      </a:r>
                      <a:r>
                        <a:rPr sz="11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ke)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8766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Frame(Mouse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action)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MouseEvent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MouseListener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15525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mouseClicked(MouseEvent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mouseEntered(MouseEvent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mouseExited(MouseEvent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mousePressed(MouseEvent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mouseReleased(MouseEvent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481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Frame(Mouse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Move)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MouseEvent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MouseMotionListener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15894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mouseDragged(MouseEvent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 </a:t>
                      </a:r>
                      <a:r>
                        <a:rPr sz="1100" spc="-22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mouseMoved(MouseEvent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me)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804">
                <a:tc>
                  <a:txBody>
                    <a:bodyPr/>
                    <a:lstStyle/>
                    <a:p>
                      <a:pPr marL="9525" marR="95250">
                        <a:lnSpc>
                          <a:spcPct val="100000"/>
                        </a:lnSpc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TextField/TextArea(changing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text)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TextEvent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TextListener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textValueChanged(TextEvent</a:t>
                      </a:r>
                      <a:r>
                        <a:rPr sz="11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831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Window/Frame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WindowEvent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WindowListener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138239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windowActivated(WindowEvent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windowClosed(WindowEvent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windowClosing(WindowEvent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0160" marR="1240790">
                        <a:lnSpc>
                          <a:spcPct val="100000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windowDeactivated(WindowEvent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 </a:t>
                      </a:r>
                      <a:r>
                        <a:rPr sz="1100" spc="-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windowDeiconified(WindowEvent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windowIconified(WindowEvent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 </a:t>
                      </a:r>
                      <a:r>
                        <a:rPr sz="11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void</a:t>
                      </a:r>
                      <a:r>
                        <a:rPr sz="11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windowOpened(WindowEvent</a:t>
                      </a:r>
                      <a:r>
                        <a:rPr sz="11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we)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644" y="23567"/>
            <a:ext cx="69316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Spring 2024 Question 4</a:t>
            </a:r>
            <a:endParaRPr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6830B2-8147-6DD0-77F4-CF6DE02E8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27" y="467278"/>
            <a:ext cx="7361720" cy="623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08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644" y="23567"/>
            <a:ext cx="69316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Spring 2024 Question 4</a:t>
            </a:r>
            <a:endParaRPr sz="3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F965E7-AD03-BD06-0725-5EE2E47E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023" y="762000"/>
            <a:ext cx="5017954" cy="5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43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644" y="23567"/>
            <a:ext cx="69316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Fall 2023 Question 3</a:t>
            </a:r>
            <a:endParaRPr sz="3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111FBA-B147-A8A7-FB00-56EAFB39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2" y="1211388"/>
            <a:ext cx="8321761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31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644" y="23567"/>
            <a:ext cx="69316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Fall 2023 Question 3(a)</a:t>
            </a:r>
            <a:endParaRPr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1D58D5-AE9F-2955-9E84-4BF6F988B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9" y="1143000"/>
            <a:ext cx="4590369" cy="52730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BF8B50-2D5D-3F4C-E73C-4F39803FD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618120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01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525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7644" y="23567"/>
            <a:ext cx="69316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Fall 2023 Question 3(b)</a:t>
            </a:r>
            <a:endParaRPr sz="3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621560-352D-3F39-8E11-AD101ABE4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787" y="533400"/>
            <a:ext cx="5824425" cy="61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12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0701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R</a:t>
            </a:r>
            <a:r>
              <a:rPr spc="335" dirty="0"/>
              <a:t>E</a:t>
            </a:r>
            <a:r>
              <a:rPr spc="310" dirty="0"/>
              <a:t>F</a:t>
            </a:r>
            <a:r>
              <a:rPr spc="280" dirty="0"/>
              <a:t>E</a:t>
            </a:r>
            <a:r>
              <a:rPr spc="295" dirty="0"/>
              <a:t>R</a:t>
            </a:r>
            <a:r>
              <a:rPr spc="360" dirty="0"/>
              <a:t>EN</a:t>
            </a:r>
            <a:r>
              <a:rPr spc="315" dirty="0"/>
              <a:t>C</a:t>
            </a:r>
            <a:r>
              <a:rPr spc="350" dirty="0"/>
              <a:t>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7191375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200" dirty="0">
                <a:latin typeface="Cambria"/>
                <a:cs typeface="Cambria"/>
              </a:rPr>
              <a:t>Java: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Complete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Reference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0" dirty="0">
                <a:latin typeface="Cambria"/>
                <a:cs typeface="Cambria"/>
              </a:rPr>
              <a:t> Chapter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24-26,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31-33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200" dirty="0">
                <a:latin typeface="Cambria"/>
                <a:cs typeface="Cambria"/>
              </a:rPr>
              <a:t>Java: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How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Program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– Chapter </a:t>
            </a:r>
            <a:r>
              <a:rPr sz="2400" dirty="0">
                <a:latin typeface="Cambria"/>
                <a:cs typeface="Cambria"/>
              </a:rPr>
              <a:t>12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4301</Words>
  <Application>Microsoft Office PowerPoint</Application>
  <PresentationFormat>On-screen Show (4:3)</PresentationFormat>
  <Paragraphs>554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Arial MT</vt:lpstr>
      <vt:lpstr>Calibri</vt:lpstr>
      <vt:lpstr>Cambria</vt:lpstr>
      <vt:lpstr>Courier New</vt:lpstr>
      <vt:lpstr>Segoe UI Symbol</vt:lpstr>
      <vt:lpstr>Times New Roman</vt:lpstr>
      <vt:lpstr>Trebuchet MS</vt:lpstr>
      <vt:lpstr>Wingdings</vt:lpstr>
      <vt:lpstr>Office Theme</vt:lpstr>
      <vt:lpstr>PowerPoint Presentation</vt:lpstr>
      <vt:lpstr>GRAPHICAL USE INTERFACE</vt:lpstr>
      <vt:lpstr>GRAPHICAL USE INTERFACE</vt:lpstr>
      <vt:lpstr>GRAPHICAL USE INTERFACE</vt:lpstr>
      <vt:lpstr>TOP-LEVEL AND SECONDARY CONTAINERS</vt:lpstr>
      <vt:lpstr>THREE PARTS OF A GUI APPLICATION</vt:lpstr>
      <vt:lpstr>AWT &amp; SWING</vt:lpstr>
      <vt:lpstr>GUI HIERARCHY</vt:lpstr>
      <vt:lpstr>CONTAINERS</vt:lpstr>
      <vt:lpstr>GUI COMPONENT API</vt:lpstr>
      <vt:lpstr>STEPS TO CREATE GUI–BASIC WORKFLOW</vt:lpstr>
      <vt:lpstr>STEPS TO CREATE GUI – ADDING  COMPONENTS</vt:lpstr>
      <vt:lpstr>GUI EXAMPLE</vt:lpstr>
      <vt:lpstr>GUI EXAMPLE</vt:lpstr>
      <vt:lpstr>GUI EXAMPLE</vt:lpstr>
      <vt:lpstr>STEPS TO CREATE GUI</vt:lpstr>
      <vt:lpstr>JFRAME</vt:lpstr>
      <vt:lpstr>JFRAME</vt:lpstr>
      <vt:lpstr>SOME COMPONENTS</vt:lpstr>
      <vt:lpstr>SOME COMPONENTS</vt:lpstr>
      <vt:lpstr>EXAMPLE - WITH MENU</vt:lpstr>
      <vt:lpstr>EXAMPLE - WITH MENU</vt:lpstr>
      <vt:lpstr>EXAMPLE - WITH MENU</vt:lpstr>
      <vt:lpstr>EXAMPLE – WITH SCROLLBAR</vt:lpstr>
      <vt:lpstr>EXAMPLE – WITH SCROLLBAR</vt:lpstr>
      <vt:lpstr>LAYOUT</vt:lpstr>
      <vt:lpstr>WHAT IS LAYOUT</vt:lpstr>
      <vt:lpstr>WHAT IS LAYOUT</vt:lpstr>
      <vt:lpstr>FLOW LAYOUT</vt:lpstr>
      <vt:lpstr>FLOW LAYOUT</vt:lpstr>
      <vt:lpstr>BORDER LAYOUT</vt:lpstr>
      <vt:lpstr>GRID LAYOUT</vt:lpstr>
      <vt:lpstr>NO LAYOUT</vt:lpstr>
      <vt:lpstr>LAYOUTS - SUMMARY FlowLayout</vt:lpstr>
      <vt:lpstr>EVENT HANDLING</vt:lpstr>
      <vt:lpstr>AWT EVENT-HANDLING</vt:lpstr>
      <vt:lpstr>MAIN COMPONENTS</vt:lpstr>
      <vt:lpstr>PROGRAMMER’S RESPONSIBILITY</vt:lpstr>
      <vt:lpstr>EVENTS</vt:lpstr>
      <vt:lpstr>EVENT SOURCE</vt:lpstr>
      <vt:lpstr>EVENT LISTENERS</vt:lpstr>
      <vt:lpstr>WHAT IF …?</vt:lpstr>
      <vt:lpstr>THE SEQUENCE OF STEPS IN EVENT  HANDLING</vt:lpstr>
      <vt:lpstr>IMPLEMENT LISTENER IN INNER CLASS</vt:lpstr>
      <vt:lpstr>IMPLEMENT LISTENER IN OWN CLASS</vt:lpstr>
      <vt:lpstr>IMPLEMENT LISTENER IN ANONYMOUS  CLASS</vt:lpstr>
      <vt:lpstr>MULTIPLE BUTTONS</vt:lpstr>
      <vt:lpstr>LIST OF SOME COMMON SOURCE, EVENT AND LISTENER</vt:lpstr>
      <vt:lpstr>Spring 2024 Question 4</vt:lpstr>
      <vt:lpstr>Spring 2024 Question 4</vt:lpstr>
      <vt:lpstr>Fall 2023 Question 3</vt:lpstr>
      <vt:lpstr>Fall 2023 Question 3(a)</vt:lpstr>
      <vt:lpstr>Fall 2023 Question 3(b)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Tanjina Helaly</dc:creator>
  <cp:lastModifiedBy>Shafqat Rakin</cp:lastModifiedBy>
  <cp:revision>5</cp:revision>
  <dcterms:created xsi:type="dcterms:W3CDTF">2024-09-16T02:17:50Z</dcterms:created>
  <dcterms:modified xsi:type="dcterms:W3CDTF">2024-09-16T04:17:47Z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2024-09-16T00:00:00Z</vt:filetime>
  </property>
</Properties>
</file>