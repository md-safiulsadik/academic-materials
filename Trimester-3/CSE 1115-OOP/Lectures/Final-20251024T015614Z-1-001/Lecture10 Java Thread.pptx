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325" r:id="rId11"/>
    <p:sldId id="326" r:id="rId12"/>
    <p:sldId id="327" r:id="rId13"/>
    <p:sldId id="328" r:id="rId14"/>
    <p:sldId id="329" r:id="rId15"/>
    <p:sldId id="330" r:id="rId16"/>
    <p:sldId id="264" r:id="rId17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58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480052" y="2904235"/>
            <a:ext cx="1098295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Prepared </a:t>
            </a:r>
            <a:r>
              <a:rPr spc="-10" dirty="0"/>
              <a:t>By </a:t>
            </a:r>
            <a:r>
              <a:rPr dirty="0"/>
              <a:t>- </a:t>
            </a:r>
            <a:r>
              <a:rPr spc="-10" dirty="0"/>
              <a:t>Rifat</a:t>
            </a:r>
            <a:r>
              <a:rPr spc="-85" dirty="0"/>
              <a:t> </a:t>
            </a:r>
            <a:r>
              <a:rPr spc="-5" dirty="0"/>
              <a:t>Shahriyar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Prepared </a:t>
            </a:r>
            <a:r>
              <a:rPr spc="-10" dirty="0"/>
              <a:t>By </a:t>
            </a:r>
            <a:r>
              <a:rPr dirty="0"/>
              <a:t>- </a:t>
            </a:r>
            <a:r>
              <a:rPr spc="-10" dirty="0"/>
              <a:t>Rifat</a:t>
            </a:r>
            <a:r>
              <a:rPr spc="-85" dirty="0"/>
              <a:t> </a:t>
            </a:r>
            <a:r>
              <a:rPr spc="-5" dirty="0"/>
              <a:t>Shahriyar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Prepared </a:t>
            </a:r>
            <a:r>
              <a:rPr spc="-10" dirty="0"/>
              <a:t>By </a:t>
            </a:r>
            <a:r>
              <a:rPr dirty="0"/>
              <a:t>- </a:t>
            </a:r>
            <a:r>
              <a:rPr spc="-10" dirty="0"/>
              <a:t>Rifat</a:t>
            </a:r>
            <a:r>
              <a:rPr spc="-85" dirty="0"/>
              <a:t> </a:t>
            </a:r>
            <a:r>
              <a:rPr spc="-5" dirty="0"/>
              <a:t>Shahriyar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Prepared </a:t>
            </a:r>
            <a:r>
              <a:rPr spc="-10" dirty="0"/>
              <a:t>By </a:t>
            </a:r>
            <a:r>
              <a:rPr dirty="0"/>
              <a:t>- </a:t>
            </a:r>
            <a:r>
              <a:rPr spc="-10" dirty="0"/>
              <a:t>Rifat</a:t>
            </a:r>
            <a:r>
              <a:rPr spc="-85" dirty="0"/>
              <a:t> </a:t>
            </a:r>
            <a:r>
              <a:rPr spc="-5" dirty="0"/>
              <a:t>Shahriyar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Prepared </a:t>
            </a:r>
            <a:r>
              <a:rPr spc="-10" dirty="0"/>
              <a:t>By </a:t>
            </a:r>
            <a:r>
              <a:rPr dirty="0"/>
              <a:t>- </a:t>
            </a:r>
            <a:r>
              <a:rPr spc="-10" dirty="0"/>
              <a:t>Rifat</a:t>
            </a:r>
            <a:r>
              <a:rPr spc="-85" dirty="0"/>
              <a:t> </a:t>
            </a:r>
            <a:r>
              <a:rPr spc="-5" dirty="0"/>
              <a:t>Shahriyar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45691" y="918247"/>
            <a:ext cx="6567017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93139" y="1978104"/>
            <a:ext cx="8072120" cy="4702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31055" y="6921500"/>
            <a:ext cx="1793239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rlito"/>
                <a:cs typeface="Carlito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5" dirty="0"/>
              <a:t>Prepared </a:t>
            </a:r>
            <a:r>
              <a:rPr spc="-10" dirty="0"/>
              <a:t>By </a:t>
            </a:r>
            <a:r>
              <a:rPr dirty="0"/>
              <a:t>- </a:t>
            </a:r>
            <a:r>
              <a:rPr spc="-10" dirty="0"/>
              <a:t>Rifat</a:t>
            </a:r>
            <a:r>
              <a:rPr spc="-85" dirty="0"/>
              <a:t> </a:t>
            </a:r>
            <a:r>
              <a:rPr spc="-5" dirty="0"/>
              <a:t>Shahriyar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57488" y="6921500"/>
            <a:ext cx="23304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Carlito"/>
                <a:cs typeface="Carlito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hafqat@cse.uiu.ac.bd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80052" y="2904235"/>
            <a:ext cx="109728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-585" dirty="0">
                <a:latin typeface="Trebuchet MS"/>
                <a:cs typeface="Trebuchet MS"/>
              </a:rPr>
              <a:t>J</a:t>
            </a:r>
            <a:r>
              <a:rPr sz="4800" b="1" spc="-665" dirty="0">
                <a:latin typeface="Trebuchet MS"/>
                <a:cs typeface="Trebuchet MS"/>
              </a:rPr>
              <a:t>a</a:t>
            </a:r>
            <a:r>
              <a:rPr sz="4800" b="1" spc="-345" dirty="0">
                <a:latin typeface="Trebuchet MS"/>
                <a:cs typeface="Trebuchet MS"/>
              </a:rPr>
              <a:t>v</a:t>
            </a:r>
            <a:r>
              <a:rPr sz="4800" b="1" spc="-190" dirty="0">
                <a:latin typeface="Trebuchet MS"/>
                <a:cs typeface="Trebuchet MS"/>
              </a:rPr>
              <a:t>a</a:t>
            </a:r>
            <a:endParaRPr sz="4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25722" y="3915784"/>
            <a:ext cx="1805939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i="1" spc="-415" dirty="0">
                <a:solidFill>
                  <a:srgbClr val="898989"/>
                </a:solidFill>
                <a:latin typeface="Trebuchet MS"/>
                <a:cs typeface="Trebuchet MS"/>
              </a:rPr>
              <a:t>Thread</a:t>
            </a:r>
            <a:endParaRPr sz="4800" dirty="0">
              <a:latin typeface="Trebuchet MS"/>
              <a:cs typeface="Trebuchet MS"/>
            </a:endParaRPr>
          </a:p>
        </p:txBody>
      </p:sp>
      <p:sp>
        <p:nvSpPr>
          <p:cNvPr id="4" name="Subtitle 4">
            <a:extLst>
              <a:ext uri="{FF2B5EF4-FFF2-40B4-BE49-F238E27FC236}">
                <a16:creationId xmlns:a16="http://schemas.microsoft.com/office/drawing/2014/main" id="{14FBCB36-D24A-46A6-7C58-E1EB73E7A635}"/>
              </a:ext>
            </a:extLst>
          </p:cNvPr>
          <p:cNvSpPr txBox="1">
            <a:spLocks/>
          </p:cNvSpPr>
          <p:nvPr/>
        </p:nvSpPr>
        <p:spPr>
          <a:xfrm>
            <a:off x="762000" y="6172200"/>
            <a:ext cx="2622100" cy="947046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>
              <a:spcBef>
                <a:spcPts val="71"/>
              </a:spcBef>
            </a:pP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Md. Shafqat </a:t>
            </a:r>
            <a:r>
              <a:rPr lang="en-US" sz="1400" kern="0" spc="-4" dirty="0" err="1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Talukder</a:t>
            </a: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Rakin</a:t>
            </a:r>
            <a:endParaRPr lang="en-US" sz="1400" kern="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R="3810"/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Lecturer, Department of CSE,  </a:t>
            </a:r>
          </a:p>
          <a:p>
            <a:pPr marR="3810"/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United International</a:t>
            </a:r>
            <a:r>
              <a:rPr lang="en-US" sz="1400" kern="0" spc="8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University</a:t>
            </a:r>
          </a:p>
          <a:p>
            <a:pPr marR="3810"/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Email id : </a:t>
            </a: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shafqat@cse.uiu.ac.bd</a:t>
            </a:r>
            <a:endParaRPr lang="en-US" sz="1400" kern="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endParaRPr lang="en-US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A3EC8733-D57E-065A-7E39-4E8DB3C8E3CA}"/>
              </a:ext>
            </a:extLst>
          </p:cNvPr>
          <p:cNvSpPr txBox="1"/>
          <p:nvPr/>
        </p:nvSpPr>
        <p:spPr>
          <a:xfrm>
            <a:off x="5571057" y="7119246"/>
            <a:ext cx="419100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kern="0"/>
            </a:def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800" b="1" spc="125" dirty="0">
                <a:solidFill>
                  <a:srgbClr val="565F6C"/>
                </a:solidFill>
                <a:latin typeface="Cambria"/>
                <a:cs typeface="Cambria"/>
              </a:rPr>
              <a:t>Acknowledged: Rifat Shahriyar </a:t>
            </a:r>
            <a:r>
              <a:rPr lang="en-GB" b="1" spc="125" dirty="0">
                <a:solidFill>
                  <a:srgbClr val="565F6C"/>
                </a:solidFill>
                <a:latin typeface="Cambria"/>
                <a:cs typeface="Cambria"/>
              </a:rPr>
              <a:t>Sir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02113" y="918247"/>
            <a:ext cx="28511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Multitasking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275" y="2067572"/>
            <a:ext cx="7235825" cy="3662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36957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rlito"/>
                <a:cs typeface="Carlito"/>
              </a:rPr>
              <a:t>Multitasking allows </a:t>
            </a:r>
            <a:r>
              <a:rPr sz="2800" spc="-20" dirty="0">
                <a:latin typeface="Carlito"/>
                <a:cs typeface="Carlito"/>
              </a:rPr>
              <a:t>several </a:t>
            </a:r>
            <a:r>
              <a:rPr sz="2800" spc="-5" dirty="0">
                <a:latin typeface="Carlito"/>
                <a:cs typeface="Carlito"/>
              </a:rPr>
              <a:t>activities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5" dirty="0">
                <a:latin typeface="Carlito"/>
                <a:cs typeface="Carlito"/>
              </a:rPr>
              <a:t>occur  </a:t>
            </a:r>
            <a:r>
              <a:rPr sz="2800" spc="-15" dirty="0">
                <a:latin typeface="Carlito"/>
                <a:cs typeface="Carlito"/>
              </a:rPr>
              <a:t>concurrently </a:t>
            </a:r>
            <a:r>
              <a:rPr sz="2800" spc="-5" dirty="0">
                <a:latin typeface="Carlito"/>
                <a:cs typeface="Carlito"/>
              </a:rPr>
              <a:t>on the</a:t>
            </a:r>
            <a:r>
              <a:rPr sz="2800" spc="60" dirty="0">
                <a:latin typeface="Carlito"/>
                <a:cs typeface="Carlito"/>
              </a:rPr>
              <a:t> </a:t>
            </a:r>
            <a:r>
              <a:rPr sz="2800" spc="-15" dirty="0">
                <a:latin typeface="Carlito"/>
                <a:cs typeface="Carlito"/>
              </a:rPr>
              <a:t>computer</a:t>
            </a:r>
            <a:endParaRPr sz="2800">
              <a:latin typeface="Carlito"/>
              <a:cs typeface="Carlito"/>
            </a:endParaRPr>
          </a:p>
          <a:p>
            <a:pPr marL="354965" indent="-3429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rlito"/>
                <a:cs typeface="Carlito"/>
              </a:rPr>
              <a:t>Levels </a:t>
            </a:r>
            <a:r>
              <a:rPr sz="2800" spc="-5" dirty="0">
                <a:latin typeface="Carlito"/>
                <a:cs typeface="Carlito"/>
              </a:rPr>
              <a:t>of</a:t>
            </a:r>
            <a:r>
              <a:rPr sz="280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multitasking:</a:t>
            </a:r>
            <a:endParaRPr sz="2800">
              <a:latin typeface="Carlito"/>
              <a:cs typeface="Carlito"/>
            </a:endParaRPr>
          </a:p>
          <a:p>
            <a:pPr marL="755650" lvl="1" indent="-287020">
              <a:lnSpc>
                <a:spcPct val="100000"/>
              </a:lnSpc>
              <a:spcBef>
                <a:spcPts val="675"/>
              </a:spcBef>
              <a:buFont typeface="Arial"/>
              <a:buChar char="–"/>
              <a:tabLst>
                <a:tab pos="756285" algn="l"/>
              </a:tabLst>
            </a:pPr>
            <a:r>
              <a:rPr sz="2800" b="1" spc="-155" dirty="0">
                <a:latin typeface="Trebuchet MS"/>
                <a:cs typeface="Trebuchet MS"/>
              </a:rPr>
              <a:t>Process‐based</a:t>
            </a:r>
            <a:r>
              <a:rPr sz="2800" b="1" spc="-180" dirty="0">
                <a:latin typeface="Trebuchet MS"/>
                <a:cs typeface="Trebuchet MS"/>
              </a:rPr>
              <a:t> </a:t>
            </a:r>
            <a:r>
              <a:rPr sz="2800" b="1" spc="-140" dirty="0">
                <a:latin typeface="Trebuchet MS"/>
                <a:cs typeface="Trebuchet MS"/>
              </a:rPr>
              <a:t>multitasking</a:t>
            </a:r>
            <a:endParaRPr sz="2800">
              <a:latin typeface="Trebuchet MS"/>
              <a:cs typeface="Trebuchet MS"/>
            </a:endParaRPr>
          </a:p>
          <a:p>
            <a:pPr marL="1155065" lvl="2" indent="-22923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1155700" algn="l"/>
              </a:tabLst>
            </a:pPr>
            <a:r>
              <a:rPr sz="2400" spc="-10" dirty="0">
                <a:latin typeface="Carlito"/>
                <a:cs typeface="Carlito"/>
              </a:rPr>
              <a:t>Allows </a:t>
            </a:r>
            <a:r>
              <a:rPr sz="2400" spc="-15" dirty="0">
                <a:latin typeface="Carlito"/>
                <a:cs typeface="Carlito"/>
              </a:rPr>
              <a:t>programs </a:t>
            </a:r>
            <a:r>
              <a:rPr sz="2400" spc="-10" dirty="0">
                <a:latin typeface="Carlito"/>
                <a:cs typeface="Carlito"/>
              </a:rPr>
              <a:t>(processes)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run</a:t>
            </a:r>
            <a:r>
              <a:rPr sz="2400" spc="-20" dirty="0">
                <a:latin typeface="Carlito"/>
                <a:cs typeface="Carlito"/>
              </a:rPr>
              <a:t> </a:t>
            </a:r>
            <a:r>
              <a:rPr sz="2400" spc="-10" dirty="0">
                <a:latin typeface="Carlito"/>
                <a:cs typeface="Carlito"/>
              </a:rPr>
              <a:t>concurrently</a:t>
            </a:r>
            <a:endParaRPr sz="2400">
              <a:latin typeface="Carlito"/>
              <a:cs typeface="Carlito"/>
            </a:endParaRPr>
          </a:p>
          <a:p>
            <a:pPr marL="755650" lvl="1" indent="-287020">
              <a:lnSpc>
                <a:spcPct val="100000"/>
              </a:lnSpc>
              <a:spcBef>
                <a:spcPts val="645"/>
              </a:spcBef>
              <a:buFont typeface="Arial"/>
              <a:buChar char="–"/>
              <a:tabLst>
                <a:tab pos="756285" algn="l"/>
              </a:tabLst>
            </a:pPr>
            <a:r>
              <a:rPr sz="2800" b="1" spc="-175" dirty="0">
                <a:latin typeface="Trebuchet MS"/>
                <a:cs typeface="Trebuchet MS"/>
              </a:rPr>
              <a:t>Thread‐base </a:t>
            </a:r>
            <a:r>
              <a:rPr sz="2800" b="1" spc="-140" dirty="0">
                <a:latin typeface="Trebuchet MS"/>
                <a:cs typeface="Trebuchet MS"/>
              </a:rPr>
              <a:t>multitasking</a:t>
            </a:r>
            <a:r>
              <a:rPr sz="2800" b="1" spc="-180" dirty="0">
                <a:latin typeface="Trebuchet MS"/>
                <a:cs typeface="Trebuchet MS"/>
              </a:rPr>
              <a:t> </a:t>
            </a:r>
            <a:r>
              <a:rPr sz="2800" b="1" spc="-155" dirty="0">
                <a:latin typeface="Trebuchet MS"/>
                <a:cs typeface="Trebuchet MS"/>
              </a:rPr>
              <a:t>(multithreading)</a:t>
            </a:r>
            <a:endParaRPr sz="2800">
              <a:latin typeface="Trebuchet MS"/>
              <a:cs typeface="Trebuchet MS"/>
            </a:endParaRPr>
          </a:p>
          <a:p>
            <a:pPr marL="1155065" marR="5080" lvl="2" indent="-228600">
              <a:lnSpc>
                <a:spcPct val="100000"/>
              </a:lnSpc>
              <a:spcBef>
                <a:spcPts val="605"/>
              </a:spcBef>
              <a:buFont typeface="Arial"/>
              <a:buChar char="•"/>
              <a:tabLst>
                <a:tab pos="1155700" algn="l"/>
              </a:tabLst>
            </a:pPr>
            <a:r>
              <a:rPr sz="2400" spc="-10" dirty="0">
                <a:latin typeface="Carlito"/>
                <a:cs typeface="Carlito"/>
              </a:rPr>
              <a:t>Allows </a:t>
            </a:r>
            <a:r>
              <a:rPr sz="2400" spc="-5" dirty="0">
                <a:latin typeface="Carlito"/>
                <a:cs typeface="Carlito"/>
              </a:rPr>
              <a:t>parts of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same </a:t>
            </a:r>
            <a:r>
              <a:rPr sz="2400" spc="-10" dirty="0">
                <a:latin typeface="Carlito"/>
                <a:cs typeface="Carlito"/>
              </a:rPr>
              <a:t>process (threads)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dirty="0">
                <a:latin typeface="Carlito"/>
                <a:cs typeface="Carlito"/>
              </a:rPr>
              <a:t>run  </a:t>
            </a:r>
            <a:r>
              <a:rPr sz="2400" spc="-10" dirty="0">
                <a:latin typeface="Carlito"/>
                <a:cs typeface="Carlito"/>
              </a:rPr>
              <a:t>concurrently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7875" y="914400"/>
            <a:ext cx="573812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Advantages of Threading</a:t>
            </a:r>
            <a:endParaRPr spc="-5" dirty="0"/>
          </a:p>
        </p:txBody>
      </p:sp>
      <p:sp>
        <p:nvSpPr>
          <p:cNvPr id="3" name="object 3"/>
          <p:cNvSpPr txBox="1"/>
          <p:nvPr/>
        </p:nvSpPr>
        <p:spPr>
          <a:xfrm>
            <a:off x="993275" y="2067572"/>
            <a:ext cx="7847330" cy="51110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34417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800" b="1" spc="-15" dirty="0">
                <a:latin typeface="Carlito"/>
                <a:cs typeface="Carlito"/>
              </a:rPr>
              <a:t>Concurrency: </a:t>
            </a:r>
            <a:r>
              <a:rPr lang="en-US" sz="2800" spc="-15" dirty="0">
                <a:latin typeface="Carlito"/>
                <a:cs typeface="Carlito"/>
              </a:rPr>
              <a:t>Threading enables simultaneous execution of multiple tasks, improving overall program efficiency and responsiveness.</a:t>
            </a:r>
          </a:p>
          <a:p>
            <a:pPr marL="354965" marR="34417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400" b="1" spc="-10" dirty="0">
                <a:latin typeface="Carlito"/>
                <a:cs typeface="Carlito"/>
              </a:rPr>
              <a:t>Resource Utilization: </a:t>
            </a:r>
            <a:r>
              <a:rPr lang="en-US" sz="2400" spc="-10" dirty="0">
                <a:latin typeface="Carlito"/>
                <a:cs typeface="Carlito"/>
              </a:rPr>
              <a:t>Threads make efficient use of CPU resources by allowing other tasks to run while some are waiting, maximizing CPU utilization.</a:t>
            </a:r>
          </a:p>
          <a:p>
            <a:pPr marL="354965" marR="34417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400" b="1" dirty="0">
                <a:latin typeface="Carlito"/>
                <a:cs typeface="Trebuchet MS"/>
              </a:rPr>
              <a:t>Parallelism: </a:t>
            </a:r>
            <a:r>
              <a:rPr lang="en-US" sz="2400" dirty="0">
                <a:latin typeface="Carlito"/>
                <a:cs typeface="Trebuchet MS"/>
              </a:rPr>
              <a:t>Threading facilitates parallel processing, allowing for tasks to be divided and executed concurrently, leading to faster execution times.</a:t>
            </a:r>
          </a:p>
          <a:p>
            <a:pPr marL="354965" marR="34417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z="2400" b="1" dirty="0">
                <a:latin typeface="Carlito"/>
                <a:cs typeface="Trebuchet MS"/>
              </a:rPr>
              <a:t>Optimized Computations: </a:t>
            </a:r>
            <a:r>
              <a:rPr lang="en-US" sz="2400" dirty="0">
                <a:latin typeface="Carlito"/>
                <a:cs typeface="Trebuchet MS"/>
              </a:rPr>
              <a:t>Threading accelerates complex computations by utilizing available CPU resources for faster execution.</a:t>
            </a:r>
          </a:p>
          <a:p>
            <a:pPr marL="354965" marR="34417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0223" y="918247"/>
            <a:ext cx="29165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Main</a:t>
            </a:r>
            <a:r>
              <a:rPr spc="-70" dirty="0"/>
              <a:t> </a:t>
            </a:r>
            <a:r>
              <a:rPr spc="-10" dirty="0"/>
              <a:t>Thread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275" y="2067572"/>
            <a:ext cx="7736205" cy="2841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14351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arlito"/>
                <a:cs typeface="Carlito"/>
              </a:rPr>
              <a:t>When a </a:t>
            </a:r>
            <a:r>
              <a:rPr sz="2800" spc="-30" dirty="0">
                <a:latin typeface="Carlito"/>
                <a:cs typeface="Carlito"/>
              </a:rPr>
              <a:t>Java </a:t>
            </a:r>
            <a:r>
              <a:rPr sz="2800" spc="-25" dirty="0">
                <a:latin typeface="Carlito"/>
                <a:cs typeface="Carlito"/>
              </a:rPr>
              <a:t>program </a:t>
            </a:r>
            <a:r>
              <a:rPr sz="2800" spc="-15" dirty="0">
                <a:latin typeface="Carlito"/>
                <a:cs typeface="Carlito"/>
              </a:rPr>
              <a:t>starts </a:t>
            </a:r>
            <a:r>
              <a:rPr sz="2800" spc="-10" dirty="0">
                <a:latin typeface="Carlito"/>
                <a:cs typeface="Carlito"/>
              </a:rPr>
              <a:t>up, one thread begins  running</a:t>
            </a:r>
            <a:r>
              <a:rPr sz="2800" spc="5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immediately</a:t>
            </a:r>
            <a:endParaRPr sz="2800">
              <a:latin typeface="Carlito"/>
              <a:cs typeface="Carlito"/>
            </a:endParaRPr>
          </a:p>
          <a:p>
            <a:pPr marL="354965" indent="-3429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arlito"/>
                <a:cs typeface="Carlito"/>
              </a:rPr>
              <a:t>This is called the </a:t>
            </a:r>
            <a:r>
              <a:rPr sz="2800" b="1" i="1" spc="-150" dirty="0">
                <a:latin typeface="Trebuchet MS"/>
                <a:cs typeface="Trebuchet MS"/>
              </a:rPr>
              <a:t>main </a:t>
            </a:r>
            <a:r>
              <a:rPr sz="2800" b="1" i="1" spc="-195" dirty="0">
                <a:latin typeface="Trebuchet MS"/>
                <a:cs typeface="Trebuchet MS"/>
              </a:rPr>
              <a:t>thread </a:t>
            </a:r>
            <a:r>
              <a:rPr sz="2800" spc="-5" dirty="0">
                <a:latin typeface="Carlito"/>
                <a:cs typeface="Carlito"/>
              </a:rPr>
              <a:t>of the</a:t>
            </a:r>
            <a:r>
              <a:rPr sz="2800" spc="-25" dirty="0">
                <a:latin typeface="Carlito"/>
                <a:cs typeface="Carlito"/>
              </a:rPr>
              <a:t> program</a:t>
            </a:r>
            <a:endParaRPr sz="2800">
              <a:latin typeface="Carlito"/>
              <a:cs typeface="Carlito"/>
            </a:endParaRPr>
          </a:p>
          <a:p>
            <a:pPr marL="354965" marR="5080" indent="-3429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Carlito"/>
                <a:cs typeface="Carlito"/>
              </a:rPr>
              <a:t>It is the </a:t>
            </a:r>
            <a:r>
              <a:rPr sz="2800" spc="-10" dirty="0">
                <a:latin typeface="Carlito"/>
                <a:cs typeface="Carlito"/>
              </a:rPr>
              <a:t>thread </a:t>
            </a:r>
            <a:r>
              <a:rPr sz="2800" spc="-20" dirty="0">
                <a:latin typeface="Carlito"/>
                <a:cs typeface="Carlito"/>
              </a:rPr>
              <a:t>from </a:t>
            </a:r>
            <a:r>
              <a:rPr sz="2800" spc="-5" dirty="0">
                <a:latin typeface="Carlito"/>
                <a:cs typeface="Carlito"/>
              </a:rPr>
              <a:t>which the child </a:t>
            </a:r>
            <a:r>
              <a:rPr sz="2800" spc="-10" dirty="0">
                <a:latin typeface="Carlito"/>
                <a:cs typeface="Carlito"/>
              </a:rPr>
              <a:t>threads </a:t>
            </a:r>
            <a:r>
              <a:rPr sz="2800" spc="-5" dirty="0">
                <a:latin typeface="Carlito"/>
                <a:cs typeface="Carlito"/>
              </a:rPr>
              <a:t>will </a:t>
            </a:r>
            <a:r>
              <a:rPr sz="2800" spc="-10" dirty="0">
                <a:latin typeface="Carlito"/>
                <a:cs typeface="Carlito"/>
              </a:rPr>
              <a:t>be  spawned</a:t>
            </a:r>
            <a:endParaRPr sz="2800">
              <a:latin typeface="Carlito"/>
              <a:cs typeface="Carlito"/>
            </a:endParaRPr>
          </a:p>
          <a:p>
            <a:pPr marL="354965" indent="-3429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10" dirty="0">
                <a:latin typeface="Carlito"/>
                <a:cs typeface="Carlito"/>
              </a:rPr>
              <a:t>Often, </a:t>
            </a:r>
            <a:r>
              <a:rPr sz="2800" spc="-5" dirty="0">
                <a:latin typeface="Carlito"/>
                <a:cs typeface="Carlito"/>
              </a:rPr>
              <a:t>it </a:t>
            </a:r>
            <a:r>
              <a:rPr sz="2800" spc="-15" dirty="0">
                <a:latin typeface="Carlito"/>
                <a:cs typeface="Carlito"/>
              </a:rPr>
              <a:t>must </a:t>
            </a:r>
            <a:r>
              <a:rPr sz="2800" spc="-5" dirty="0">
                <a:latin typeface="Carlito"/>
                <a:cs typeface="Carlito"/>
              </a:rPr>
              <a:t>be the </a:t>
            </a:r>
            <a:r>
              <a:rPr sz="2800" spc="-15" dirty="0">
                <a:latin typeface="Carlito"/>
                <a:cs typeface="Carlito"/>
              </a:rPr>
              <a:t>last </a:t>
            </a:r>
            <a:r>
              <a:rPr sz="2800" spc="-10" dirty="0">
                <a:latin typeface="Carlito"/>
                <a:cs typeface="Carlito"/>
              </a:rPr>
              <a:t>thread </a:t>
            </a:r>
            <a:r>
              <a:rPr sz="2800" spc="-15" dirty="0">
                <a:latin typeface="Carlito"/>
                <a:cs typeface="Carlito"/>
              </a:rPr>
              <a:t>to </a:t>
            </a:r>
            <a:r>
              <a:rPr sz="2800" spc="-10" dirty="0">
                <a:latin typeface="Carlito"/>
                <a:cs typeface="Carlito"/>
              </a:rPr>
              <a:t>finish</a:t>
            </a:r>
            <a:r>
              <a:rPr sz="2800" spc="165" dirty="0">
                <a:latin typeface="Carlito"/>
                <a:cs typeface="Carlito"/>
              </a:rPr>
              <a:t> </a:t>
            </a:r>
            <a:r>
              <a:rPr sz="2800" spc="-20" dirty="0">
                <a:latin typeface="Carlito"/>
                <a:cs typeface="Carlito"/>
              </a:rPr>
              <a:t>execution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71900" y="918247"/>
            <a:ext cx="29165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Main</a:t>
            </a:r>
            <a:r>
              <a:rPr spc="-70" dirty="0"/>
              <a:t> </a:t>
            </a:r>
            <a:r>
              <a:rPr spc="-10" dirty="0"/>
              <a:t>Thread</a:t>
            </a:r>
          </a:p>
        </p:txBody>
      </p:sp>
      <p:sp>
        <p:nvSpPr>
          <p:cNvPr id="3" name="object 3"/>
          <p:cNvSpPr/>
          <p:nvPr/>
        </p:nvSpPr>
        <p:spPr>
          <a:xfrm>
            <a:off x="1520952" y="2127504"/>
            <a:ext cx="6854952" cy="48889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5087" y="918247"/>
            <a:ext cx="49453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How </a:t>
            </a:r>
            <a:r>
              <a:rPr spc="-25" dirty="0"/>
              <a:t>to create</a:t>
            </a:r>
            <a:r>
              <a:rPr spc="-35" dirty="0"/>
              <a:t> </a:t>
            </a:r>
            <a:r>
              <a:rPr spc="-10" dirty="0"/>
              <a:t>Thread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274" y="1981630"/>
            <a:ext cx="8226925" cy="2971326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527050" indent="-514984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2800" spc="-15" dirty="0">
                <a:latin typeface="Carlito"/>
                <a:cs typeface="Carlito"/>
              </a:rPr>
              <a:t>By extending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b="1" i="1" spc="-245" dirty="0">
                <a:latin typeface="Trebuchet MS"/>
                <a:cs typeface="Trebuchet MS"/>
              </a:rPr>
              <a:t>Thread</a:t>
            </a:r>
            <a:r>
              <a:rPr sz="2800" b="1" i="1" spc="-145" dirty="0">
                <a:latin typeface="Trebuchet MS"/>
                <a:cs typeface="Trebuchet MS"/>
              </a:rPr>
              <a:t> </a:t>
            </a:r>
            <a:r>
              <a:rPr sz="2800" spc="-5" dirty="0">
                <a:latin typeface="Carlito"/>
                <a:cs typeface="Carlito"/>
              </a:rPr>
              <a:t>class</a:t>
            </a:r>
            <a:endParaRPr sz="2800" dirty="0">
              <a:latin typeface="Carlito"/>
              <a:cs typeface="Carlito"/>
            </a:endParaRPr>
          </a:p>
          <a:p>
            <a:pPr marL="527050" indent="-514984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27050" algn="l"/>
                <a:tab pos="527685" algn="l"/>
              </a:tabLst>
            </a:pPr>
            <a:r>
              <a:rPr sz="2800" spc="-15" dirty="0">
                <a:latin typeface="Carlito"/>
                <a:cs typeface="Carlito"/>
              </a:rPr>
              <a:t>By </a:t>
            </a:r>
            <a:r>
              <a:rPr sz="2800" spc="-10" dirty="0">
                <a:latin typeface="Carlito"/>
                <a:cs typeface="Carlito"/>
              </a:rPr>
              <a:t>implementing </a:t>
            </a:r>
            <a:r>
              <a:rPr sz="2800" b="1" i="1" spc="-155" dirty="0">
                <a:latin typeface="Trebuchet MS"/>
                <a:cs typeface="Trebuchet MS"/>
              </a:rPr>
              <a:t>Runnable </a:t>
            </a:r>
            <a:r>
              <a:rPr sz="2800" spc="-15" dirty="0">
                <a:latin typeface="Carlito"/>
                <a:cs typeface="Carlito"/>
              </a:rPr>
              <a:t>Interface</a:t>
            </a:r>
            <a:endParaRPr sz="2800" dirty="0">
              <a:latin typeface="Carlito"/>
              <a:cs typeface="Carlito"/>
            </a:endParaRPr>
          </a:p>
          <a:p>
            <a:pPr marL="354965" indent="-342900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i="1" spc="-5" dirty="0">
                <a:latin typeface="Carlito"/>
                <a:cs typeface="Carlito"/>
              </a:rPr>
              <a:t>Extending </a:t>
            </a:r>
            <a:r>
              <a:rPr sz="2800" i="1" spc="-10" dirty="0">
                <a:latin typeface="Carlito"/>
                <a:cs typeface="Carlito"/>
              </a:rPr>
              <a:t>Thread</a:t>
            </a:r>
            <a:endParaRPr sz="2800" dirty="0">
              <a:latin typeface="Carlito"/>
              <a:cs typeface="Carlito"/>
            </a:endParaRPr>
          </a:p>
          <a:p>
            <a:pPr marL="755650" lvl="1" indent="-287020">
              <a:lnSpc>
                <a:spcPct val="100000"/>
              </a:lnSpc>
              <a:spcBef>
                <a:spcPts val="605"/>
              </a:spcBef>
              <a:buFont typeface="Arial"/>
              <a:buChar char="–"/>
              <a:tabLst>
                <a:tab pos="756285" algn="l"/>
              </a:tabLst>
            </a:pPr>
            <a:r>
              <a:rPr sz="2400" dirty="0">
                <a:latin typeface="Carlito"/>
                <a:cs typeface="Carlito"/>
              </a:rPr>
              <a:t>Need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10" dirty="0">
                <a:latin typeface="Carlito"/>
                <a:cs typeface="Carlito"/>
              </a:rPr>
              <a:t>override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public </a:t>
            </a:r>
            <a:r>
              <a:rPr sz="2400" spc="-10" dirty="0">
                <a:latin typeface="Carlito"/>
                <a:cs typeface="Carlito"/>
              </a:rPr>
              <a:t>void </a:t>
            </a:r>
            <a:r>
              <a:rPr sz="2400" dirty="0">
                <a:latin typeface="Carlito"/>
                <a:cs typeface="Carlito"/>
              </a:rPr>
              <a:t>run()</a:t>
            </a:r>
            <a:r>
              <a:rPr sz="2400" spc="-5" dirty="0">
                <a:latin typeface="Carlito"/>
                <a:cs typeface="Carlito"/>
              </a:rPr>
              <a:t> method</a:t>
            </a:r>
            <a:endParaRPr sz="2400" dirty="0">
              <a:latin typeface="Carlito"/>
              <a:cs typeface="Carlito"/>
            </a:endParaRPr>
          </a:p>
          <a:p>
            <a:pPr marL="354965" indent="-342900">
              <a:lnSpc>
                <a:spcPct val="100000"/>
              </a:lnSpc>
              <a:spcBef>
                <a:spcPts val="64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i="1" spc="-10" dirty="0">
                <a:latin typeface="Carlito"/>
                <a:cs typeface="Carlito"/>
              </a:rPr>
              <a:t>Implementing </a:t>
            </a:r>
            <a:r>
              <a:rPr sz="2800" i="1" spc="-5" dirty="0">
                <a:latin typeface="Carlito"/>
                <a:cs typeface="Carlito"/>
              </a:rPr>
              <a:t>Runnable</a:t>
            </a:r>
            <a:endParaRPr sz="2800" dirty="0">
              <a:latin typeface="Carlito"/>
              <a:cs typeface="Carlito"/>
            </a:endParaRPr>
          </a:p>
          <a:p>
            <a:pPr marL="755650" lvl="1" indent="-287020">
              <a:lnSpc>
                <a:spcPct val="100000"/>
              </a:lnSpc>
              <a:spcBef>
                <a:spcPts val="600"/>
              </a:spcBef>
              <a:buFont typeface="Arial"/>
              <a:buChar char="–"/>
              <a:tabLst>
                <a:tab pos="756285" algn="l"/>
              </a:tabLst>
            </a:pPr>
            <a:r>
              <a:rPr sz="2400" dirty="0">
                <a:latin typeface="Carlito"/>
                <a:cs typeface="Carlito"/>
              </a:rPr>
              <a:t>Need </a:t>
            </a:r>
            <a:r>
              <a:rPr sz="2400" spc="-15" dirty="0">
                <a:latin typeface="Carlito"/>
                <a:cs typeface="Carlito"/>
              </a:rPr>
              <a:t>to </a:t>
            </a:r>
            <a:r>
              <a:rPr sz="2400" spc="-5" dirty="0">
                <a:latin typeface="Carlito"/>
                <a:cs typeface="Carlito"/>
              </a:rPr>
              <a:t>implement </a:t>
            </a:r>
            <a:r>
              <a:rPr sz="2400" dirty="0">
                <a:latin typeface="Carlito"/>
                <a:cs typeface="Carlito"/>
              </a:rPr>
              <a:t>the </a:t>
            </a:r>
            <a:r>
              <a:rPr sz="2400" spc="-5" dirty="0">
                <a:latin typeface="Carlito"/>
                <a:cs typeface="Carlito"/>
              </a:rPr>
              <a:t>public </a:t>
            </a:r>
            <a:r>
              <a:rPr sz="2400" spc="-10" dirty="0">
                <a:latin typeface="Carlito"/>
                <a:cs typeface="Carlito"/>
              </a:rPr>
              <a:t>void </a:t>
            </a:r>
            <a:r>
              <a:rPr sz="2400" dirty="0">
                <a:latin typeface="Carlito"/>
                <a:cs typeface="Carlito"/>
              </a:rPr>
              <a:t>run()</a:t>
            </a:r>
            <a:r>
              <a:rPr sz="2400" spc="-65" dirty="0">
                <a:latin typeface="Carlito"/>
                <a:cs typeface="Carlito"/>
              </a:rPr>
              <a:t> </a:t>
            </a:r>
            <a:r>
              <a:rPr sz="2400" spc="-5" dirty="0">
                <a:latin typeface="Carlito"/>
                <a:cs typeface="Carlito"/>
              </a:rPr>
              <a:t>method</a:t>
            </a:r>
            <a:endParaRPr sz="2400" dirty="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30499" y="918247"/>
            <a:ext cx="399732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Extending</a:t>
            </a:r>
            <a:r>
              <a:rPr spc="-75" dirty="0"/>
              <a:t> </a:t>
            </a:r>
            <a:r>
              <a:rPr spc="-10" dirty="0"/>
              <a:t>Thread</a:t>
            </a:r>
          </a:p>
        </p:txBody>
      </p:sp>
      <p:sp>
        <p:nvSpPr>
          <p:cNvPr id="3" name="object 3"/>
          <p:cNvSpPr/>
          <p:nvPr/>
        </p:nvSpPr>
        <p:spPr>
          <a:xfrm>
            <a:off x="1978151" y="1886711"/>
            <a:ext cx="5952744" cy="5428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9975" y="918247"/>
            <a:ext cx="54806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Implementing</a:t>
            </a:r>
            <a:r>
              <a:rPr spc="-70" dirty="0"/>
              <a:t> </a:t>
            </a:r>
            <a:r>
              <a:rPr dirty="0"/>
              <a:t>Runnable</a:t>
            </a:r>
          </a:p>
        </p:txBody>
      </p:sp>
      <p:sp>
        <p:nvSpPr>
          <p:cNvPr id="3" name="object 3"/>
          <p:cNvSpPr/>
          <p:nvPr/>
        </p:nvSpPr>
        <p:spPr>
          <a:xfrm>
            <a:off x="2023872" y="1886711"/>
            <a:ext cx="5861304" cy="54284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2220" y="914400"/>
            <a:ext cx="523395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5" dirty="0"/>
              <a:t>Join Method of</a:t>
            </a:r>
            <a:r>
              <a:rPr spc="-35" dirty="0"/>
              <a:t> </a:t>
            </a:r>
            <a:r>
              <a:rPr spc="-10" dirty="0"/>
              <a:t>Thread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274" y="1981631"/>
            <a:ext cx="8684125" cy="418191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469266" indent="-457200">
              <a:lnSpc>
                <a:spcPct val="10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527050" algn="l"/>
                <a:tab pos="527685" algn="l"/>
              </a:tabLst>
            </a:pPr>
            <a:r>
              <a:rPr lang="en-US" sz="2800" i="1" spc="-5" dirty="0">
                <a:latin typeface="Carlito"/>
                <a:cs typeface="Carlito"/>
              </a:rPr>
              <a:t>The </a:t>
            </a:r>
            <a:r>
              <a:rPr lang="en-US" sz="2800" b="1" i="1" spc="-5" dirty="0">
                <a:latin typeface="Carlito"/>
                <a:cs typeface="Carlito"/>
              </a:rPr>
              <a:t>join() </a:t>
            </a:r>
            <a:r>
              <a:rPr lang="en-US" sz="2800" i="1" spc="-5" dirty="0">
                <a:latin typeface="Carlito"/>
                <a:cs typeface="Carlito"/>
              </a:rPr>
              <a:t>method allows one thread to wait for the completion of another thread, ensuring that the current thread doesn't proceed until the specified thread finishes execution.</a:t>
            </a:r>
            <a:r>
              <a:rPr sz="2400" dirty="0">
                <a:latin typeface="Carlito"/>
                <a:cs typeface="Carlito"/>
              </a:rPr>
              <a:t> </a:t>
            </a:r>
            <a:endParaRPr lang="en-US" sz="2400" dirty="0">
              <a:latin typeface="Carlito"/>
              <a:cs typeface="Carlito"/>
            </a:endParaRPr>
          </a:p>
          <a:p>
            <a:pPr marL="469266" indent="-457200">
              <a:lnSpc>
                <a:spcPct val="10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527050" algn="l"/>
                <a:tab pos="527685" algn="l"/>
              </a:tabLst>
            </a:pPr>
            <a:r>
              <a:rPr lang="en-US" sz="2800" b="1" dirty="0">
                <a:latin typeface="Carlito"/>
                <a:cs typeface="Carlito"/>
              </a:rPr>
              <a:t>Practical Use: </a:t>
            </a:r>
            <a:r>
              <a:rPr lang="en-US" sz="2800" dirty="0">
                <a:latin typeface="Carlito"/>
                <a:cs typeface="Carlito"/>
              </a:rPr>
              <a:t>It's useful when you need one task to finish before starting another, such as when thread dependencies exist in a multithreaded program.</a:t>
            </a:r>
            <a:br>
              <a:rPr lang="en-US" sz="2800" dirty="0">
                <a:latin typeface="Carlito"/>
                <a:cs typeface="Carlito"/>
              </a:rPr>
            </a:br>
            <a:endParaRPr lang="en-US" sz="2800" dirty="0">
              <a:latin typeface="Carlito"/>
              <a:cs typeface="Carlito"/>
            </a:endParaRPr>
          </a:p>
          <a:p>
            <a:pPr marL="469266" indent="-457200">
              <a:lnSpc>
                <a:spcPct val="100000"/>
              </a:lnSpc>
              <a:spcBef>
                <a:spcPts val="770"/>
              </a:spcBef>
              <a:buFont typeface="Arial" panose="020B0604020202020204" pitchFamily="34" charset="0"/>
              <a:buChar char="•"/>
              <a:tabLst>
                <a:tab pos="527050" algn="l"/>
                <a:tab pos="527685" algn="l"/>
              </a:tabLst>
            </a:pPr>
            <a:r>
              <a:rPr lang="en-US" sz="2800" i="1" dirty="0">
                <a:latin typeface="Carlito"/>
                <a:cs typeface="Carlito"/>
              </a:rPr>
              <a:t>Example: </a:t>
            </a:r>
            <a:r>
              <a:rPr lang="en-US" sz="2800" b="1" i="1" dirty="0">
                <a:latin typeface="Carlito"/>
                <a:cs typeface="Carlito"/>
              </a:rPr>
              <a:t>Summation.java</a:t>
            </a:r>
            <a:endParaRPr sz="2800" b="1" i="1" dirty="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4035682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3121E-CD21-FC28-A38E-E8804DD18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715" y="152400"/>
            <a:ext cx="9280970" cy="541687"/>
          </a:xfrm>
        </p:spPr>
        <p:txBody>
          <a:bodyPr/>
          <a:lstStyle/>
          <a:p>
            <a:r>
              <a:rPr lang="en-US" sz="3520" b="1" dirty="0"/>
              <a:t>Spring 2024 Question 2(a)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278500-B3A9-950C-3FC7-B6BA9238B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141" y="913819"/>
            <a:ext cx="5502117" cy="6706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016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3121E-CD21-FC28-A38E-E8804DD18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728" y="533400"/>
            <a:ext cx="9280970" cy="541687"/>
          </a:xfrm>
        </p:spPr>
        <p:txBody>
          <a:bodyPr/>
          <a:lstStyle/>
          <a:p>
            <a:r>
              <a:rPr lang="en-US" sz="3520" b="1" dirty="0"/>
              <a:t>Spring 2024 Question 2(a)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B54CD7-F9B0-5336-D862-F841D795C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28" y="1828800"/>
            <a:ext cx="9048944" cy="502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317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3121E-CD21-FC28-A38E-E8804DD18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939" y="228600"/>
            <a:ext cx="9280970" cy="541687"/>
          </a:xfrm>
        </p:spPr>
        <p:txBody>
          <a:bodyPr/>
          <a:lstStyle/>
          <a:p>
            <a:r>
              <a:rPr lang="en-US" sz="3520" b="1" dirty="0"/>
              <a:t>Spring 2024 Question 2(a)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BC2FB2-0D05-90B7-287A-DF2048937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776" y="910980"/>
            <a:ext cx="7842848" cy="687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465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3121E-CD21-FC28-A38E-E8804DD18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715" y="617220"/>
            <a:ext cx="9280970" cy="541687"/>
          </a:xfrm>
        </p:spPr>
        <p:txBody>
          <a:bodyPr/>
          <a:lstStyle/>
          <a:p>
            <a:r>
              <a:rPr lang="en-US" sz="3520" b="1" dirty="0"/>
              <a:t>Fall 2023 Question 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ADFB82-9D63-61AE-AFAC-B4B2A81D5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24200"/>
            <a:ext cx="9944861" cy="1840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0699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3121E-CD21-FC28-A38E-E8804DD18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714" y="338511"/>
            <a:ext cx="9280970" cy="541687"/>
          </a:xfrm>
        </p:spPr>
        <p:txBody>
          <a:bodyPr/>
          <a:lstStyle/>
          <a:p>
            <a:r>
              <a:rPr lang="en-US" sz="3520" b="1" dirty="0"/>
              <a:t>Fall 2023 Question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D333F3-2E29-0DE2-A92D-6F8F6B1C6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4055" y="1219200"/>
            <a:ext cx="5490290" cy="6333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273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3121E-CD21-FC28-A38E-E8804DD18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714" y="338511"/>
            <a:ext cx="9280970" cy="541687"/>
          </a:xfrm>
        </p:spPr>
        <p:txBody>
          <a:bodyPr/>
          <a:lstStyle/>
          <a:p>
            <a:r>
              <a:rPr lang="en-US" sz="3520" b="1" dirty="0"/>
              <a:t>Fall 2023 Question 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F65BA9-51FF-BB78-DE29-E922A514E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15" y="1627836"/>
            <a:ext cx="9280969" cy="5785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507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B01BA-BEE6-F3C1-F355-D33E02B32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6545" y="3537903"/>
            <a:ext cx="2445309" cy="69659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93069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</TotalTime>
  <Words>360</Words>
  <Application>Microsoft Office PowerPoint</Application>
  <PresentationFormat>Custom</PresentationFormat>
  <Paragraphs>53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Cambria</vt:lpstr>
      <vt:lpstr>Carlito</vt:lpstr>
      <vt:lpstr>Trebuchet MS</vt:lpstr>
      <vt:lpstr>Office Theme</vt:lpstr>
      <vt:lpstr>PowerPoint Presentation</vt:lpstr>
      <vt:lpstr>Multitasking</vt:lpstr>
      <vt:lpstr>Advantages of Threading</vt:lpstr>
      <vt:lpstr>Main Thread</vt:lpstr>
      <vt:lpstr>Main Thread</vt:lpstr>
      <vt:lpstr>How to create Thread</vt:lpstr>
      <vt:lpstr>Extending Thread</vt:lpstr>
      <vt:lpstr>Implementing Runnable</vt:lpstr>
      <vt:lpstr>Join Method of Thread</vt:lpstr>
      <vt:lpstr>Spring 2024 Question 2(a)</vt:lpstr>
      <vt:lpstr>Spring 2024 Question 2(a)</vt:lpstr>
      <vt:lpstr>Spring 2024 Question 2(a)</vt:lpstr>
      <vt:lpstr>Fall 2023 Question 5</vt:lpstr>
      <vt:lpstr>Fall 2023 Question 5</vt:lpstr>
      <vt:lpstr>Fall 2023 Question 5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Shafqat Rakin</cp:lastModifiedBy>
  <cp:revision>14</cp:revision>
  <dcterms:created xsi:type="dcterms:W3CDTF">2023-08-22T17:48:30Z</dcterms:created>
  <dcterms:modified xsi:type="dcterms:W3CDTF">2024-10-03T15:57:11Z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2017-12-12T00:00:00Z</vt:filetime>
  </property>
  <property fmtid="{D5CDD505-2E9C-101B-9397-08002B2CF9AE}" pid="3" name="LastSaved">
    <vt:filetime>2023-08-22T00:00:00Z</vt:filetime>
  </property>
</Properties>
</file>