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98" r:id="rId11"/>
    <p:sldId id="299" r:id="rId12"/>
    <p:sldId id="300" r:id="rId13"/>
    <p:sldId id="301" r:id="rId14"/>
    <p:sldId id="302" r:id="rId15"/>
    <p:sldId id="303" r:id="rId16"/>
    <p:sldId id="282" r:id="rId17"/>
    <p:sldId id="304" r:id="rId18"/>
    <p:sldId id="283" r:id="rId19"/>
    <p:sldId id="284" r:id="rId20"/>
    <p:sldId id="285" r:id="rId21"/>
    <p:sldId id="286" r:id="rId22"/>
    <p:sldId id="287" r:id="rId23"/>
    <p:sldId id="305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70" r:id="rId34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2C00"/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67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58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7/23/2023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3600" y="3630518"/>
            <a:ext cx="922336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Trees &amp; Tree Traversals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dirty="0" smtClean="0">
                <a:solidFill>
                  <a:srgbClr val="2388DB"/>
                </a:solidFill>
                <a:latin typeface="Arial MT"/>
                <a:cs typeface="Arial MT"/>
              </a:rPr>
              <a:t>10</a:t>
            </a:r>
            <a:r>
              <a:rPr sz="3000" spc="-20" dirty="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dirty="0" smtClean="0">
                <a:solidFill>
                  <a:srgbClr val="2388DB"/>
                </a:solidFill>
                <a:latin typeface="Arial MT"/>
                <a:cs typeface="Arial MT"/>
              </a:rPr>
              <a:t>–</a:t>
            </a:r>
            <a:r>
              <a:rPr sz="3000" spc="-20" dirty="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 smtClean="0">
                <a:solidFill>
                  <a:srgbClr val="2388DB"/>
                </a:solidFill>
                <a:latin typeface="Arial MT"/>
                <a:cs typeface="Arial MT"/>
              </a:rPr>
              <a:t>Summer 2023</a:t>
            </a:r>
            <a:endParaRPr lang="en-US" sz="3000" spc="-5" dirty="0">
              <a:solidFill>
                <a:srgbClr val="2388DB"/>
              </a:solidFill>
              <a:latin typeface="Arial MT"/>
              <a:cs typeface="Arial MT"/>
            </a:endParaRPr>
          </a:p>
          <a:p>
            <a:pPr marL="12700">
              <a:spcBef>
                <a:spcPts val="2560"/>
              </a:spcBef>
            </a:pP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Instructor : </a:t>
            </a:r>
            <a:r>
              <a:rPr lang="en-US" dirty="0"/>
              <a:t>Fahmid Al </a:t>
            </a:r>
            <a:r>
              <a:rPr lang="en-US" dirty="0" smtClean="0"/>
              <a:t>Rifat, Lecturer</a:t>
            </a:r>
            <a:r>
              <a:rPr lang="en-US" dirty="0"/>
              <a:t>, </a:t>
            </a:r>
            <a:r>
              <a:rPr lang="en-US" dirty="0" smtClean="0"/>
              <a:t>Dept. </a:t>
            </a:r>
            <a:r>
              <a:rPr lang="en-US" dirty="0"/>
              <a:t>of CSE , UIU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4114800" y="6353307"/>
            <a:ext cx="3901440" cy="276999"/>
          </a:xfrm>
        </p:spPr>
        <p:txBody>
          <a:bodyPr/>
          <a:lstStyle/>
          <a:p>
            <a:r>
              <a:rPr lang="en-US" dirty="0" smtClean="0"/>
              <a:t>fahmid</a:t>
            </a:r>
            <a:r>
              <a:rPr lang="en-US" dirty="0" smtClean="0"/>
              <a:t>@cse.uiu.ac.bd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46251"/>
            <a:ext cx="533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</a:t>
            </a:r>
            <a:r>
              <a:rPr spc="-5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75" dirty="0"/>
              <a:t>Tree?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797812"/>
            <a:ext cx="10438130" cy="472885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Tahoma"/>
              </a:rPr>
              <a:t>A</a:t>
            </a:r>
            <a:r>
              <a:rPr sz="2400" spc="-10" dirty="0">
                <a:latin typeface="Arial MT"/>
                <a:cs typeface="Tahoma"/>
              </a:rPr>
              <a:t> connected</a:t>
            </a:r>
            <a:r>
              <a:rPr sz="2400" spc="-114" dirty="0"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chemeClr val="accent6">
                    <a:lumMod val="75000"/>
                  </a:schemeClr>
                </a:solidFill>
                <a:latin typeface="Arial MT"/>
                <a:cs typeface="Tahoma"/>
              </a:rPr>
              <a:t>acyclic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graph </a:t>
            </a:r>
            <a:r>
              <a:rPr sz="2400" dirty="0">
                <a:latin typeface="Arial MT"/>
                <a:cs typeface="Tahoma"/>
              </a:rPr>
              <a:t>is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85" dirty="0">
                <a:latin typeface="Arial MT"/>
                <a:cs typeface="Tahoma"/>
              </a:rPr>
              <a:t> </a:t>
            </a:r>
            <a:r>
              <a:rPr sz="2400" spc="-10" dirty="0" smtClean="0">
                <a:latin typeface="Arial MT"/>
                <a:cs typeface="Tahoma"/>
              </a:rPr>
              <a:t>tree</a:t>
            </a:r>
            <a:endParaRPr lang="en-US" sz="2400" spc="-10" dirty="0" smtClean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241300" algn="l"/>
              </a:tabLst>
            </a:pPr>
            <a:endParaRPr sz="24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  <a:tab pos="3493770" algn="l"/>
                <a:tab pos="9231630" algn="l"/>
              </a:tabLst>
            </a:pPr>
            <a:r>
              <a:rPr sz="2400" spc="-5" dirty="0">
                <a:latin typeface="Arial MT"/>
                <a:cs typeface="Tahoma"/>
              </a:rPr>
              <a:t>I</a:t>
            </a:r>
            <a:r>
              <a:rPr sz="2400" dirty="0">
                <a:latin typeface="Arial MT"/>
                <a:cs typeface="Tahoma"/>
              </a:rPr>
              <a:t>n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c</a:t>
            </a:r>
            <a:r>
              <a:rPr sz="2400" spc="-10" dirty="0">
                <a:latin typeface="Arial MT"/>
                <a:cs typeface="Tahoma"/>
              </a:rPr>
              <a:t>ompute</a:t>
            </a:r>
            <a:r>
              <a:rPr sz="2400" dirty="0">
                <a:latin typeface="Arial MT"/>
                <a:cs typeface="Tahoma"/>
              </a:rPr>
              <a:t>r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s</a:t>
            </a:r>
            <a:r>
              <a:rPr sz="2400" dirty="0">
                <a:latin typeface="Arial MT"/>
                <a:cs typeface="Tahoma"/>
              </a:rPr>
              <a:t>c</a:t>
            </a:r>
            <a:r>
              <a:rPr sz="2400" spc="-5" dirty="0">
                <a:latin typeface="Arial MT"/>
                <a:cs typeface="Tahoma"/>
              </a:rPr>
              <a:t>i</a:t>
            </a:r>
            <a:r>
              <a:rPr sz="2400" spc="-10" dirty="0">
                <a:latin typeface="Arial MT"/>
                <a:cs typeface="Tahoma"/>
              </a:rPr>
              <a:t>en</a:t>
            </a:r>
            <a:r>
              <a:rPr sz="2400" dirty="0">
                <a:latin typeface="Arial MT"/>
                <a:cs typeface="Tahoma"/>
              </a:rPr>
              <a:t>c</a:t>
            </a:r>
            <a:r>
              <a:rPr sz="2400" spc="-10" dirty="0">
                <a:latin typeface="Arial MT"/>
                <a:cs typeface="Tahoma"/>
              </a:rPr>
              <a:t>e</a:t>
            </a:r>
            <a:r>
              <a:rPr sz="2400" dirty="0">
                <a:latin typeface="Arial MT"/>
                <a:cs typeface="Tahoma"/>
              </a:rPr>
              <a:t>,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	</a:t>
            </a:r>
            <a:r>
              <a:rPr sz="2400" spc="-5" dirty="0">
                <a:latin typeface="Arial MT"/>
                <a:cs typeface="Tahoma"/>
              </a:rPr>
              <a:t>t</a:t>
            </a:r>
            <a:r>
              <a:rPr sz="2400" spc="-15" dirty="0">
                <a:latin typeface="Arial MT"/>
                <a:cs typeface="Tahoma"/>
              </a:rPr>
              <a:t>r</a:t>
            </a:r>
            <a:r>
              <a:rPr sz="2400" spc="-5" dirty="0">
                <a:latin typeface="Arial MT"/>
                <a:cs typeface="Tahoma"/>
              </a:rPr>
              <a:t>e</a:t>
            </a:r>
            <a:r>
              <a:rPr sz="2400" dirty="0">
                <a:latin typeface="Arial MT"/>
                <a:cs typeface="Tahoma"/>
              </a:rPr>
              <a:t>e </a:t>
            </a:r>
            <a:r>
              <a:rPr sz="2400" spc="5" dirty="0">
                <a:latin typeface="Arial MT"/>
                <a:cs typeface="Tahoma"/>
              </a:rPr>
              <a:t>i</a:t>
            </a:r>
            <a:r>
              <a:rPr sz="2400" dirty="0">
                <a:latin typeface="Arial MT"/>
                <a:cs typeface="Tahoma"/>
              </a:rPr>
              <a:t>s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an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5" dirty="0">
                <a:latin typeface="Arial MT"/>
                <a:cs typeface="Tahoma"/>
              </a:rPr>
              <a:t>b</a:t>
            </a:r>
            <a:r>
              <a:rPr sz="2400" dirty="0">
                <a:latin typeface="Arial MT"/>
                <a:cs typeface="Tahoma"/>
              </a:rPr>
              <a:t>s</a:t>
            </a:r>
            <a:r>
              <a:rPr sz="2400" spc="-5" dirty="0">
                <a:latin typeface="Arial MT"/>
                <a:cs typeface="Tahoma"/>
              </a:rPr>
              <a:t>t</a:t>
            </a:r>
            <a:r>
              <a:rPr sz="2400" spc="-45" dirty="0">
                <a:latin typeface="Arial MT"/>
                <a:cs typeface="Tahoma"/>
              </a:rPr>
              <a:t>r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5" dirty="0">
                <a:latin typeface="Arial MT"/>
                <a:cs typeface="Tahoma"/>
              </a:rPr>
              <a:t>c</a:t>
            </a:r>
            <a:r>
              <a:rPr sz="2400" dirty="0">
                <a:latin typeface="Arial MT"/>
                <a:cs typeface="Tahoma"/>
              </a:rPr>
              <a:t>t</a:t>
            </a:r>
            <a:r>
              <a:rPr sz="2400" spc="-165" dirty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mode</a:t>
            </a:r>
            <a:r>
              <a:rPr sz="2400" dirty="0" smtClean="0">
                <a:latin typeface="Arial MT"/>
                <a:cs typeface="Tahoma"/>
              </a:rPr>
              <a:t>l</a:t>
            </a:r>
            <a:endParaRPr lang="en-US" sz="2400" dirty="0" smtClean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241300" algn="l"/>
                <a:tab pos="3493770" algn="l"/>
                <a:tab pos="9231630" algn="l"/>
              </a:tabLst>
            </a:pPr>
            <a:r>
              <a:rPr sz="2400" spc="-5" dirty="0" smtClean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</a:t>
            </a:r>
            <a:r>
              <a:rPr sz="2400" dirty="0">
                <a:latin typeface="Arial MT"/>
                <a:cs typeface="Tahoma"/>
              </a:rPr>
              <a:t>f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 </a:t>
            </a:r>
            <a:r>
              <a:rPr sz="2400" spc="-10" dirty="0" smtClean="0">
                <a:latin typeface="Arial MT"/>
                <a:cs typeface="Tahoma"/>
              </a:rPr>
              <a:t>h</a:t>
            </a:r>
            <a:r>
              <a:rPr sz="2400" spc="-5" dirty="0" smtClean="0">
                <a:latin typeface="Arial MT"/>
                <a:cs typeface="Tahoma"/>
              </a:rPr>
              <a:t>i</a:t>
            </a:r>
            <a:r>
              <a:rPr sz="2400" spc="-10" dirty="0" smtClean="0">
                <a:latin typeface="Arial MT"/>
                <a:cs typeface="Tahoma"/>
              </a:rPr>
              <a:t>e</a:t>
            </a:r>
            <a:r>
              <a:rPr sz="2400" spc="-50" dirty="0" smtClean="0">
                <a:latin typeface="Arial MT"/>
                <a:cs typeface="Tahoma"/>
              </a:rPr>
              <a:t>r</a:t>
            </a:r>
            <a:r>
              <a:rPr sz="2400" spc="-5" dirty="0" smtClean="0">
                <a:latin typeface="Arial MT"/>
                <a:cs typeface="Tahoma"/>
              </a:rPr>
              <a:t>a</a:t>
            </a:r>
            <a:r>
              <a:rPr sz="2400" spc="-20" dirty="0" smtClean="0">
                <a:latin typeface="Arial MT"/>
                <a:cs typeface="Tahoma"/>
              </a:rPr>
              <a:t>r</a:t>
            </a:r>
            <a:r>
              <a:rPr sz="2400" spc="-5" dirty="0" smtClean="0">
                <a:latin typeface="Arial MT"/>
                <a:cs typeface="Tahoma"/>
              </a:rPr>
              <a:t>c</a:t>
            </a:r>
            <a:r>
              <a:rPr sz="2400" spc="-10" dirty="0" smtClean="0">
                <a:latin typeface="Arial MT"/>
                <a:cs typeface="Tahoma"/>
              </a:rPr>
              <a:t>h</a:t>
            </a:r>
            <a:r>
              <a:rPr sz="2400" spc="-5" dirty="0" smtClean="0">
                <a:latin typeface="Arial MT"/>
                <a:cs typeface="Tahoma"/>
              </a:rPr>
              <a:t>ica</a:t>
            </a:r>
            <a:r>
              <a:rPr lang="en-US" sz="2400" dirty="0" smtClean="0">
                <a:latin typeface="Arial MT"/>
                <a:cs typeface="Tahoma"/>
              </a:rPr>
              <a:t>l </a:t>
            </a:r>
            <a:r>
              <a:rPr sz="2400" spc="-5" dirty="0" smtClean="0">
                <a:latin typeface="Arial MT"/>
                <a:cs typeface="Tahoma"/>
              </a:rPr>
              <a:t>s</a:t>
            </a:r>
            <a:r>
              <a:rPr sz="2400" spc="-10" dirty="0" smtClean="0">
                <a:latin typeface="Arial MT"/>
                <a:cs typeface="Tahoma"/>
              </a:rPr>
              <a:t>tru</a:t>
            </a:r>
            <a:r>
              <a:rPr sz="2400" spc="-5" dirty="0" smtClean="0">
                <a:latin typeface="Arial MT"/>
                <a:cs typeface="Tahoma"/>
              </a:rPr>
              <a:t>c</a:t>
            </a:r>
            <a:r>
              <a:rPr sz="2400" spc="-10" dirty="0" smtClean="0">
                <a:latin typeface="Arial MT"/>
                <a:cs typeface="Tahoma"/>
              </a:rPr>
              <a:t>tu</a:t>
            </a:r>
            <a:r>
              <a:rPr sz="2400" spc="-20" dirty="0" smtClean="0">
                <a:latin typeface="Arial MT"/>
                <a:cs typeface="Tahoma"/>
              </a:rPr>
              <a:t>r</a:t>
            </a:r>
            <a:r>
              <a:rPr sz="2400" dirty="0" smtClean="0">
                <a:latin typeface="Arial MT"/>
                <a:cs typeface="Tahoma"/>
              </a:rPr>
              <a:t>e</a:t>
            </a:r>
            <a:endParaRPr lang="en-US" sz="2400" dirty="0" smtClean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241300" algn="l"/>
                <a:tab pos="3493770" algn="l"/>
                <a:tab pos="9231630" algn="l"/>
              </a:tabLst>
            </a:pPr>
            <a:endParaRPr sz="24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Tahoma"/>
              </a:rPr>
              <a:t>A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consists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15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nodes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dirty="0" smtClean="0">
                <a:latin typeface="Arial MT"/>
                <a:cs typeface="Tahoma"/>
              </a:rPr>
              <a:t>with</a:t>
            </a:r>
            <a:endParaRPr lang="en-US" sz="2400" dirty="0" smtClean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1300" algn="l"/>
              </a:tabLst>
            </a:pPr>
            <a:r>
              <a:rPr sz="2400" dirty="0" smtClean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 </a:t>
            </a:r>
            <a:r>
              <a:rPr sz="2400" spc="-15" dirty="0">
                <a:latin typeface="Arial MT"/>
                <a:cs typeface="Tahoma"/>
              </a:rPr>
              <a:t>parent-child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relationship</a:t>
            </a:r>
            <a:endParaRPr lang="en-US" sz="2400" spc="-5" dirty="0" smtClean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1300" algn="l"/>
              </a:tabLst>
            </a:pPr>
            <a:endParaRPr sz="24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  <a:cs typeface="Tahoma"/>
              </a:rPr>
              <a:t>Applications:</a:t>
            </a:r>
            <a:endParaRPr sz="24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215"/>
              </a:spcBef>
              <a:buSzPct val="58333"/>
              <a:buFont typeface="Wingdings"/>
              <a:buChar char=""/>
              <a:tabLst>
                <a:tab pos="683260" algn="l"/>
              </a:tabLst>
            </a:pPr>
            <a:r>
              <a:rPr sz="2400" spc="-5" dirty="0">
                <a:latin typeface="Arial MT"/>
                <a:cs typeface="Tahoma"/>
              </a:rPr>
              <a:t>Organizational</a:t>
            </a:r>
            <a:r>
              <a:rPr sz="2400" spc="-14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charts</a:t>
            </a:r>
          </a:p>
          <a:p>
            <a:pPr marL="683260" lvl="1" indent="-143510">
              <a:lnSpc>
                <a:spcPct val="100000"/>
              </a:lnSpc>
              <a:spcBef>
                <a:spcPts val="215"/>
              </a:spcBef>
              <a:buSzPct val="58333"/>
              <a:buFont typeface="Wingdings"/>
              <a:buChar char=""/>
              <a:tabLst>
                <a:tab pos="683260" algn="l"/>
              </a:tabLst>
            </a:pPr>
            <a:r>
              <a:rPr sz="2400" dirty="0">
                <a:latin typeface="Arial MT"/>
                <a:cs typeface="Tahoma"/>
              </a:rPr>
              <a:t>File</a:t>
            </a:r>
            <a:r>
              <a:rPr sz="2400" spc="-10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systems</a:t>
            </a:r>
          </a:p>
          <a:p>
            <a:pPr marL="683260" lvl="1" indent="-143510">
              <a:lnSpc>
                <a:spcPct val="100000"/>
              </a:lnSpc>
              <a:spcBef>
                <a:spcPts val="219"/>
              </a:spcBef>
              <a:buSzPct val="58333"/>
              <a:buFont typeface="Wingdings"/>
              <a:buChar char=""/>
              <a:tabLst>
                <a:tab pos="683260" algn="l"/>
                <a:tab pos="2670175" algn="l"/>
              </a:tabLst>
            </a:pPr>
            <a:r>
              <a:rPr sz="2400" spc="-10" dirty="0">
                <a:latin typeface="Arial MT"/>
                <a:cs typeface="Tahoma"/>
              </a:rPr>
              <a:t>Programming	environments</a:t>
            </a:r>
            <a:endParaRPr sz="2400" dirty="0">
              <a:latin typeface="Arial MT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pic>
        <p:nvPicPr>
          <p:cNvPr id="6" name="Picture 2" descr="Application of tree data structure | by Ievgen Dilevsky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565" y="2514600"/>
            <a:ext cx="5350716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36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46251"/>
            <a:ext cx="594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</a:t>
            </a:r>
            <a:r>
              <a:rPr spc="-5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75" dirty="0"/>
              <a:t>Tree?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000" y="2667000"/>
            <a:ext cx="9980295" cy="3266279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0"/>
              </a:spcBef>
              <a:buFont typeface="Courier New" pitchFamily="49" charset="0"/>
              <a:buChar char="o"/>
              <a:tabLst>
                <a:tab pos="241300" algn="l"/>
              </a:tabLst>
            </a:pPr>
            <a:r>
              <a:rPr sz="2400" b="1" i="1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400" b="1" i="1" spc="-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Tahoma"/>
                <a:cs typeface="Tahoma"/>
              </a:rPr>
              <a:t>connected</a:t>
            </a:r>
            <a:r>
              <a:rPr sz="2400" b="1" i="1" spc="-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Tahoma"/>
                <a:cs typeface="Tahoma"/>
              </a:rPr>
              <a:t>acyclic</a:t>
            </a:r>
            <a:r>
              <a:rPr sz="2400" b="1" i="1" spc="-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Tahoma"/>
                <a:cs typeface="Tahoma"/>
              </a:rPr>
              <a:t>graph</a:t>
            </a:r>
            <a:r>
              <a:rPr sz="2400" b="1" i="1" spc="-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Tahoma"/>
                <a:cs typeface="Tahoma"/>
              </a:rPr>
              <a:t>is</a:t>
            </a:r>
            <a:r>
              <a:rPr sz="2400" b="1" i="1" spc="-1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ahoma"/>
                <a:cs typeface="Tahoma"/>
              </a:rPr>
              <a:t>a</a:t>
            </a:r>
            <a:r>
              <a:rPr sz="2400" b="1" i="1" spc="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Tahoma"/>
                <a:cs typeface="Tahoma"/>
              </a:rPr>
              <a:t>tree</a:t>
            </a:r>
            <a:r>
              <a:rPr sz="2400" b="1" i="1" spc="-10" dirty="0" smtClean="0">
                <a:solidFill>
                  <a:srgbClr val="C00000"/>
                </a:solidFill>
                <a:latin typeface="Tahoma"/>
                <a:cs typeface="Tahoma"/>
              </a:rPr>
              <a:t>.</a:t>
            </a:r>
            <a:endParaRPr lang="en-US" sz="2400" b="1" i="1" spc="-10" dirty="0" smtClean="0">
              <a:solidFill>
                <a:srgbClr val="C00000"/>
              </a:solidFill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50"/>
              </a:spcBef>
              <a:buFont typeface="Courier New" pitchFamily="49" charset="0"/>
              <a:buChar char="o"/>
              <a:tabLst>
                <a:tab pos="241300" algn="l"/>
              </a:tabLst>
            </a:pPr>
            <a:endParaRPr sz="2400" b="1" i="1" dirty="0">
              <a:solidFill>
                <a:srgbClr val="C00000"/>
              </a:solidFill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930"/>
              </a:spcBef>
              <a:buFont typeface="Courier New" pitchFamily="49" charset="0"/>
              <a:buChar char="o"/>
              <a:tabLst>
                <a:tab pos="241300" algn="l"/>
              </a:tabLst>
            </a:pPr>
            <a:r>
              <a:rPr sz="2400" dirty="0">
                <a:latin typeface="Tahoma"/>
                <a:cs typeface="Tahoma"/>
              </a:rPr>
              <a:t>A </a:t>
            </a:r>
            <a:r>
              <a:rPr sz="2400" spc="-10" dirty="0">
                <a:latin typeface="Tahoma"/>
                <a:cs typeface="Tahoma"/>
              </a:rPr>
              <a:t>tree </a:t>
            </a:r>
            <a:r>
              <a:rPr sz="2500" spc="-60" dirty="0">
                <a:latin typeface="Tahoma"/>
                <a:cs typeface="Tahoma"/>
              </a:rPr>
              <a:t>T </a:t>
            </a:r>
            <a:r>
              <a:rPr sz="2400" spc="-5" dirty="0">
                <a:latin typeface="Tahoma"/>
                <a:cs typeface="Tahoma"/>
              </a:rPr>
              <a:t>is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10" dirty="0">
                <a:latin typeface="Tahoma"/>
                <a:cs typeface="Tahoma"/>
              </a:rPr>
              <a:t>set </a:t>
            </a:r>
            <a:r>
              <a:rPr sz="2400" spc="-5" dirty="0">
                <a:latin typeface="Tahoma"/>
                <a:cs typeface="Tahoma"/>
              </a:rPr>
              <a:t>of </a:t>
            </a:r>
            <a:r>
              <a:rPr sz="2400" spc="-10" dirty="0">
                <a:latin typeface="Tahoma"/>
                <a:cs typeface="Tahoma"/>
              </a:rPr>
              <a:t>nodes </a:t>
            </a:r>
            <a:r>
              <a:rPr sz="2400" spc="-5" dirty="0">
                <a:latin typeface="Tahoma"/>
                <a:cs typeface="Tahoma"/>
              </a:rPr>
              <a:t>in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15" dirty="0" smtClean="0">
                <a:latin typeface="Tahoma"/>
                <a:cs typeface="Tahoma"/>
              </a:rPr>
              <a:t>parent-child</a:t>
            </a:r>
            <a:endParaRPr lang="en-US" sz="2400" spc="-15" dirty="0" smtClean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930"/>
              </a:spcBef>
              <a:tabLst>
                <a:tab pos="241300" algn="l"/>
              </a:tabLst>
            </a:pPr>
            <a:r>
              <a:rPr sz="2400" spc="-15" dirty="0" smtClean="0">
                <a:latin typeface="Tahoma"/>
                <a:cs typeface="Tahoma"/>
              </a:rPr>
              <a:t>relationship </a:t>
            </a:r>
            <a:r>
              <a:rPr sz="2400" spc="-5" dirty="0">
                <a:latin typeface="Tahoma"/>
                <a:cs typeface="Tahoma"/>
              </a:rPr>
              <a:t>with the </a:t>
            </a:r>
            <a:r>
              <a:rPr sz="2400" spc="-15" dirty="0">
                <a:latin typeface="Tahoma"/>
                <a:cs typeface="Tahoma"/>
              </a:rPr>
              <a:t>following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properties</a:t>
            </a:r>
            <a:r>
              <a:rPr sz="2400" spc="-10" dirty="0" smtClean="0">
                <a:latin typeface="Tahoma"/>
                <a:cs typeface="Tahoma"/>
              </a:rPr>
              <a:t>:</a:t>
            </a:r>
            <a:endParaRPr lang="en-US" sz="2400" spc="-10" dirty="0" smtClean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930"/>
              </a:spcBef>
              <a:buFont typeface="Courier New" pitchFamily="49" charset="0"/>
              <a:buChar char="o"/>
              <a:tabLst>
                <a:tab pos="241300" algn="l"/>
              </a:tabLst>
            </a:pP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120"/>
              </a:spcBef>
              <a:buSzPct val="52000"/>
              <a:buFont typeface="Wingdings"/>
              <a:buChar char=""/>
              <a:tabLst>
                <a:tab pos="683260" algn="l"/>
                <a:tab pos="7737475" algn="l"/>
              </a:tabLst>
            </a:pPr>
            <a:r>
              <a:rPr sz="2500" spc="-60" dirty="0">
                <a:latin typeface="Tahoma"/>
                <a:cs typeface="Tahoma"/>
              </a:rPr>
              <a:t>T</a:t>
            </a:r>
            <a:r>
              <a:rPr sz="2500" spc="-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has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special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node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r</a:t>
            </a:r>
            <a:r>
              <a:rPr sz="2400" spc="-25" dirty="0">
                <a:latin typeface="Tahoma"/>
                <a:cs typeface="Tahoma"/>
              </a:rPr>
              <a:t>,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called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b="1" i="1" spc="-10" dirty="0">
                <a:solidFill>
                  <a:srgbClr val="0070C0"/>
                </a:solidFill>
                <a:latin typeface="Tahoma"/>
                <a:cs typeface="Tahoma"/>
              </a:rPr>
              <a:t>root</a:t>
            </a:r>
            <a:r>
              <a:rPr sz="2400" dirty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Tahoma"/>
                <a:cs typeface="Tahoma"/>
              </a:rPr>
              <a:t> </a:t>
            </a:r>
            <a:r>
              <a:rPr sz="2400" spc="-5" dirty="0" smtClean="0">
                <a:latin typeface="Tahoma"/>
                <a:cs typeface="Tahoma"/>
              </a:rPr>
              <a:t>of</a:t>
            </a:r>
            <a:r>
              <a:rPr sz="2400" spc="5" dirty="0" smtClean="0">
                <a:latin typeface="Tahoma"/>
                <a:cs typeface="Tahoma"/>
              </a:rPr>
              <a:t> </a:t>
            </a:r>
            <a:r>
              <a:rPr sz="2500" spc="-40" dirty="0">
                <a:latin typeface="Tahoma"/>
                <a:cs typeface="Tahoma"/>
              </a:rPr>
              <a:t>T</a:t>
            </a:r>
            <a:r>
              <a:rPr sz="2400" spc="-40" dirty="0" smtClean="0">
                <a:latin typeface="Tahoma"/>
                <a:cs typeface="Tahoma"/>
              </a:rPr>
              <a:t>,</a:t>
            </a:r>
            <a:r>
              <a:rPr sz="2400" spc="-30" dirty="0" smtClean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with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no	parent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node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190"/>
              </a:spcBef>
              <a:buSzPct val="54166"/>
              <a:buFont typeface="Wingdings"/>
              <a:buChar char=""/>
              <a:tabLst>
                <a:tab pos="683260" algn="l"/>
                <a:tab pos="8231505" algn="l"/>
              </a:tabLst>
            </a:pPr>
            <a:r>
              <a:rPr sz="2400" spc="-5" dirty="0">
                <a:latin typeface="Tahoma"/>
                <a:cs typeface="Tahoma"/>
              </a:rPr>
              <a:t>Each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node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500" spc="-50" dirty="0">
                <a:latin typeface="Tahoma"/>
                <a:cs typeface="Tahoma"/>
              </a:rPr>
              <a:t>v</a:t>
            </a:r>
            <a:r>
              <a:rPr sz="25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of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500" spc="-40" dirty="0">
                <a:latin typeface="Tahoma"/>
                <a:cs typeface="Tahoma"/>
              </a:rPr>
              <a:t>T</a:t>
            </a:r>
            <a:r>
              <a:rPr sz="2400" spc="-40" dirty="0">
                <a:latin typeface="Tahoma"/>
                <a:cs typeface="Tahoma"/>
              </a:rPr>
              <a:t>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different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from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r</a:t>
            </a:r>
            <a:r>
              <a:rPr sz="2400" spc="-25" dirty="0">
                <a:latin typeface="Tahoma"/>
                <a:cs typeface="Tahoma"/>
              </a:rPr>
              <a:t>,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has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unique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spc="-5" dirty="0" smtClean="0">
                <a:latin typeface="Tahoma"/>
                <a:cs typeface="Tahoma"/>
              </a:rPr>
              <a:t>parent</a:t>
            </a:r>
            <a:r>
              <a:rPr lang="en-US" sz="2400" spc="-5" dirty="0" smtClean="0">
                <a:latin typeface="Tahoma"/>
                <a:cs typeface="Tahoma"/>
              </a:rPr>
              <a:t> </a:t>
            </a:r>
            <a:r>
              <a:rPr sz="2400" spc="-5" dirty="0" smtClean="0">
                <a:latin typeface="Tahoma"/>
                <a:cs typeface="Tahoma"/>
              </a:rPr>
              <a:t>node</a:t>
            </a:r>
            <a:r>
              <a:rPr sz="2400" spc="-90" dirty="0" smtClean="0">
                <a:latin typeface="Tahoma"/>
                <a:cs typeface="Tahoma"/>
              </a:rPr>
              <a:t> </a:t>
            </a:r>
            <a:r>
              <a:rPr sz="2500" spc="-60" dirty="0">
                <a:latin typeface="Tahoma"/>
                <a:cs typeface="Tahoma"/>
              </a:rPr>
              <a:t>u</a:t>
            </a:r>
            <a:endParaRPr sz="2500" dirty="0">
              <a:latin typeface="Tahoma"/>
              <a:cs typeface="Tahoma"/>
            </a:endParaRPr>
          </a:p>
        </p:txBody>
      </p:sp>
      <p:pic>
        <p:nvPicPr>
          <p:cNvPr id="5" name="Picture 2" descr="Tree Data 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524000"/>
            <a:ext cx="2937685" cy="360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49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46251"/>
            <a:ext cx="9296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Tree</a:t>
            </a:r>
            <a:r>
              <a:rPr spc="-175" dirty="0"/>
              <a:t> </a:t>
            </a:r>
            <a:r>
              <a:rPr spc="-35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13052"/>
            <a:ext cx="5049520" cy="50027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5" dirty="0">
                <a:solidFill>
                  <a:srgbClr val="BD2C00"/>
                </a:solidFill>
                <a:latin typeface="Arial MT"/>
                <a:cs typeface="Tahoma"/>
              </a:rPr>
              <a:t>Root</a:t>
            </a:r>
            <a:r>
              <a:rPr sz="2400" spc="-15" dirty="0">
                <a:solidFill>
                  <a:srgbClr val="3F448B"/>
                </a:solidFill>
                <a:latin typeface="Arial MT"/>
                <a:cs typeface="Tahoma"/>
              </a:rPr>
              <a:t>:</a:t>
            </a:r>
            <a:r>
              <a:rPr sz="2400" spc="-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node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without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parent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(A)</a:t>
            </a:r>
          </a:p>
          <a:p>
            <a:pPr marL="25400" marR="384175" indent="-12700">
              <a:lnSpc>
                <a:spcPts val="281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  <a:tab pos="1425575" algn="l"/>
              </a:tabLst>
            </a:pPr>
            <a:r>
              <a:rPr lang="en-US" sz="2400" spc="-10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10" dirty="0" smtClean="0">
                <a:solidFill>
                  <a:srgbClr val="BD2C00"/>
                </a:solidFill>
                <a:latin typeface="Arial MT"/>
                <a:cs typeface="Tahoma"/>
              </a:rPr>
              <a:t>Internal </a:t>
            </a:r>
            <a:r>
              <a:rPr sz="2400" spc="-10" dirty="0">
                <a:solidFill>
                  <a:srgbClr val="BD2C00"/>
                </a:solidFill>
                <a:latin typeface="Arial MT"/>
                <a:cs typeface="Tahoma"/>
              </a:rPr>
              <a:t>node</a:t>
            </a:r>
            <a:r>
              <a:rPr sz="2400" spc="-10" dirty="0">
                <a:solidFill>
                  <a:srgbClr val="3F448B"/>
                </a:solidFill>
                <a:latin typeface="Arial MT"/>
                <a:cs typeface="Tahoma"/>
              </a:rPr>
              <a:t>: </a:t>
            </a:r>
            <a:r>
              <a:rPr sz="2400" spc="-5" dirty="0">
                <a:latin typeface="Arial MT"/>
                <a:cs typeface="Tahoma"/>
              </a:rPr>
              <a:t>node </a:t>
            </a:r>
            <a:r>
              <a:rPr sz="2400" dirty="0">
                <a:latin typeface="Arial MT"/>
                <a:cs typeface="Tahoma"/>
              </a:rPr>
              <a:t>with at </a:t>
            </a:r>
            <a:r>
              <a:rPr sz="2400" spc="-5" dirty="0">
                <a:latin typeface="Arial MT"/>
                <a:cs typeface="Tahoma"/>
              </a:rPr>
              <a:t>least </a:t>
            </a:r>
            <a:r>
              <a:rPr sz="2400" spc="-7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one </a:t>
            </a:r>
            <a:r>
              <a:rPr sz="2400" dirty="0">
                <a:latin typeface="Arial MT"/>
                <a:cs typeface="Tahoma"/>
              </a:rPr>
              <a:t>child	</a:t>
            </a:r>
            <a:r>
              <a:rPr sz="2400" spc="-5" dirty="0">
                <a:latin typeface="Arial MT"/>
                <a:cs typeface="Tahoma"/>
              </a:rPr>
              <a:t>(A,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B,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C,</a:t>
            </a:r>
            <a:r>
              <a:rPr sz="2400" spc="-1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F)</a:t>
            </a:r>
            <a:endParaRPr sz="2400" dirty="0">
              <a:latin typeface="Arial MT"/>
              <a:cs typeface="Tahoma"/>
            </a:endParaRPr>
          </a:p>
          <a:p>
            <a:pPr marL="25400" marR="5080" indent="-12700">
              <a:lnSpc>
                <a:spcPct val="1008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spc="-5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5" dirty="0" smtClean="0">
                <a:solidFill>
                  <a:srgbClr val="BD2C00"/>
                </a:solidFill>
                <a:latin typeface="Arial MT"/>
                <a:cs typeface="Tahoma"/>
              </a:rPr>
              <a:t>External</a:t>
            </a:r>
            <a:r>
              <a:rPr sz="2400" spc="-10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node</a:t>
            </a:r>
            <a:r>
              <a:rPr sz="2400" spc="-1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(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Leaf</a:t>
            </a:r>
            <a:r>
              <a:rPr sz="2400" spc="-1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):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node</a:t>
            </a:r>
            <a:r>
              <a:rPr sz="2400" spc="-14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without </a:t>
            </a:r>
            <a:r>
              <a:rPr sz="2400" spc="-7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children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(E,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I,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J,</a:t>
            </a:r>
            <a:r>
              <a:rPr sz="2400" dirty="0">
                <a:latin typeface="Arial MT"/>
                <a:cs typeface="Tahoma"/>
              </a:rPr>
              <a:t> K,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G,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H,</a:t>
            </a:r>
            <a:r>
              <a:rPr sz="2400" spc="-18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D)</a:t>
            </a:r>
            <a:endParaRPr sz="2400" dirty="0">
              <a:latin typeface="Arial MT"/>
              <a:cs typeface="Tahoma"/>
            </a:endParaRPr>
          </a:p>
          <a:p>
            <a:pPr marL="25400" marR="594360" indent="-12700">
              <a:lnSpc>
                <a:spcPct val="99200"/>
              </a:lnSpc>
              <a:spcBef>
                <a:spcPts val="2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spc="-5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5" dirty="0" smtClean="0">
                <a:solidFill>
                  <a:srgbClr val="BD2C00"/>
                </a:solidFill>
                <a:latin typeface="Arial MT"/>
                <a:cs typeface="Tahoma"/>
              </a:rPr>
              <a:t>Ancestors </a:t>
            </a: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of 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a </a:t>
            </a:r>
            <a:r>
              <a:rPr sz="2400" spc="-10" dirty="0">
                <a:solidFill>
                  <a:srgbClr val="BD2C00"/>
                </a:solidFill>
                <a:latin typeface="Arial MT"/>
                <a:cs typeface="Tahoma"/>
              </a:rPr>
              <a:t>node: </a:t>
            </a:r>
            <a:r>
              <a:rPr sz="2400" spc="-10" dirty="0">
                <a:latin typeface="Arial MT"/>
                <a:cs typeface="Tahoma"/>
              </a:rPr>
              <a:t>parent, 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grandparent, grand-grandparent, </a:t>
            </a:r>
            <a:r>
              <a:rPr sz="2400" spc="-7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etc.</a:t>
            </a:r>
            <a:endParaRPr sz="2400" dirty="0">
              <a:latin typeface="Arial MT"/>
              <a:cs typeface="Tahoma"/>
            </a:endParaRPr>
          </a:p>
          <a:p>
            <a:pPr marL="25400" marR="508634" indent="-12700">
              <a:lnSpc>
                <a:spcPct val="100800"/>
              </a:lnSpc>
              <a:spcBef>
                <a:spcPts val="1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spc="-10" dirty="0" smtClean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10" dirty="0" smtClean="0">
                <a:solidFill>
                  <a:srgbClr val="BD2C00"/>
                </a:solidFill>
                <a:latin typeface="Arial MT"/>
                <a:cs typeface="Tahoma"/>
              </a:rPr>
              <a:t>Descendants </a:t>
            </a: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of 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a </a:t>
            </a:r>
            <a:r>
              <a:rPr sz="2400" spc="-10" dirty="0">
                <a:solidFill>
                  <a:srgbClr val="BD2C00"/>
                </a:solidFill>
                <a:latin typeface="Arial MT"/>
                <a:cs typeface="Tahoma"/>
              </a:rPr>
              <a:t>node: </a:t>
            </a:r>
            <a:r>
              <a:rPr sz="2400" spc="-5" dirty="0">
                <a:latin typeface="Arial MT"/>
                <a:cs typeface="Tahoma"/>
              </a:rPr>
              <a:t>child, 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grandchild,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grand-grandchild,</a:t>
            </a:r>
            <a:r>
              <a:rPr sz="2400" spc="-6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etc</a:t>
            </a:r>
            <a:r>
              <a:rPr sz="2400" spc="-5" dirty="0" smtClean="0">
                <a:latin typeface="Arial MT"/>
                <a:cs typeface="Tahoma"/>
              </a:rPr>
              <a:t>.</a:t>
            </a:r>
            <a:endParaRPr lang="en-US" sz="2400" spc="-5" dirty="0">
              <a:latin typeface="Arial MT"/>
              <a:cs typeface="Tahoma"/>
            </a:endParaRPr>
          </a:p>
          <a:p>
            <a:pPr marL="25400" marR="508634" indent="-12700">
              <a:lnSpc>
                <a:spcPct val="100800"/>
              </a:lnSpc>
              <a:spcBef>
                <a:spcPts val="1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400" dirty="0">
                <a:solidFill>
                  <a:srgbClr val="BD2C00"/>
                </a:solidFill>
                <a:latin typeface="Arial MT"/>
              </a:rPr>
              <a:t>Subtree: </a:t>
            </a:r>
            <a:r>
              <a:rPr lang="en-US" sz="2400" dirty="0">
                <a:latin typeface="Arial MT"/>
              </a:rPr>
              <a:t>tree consisting of a node and its descendants</a:t>
            </a:r>
            <a:endParaRPr lang="en-US" sz="2400" spc="-5" dirty="0" smtClean="0">
              <a:latin typeface="Arial MT"/>
              <a:cs typeface="Tahoma"/>
            </a:endParaRPr>
          </a:p>
          <a:p>
            <a:pPr marL="25400" marR="508634" indent="-12700">
              <a:lnSpc>
                <a:spcPct val="100800"/>
              </a:lnSpc>
              <a:spcBef>
                <a:spcPts val="195"/>
              </a:spcBef>
              <a:buFont typeface="Arial MT"/>
              <a:buChar char="•"/>
              <a:tabLst>
                <a:tab pos="241300" algn="l"/>
              </a:tabLst>
            </a:pPr>
            <a:endParaRPr lang="en-US" sz="2400" spc="-5" dirty="0" smtClean="0">
              <a:latin typeface="Arial MT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pic>
        <p:nvPicPr>
          <p:cNvPr id="1026" name="Picture 2" descr="https://o.remove.bg/downloads/20130622-d859-4fad-ad5d-908c3f124cd7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938982"/>
            <a:ext cx="35337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o.remove.bg/downloads/d0ba07d7-ffb0-4be0-a6fc-f4a55981ba46/image-removebg-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287" y="1631161"/>
            <a:ext cx="4724400" cy="10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82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906780" y="1797836"/>
            <a:ext cx="10447020" cy="4893646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dirty="0">
                <a:latin typeface="Arial MT"/>
                <a:cs typeface="Calibri"/>
              </a:rPr>
              <a:t>The</a:t>
            </a:r>
            <a:r>
              <a:rPr sz="2400" spc="-5" dirty="0">
                <a:latin typeface="Arial MT"/>
                <a:cs typeface="Calibri"/>
              </a:rPr>
              <a:t> </a:t>
            </a:r>
            <a:r>
              <a:rPr sz="2400" spc="-15" dirty="0">
                <a:solidFill>
                  <a:srgbClr val="BD2C00"/>
                </a:solidFill>
                <a:latin typeface="Arial MT"/>
                <a:cs typeface="Calibri"/>
              </a:rPr>
              <a:t>depth</a:t>
            </a:r>
            <a:r>
              <a:rPr sz="2400" spc="-25" dirty="0">
                <a:solidFill>
                  <a:srgbClr val="BD2C00"/>
                </a:solidFill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of </a:t>
            </a:r>
            <a:r>
              <a:rPr sz="2400" dirty="0">
                <a:latin typeface="Arial MT"/>
                <a:cs typeface="Calibri"/>
              </a:rPr>
              <a:t>a</a:t>
            </a:r>
            <a:r>
              <a:rPr sz="2400" spc="-5" dirty="0">
                <a:latin typeface="Arial MT"/>
                <a:cs typeface="Calibri"/>
              </a:rPr>
              <a:t> node </a:t>
            </a:r>
            <a:r>
              <a:rPr sz="2500" spc="-50" dirty="0">
                <a:latin typeface="Arial MT"/>
                <a:cs typeface="Tahoma"/>
              </a:rPr>
              <a:t>v</a:t>
            </a:r>
            <a:r>
              <a:rPr sz="2500" spc="-8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Calibri"/>
              </a:rPr>
              <a:t>can </a:t>
            </a:r>
            <a:r>
              <a:rPr sz="2400" spc="-5" dirty="0">
                <a:latin typeface="Arial MT"/>
                <a:cs typeface="Calibri"/>
              </a:rPr>
              <a:t>be</a:t>
            </a:r>
            <a:r>
              <a:rPr sz="2400" spc="-15" dirty="0">
                <a:latin typeface="Arial MT"/>
                <a:cs typeface="Calibri"/>
              </a:rPr>
              <a:t> </a:t>
            </a:r>
            <a:r>
              <a:rPr sz="2400" spc="-10" dirty="0">
                <a:latin typeface="Arial MT"/>
                <a:cs typeface="Calibri"/>
              </a:rPr>
              <a:t>recursively</a:t>
            </a:r>
            <a:r>
              <a:rPr sz="2400" spc="-15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defined</a:t>
            </a:r>
            <a:r>
              <a:rPr sz="240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as</a:t>
            </a:r>
            <a:r>
              <a:rPr sz="2400" spc="-65" dirty="0">
                <a:latin typeface="Arial MT"/>
                <a:cs typeface="Calibri"/>
              </a:rPr>
              <a:t> </a:t>
            </a:r>
            <a:r>
              <a:rPr sz="2400" spc="-15" dirty="0">
                <a:latin typeface="Arial MT"/>
                <a:cs typeface="Calibri"/>
              </a:rPr>
              <a:t>follows</a:t>
            </a:r>
            <a:endParaRPr sz="2400" dirty="0">
              <a:latin typeface="Arial MT"/>
              <a:cs typeface="Calibri"/>
            </a:endParaRPr>
          </a:p>
          <a:p>
            <a:pPr marL="467359" lvl="1" indent="-143510">
              <a:lnSpc>
                <a:spcPct val="100000"/>
              </a:lnSpc>
              <a:spcBef>
                <a:spcPts val="219"/>
              </a:spcBef>
              <a:buSzPct val="54166"/>
              <a:buFont typeface="Wingdings"/>
              <a:buChar char=""/>
              <a:tabLst>
                <a:tab pos="467359" algn="l"/>
              </a:tabLst>
            </a:pPr>
            <a:r>
              <a:rPr sz="2400" spc="-5" dirty="0">
                <a:latin typeface="Arial MT"/>
                <a:cs typeface="Calibri"/>
              </a:rPr>
              <a:t>If</a:t>
            </a:r>
            <a:r>
              <a:rPr sz="2400" spc="-15" dirty="0">
                <a:latin typeface="Arial MT"/>
                <a:cs typeface="Calibri"/>
              </a:rPr>
              <a:t> </a:t>
            </a:r>
            <a:r>
              <a:rPr sz="2400" dirty="0">
                <a:latin typeface="Arial MT"/>
                <a:cs typeface="Calibri"/>
              </a:rPr>
              <a:t>v</a:t>
            </a:r>
            <a:r>
              <a:rPr sz="2400" spc="-5" dirty="0">
                <a:latin typeface="Arial MT"/>
                <a:cs typeface="Calibri"/>
              </a:rPr>
              <a:t> </a:t>
            </a:r>
            <a:r>
              <a:rPr sz="2400" dirty="0">
                <a:latin typeface="Arial MT"/>
                <a:cs typeface="Calibri"/>
              </a:rPr>
              <a:t>is</a:t>
            </a:r>
            <a:r>
              <a:rPr sz="2400" spc="-5" dirty="0">
                <a:latin typeface="Arial MT"/>
                <a:cs typeface="Calibri"/>
              </a:rPr>
              <a:t> the</a:t>
            </a:r>
            <a:r>
              <a:rPr sz="2400" dirty="0">
                <a:latin typeface="Arial MT"/>
                <a:cs typeface="Calibri"/>
              </a:rPr>
              <a:t> </a:t>
            </a:r>
            <a:r>
              <a:rPr sz="2400" spc="-15" dirty="0">
                <a:latin typeface="Arial MT"/>
                <a:cs typeface="Calibri"/>
              </a:rPr>
              <a:t>root,</a:t>
            </a:r>
            <a:r>
              <a:rPr sz="2400" spc="-1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then</a:t>
            </a:r>
            <a:r>
              <a:rPr sz="2400" spc="-2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the</a:t>
            </a:r>
            <a:r>
              <a:rPr sz="2400" spc="-10" dirty="0">
                <a:latin typeface="Arial MT"/>
                <a:cs typeface="Calibri"/>
              </a:rPr>
              <a:t> </a:t>
            </a:r>
            <a:r>
              <a:rPr sz="2400" spc="-15" dirty="0">
                <a:latin typeface="Arial MT"/>
                <a:cs typeface="Calibri"/>
              </a:rPr>
              <a:t>depth</a:t>
            </a:r>
            <a:r>
              <a:rPr sz="2400" spc="-25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of</a:t>
            </a:r>
            <a:r>
              <a:rPr sz="2400" spc="-10" dirty="0">
                <a:latin typeface="Arial MT"/>
                <a:cs typeface="Calibri"/>
              </a:rPr>
              <a:t> </a:t>
            </a:r>
            <a:r>
              <a:rPr sz="2400" dirty="0">
                <a:latin typeface="Arial MT"/>
                <a:cs typeface="Calibri"/>
              </a:rPr>
              <a:t>v</a:t>
            </a:r>
            <a:r>
              <a:rPr sz="2400" spc="-5" dirty="0">
                <a:latin typeface="Arial MT"/>
                <a:cs typeface="Calibri"/>
              </a:rPr>
              <a:t> </a:t>
            </a:r>
            <a:r>
              <a:rPr sz="2400" dirty="0">
                <a:latin typeface="Arial MT"/>
                <a:cs typeface="Calibri"/>
              </a:rPr>
              <a:t>is</a:t>
            </a:r>
            <a:r>
              <a:rPr sz="2400" spc="-65" dirty="0">
                <a:latin typeface="Arial MT"/>
                <a:cs typeface="Calibri"/>
              </a:rPr>
              <a:t> </a:t>
            </a:r>
            <a:r>
              <a:rPr sz="2400" spc="-10" dirty="0">
                <a:latin typeface="Arial MT"/>
                <a:cs typeface="Calibri"/>
              </a:rPr>
              <a:t>0.</a:t>
            </a:r>
            <a:endParaRPr sz="2400" dirty="0">
              <a:latin typeface="Arial MT"/>
              <a:cs typeface="Calibri"/>
            </a:endParaRPr>
          </a:p>
          <a:p>
            <a:pPr marL="467359" lvl="1" indent="-143510">
              <a:lnSpc>
                <a:spcPct val="100000"/>
              </a:lnSpc>
              <a:spcBef>
                <a:spcPts val="310"/>
              </a:spcBef>
              <a:buSzPct val="54166"/>
              <a:buFont typeface="Wingdings"/>
              <a:buChar char=""/>
              <a:tabLst>
                <a:tab pos="467359" algn="l"/>
                <a:tab pos="7227570" algn="l"/>
              </a:tabLst>
            </a:pPr>
            <a:r>
              <a:rPr sz="2400" spc="-5" dirty="0">
                <a:latin typeface="Arial MT"/>
                <a:cs typeface="Calibri"/>
              </a:rPr>
              <a:t>Otherwise,</a:t>
            </a:r>
            <a:r>
              <a:rPr sz="2400" spc="5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the</a:t>
            </a:r>
            <a:r>
              <a:rPr sz="2400" spc="5" dirty="0">
                <a:latin typeface="Arial MT"/>
                <a:cs typeface="Calibri"/>
              </a:rPr>
              <a:t> </a:t>
            </a:r>
            <a:r>
              <a:rPr sz="2400" spc="-15" dirty="0">
                <a:latin typeface="Arial MT"/>
                <a:cs typeface="Calibri"/>
              </a:rPr>
              <a:t>depth </a:t>
            </a:r>
            <a:r>
              <a:rPr sz="2400" spc="-5" dirty="0">
                <a:latin typeface="Arial MT"/>
                <a:cs typeface="Calibri"/>
              </a:rPr>
              <a:t>of</a:t>
            </a:r>
            <a:r>
              <a:rPr sz="2400" spc="10" dirty="0">
                <a:latin typeface="Arial MT"/>
                <a:cs typeface="Calibri"/>
              </a:rPr>
              <a:t> </a:t>
            </a:r>
            <a:r>
              <a:rPr sz="2400" dirty="0">
                <a:latin typeface="Arial MT"/>
                <a:cs typeface="Calibri"/>
              </a:rPr>
              <a:t>v</a:t>
            </a:r>
            <a:r>
              <a:rPr sz="2400" spc="5" dirty="0">
                <a:latin typeface="Arial MT"/>
                <a:cs typeface="Calibri"/>
              </a:rPr>
              <a:t> </a:t>
            </a:r>
            <a:r>
              <a:rPr sz="2400" dirty="0">
                <a:latin typeface="Arial MT"/>
                <a:cs typeface="Calibri"/>
              </a:rPr>
              <a:t>is</a:t>
            </a:r>
            <a:r>
              <a:rPr sz="2400" spc="1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one</a:t>
            </a:r>
            <a:r>
              <a:rPr sz="2400" spc="1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plus</a:t>
            </a:r>
            <a:r>
              <a:rPr sz="2400" spc="5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the</a:t>
            </a:r>
            <a:r>
              <a:rPr sz="2400" spc="10" dirty="0">
                <a:latin typeface="Arial MT"/>
                <a:cs typeface="Calibri"/>
              </a:rPr>
              <a:t> </a:t>
            </a:r>
            <a:r>
              <a:rPr sz="2400" spc="-15" dirty="0">
                <a:latin typeface="Arial MT"/>
                <a:cs typeface="Calibri"/>
              </a:rPr>
              <a:t>depth </a:t>
            </a:r>
            <a:r>
              <a:rPr sz="2400" spc="-5" dirty="0">
                <a:latin typeface="Arial MT"/>
                <a:cs typeface="Calibri"/>
              </a:rPr>
              <a:t>of</a:t>
            </a:r>
            <a:r>
              <a:rPr sz="2400" spc="10" dirty="0">
                <a:latin typeface="Arial MT"/>
                <a:cs typeface="Calibri"/>
              </a:rPr>
              <a:t> </a:t>
            </a:r>
            <a:r>
              <a:rPr sz="2400" spc="-5" dirty="0" smtClean="0">
                <a:latin typeface="Arial MT"/>
                <a:cs typeface="Calibri"/>
              </a:rPr>
              <a:t>the</a:t>
            </a:r>
            <a:r>
              <a:rPr lang="en-US" sz="2400" spc="-5" dirty="0" smtClean="0">
                <a:latin typeface="Arial MT"/>
                <a:cs typeface="Calibri"/>
              </a:rPr>
              <a:t> </a:t>
            </a:r>
            <a:r>
              <a:rPr sz="2400" spc="-10" dirty="0" smtClean="0">
                <a:latin typeface="Arial MT"/>
                <a:cs typeface="Calibri"/>
              </a:rPr>
              <a:t>parent</a:t>
            </a:r>
            <a:r>
              <a:rPr sz="2400" spc="-50" dirty="0" smtClean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of</a:t>
            </a:r>
            <a:r>
              <a:rPr sz="2400" spc="-75" dirty="0">
                <a:latin typeface="Arial MT"/>
                <a:cs typeface="Calibri"/>
              </a:rPr>
              <a:t> </a:t>
            </a:r>
            <a:r>
              <a:rPr sz="2400" dirty="0" smtClean="0">
                <a:latin typeface="Arial MT"/>
                <a:cs typeface="Calibri"/>
              </a:rPr>
              <a:t>v</a:t>
            </a:r>
            <a:endParaRPr lang="en-US" sz="2400" dirty="0" smtClean="0">
              <a:latin typeface="Arial MT"/>
              <a:cs typeface="Calibri"/>
            </a:endParaRPr>
          </a:p>
          <a:p>
            <a:pPr marL="323849" lvl="1">
              <a:lnSpc>
                <a:spcPct val="100000"/>
              </a:lnSpc>
              <a:spcBef>
                <a:spcPts val="310"/>
              </a:spcBef>
              <a:buSzPct val="54166"/>
              <a:tabLst>
                <a:tab pos="467359" algn="l"/>
                <a:tab pos="7227570" algn="l"/>
              </a:tabLst>
            </a:pPr>
            <a:endParaRPr sz="2400" dirty="0" smtClean="0">
              <a:latin typeface="Calibri"/>
              <a:cs typeface="Calibri"/>
            </a:endParaRPr>
          </a:p>
          <a:p>
            <a:pPr marR="5870575">
              <a:lnSpc>
                <a:spcPct val="100000"/>
              </a:lnSpc>
              <a:spcBef>
                <a:spcPts val="330"/>
              </a:spcBef>
            </a:pPr>
            <a:r>
              <a:rPr sz="2000" b="1" dirty="0" smtClean="0">
                <a:latin typeface="Tahoma"/>
                <a:cs typeface="Tahoma"/>
              </a:rPr>
              <a:t>A</a:t>
            </a:r>
            <a:r>
              <a:rPr sz="2000" b="1" spc="-10" dirty="0" smtClean="0">
                <a:latin typeface="Tahoma"/>
                <a:cs typeface="Tahoma"/>
              </a:rPr>
              <a:t>l</a:t>
            </a:r>
            <a:r>
              <a:rPr sz="2000" b="1" spc="-5" dirty="0" smtClean="0">
                <a:latin typeface="Tahoma"/>
                <a:cs typeface="Tahoma"/>
              </a:rPr>
              <a:t>go</a:t>
            </a:r>
            <a:r>
              <a:rPr sz="2000" b="1" spc="-10" dirty="0" smtClean="0">
                <a:latin typeface="Tahoma"/>
                <a:cs typeface="Tahoma"/>
              </a:rPr>
              <a:t>ri</a:t>
            </a:r>
            <a:r>
              <a:rPr sz="2000" b="1" spc="-15" dirty="0" smtClean="0">
                <a:latin typeface="Tahoma"/>
                <a:cs typeface="Tahoma"/>
              </a:rPr>
              <a:t>th</a:t>
            </a:r>
            <a:r>
              <a:rPr sz="2000" b="1" dirty="0" smtClean="0">
                <a:latin typeface="Tahoma"/>
                <a:cs typeface="Tahoma"/>
              </a:rPr>
              <a:t>m</a:t>
            </a:r>
            <a:r>
              <a:rPr sz="2000" b="1" spc="-5" dirty="0" smtClean="0">
                <a:latin typeface="Tahoma"/>
                <a:cs typeface="Tahoma"/>
              </a:rPr>
              <a:t> </a:t>
            </a:r>
            <a:endParaRPr lang="en-US" sz="2000" b="1" spc="-5" dirty="0" smtClean="0">
              <a:latin typeface="Tahoma"/>
              <a:cs typeface="Tahoma"/>
            </a:endParaRPr>
          </a:p>
          <a:p>
            <a:pPr marR="5870575">
              <a:lnSpc>
                <a:spcPct val="100000"/>
              </a:lnSpc>
              <a:spcBef>
                <a:spcPts val="330"/>
              </a:spcBef>
            </a:pPr>
            <a:r>
              <a:rPr lang="en-US" sz="2000" b="1" spc="-5" dirty="0">
                <a:latin typeface="Tahoma"/>
                <a:cs typeface="Tahoma"/>
              </a:rPr>
              <a:t>	</a:t>
            </a:r>
            <a:r>
              <a:rPr sz="2400" b="1" i="1" spc="-25" dirty="0" smtClean="0">
                <a:latin typeface="Calibri"/>
                <a:cs typeface="Calibri"/>
              </a:rPr>
              <a:t>d</a:t>
            </a:r>
            <a:r>
              <a:rPr sz="2400" b="1" i="1" spc="-20" dirty="0" smtClean="0">
                <a:latin typeface="Calibri"/>
                <a:cs typeface="Calibri"/>
              </a:rPr>
              <a:t>e</a:t>
            </a:r>
            <a:r>
              <a:rPr sz="2400" b="1" i="1" spc="-35" dirty="0" smtClean="0">
                <a:latin typeface="Calibri"/>
                <a:cs typeface="Calibri"/>
              </a:rPr>
              <a:t>p</a:t>
            </a:r>
            <a:r>
              <a:rPr sz="2400" b="1" i="1" spc="-15" dirty="0" smtClean="0">
                <a:latin typeface="Calibri"/>
                <a:cs typeface="Calibri"/>
              </a:rPr>
              <a:t>t</a:t>
            </a:r>
            <a:r>
              <a:rPr sz="2400" b="1" i="1" spc="-25" dirty="0" smtClean="0">
                <a:latin typeface="Calibri"/>
                <a:cs typeface="Calibri"/>
              </a:rPr>
              <a:t>h</a:t>
            </a:r>
            <a:r>
              <a:rPr sz="2400" b="1" i="1" spc="-15" dirty="0" smtClean="0">
                <a:latin typeface="Calibri"/>
                <a:cs typeface="Calibri"/>
              </a:rPr>
              <a:t>(</a:t>
            </a:r>
            <a:r>
              <a:rPr sz="2400" b="1" i="1" spc="-225" dirty="0" smtClean="0">
                <a:latin typeface="Calibri"/>
                <a:cs typeface="Calibri"/>
              </a:rPr>
              <a:t>T</a:t>
            </a:r>
            <a:r>
              <a:rPr sz="2400" b="1" i="1" dirty="0">
                <a:latin typeface="Calibri"/>
                <a:cs typeface="Calibri"/>
              </a:rPr>
              <a:t>,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v)</a:t>
            </a:r>
            <a:endParaRPr sz="2400" b="1" i="1" dirty="0">
              <a:latin typeface="Calibri"/>
              <a:cs typeface="Calibri"/>
            </a:endParaRPr>
          </a:p>
          <a:p>
            <a:pPr marR="5894070">
              <a:lnSpc>
                <a:spcPct val="100000"/>
              </a:lnSpc>
              <a:spcBef>
                <a:spcPts val="285"/>
              </a:spcBef>
            </a:pPr>
            <a:r>
              <a:rPr lang="en-US" sz="2400" b="1" i="1" spc="-5" dirty="0" smtClean="0">
                <a:latin typeface="Tahoma"/>
                <a:cs typeface="Tahoma"/>
              </a:rPr>
              <a:t>	</a:t>
            </a:r>
            <a:r>
              <a:rPr sz="2400" b="1" i="1" spc="-5" dirty="0" smtClean="0">
                <a:latin typeface="Tahoma"/>
                <a:cs typeface="Tahoma"/>
              </a:rPr>
              <a:t>i</a:t>
            </a:r>
            <a:r>
              <a:rPr sz="2400" b="1" i="1" dirty="0" smtClean="0">
                <a:latin typeface="Tahoma"/>
                <a:cs typeface="Tahoma"/>
              </a:rPr>
              <a:t>f</a:t>
            </a:r>
            <a:r>
              <a:rPr sz="2400" b="1" i="1" spc="-5" dirty="0" smtClean="0">
                <a:latin typeface="Tahoma"/>
                <a:cs typeface="Tahoma"/>
              </a:rPr>
              <a:t> </a:t>
            </a:r>
            <a:r>
              <a:rPr sz="2400" i="1" spc="-215" dirty="0" err="1" smtClean="0">
                <a:latin typeface="Calibri"/>
                <a:cs typeface="Calibri"/>
              </a:rPr>
              <a:t>T</a:t>
            </a:r>
            <a:r>
              <a:rPr sz="2400" i="1" spc="-20" dirty="0" err="1" smtClean="0">
                <a:latin typeface="Calibri"/>
                <a:cs typeface="Calibri"/>
              </a:rPr>
              <a:t>.</a:t>
            </a:r>
            <a:r>
              <a:rPr sz="2400" i="1" spc="-15" dirty="0" err="1" smtClean="0">
                <a:latin typeface="Calibri"/>
                <a:cs typeface="Calibri"/>
              </a:rPr>
              <a:t>is</a:t>
            </a:r>
            <a:r>
              <a:rPr sz="2400" i="1" spc="-55" dirty="0" err="1" smtClean="0">
                <a:latin typeface="Calibri"/>
                <a:cs typeface="Calibri"/>
              </a:rPr>
              <a:t>R</a:t>
            </a:r>
            <a:r>
              <a:rPr sz="2400" i="1" spc="-20" dirty="0" err="1" smtClean="0">
                <a:latin typeface="Calibri"/>
                <a:cs typeface="Calibri"/>
              </a:rPr>
              <a:t>oo</a:t>
            </a:r>
            <a:r>
              <a:rPr sz="2400" i="1" spc="-10" dirty="0" err="1" smtClean="0">
                <a:latin typeface="Calibri"/>
                <a:cs typeface="Calibri"/>
              </a:rPr>
              <a:t>t</a:t>
            </a:r>
            <a:r>
              <a:rPr sz="2400" i="1" spc="-10" dirty="0" smtClean="0">
                <a:latin typeface="Calibri"/>
                <a:cs typeface="Calibri"/>
              </a:rPr>
              <a:t>(</a:t>
            </a:r>
            <a:r>
              <a:rPr sz="2400" i="1" spc="-20" dirty="0" smtClean="0">
                <a:latin typeface="Calibri"/>
                <a:cs typeface="Calibri"/>
              </a:rPr>
              <a:t>v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i="1" spc="-100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Tahoma"/>
                <a:cs typeface="Tahoma"/>
              </a:rPr>
              <a:t>t</a:t>
            </a:r>
            <a:r>
              <a:rPr sz="2400" b="1" i="1" spc="-15" dirty="0">
                <a:latin typeface="Tahoma"/>
                <a:cs typeface="Tahoma"/>
              </a:rPr>
              <a:t>he</a:t>
            </a:r>
            <a:r>
              <a:rPr sz="2400" b="1" i="1" dirty="0">
                <a:latin typeface="Tahoma"/>
                <a:cs typeface="Tahoma"/>
              </a:rPr>
              <a:t>n</a:t>
            </a:r>
            <a:endParaRPr sz="2400" i="1" dirty="0">
              <a:latin typeface="Tahoma"/>
              <a:cs typeface="Tahoma"/>
            </a:endParaRPr>
          </a:p>
          <a:p>
            <a:pPr marL="1138555">
              <a:lnSpc>
                <a:spcPct val="100000"/>
              </a:lnSpc>
              <a:spcBef>
                <a:spcPts val="315"/>
              </a:spcBef>
            </a:pPr>
            <a:r>
              <a:rPr sz="2400" i="1" spc="-10" dirty="0">
                <a:latin typeface="Calibri"/>
                <a:cs typeface="Calibri"/>
              </a:rPr>
              <a:t>return</a:t>
            </a:r>
            <a:r>
              <a:rPr sz="2400" i="1" spc="-9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0</a:t>
            </a:r>
          </a:p>
          <a:p>
            <a:pPr marL="781050">
              <a:lnSpc>
                <a:spcPct val="100000"/>
              </a:lnSpc>
              <a:spcBef>
                <a:spcPts val="380"/>
              </a:spcBef>
            </a:pPr>
            <a:r>
              <a:rPr sz="2400" b="1" i="1" spc="-5" dirty="0">
                <a:latin typeface="Tahoma"/>
                <a:cs typeface="Tahoma"/>
              </a:rPr>
              <a:t>else</a:t>
            </a:r>
            <a:endParaRPr sz="2400" i="1" dirty="0">
              <a:latin typeface="Tahoma"/>
              <a:cs typeface="Tahoma"/>
            </a:endParaRPr>
          </a:p>
          <a:p>
            <a:pPr marL="1079500">
              <a:lnSpc>
                <a:spcPct val="100000"/>
              </a:lnSpc>
              <a:spcBef>
                <a:spcPts val="219"/>
              </a:spcBef>
            </a:pPr>
            <a:r>
              <a:rPr sz="2400" i="1" spc="-25" dirty="0">
                <a:latin typeface="Calibri"/>
                <a:cs typeface="Calibri"/>
              </a:rPr>
              <a:t>r</a:t>
            </a:r>
            <a:r>
              <a:rPr sz="2400" i="1" spc="-10" dirty="0">
                <a:latin typeface="Calibri"/>
                <a:cs typeface="Calibri"/>
              </a:rPr>
              <a:t>e</a:t>
            </a:r>
            <a:r>
              <a:rPr sz="2400" i="1" spc="5" dirty="0">
                <a:latin typeface="Calibri"/>
                <a:cs typeface="Calibri"/>
              </a:rPr>
              <a:t>t</a:t>
            </a:r>
            <a:r>
              <a:rPr sz="2400" i="1" spc="-5" dirty="0">
                <a:latin typeface="Calibri"/>
                <a:cs typeface="Calibri"/>
              </a:rPr>
              <a:t>u</a:t>
            </a:r>
            <a:r>
              <a:rPr sz="2400" i="1" dirty="0">
                <a:latin typeface="Calibri"/>
                <a:cs typeface="Calibri"/>
              </a:rPr>
              <a:t>rn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1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+ </a:t>
            </a:r>
            <a:r>
              <a:rPr sz="2400" i="1" spc="-25" dirty="0">
                <a:latin typeface="Calibri"/>
                <a:cs typeface="Calibri"/>
              </a:rPr>
              <a:t>d</a:t>
            </a:r>
            <a:r>
              <a:rPr sz="2400" i="1" spc="-20" dirty="0">
                <a:latin typeface="Calibri"/>
                <a:cs typeface="Calibri"/>
              </a:rPr>
              <a:t>e</a:t>
            </a:r>
            <a:r>
              <a:rPr sz="2400" i="1" spc="-35" dirty="0">
                <a:latin typeface="Calibri"/>
                <a:cs typeface="Calibri"/>
              </a:rPr>
              <a:t>p</a:t>
            </a:r>
            <a:r>
              <a:rPr sz="2400" i="1" spc="-15" dirty="0">
                <a:latin typeface="Calibri"/>
                <a:cs typeface="Calibri"/>
              </a:rPr>
              <a:t>t</a:t>
            </a:r>
            <a:r>
              <a:rPr sz="2400" i="1" spc="-25" dirty="0">
                <a:latin typeface="Calibri"/>
                <a:cs typeface="Calibri"/>
              </a:rPr>
              <a:t>h</a:t>
            </a:r>
            <a:r>
              <a:rPr sz="2400" i="1" spc="-15" dirty="0">
                <a:latin typeface="Calibri"/>
                <a:cs typeface="Calibri"/>
              </a:rPr>
              <a:t>(</a:t>
            </a:r>
            <a:r>
              <a:rPr sz="2400" i="1" spc="-225" dirty="0">
                <a:latin typeface="Calibri"/>
                <a:cs typeface="Calibri"/>
              </a:rPr>
              <a:t>T</a:t>
            </a:r>
            <a:r>
              <a:rPr sz="2400" i="1" dirty="0">
                <a:latin typeface="Calibri"/>
                <a:cs typeface="Calibri"/>
              </a:rPr>
              <a:t>,</a:t>
            </a:r>
            <a:r>
              <a:rPr sz="2400" i="1" spc="-100" dirty="0">
                <a:latin typeface="Calibri"/>
                <a:cs typeface="Calibri"/>
              </a:rPr>
              <a:t> </a:t>
            </a:r>
            <a:r>
              <a:rPr sz="2400" i="1" spc="-215" dirty="0">
                <a:latin typeface="Calibri"/>
                <a:cs typeface="Calibri"/>
              </a:rPr>
              <a:t>T</a:t>
            </a:r>
            <a:r>
              <a:rPr sz="2400" i="1" spc="-20" dirty="0">
                <a:latin typeface="Calibri"/>
                <a:cs typeface="Calibri"/>
              </a:rPr>
              <a:t>.</a:t>
            </a:r>
            <a:r>
              <a:rPr sz="2400" i="1" spc="-15" dirty="0">
                <a:latin typeface="Calibri"/>
                <a:cs typeface="Calibri"/>
              </a:rPr>
              <a:t>p</a:t>
            </a:r>
            <a:r>
              <a:rPr sz="2400" i="1" spc="-10" dirty="0">
                <a:latin typeface="Calibri"/>
                <a:cs typeface="Calibri"/>
              </a:rPr>
              <a:t>a</a:t>
            </a:r>
            <a:r>
              <a:rPr sz="2400" i="1" spc="-40" dirty="0">
                <a:latin typeface="Calibri"/>
                <a:cs typeface="Calibri"/>
              </a:rPr>
              <a:t>r</a:t>
            </a:r>
            <a:r>
              <a:rPr sz="2400" i="1" spc="-10" dirty="0">
                <a:latin typeface="Calibri"/>
                <a:cs typeface="Calibri"/>
              </a:rPr>
              <a:t>e</a:t>
            </a:r>
            <a:r>
              <a:rPr sz="2400" i="1" spc="-35" dirty="0">
                <a:latin typeface="Calibri"/>
                <a:cs typeface="Calibri"/>
              </a:rPr>
              <a:t>n</a:t>
            </a:r>
            <a:r>
              <a:rPr sz="2400" i="1" spc="-10" dirty="0">
                <a:latin typeface="Calibri"/>
                <a:cs typeface="Calibri"/>
              </a:rPr>
              <a:t>t(</a:t>
            </a:r>
            <a:r>
              <a:rPr sz="2400" i="1" spc="-20" dirty="0">
                <a:latin typeface="Calibri"/>
                <a:cs typeface="Calibri"/>
              </a:rPr>
              <a:t>v</a:t>
            </a:r>
            <a:r>
              <a:rPr sz="2400" i="1" spc="-10" dirty="0">
                <a:latin typeface="Calibri"/>
                <a:cs typeface="Calibri"/>
              </a:rPr>
              <a:t>)</a:t>
            </a:r>
            <a:r>
              <a:rPr sz="2400" i="1" dirty="0">
                <a:latin typeface="Calibri"/>
                <a:cs typeface="Calibri"/>
              </a:rPr>
              <a:t>)</a:t>
            </a:r>
          </a:p>
          <a:p>
            <a:pPr marL="284480" indent="-22923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84480" algn="l"/>
              </a:tabLst>
            </a:pPr>
            <a:r>
              <a:rPr sz="2400" dirty="0">
                <a:solidFill>
                  <a:srgbClr val="C00000"/>
                </a:solidFill>
                <a:latin typeface="Arial MT"/>
                <a:cs typeface="Calibri"/>
              </a:rPr>
              <a:t>Running</a:t>
            </a:r>
            <a:r>
              <a:rPr sz="2400" spc="-5" dirty="0">
                <a:solidFill>
                  <a:srgbClr val="C00000"/>
                </a:solidFill>
                <a:latin typeface="Arial MT"/>
                <a:cs typeface="Calibri"/>
              </a:rPr>
              <a:t> time: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Calibri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Arial MT"/>
                <a:cs typeface="Times New Roman"/>
              </a:rPr>
              <a:t>O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imes New Roman"/>
              </a:rPr>
              <a:t>(1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Times New Roman"/>
              </a:rPr>
              <a:t>+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Arial MT"/>
                <a:cs typeface="Times New Roman"/>
              </a:rPr>
              <a:t>d</a:t>
            </a:r>
            <a:r>
              <a:rPr sz="2400" i="1" spc="-7" baseline="-13888" dirty="0">
                <a:solidFill>
                  <a:srgbClr val="C00000"/>
                </a:solidFill>
                <a:latin typeface="Arial MT"/>
                <a:cs typeface="Times New Roman"/>
              </a:rPr>
              <a:t>v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imes New Roman"/>
              </a:rPr>
              <a:t>),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400" i="1" spc="-5" dirty="0">
                <a:latin typeface="Arial MT"/>
                <a:cs typeface="Times New Roman"/>
              </a:rPr>
              <a:t>d</a:t>
            </a:r>
            <a:r>
              <a:rPr sz="2400" i="1" spc="-7" baseline="-13888" dirty="0">
                <a:latin typeface="Arial MT"/>
                <a:cs typeface="Times New Roman"/>
              </a:rPr>
              <a:t>v</a:t>
            </a:r>
            <a:r>
              <a:rPr sz="2400" i="1" spc="-15" baseline="-13888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is</a:t>
            </a:r>
            <a:r>
              <a:rPr sz="2400" spc="-25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depth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of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v</a:t>
            </a:r>
            <a:r>
              <a:rPr sz="2400" i="1" spc="-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in</a:t>
            </a:r>
            <a:r>
              <a:rPr sz="2400" spc="-120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T</a:t>
            </a:r>
            <a:endParaRPr sz="2400" dirty="0">
              <a:latin typeface="Arial MT"/>
              <a:cs typeface="Times New Roman"/>
            </a:endParaRPr>
          </a:p>
          <a:p>
            <a:pPr marL="284480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84480" algn="l"/>
              </a:tabLst>
            </a:pPr>
            <a:r>
              <a:rPr sz="2400" spc="-5" dirty="0">
                <a:solidFill>
                  <a:srgbClr val="C00000"/>
                </a:solidFill>
                <a:latin typeface="Arial MT"/>
                <a:cs typeface="Times New Roman"/>
              </a:rPr>
              <a:t>In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Times New Roman"/>
              </a:rPr>
              <a:t>worst</a:t>
            </a:r>
            <a:r>
              <a:rPr sz="2400" spc="-30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imes New Roman"/>
              </a:rPr>
              <a:t>case </a:t>
            </a:r>
            <a:r>
              <a:rPr sz="2400" i="1" spc="-5" dirty="0">
                <a:solidFill>
                  <a:srgbClr val="C00000"/>
                </a:solidFill>
                <a:latin typeface="Arial MT"/>
                <a:cs typeface="Times New Roman"/>
              </a:rPr>
              <a:t>O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imes New Roman"/>
              </a:rPr>
              <a:t>(</a:t>
            </a:r>
            <a:r>
              <a:rPr sz="2400" i="1" spc="-5" dirty="0">
                <a:solidFill>
                  <a:srgbClr val="C00000"/>
                </a:solidFill>
                <a:latin typeface="Arial MT"/>
                <a:cs typeface="Times New Roman"/>
              </a:rPr>
              <a:t>n</a:t>
            </a:r>
            <a:r>
              <a:rPr sz="2400" spc="-5" dirty="0">
                <a:solidFill>
                  <a:srgbClr val="C00000"/>
                </a:solidFill>
                <a:latin typeface="Arial MT"/>
                <a:cs typeface="Times New Roman"/>
              </a:rPr>
              <a:t>),</a:t>
            </a:r>
            <a:r>
              <a:rPr sz="2400" spc="-1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n </a:t>
            </a:r>
            <a:r>
              <a:rPr sz="2400" spc="-10" dirty="0">
                <a:latin typeface="Arial MT"/>
                <a:cs typeface="Times New Roman"/>
              </a:rPr>
              <a:t>is</a:t>
            </a:r>
            <a:r>
              <a:rPr sz="2400" spc="-2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the</a:t>
            </a:r>
            <a:r>
              <a:rPr sz="2400" spc="-30" dirty="0">
                <a:latin typeface="Arial MT"/>
                <a:cs typeface="Times New Roman"/>
              </a:rPr>
              <a:t> </a:t>
            </a:r>
            <a:r>
              <a:rPr sz="2400" spc="-20" dirty="0">
                <a:latin typeface="Arial MT"/>
                <a:cs typeface="Times New Roman"/>
              </a:rPr>
              <a:t>number</a:t>
            </a:r>
            <a:r>
              <a:rPr sz="2400" spc="-45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of</a:t>
            </a:r>
            <a:r>
              <a:rPr sz="2400" spc="-35" dirty="0">
                <a:latin typeface="Arial MT"/>
                <a:cs typeface="Times New Roman"/>
              </a:rPr>
              <a:t> </a:t>
            </a:r>
            <a:r>
              <a:rPr sz="2400" spc="-25" dirty="0">
                <a:latin typeface="Arial MT"/>
                <a:cs typeface="Times New Roman"/>
              </a:rPr>
              <a:t>nodes</a:t>
            </a:r>
            <a:r>
              <a:rPr sz="2400" spc="-50" dirty="0">
                <a:latin typeface="Arial MT"/>
                <a:cs typeface="Times New Roman"/>
              </a:rPr>
              <a:t> </a:t>
            </a:r>
            <a:r>
              <a:rPr sz="2400" spc="-10" dirty="0">
                <a:latin typeface="Arial MT"/>
                <a:cs typeface="Times New Roman"/>
              </a:rPr>
              <a:t>in</a:t>
            </a:r>
            <a:r>
              <a:rPr sz="2400" spc="40" dirty="0">
                <a:latin typeface="Arial MT"/>
                <a:cs typeface="Times New Roman"/>
              </a:rPr>
              <a:t> </a:t>
            </a:r>
            <a:r>
              <a:rPr sz="2400" i="1" dirty="0">
                <a:latin typeface="Arial MT"/>
                <a:cs typeface="Times New Roman"/>
              </a:rPr>
              <a:t>T</a:t>
            </a:r>
            <a:endParaRPr sz="2400" dirty="0">
              <a:latin typeface="Arial MT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57912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 smtClean="0"/>
              <a:t>Depth</a:t>
            </a:r>
            <a:endParaRPr sz="3200" dirty="0"/>
          </a:p>
        </p:txBody>
      </p:sp>
      <p:sp>
        <p:nvSpPr>
          <p:cNvPr id="5" name="Rectangle 4"/>
          <p:cNvSpPr/>
          <p:nvPr/>
        </p:nvSpPr>
        <p:spPr>
          <a:xfrm>
            <a:off x="1524000" y="3810000"/>
            <a:ext cx="4606290" cy="2057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https://o.remove.bg/downloads/50405154-9ee9-4f57-a32c-e308c1cacf7b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547" y="3429000"/>
            <a:ext cx="3693795" cy="299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02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46482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 smtClean="0"/>
              <a:t>Height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25500" y="1803418"/>
            <a:ext cx="10156825" cy="32074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  <a:tab pos="3484245" algn="l"/>
              </a:tabLst>
            </a:pPr>
            <a:r>
              <a:rPr sz="2400" spc="-5" dirty="0">
                <a:latin typeface="Arial MT"/>
                <a:cs typeface="Tahoma"/>
              </a:rPr>
              <a:t>The </a:t>
            </a:r>
            <a:r>
              <a:rPr sz="2400" b="1" i="1" spc="-5" dirty="0">
                <a:solidFill>
                  <a:srgbClr val="0070C0"/>
                </a:solidFill>
                <a:latin typeface="Arial MT"/>
                <a:cs typeface="Tahoma"/>
              </a:rPr>
              <a:t>height</a:t>
            </a:r>
            <a:r>
              <a:rPr sz="2400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dirty="0">
                <a:latin typeface="Arial MT"/>
                <a:cs typeface="Tahoma"/>
              </a:rPr>
              <a:t> a </a:t>
            </a:r>
            <a:r>
              <a:rPr sz="2400" spc="-5" dirty="0">
                <a:latin typeface="Arial MT"/>
                <a:cs typeface="Tahoma"/>
              </a:rPr>
              <a:t>node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500" spc="-50" dirty="0">
                <a:latin typeface="Arial MT"/>
                <a:cs typeface="Tahoma"/>
              </a:rPr>
              <a:t>v	</a:t>
            </a:r>
            <a:r>
              <a:rPr sz="2400" spc="-5" dirty="0">
                <a:latin typeface="Arial MT"/>
                <a:cs typeface="Tahoma"/>
              </a:rPr>
              <a:t>can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be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recursively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defined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as</a:t>
            </a:r>
            <a:r>
              <a:rPr sz="2400" spc="-15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follows</a:t>
            </a:r>
            <a:endParaRPr sz="24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290"/>
              </a:spcBef>
              <a:buSzPct val="54166"/>
              <a:buFont typeface="Wingdings"/>
              <a:buChar char=""/>
              <a:tabLst>
                <a:tab pos="683260" algn="l"/>
              </a:tabLst>
            </a:pPr>
            <a:r>
              <a:rPr sz="2400" spc="-5" dirty="0">
                <a:latin typeface="Arial MT"/>
                <a:cs typeface="Tahoma"/>
              </a:rPr>
              <a:t>If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v is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 </a:t>
            </a:r>
            <a:r>
              <a:rPr sz="2400" spc="-5" dirty="0">
                <a:latin typeface="Arial MT"/>
                <a:cs typeface="Tahoma"/>
              </a:rPr>
              <a:t>leaf</a:t>
            </a:r>
            <a:r>
              <a:rPr sz="2400" spc="-10" dirty="0">
                <a:latin typeface="Arial MT"/>
                <a:cs typeface="Tahoma"/>
              </a:rPr>
              <a:t> node,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then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 height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 </a:t>
            </a:r>
            <a:r>
              <a:rPr sz="2400" dirty="0">
                <a:latin typeface="Arial MT"/>
                <a:cs typeface="Tahoma"/>
              </a:rPr>
              <a:t>v is</a:t>
            </a:r>
            <a:r>
              <a:rPr sz="2400" spc="-10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0.</a:t>
            </a:r>
            <a:endParaRPr sz="2400" dirty="0">
              <a:latin typeface="Arial MT"/>
              <a:cs typeface="Tahoma"/>
            </a:endParaRPr>
          </a:p>
          <a:p>
            <a:pPr marL="683260" marR="137795" lvl="1" indent="-143510">
              <a:lnSpc>
                <a:spcPct val="100800"/>
              </a:lnSpc>
              <a:spcBef>
                <a:spcPts val="195"/>
              </a:spcBef>
              <a:buSzPct val="54166"/>
              <a:buFont typeface="Wingdings"/>
              <a:buChar char=""/>
              <a:tabLst>
                <a:tab pos="683260" algn="l"/>
                <a:tab pos="7840345" algn="l"/>
              </a:tabLst>
            </a:pPr>
            <a:r>
              <a:rPr sz="2400" spc="-5" dirty="0">
                <a:latin typeface="Arial MT"/>
                <a:cs typeface="Tahoma"/>
              </a:rPr>
              <a:t>Otherwise,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height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dirty="0">
                <a:latin typeface="Arial MT"/>
                <a:cs typeface="Tahoma"/>
              </a:rPr>
              <a:t> v</a:t>
            </a:r>
            <a:r>
              <a:rPr sz="2400" spc="1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is</a:t>
            </a:r>
            <a:r>
              <a:rPr sz="2400" spc="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one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plus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spc="-165" dirty="0">
                <a:latin typeface="Arial MT"/>
                <a:cs typeface="Tahoma"/>
              </a:rPr>
              <a:t> </a:t>
            </a:r>
            <a:r>
              <a:rPr sz="2400" dirty="0" smtClean="0">
                <a:latin typeface="Arial MT"/>
                <a:cs typeface="Tahoma"/>
              </a:rPr>
              <a:t>maximum</a:t>
            </a:r>
            <a:r>
              <a:rPr lang="en-US" sz="2400" dirty="0" smtClean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height</a:t>
            </a:r>
            <a:r>
              <a:rPr sz="2400" spc="-30" dirty="0" smtClean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child </a:t>
            </a:r>
            <a:r>
              <a:rPr sz="2400" spc="-7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120" dirty="0">
                <a:latin typeface="Arial MT"/>
                <a:cs typeface="Tahoma"/>
              </a:rPr>
              <a:t> </a:t>
            </a:r>
            <a:r>
              <a:rPr lang="en-US" sz="2400" spc="-120" dirty="0" smtClean="0">
                <a:latin typeface="Arial MT"/>
                <a:cs typeface="Tahoma"/>
              </a:rPr>
              <a:t> </a:t>
            </a:r>
            <a:r>
              <a:rPr sz="2400" dirty="0" smtClean="0">
                <a:latin typeface="Arial MT"/>
                <a:cs typeface="Tahoma"/>
              </a:rPr>
              <a:t>v</a:t>
            </a:r>
            <a:endParaRPr lang="en-US" sz="2400" dirty="0" smtClean="0">
              <a:latin typeface="Arial MT"/>
              <a:cs typeface="Tahoma"/>
            </a:endParaRPr>
          </a:p>
          <a:p>
            <a:pPr marL="539750" marR="137795" lvl="1">
              <a:lnSpc>
                <a:spcPct val="100800"/>
              </a:lnSpc>
              <a:spcBef>
                <a:spcPts val="195"/>
              </a:spcBef>
              <a:buSzPct val="54166"/>
              <a:tabLst>
                <a:tab pos="683260" algn="l"/>
                <a:tab pos="7840345" algn="l"/>
              </a:tabLst>
            </a:pPr>
            <a:endParaRPr sz="32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height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500" spc="-60" dirty="0">
                <a:latin typeface="Arial MT"/>
                <a:cs typeface="Tahoma"/>
              </a:rPr>
              <a:t>T</a:t>
            </a:r>
            <a:r>
              <a:rPr sz="2500" spc="-10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is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height of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 </a:t>
            </a:r>
            <a:r>
              <a:rPr sz="2400" spc="-10" dirty="0">
                <a:latin typeface="Arial MT"/>
                <a:cs typeface="Tahoma"/>
              </a:rPr>
              <a:t>root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140" dirty="0">
                <a:latin typeface="Arial MT"/>
                <a:cs typeface="Tahoma"/>
              </a:rPr>
              <a:t> </a:t>
            </a:r>
            <a:r>
              <a:rPr lang="en-US" sz="2400" spc="-140" dirty="0" smtClean="0">
                <a:latin typeface="Arial MT"/>
                <a:cs typeface="Tahoma"/>
              </a:rPr>
              <a:t> </a:t>
            </a:r>
            <a:r>
              <a:rPr sz="2500" spc="-60" dirty="0" smtClean="0">
                <a:latin typeface="Arial MT"/>
                <a:cs typeface="Tahoma"/>
              </a:rPr>
              <a:t>T</a:t>
            </a:r>
            <a:endParaRPr sz="25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241300" algn="l"/>
                <a:tab pos="8272780" algn="l"/>
              </a:tabLst>
            </a:pP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height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dirty="0">
                <a:latin typeface="Arial MT"/>
                <a:cs typeface="Tahoma"/>
              </a:rPr>
              <a:t> a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 </a:t>
            </a:r>
            <a:r>
              <a:rPr sz="2500" spc="-60" dirty="0">
                <a:latin typeface="Arial MT"/>
                <a:cs typeface="Tahoma"/>
              </a:rPr>
              <a:t>T</a:t>
            </a:r>
            <a:r>
              <a:rPr sz="2500" spc="-9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is</a:t>
            </a:r>
            <a:r>
              <a:rPr sz="2400" spc="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equal</a:t>
            </a:r>
            <a:r>
              <a:rPr sz="2400" spc="-5" dirty="0">
                <a:latin typeface="Arial MT"/>
                <a:cs typeface="Tahoma"/>
              </a:rPr>
              <a:t> to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dirty="0">
                <a:latin typeface="Arial MT"/>
                <a:cs typeface="Tahoma"/>
              </a:rPr>
              <a:t> maximum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depth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dirty="0" smtClean="0">
                <a:latin typeface="Arial MT"/>
                <a:cs typeface="Tahoma"/>
              </a:rPr>
              <a:t>a</a:t>
            </a:r>
            <a:r>
              <a:rPr lang="en-US" sz="2400" dirty="0" smtClean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leaf</a:t>
            </a:r>
            <a:r>
              <a:rPr sz="2400" spc="-30" dirty="0" smtClean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node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65" dirty="0">
                <a:latin typeface="Arial MT"/>
                <a:cs typeface="Tahoma"/>
              </a:rPr>
              <a:t> </a:t>
            </a:r>
            <a:r>
              <a:rPr sz="2500" spc="-60" dirty="0">
                <a:latin typeface="Arial MT"/>
                <a:cs typeface="Tahoma"/>
              </a:rPr>
              <a:t>T</a:t>
            </a:r>
            <a:endParaRPr sz="2500" dirty="0">
              <a:latin typeface="Arial M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2783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56388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 smtClean="0"/>
              <a:t>Height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787400" y="1729740"/>
            <a:ext cx="11861800" cy="5140382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105"/>
              </a:spcBef>
            </a:pPr>
            <a:r>
              <a:rPr sz="2400" b="1" spc="-10" dirty="0">
                <a:latin typeface="Tahoma"/>
                <a:cs typeface="Tahoma"/>
              </a:rPr>
              <a:t>Algorithm</a:t>
            </a:r>
            <a:r>
              <a:rPr sz="2400" b="1" spc="-3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height(T,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v)</a:t>
            </a:r>
          </a:p>
          <a:p>
            <a:pPr marL="1184910" marR="7733030" indent="-446405">
              <a:lnSpc>
                <a:spcPct val="142000"/>
              </a:lnSpc>
            </a:pPr>
            <a:r>
              <a:rPr sz="2400" b="1" spc="-5" dirty="0">
                <a:latin typeface="Tahoma"/>
                <a:cs typeface="Tahoma"/>
              </a:rPr>
              <a:t>i</a:t>
            </a:r>
            <a:r>
              <a:rPr sz="2400" b="1" dirty="0">
                <a:latin typeface="Tahoma"/>
                <a:cs typeface="Tahoma"/>
              </a:rPr>
              <a:t>f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spc="-285" dirty="0">
                <a:latin typeface="Tahoma"/>
                <a:cs typeface="Tahoma"/>
              </a:rPr>
              <a:t>T</a:t>
            </a:r>
            <a:r>
              <a:rPr sz="2400" spc="-15" dirty="0">
                <a:latin typeface="Tahoma"/>
                <a:cs typeface="Tahoma"/>
              </a:rPr>
              <a:t>.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spc="-20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L</a:t>
            </a:r>
            <a:r>
              <a:rPr sz="2400" spc="-15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a</a:t>
            </a:r>
            <a:r>
              <a:rPr sz="2400" spc="-15" dirty="0">
                <a:latin typeface="Tahoma"/>
                <a:cs typeface="Tahoma"/>
              </a:rPr>
              <a:t>f(</a:t>
            </a:r>
            <a:r>
              <a:rPr sz="2400" spc="-10" dirty="0">
                <a:latin typeface="Tahoma"/>
                <a:cs typeface="Tahoma"/>
              </a:rPr>
              <a:t>v</a:t>
            </a:r>
            <a:r>
              <a:rPr sz="2400" dirty="0">
                <a:latin typeface="Tahoma"/>
                <a:cs typeface="Tahoma"/>
              </a:rPr>
              <a:t>)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t</a:t>
            </a:r>
            <a:r>
              <a:rPr sz="2400" b="1" spc="-15" dirty="0">
                <a:latin typeface="Tahoma"/>
                <a:cs typeface="Tahoma"/>
              </a:rPr>
              <a:t>he</a:t>
            </a:r>
            <a:r>
              <a:rPr sz="2400" b="1" dirty="0">
                <a:latin typeface="Tahoma"/>
                <a:cs typeface="Tahoma"/>
              </a:rPr>
              <a:t>n  </a:t>
            </a:r>
            <a:r>
              <a:rPr sz="2400" b="1" spc="-10" dirty="0">
                <a:latin typeface="Tahoma"/>
                <a:cs typeface="Tahoma"/>
              </a:rPr>
              <a:t>return </a:t>
            </a:r>
            <a:r>
              <a:rPr sz="2400" dirty="0">
                <a:latin typeface="Tahoma"/>
                <a:cs typeface="Tahoma"/>
              </a:rPr>
              <a:t>0</a:t>
            </a:r>
          </a:p>
          <a:p>
            <a:pPr marL="734060">
              <a:lnSpc>
                <a:spcPct val="100000"/>
              </a:lnSpc>
              <a:spcBef>
                <a:spcPts val="290"/>
              </a:spcBef>
            </a:pPr>
            <a:r>
              <a:rPr sz="2400" b="1" spc="-5" dirty="0">
                <a:latin typeface="Tahoma"/>
                <a:cs typeface="Tahoma"/>
              </a:rPr>
              <a:t>else</a:t>
            </a:r>
            <a:endParaRPr sz="2400" dirty="0">
              <a:latin typeface="Tahoma"/>
              <a:cs typeface="Tahoma"/>
            </a:endParaRPr>
          </a:p>
          <a:p>
            <a:pPr marL="1135380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Tahoma"/>
                <a:cs typeface="Tahoma"/>
              </a:rPr>
              <a:t>h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 smtClean="0">
                <a:latin typeface="Tahoma"/>
                <a:cs typeface="Tahoma"/>
              </a:rPr>
              <a:t>0</a:t>
            </a:r>
            <a:endParaRPr lang="en-US" sz="2400" dirty="0" smtClean="0">
              <a:latin typeface="Tahoma"/>
              <a:cs typeface="Tahoma"/>
            </a:endParaRPr>
          </a:p>
          <a:p>
            <a:pPr marL="1135380">
              <a:lnSpc>
                <a:spcPct val="100000"/>
              </a:lnSpc>
              <a:spcBef>
                <a:spcPts val="310"/>
              </a:spcBef>
            </a:pPr>
            <a:r>
              <a:rPr sz="2400" b="1" spc="-5" dirty="0" smtClean="0">
                <a:latin typeface="Tahoma"/>
                <a:cs typeface="Tahoma"/>
              </a:rPr>
              <a:t>f</a:t>
            </a:r>
            <a:r>
              <a:rPr sz="2400" b="1" dirty="0" smtClean="0">
                <a:latin typeface="Tahoma"/>
                <a:cs typeface="Tahoma"/>
              </a:rPr>
              <a:t>or</a:t>
            </a:r>
            <a:r>
              <a:rPr sz="2400" b="1" spc="-5" dirty="0" smtClean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ea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h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 </a:t>
            </a:r>
            <a:r>
              <a:rPr sz="2400" spc="10" dirty="0">
                <a:latin typeface="Tahoma"/>
                <a:cs typeface="Tahoma"/>
              </a:rPr>
              <a:t>ε</a:t>
            </a:r>
            <a:r>
              <a:rPr sz="2400" spc="-285" dirty="0">
                <a:latin typeface="Tahoma"/>
                <a:cs typeface="Tahoma"/>
              </a:rPr>
              <a:t>T</a:t>
            </a:r>
            <a:r>
              <a:rPr sz="2400" spc="-15" dirty="0">
                <a:latin typeface="Tahoma"/>
                <a:cs typeface="Tahoma"/>
              </a:rPr>
              <a:t>.</a:t>
            </a:r>
            <a:r>
              <a:rPr sz="2400" spc="-1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h</a:t>
            </a:r>
            <a:r>
              <a:rPr sz="2400" spc="-5" dirty="0">
                <a:latin typeface="Tahoma"/>
                <a:cs typeface="Tahoma"/>
              </a:rPr>
              <a:t>il</a:t>
            </a:r>
            <a:r>
              <a:rPr sz="2400" spc="-15" dirty="0">
                <a:latin typeface="Tahoma"/>
                <a:cs typeface="Tahoma"/>
              </a:rPr>
              <a:t>d</a:t>
            </a:r>
            <a:r>
              <a:rPr sz="2400" spc="-20" dirty="0">
                <a:latin typeface="Tahoma"/>
                <a:cs typeface="Tahoma"/>
              </a:rPr>
              <a:t>r</a:t>
            </a:r>
            <a:r>
              <a:rPr sz="2400" spc="-15" dirty="0">
                <a:latin typeface="Tahoma"/>
                <a:cs typeface="Tahoma"/>
              </a:rPr>
              <a:t>e</a:t>
            </a:r>
            <a:r>
              <a:rPr sz="2400" spc="-20" dirty="0">
                <a:latin typeface="Tahoma"/>
                <a:cs typeface="Tahoma"/>
              </a:rPr>
              <a:t>n</a:t>
            </a:r>
            <a:r>
              <a:rPr sz="2400" spc="-15" dirty="0">
                <a:latin typeface="Tahoma"/>
                <a:cs typeface="Tahoma"/>
              </a:rPr>
              <a:t>(</a:t>
            </a:r>
            <a:r>
              <a:rPr sz="2400" spc="-10" dirty="0">
                <a:latin typeface="Tahoma"/>
                <a:cs typeface="Tahoma"/>
              </a:rPr>
              <a:t>v</a:t>
            </a:r>
            <a:r>
              <a:rPr sz="2400" dirty="0">
                <a:latin typeface="Tahoma"/>
                <a:cs typeface="Tahoma"/>
              </a:rPr>
              <a:t>)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b="1" dirty="0" smtClean="0">
                <a:latin typeface="Tahoma"/>
                <a:cs typeface="Tahoma"/>
              </a:rPr>
              <a:t>do</a:t>
            </a:r>
            <a:endParaRPr sz="2400" dirty="0">
              <a:latin typeface="Tahoma"/>
              <a:cs typeface="Tahoma"/>
            </a:endParaRPr>
          </a:p>
          <a:p>
            <a:pPr marR="6619875" algn="r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Tahoma"/>
                <a:cs typeface="Tahoma"/>
              </a:rPr>
              <a:t>h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x(h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he</a:t>
            </a:r>
            <a:r>
              <a:rPr sz="2400" spc="-10" dirty="0">
                <a:latin typeface="Tahoma"/>
                <a:cs typeface="Tahoma"/>
              </a:rPr>
              <a:t>i</a:t>
            </a:r>
            <a:r>
              <a:rPr sz="2400" spc="-20" dirty="0">
                <a:latin typeface="Tahoma"/>
                <a:cs typeface="Tahoma"/>
              </a:rPr>
              <a:t>gh</a:t>
            </a:r>
            <a:r>
              <a:rPr sz="2400" spc="-10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400" spc="-29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)</a:t>
            </a:r>
            <a:r>
              <a:rPr sz="2400" dirty="0">
                <a:latin typeface="Tahoma"/>
                <a:cs typeface="Tahoma"/>
              </a:rPr>
              <a:t>)</a:t>
            </a:r>
          </a:p>
          <a:p>
            <a:pPr marL="705485">
              <a:lnSpc>
                <a:spcPct val="100000"/>
              </a:lnSpc>
              <a:spcBef>
                <a:spcPts val="290"/>
              </a:spcBef>
            </a:pPr>
            <a:r>
              <a:rPr sz="2400" b="1" spc="-10" dirty="0">
                <a:latin typeface="Tahoma"/>
                <a:cs typeface="Tahoma"/>
              </a:rPr>
              <a:t>return</a:t>
            </a:r>
            <a:r>
              <a:rPr sz="2400" b="1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 dirty="0">
              <a:latin typeface="Arial MT"/>
              <a:cs typeface="Tahoma"/>
            </a:endParaRPr>
          </a:p>
          <a:p>
            <a:pPr marL="289560" indent="-143510">
              <a:lnSpc>
                <a:spcPct val="100000"/>
              </a:lnSpc>
              <a:buFont typeface="Arial MT"/>
              <a:buChar char="•"/>
              <a:tabLst>
                <a:tab pos="289560" algn="l"/>
                <a:tab pos="8230234" algn="l"/>
              </a:tabLst>
            </a:pPr>
            <a:r>
              <a:rPr sz="2000" spc="-5" dirty="0">
                <a:solidFill>
                  <a:srgbClr val="0070C0"/>
                </a:solidFill>
                <a:latin typeface="Arial MT"/>
                <a:cs typeface="Tahoma"/>
              </a:rPr>
              <a:t>Running</a:t>
            </a:r>
            <a:r>
              <a:rPr sz="2000" spc="1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Arial MT"/>
                <a:cs typeface="Tahoma"/>
              </a:rPr>
              <a:t>time:</a:t>
            </a:r>
            <a:r>
              <a:rPr sz="2000" spc="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30" dirty="0">
                <a:solidFill>
                  <a:srgbClr val="0070C0"/>
                </a:solidFill>
                <a:latin typeface="Arial MT"/>
                <a:cs typeface="Tahoma"/>
              </a:rPr>
              <a:t>O</a:t>
            </a:r>
            <a:r>
              <a:rPr sz="2000" spc="-30" dirty="0">
                <a:solidFill>
                  <a:srgbClr val="0070C0"/>
                </a:solidFill>
                <a:latin typeface="Arial MT"/>
                <a:cs typeface="Tahoma"/>
              </a:rPr>
              <a:t>(Σ</a:t>
            </a:r>
            <a:r>
              <a:rPr sz="2400" spc="-44" baseline="-13468" dirty="0">
                <a:solidFill>
                  <a:srgbClr val="0070C0"/>
                </a:solidFill>
                <a:latin typeface="Arial MT"/>
                <a:cs typeface="Tahoma"/>
              </a:rPr>
              <a:t>v</a:t>
            </a:r>
            <a:r>
              <a:rPr sz="2400" spc="-30" baseline="-1346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baseline="-13888" dirty="0">
                <a:solidFill>
                  <a:srgbClr val="0070C0"/>
                </a:solidFill>
                <a:latin typeface="Arial MT"/>
                <a:cs typeface="Tahoma"/>
              </a:rPr>
              <a:t>ε</a:t>
            </a:r>
            <a:r>
              <a:rPr sz="2000" spc="-15" baseline="-1388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44" baseline="-13468" dirty="0">
                <a:solidFill>
                  <a:srgbClr val="0070C0"/>
                </a:solidFill>
                <a:latin typeface="Arial MT"/>
                <a:cs typeface="Tahoma"/>
              </a:rPr>
              <a:t>T</a:t>
            </a:r>
            <a:r>
              <a:rPr sz="2400" spc="-30" baseline="-1346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(1 +</a:t>
            </a:r>
            <a:r>
              <a:rPr sz="2000" spc="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20" dirty="0">
                <a:solidFill>
                  <a:srgbClr val="0070C0"/>
                </a:solidFill>
                <a:latin typeface="Arial MT"/>
                <a:cs typeface="Tahoma"/>
              </a:rPr>
              <a:t>c</a:t>
            </a:r>
            <a:r>
              <a:rPr sz="2400" spc="-30" baseline="-13468" dirty="0">
                <a:solidFill>
                  <a:srgbClr val="0070C0"/>
                </a:solidFill>
                <a:latin typeface="Arial MT"/>
                <a:cs typeface="Tahoma"/>
              </a:rPr>
              <a:t>v</a:t>
            </a:r>
            <a:r>
              <a:rPr sz="2000" spc="-20" dirty="0">
                <a:solidFill>
                  <a:srgbClr val="0070C0"/>
                </a:solidFill>
                <a:latin typeface="Arial MT"/>
                <a:cs typeface="Tahoma"/>
              </a:rPr>
              <a:t>)),</a:t>
            </a:r>
            <a:r>
              <a:rPr sz="2000" spc="-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20" dirty="0">
                <a:solidFill>
                  <a:srgbClr val="0070C0"/>
                </a:solidFill>
                <a:latin typeface="Arial MT"/>
                <a:cs typeface="Tahoma"/>
              </a:rPr>
              <a:t>where</a:t>
            </a:r>
            <a:r>
              <a:rPr sz="2000" spc="-2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40" dirty="0">
                <a:solidFill>
                  <a:srgbClr val="0070C0"/>
                </a:solidFill>
                <a:latin typeface="Arial MT"/>
                <a:cs typeface="Tahoma"/>
              </a:rPr>
              <a:t>c</a:t>
            </a:r>
            <a:r>
              <a:rPr sz="2400" spc="-60" baseline="-13468" dirty="0">
                <a:solidFill>
                  <a:srgbClr val="0070C0"/>
                </a:solidFill>
                <a:latin typeface="Arial MT"/>
                <a:cs typeface="Tahoma"/>
              </a:rPr>
              <a:t>v</a:t>
            </a:r>
            <a:r>
              <a:rPr sz="2400" spc="-44" baseline="-1346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Arial MT"/>
                <a:cs typeface="Tahoma"/>
              </a:rPr>
              <a:t>is</a:t>
            </a:r>
            <a:r>
              <a:rPr sz="2000" spc="-10" dirty="0">
                <a:solidFill>
                  <a:srgbClr val="0070C0"/>
                </a:solidFill>
                <a:latin typeface="Arial MT"/>
                <a:cs typeface="Tahoma"/>
              </a:rPr>
              <a:t> the</a:t>
            </a:r>
            <a:r>
              <a:rPr sz="2000" spc="-1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20" dirty="0">
                <a:solidFill>
                  <a:srgbClr val="0070C0"/>
                </a:solidFill>
                <a:latin typeface="Arial MT"/>
                <a:cs typeface="Tahoma"/>
              </a:rPr>
              <a:t>number</a:t>
            </a:r>
            <a:r>
              <a:rPr sz="2000" spc="-4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10" dirty="0" smtClean="0">
                <a:solidFill>
                  <a:srgbClr val="0070C0"/>
                </a:solidFill>
                <a:latin typeface="Arial MT"/>
                <a:cs typeface="Tahoma"/>
              </a:rPr>
              <a:t>of</a:t>
            </a:r>
            <a:r>
              <a:rPr lang="en-US" sz="2000" spc="-10" dirty="0" smtClean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15" dirty="0" smtClean="0">
                <a:solidFill>
                  <a:srgbClr val="0070C0"/>
                </a:solidFill>
                <a:latin typeface="Arial MT"/>
                <a:cs typeface="Tahoma"/>
              </a:rPr>
              <a:t>children</a:t>
            </a:r>
            <a:r>
              <a:rPr sz="2000" spc="-50" dirty="0" smtClean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0070C0"/>
                </a:solidFill>
                <a:latin typeface="Arial MT"/>
                <a:cs typeface="Tahoma"/>
              </a:rPr>
              <a:t>of</a:t>
            </a:r>
            <a:r>
              <a:rPr sz="2000" spc="-6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50" dirty="0">
                <a:solidFill>
                  <a:srgbClr val="0070C0"/>
                </a:solidFill>
                <a:latin typeface="Arial MT"/>
                <a:cs typeface="Tahoma"/>
              </a:rPr>
              <a:t>v </a:t>
            </a:r>
            <a:r>
              <a:rPr sz="2000" spc="-5" dirty="0">
                <a:solidFill>
                  <a:srgbClr val="0070C0"/>
                </a:solidFill>
                <a:latin typeface="Arial MT"/>
                <a:cs typeface="Tahoma"/>
              </a:rPr>
              <a:t>in</a:t>
            </a:r>
            <a:r>
              <a:rPr sz="2000" spc="-180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60" dirty="0">
                <a:solidFill>
                  <a:srgbClr val="0070C0"/>
                </a:solidFill>
                <a:latin typeface="Arial MT"/>
                <a:cs typeface="Tahoma"/>
              </a:rPr>
              <a:t>T</a:t>
            </a:r>
            <a:endParaRPr sz="2400" dirty="0">
              <a:solidFill>
                <a:srgbClr val="0070C0"/>
              </a:solidFill>
              <a:latin typeface="Arial MT"/>
              <a:cs typeface="Tahoma"/>
            </a:endParaRPr>
          </a:p>
          <a:p>
            <a:pPr marL="2794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79400" algn="l"/>
              </a:tabLst>
            </a:pPr>
            <a:r>
              <a:rPr sz="2000" spc="-10" dirty="0">
                <a:solidFill>
                  <a:srgbClr val="0070C0"/>
                </a:solidFill>
                <a:latin typeface="Arial MT"/>
                <a:cs typeface="Tahoma"/>
              </a:rPr>
              <a:t>Si</a:t>
            </a:r>
            <a:r>
              <a:rPr sz="2000" spc="-15" dirty="0">
                <a:solidFill>
                  <a:srgbClr val="0070C0"/>
                </a:solidFill>
                <a:latin typeface="Arial MT"/>
                <a:cs typeface="Tahoma"/>
              </a:rPr>
              <a:t>n</a:t>
            </a:r>
            <a:r>
              <a:rPr sz="2000" spc="-10" dirty="0">
                <a:solidFill>
                  <a:srgbClr val="0070C0"/>
                </a:solidFill>
                <a:latin typeface="Arial MT"/>
                <a:cs typeface="Tahoma"/>
              </a:rPr>
              <a:t>c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e</a:t>
            </a:r>
            <a:r>
              <a:rPr sz="2000" spc="-20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Σ</a:t>
            </a:r>
            <a:r>
              <a:rPr sz="2400" spc="-37" baseline="-13468" dirty="0">
                <a:solidFill>
                  <a:srgbClr val="0070C0"/>
                </a:solidFill>
                <a:latin typeface="Arial MT"/>
                <a:cs typeface="Tahoma"/>
              </a:rPr>
              <a:t>v</a:t>
            </a:r>
            <a:r>
              <a:rPr sz="2400" spc="-22" baseline="-1346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baseline="-13888" dirty="0">
                <a:solidFill>
                  <a:srgbClr val="0070C0"/>
                </a:solidFill>
                <a:latin typeface="Arial MT"/>
                <a:cs typeface="Tahoma"/>
              </a:rPr>
              <a:t>ε</a:t>
            </a:r>
            <a:r>
              <a:rPr sz="2000" spc="-22" baseline="-1388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44" baseline="-13468" dirty="0">
                <a:solidFill>
                  <a:srgbClr val="0070C0"/>
                </a:solidFill>
                <a:latin typeface="Arial MT"/>
                <a:cs typeface="Tahoma"/>
              </a:rPr>
              <a:t>T</a:t>
            </a:r>
            <a:r>
              <a:rPr sz="2400" spc="-37" baseline="-1346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55" dirty="0">
                <a:solidFill>
                  <a:srgbClr val="0070C0"/>
                </a:solidFill>
                <a:latin typeface="Arial MT"/>
                <a:cs typeface="Tahoma"/>
              </a:rPr>
              <a:t>c</a:t>
            </a:r>
            <a:r>
              <a:rPr sz="2400" spc="-37" baseline="-13468" dirty="0">
                <a:solidFill>
                  <a:srgbClr val="0070C0"/>
                </a:solidFill>
                <a:latin typeface="Arial MT"/>
                <a:cs typeface="Tahoma"/>
              </a:rPr>
              <a:t>v</a:t>
            </a:r>
            <a:r>
              <a:rPr sz="2400" spc="-52" baseline="-1346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60" baseline="-13468" dirty="0">
                <a:solidFill>
                  <a:srgbClr val="0070C0"/>
                </a:solidFill>
                <a:latin typeface="Arial MT"/>
                <a:cs typeface="Tahoma"/>
              </a:rPr>
              <a:t>=</a:t>
            </a:r>
            <a:r>
              <a:rPr sz="2400" spc="-44" baseline="-1346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60" dirty="0">
                <a:solidFill>
                  <a:srgbClr val="0070C0"/>
                </a:solidFill>
                <a:latin typeface="Arial MT"/>
                <a:cs typeface="Tahoma"/>
              </a:rPr>
              <a:t>n</a:t>
            </a:r>
            <a:r>
              <a:rPr sz="2400" spc="-3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- 1,</a:t>
            </a:r>
            <a:r>
              <a:rPr sz="2000" spc="-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0070C0"/>
                </a:solidFill>
                <a:latin typeface="Arial MT"/>
                <a:cs typeface="Tahoma"/>
              </a:rPr>
              <a:t>w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e</a:t>
            </a:r>
            <a:r>
              <a:rPr sz="2000" spc="-3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spc="-15" dirty="0">
                <a:solidFill>
                  <a:srgbClr val="0070C0"/>
                </a:solidFill>
                <a:latin typeface="Arial MT"/>
                <a:cs typeface="Tahoma"/>
              </a:rPr>
              <a:t>h</a:t>
            </a:r>
            <a:r>
              <a:rPr sz="2000" spc="-25" dirty="0">
                <a:solidFill>
                  <a:srgbClr val="0070C0"/>
                </a:solidFill>
                <a:latin typeface="Arial MT"/>
                <a:cs typeface="Tahoma"/>
              </a:rPr>
              <a:t>av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e</a:t>
            </a:r>
            <a:r>
              <a:rPr sz="2000" spc="-2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80" dirty="0">
                <a:solidFill>
                  <a:srgbClr val="0070C0"/>
                </a:solidFill>
                <a:latin typeface="Arial MT"/>
                <a:cs typeface="Tahoma"/>
              </a:rPr>
              <a:t>O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(</a:t>
            </a:r>
            <a:r>
              <a:rPr sz="2000" spc="-5" dirty="0">
                <a:solidFill>
                  <a:srgbClr val="0070C0"/>
                </a:solidFill>
                <a:latin typeface="Arial MT"/>
                <a:cs typeface="Tahoma"/>
              </a:rPr>
              <a:t>Σ</a:t>
            </a:r>
            <a:r>
              <a:rPr sz="2400" spc="-37" baseline="-13468" dirty="0">
                <a:solidFill>
                  <a:srgbClr val="0070C0"/>
                </a:solidFill>
                <a:latin typeface="Arial MT"/>
                <a:cs typeface="Tahoma"/>
              </a:rPr>
              <a:t>v </a:t>
            </a:r>
            <a:r>
              <a:rPr sz="2000" baseline="-13888" dirty="0">
                <a:solidFill>
                  <a:srgbClr val="0070C0"/>
                </a:solidFill>
                <a:latin typeface="Arial MT"/>
                <a:cs typeface="Tahoma"/>
              </a:rPr>
              <a:t>ε</a:t>
            </a:r>
            <a:r>
              <a:rPr sz="2000" spc="-22" baseline="-1388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44" baseline="-13468" dirty="0">
                <a:solidFill>
                  <a:srgbClr val="0070C0"/>
                </a:solidFill>
                <a:latin typeface="Arial MT"/>
                <a:cs typeface="Tahoma"/>
              </a:rPr>
              <a:t>T</a:t>
            </a:r>
            <a:r>
              <a:rPr sz="2400" spc="-37" baseline="-13468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(1</a:t>
            </a:r>
            <a:r>
              <a:rPr sz="2000" spc="-10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+ </a:t>
            </a:r>
            <a:r>
              <a:rPr sz="2400" spc="-50" dirty="0">
                <a:solidFill>
                  <a:srgbClr val="0070C0"/>
                </a:solidFill>
                <a:latin typeface="Arial MT"/>
                <a:cs typeface="Tahoma"/>
              </a:rPr>
              <a:t>c</a:t>
            </a:r>
            <a:r>
              <a:rPr sz="2400" spc="-44" baseline="-13468" dirty="0">
                <a:solidFill>
                  <a:srgbClr val="0070C0"/>
                </a:solidFill>
                <a:latin typeface="Arial MT"/>
                <a:cs typeface="Tahoma"/>
              </a:rPr>
              <a:t>v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))</a:t>
            </a:r>
            <a:r>
              <a:rPr sz="2000" spc="-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75" dirty="0">
                <a:solidFill>
                  <a:srgbClr val="0070C0"/>
                </a:solidFill>
                <a:latin typeface="Arial MT"/>
                <a:cs typeface="Tahoma"/>
              </a:rPr>
              <a:t>=</a:t>
            </a:r>
            <a:r>
              <a:rPr sz="2400" spc="-22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80" dirty="0">
                <a:solidFill>
                  <a:srgbClr val="0070C0"/>
                </a:solidFill>
                <a:latin typeface="Arial MT"/>
                <a:cs typeface="Tahoma"/>
              </a:rPr>
              <a:t>O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(</a:t>
            </a:r>
            <a:r>
              <a:rPr sz="2400" spc="-70" dirty="0">
                <a:solidFill>
                  <a:srgbClr val="0070C0"/>
                </a:solidFill>
                <a:latin typeface="Arial MT"/>
                <a:cs typeface="Tahoma"/>
              </a:rPr>
              <a:t>n</a:t>
            </a:r>
            <a:r>
              <a:rPr sz="2000" dirty="0">
                <a:solidFill>
                  <a:srgbClr val="0070C0"/>
                </a:solidFill>
                <a:latin typeface="Arial MT"/>
                <a:cs typeface="Tahoma"/>
              </a:rPr>
              <a:t>).</a:t>
            </a:r>
          </a:p>
          <a:p>
            <a:pPr marL="2794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79400" algn="l"/>
              </a:tabLst>
            </a:pP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The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height of 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tree</a:t>
            </a:r>
            <a:r>
              <a:rPr sz="2000" spc="-1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60" dirty="0">
                <a:solidFill>
                  <a:srgbClr val="BD2C00"/>
                </a:solidFill>
                <a:latin typeface="Arial MT"/>
                <a:cs typeface="Tahoma"/>
              </a:rPr>
              <a:t>T</a:t>
            </a:r>
            <a:r>
              <a:rPr sz="2400" spc="-10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BD2C00"/>
                </a:solidFill>
                <a:latin typeface="Arial MT"/>
                <a:cs typeface="Tahoma"/>
              </a:rPr>
              <a:t>is</a:t>
            </a:r>
            <a:r>
              <a:rPr sz="2000" spc="1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obtained</a:t>
            </a:r>
            <a:r>
              <a:rPr sz="2000" spc="-2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by </a:t>
            </a:r>
            <a:r>
              <a:rPr sz="2000" dirty="0">
                <a:solidFill>
                  <a:srgbClr val="BD2C00"/>
                </a:solidFill>
                <a:latin typeface="Arial MT"/>
                <a:cs typeface="Tahoma"/>
              </a:rPr>
              <a:t>calling</a:t>
            </a:r>
            <a:r>
              <a:rPr sz="2000" spc="-1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50" dirty="0">
                <a:solidFill>
                  <a:srgbClr val="BD2C00"/>
                </a:solidFill>
                <a:latin typeface="Arial MT"/>
                <a:cs typeface="Tahoma"/>
              </a:rPr>
              <a:t>height(T,</a:t>
            </a:r>
            <a:r>
              <a:rPr sz="2000" spc="-13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BD2C00"/>
                </a:solidFill>
                <a:latin typeface="Arial MT"/>
                <a:cs typeface="Tahoma"/>
              </a:rPr>
              <a:t>r).</a:t>
            </a:r>
            <a:endParaRPr sz="2000" dirty="0">
              <a:latin typeface="Arial MT"/>
              <a:cs typeface="Tahom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6800" y="1752600"/>
            <a:ext cx="5486400" cy="3733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7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1825244"/>
            <a:ext cx="10275570" cy="22961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 marR="5080" indent="-12700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  <a:tab pos="7388225" algn="l"/>
              </a:tabLst>
            </a:pPr>
            <a:r>
              <a:rPr sz="2400" dirty="0">
                <a:solidFill>
                  <a:srgbClr val="0070C0"/>
                </a:solidFill>
                <a:latin typeface="Arial MT"/>
                <a:cs typeface="Tahoma"/>
              </a:rPr>
              <a:t>A</a:t>
            </a:r>
            <a:r>
              <a:rPr sz="2400" spc="-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tree</a:t>
            </a:r>
            <a:r>
              <a:rPr sz="2400" spc="-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is </a:t>
            </a:r>
            <a:r>
              <a:rPr sz="2400" spc="-15" dirty="0">
                <a:latin typeface="Arial MT"/>
                <a:cs typeface="Tahoma"/>
              </a:rPr>
              <a:t>ordered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if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there </a:t>
            </a:r>
            <a:r>
              <a:rPr sz="2400" spc="-5" dirty="0">
                <a:latin typeface="Arial MT"/>
                <a:cs typeface="Tahoma"/>
              </a:rPr>
              <a:t>is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linear</a:t>
            </a:r>
            <a:r>
              <a:rPr sz="2400" spc="-20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ordering </a:t>
            </a:r>
            <a:r>
              <a:rPr sz="2400" spc="-10" dirty="0" smtClean="0">
                <a:solidFill>
                  <a:srgbClr val="0070C0"/>
                </a:solidFill>
                <a:latin typeface="Arial MT"/>
                <a:cs typeface="Tahoma"/>
              </a:rPr>
              <a:t>defined</a:t>
            </a:r>
            <a:r>
              <a:rPr lang="en-US" sz="2400" spc="-10" dirty="0" smtClean="0">
                <a:latin typeface="Arial MT"/>
                <a:cs typeface="Tahoma"/>
              </a:rPr>
              <a:t> </a:t>
            </a:r>
            <a:r>
              <a:rPr sz="2400" spc="-15" dirty="0" smtClean="0">
                <a:latin typeface="Arial MT"/>
                <a:cs typeface="Tahoma"/>
              </a:rPr>
              <a:t>for</a:t>
            </a:r>
            <a:r>
              <a:rPr sz="2400" spc="-45" dirty="0" smtClean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each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child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each </a:t>
            </a:r>
            <a:r>
              <a:rPr sz="2400" spc="-73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node.</a:t>
            </a:r>
            <a:endParaRPr sz="2400" dirty="0">
              <a:latin typeface="Arial MT"/>
              <a:cs typeface="Tahoma"/>
            </a:endParaRPr>
          </a:p>
          <a:p>
            <a:pPr marL="25400" marR="702945" indent="-12700">
              <a:lnSpc>
                <a:spcPct val="100800"/>
              </a:lnSpc>
              <a:spcBef>
                <a:spcPts val="195"/>
              </a:spcBef>
              <a:buFont typeface="Arial MT"/>
              <a:buChar char="•"/>
              <a:tabLst>
                <a:tab pos="241300" algn="l"/>
                <a:tab pos="7404100" algn="l"/>
              </a:tabLst>
            </a:pPr>
            <a:r>
              <a:rPr sz="2400" dirty="0">
                <a:solidFill>
                  <a:srgbClr val="0070C0"/>
                </a:solidFill>
                <a:latin typeface="Arial MT"/>
                <a:cs typeface="Tahoma"/>
              </a:rPr>
              <a:t>A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 binary</a:t>
            </a:r>
            <a:r>
              <a:rPr sz="2400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15" dirty="0">
                <a:solidFill>
                  <a:srgbClr val="0070C0"/>
                </a:solidFill>
                <a:latin typeface="Arial MT"/>
                <a:cs typeface="Tahoma"/>
              </a:rPr>
              <a:t>tree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is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 </a:t>
            </a:r>
            <a:r>
              <a:rPr sz="2400" spc="-15" dirty="0">
                <a:latin typeface="Arial MT"/>
                <a:cs typeface="Tahoma"/>
              </a:rPr>
              <a:t>ordered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in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which</a:t>
            </a:r>
            <a:r>
              <a:rPr sz="2400" spc="-15" dirty="0">
                <a:latin typeface="Arial MT"/>
                <a:cs typeface="Tahoma"/>
              </a:rPr>
              <a:t> every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0" dirty="0" smtClean="0">
                <a:latin typeface="Arial MT"/>
                <a:cs typeface="Tahoma"/>
              </a:rPr>
              <a:t>node</a:t>
            </a:r>
            <a:r>
              <a:rPr lang="en-US" sz="2400" spc="-10" dirty="0" smtClean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has</a:t>
            </a:r>
            <a:r>
              <a:rPr sz="2400" spc="-35" dirty="0" smtClean="0"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Arial MT"/>
                <a:cs typeface="Tahoma"/>
              </a:rPr>
              <a:t>at</a:t>
            </a:r>
            <a:r>
              <a:rPr sz="2400" spc="-4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most</a:t>
            </a:r>
            <a:r>
              <a:rPr sz="2400" spc="-3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0070C0"/>
                </a:solidFill>
                <a:latin typeface="Arial MT"/>
                <a:cs typeface="Tahoma"/>
              </a:rPr>
              <a:t>two </a:t>
            </a:r>
            <a:r>
              <a:rPr sz="2400" spc="-73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children.</a:t>
            </a:r>
            <a:endParaRPr sz="2400" dirty="0">
              <a:solidFill>
                <a:srgbClr val="0070C0"/>
              </a:solidFill>
              <a:latin typeface="Arial MT"/>
              <a:cs typeface="Tahoma"/>
            </a:endParaRPr>
          </a:p>
          <a:p>
            <a:pPr marL="25400" marR="172085" indent="-12700">
              <a:lnSpc>
                <a:spcPct val="100800"/>
              </a:lnSpc>
              <a:spcBef>
                <a:spcPts val="285"/>
              </a:spcBef>
              <a:buFont typeface="Arial MT"/>
              <a:buChar char="•"/>
              <a:tabLst>
                <a:tab pos="241300" algn="l"/>
                <a:tab pos="7628890" algn="l"/>
              </a:tabLst>
            </a:pPr>
            <a:r>
              <a:rPr sz="2400" dirty="0">
                <a:latin typeface="Arial MT"/>
                <a:cs typeface="Tahoma"/>
              </a:rPr>
              <a:t>If </a:t>
            </a:r>
            <a:r>
              <a:rPr sz="2400" spc="-5" dirty="0">
                <a:latin typeface="Arial MT"/>
                <a:cs typeface="Tahoma"/>
              </a:rPr>
              <a:t>each</a:t>
            </a:r>
            <a:r>
              <a:rPr sz="2400" spc="-10" dirty="0">
                <a:latin typeface="Arial MT"/>
                <a:cs typeface="Tahoma"/>
              </a:rPr>
              <a:t> node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 </a:t>
            </a:r>
            <a:r>
              <a:rPr sz="2400" spc="-5" dirty="0">
                <a:latin typeface="Arial MT"/>
                <a:cs typeface="Tahoma"/>
              </a:rPr>
              <a:t>has </a:t>
            </a:r>
            <a:r>
              <a:rPr sz="2400" spc="-10" dirty="0">
                <a:latin typeface="Arial MT"/>
                <a:cs typeface="Tahoma"/>
              </a:rPr>
              <a:t>either </a:t>
            </a:r>
            <a:r>
              <a:rPr sz="2400" spc="-20" dirty="0">
                <a:solidFill>
                  <a:srgbClr val="0070C0"/>
                </a:solidFill>
                <a:latin typeface="Arial MT"/>
                <a:cs typeface="Tahoma"/>
              </a:rPr>
              <a:t>zero </a:t>
            </a:r>
            <a:r>
              <a:rPr sz="2400" spc="-5" dirty="0">
                <a:solidFill>
                  <a:srgbClr val="0070C0"/>
                </a:solidFill>
                <a:latin typeface="Arial MT"/>
                <a:cs typeface="Tahoma"/>
              </a:rPr>
              <a:t>or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0070C0"/>
                </a:solidFill>
                <a:latin typeface="Arial MT"/>
                <a:cs typeface="Tahoma"/>
              </a:rPr>
              <a:t>two </a:t>
            </a:r>
            <a:r>
              <a:rPr sz="2400" spc="-10" dirty="0" smtClean="0">
                <a:solidFill>
                  <a:srgbClr val="0070C0"/>
                </a:solidFill>
                <a:latin typeface="Arial MT"/>
                <a:cs typeface="Tahoma"/>
              </a:rPr>
              <a:t>children</a:t>
            </a:r>
            <a:r>
              <a:rPr sz="2400" spc="-10" dirty="0" smtClean="0">
                <a:latin typeface="Arial MT"/>
                <a:cs typeface="Tahoma"/>
              </a:rPr>
              <a:t>,</a:t>
            </a:r>
            <a:r>
              <a:rPr lang="en-US" sz="2400" spc="-10" dirty="0" smtClean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the</a:t>
            </a:r>
            <a:r>
              <a:rPr sz="2400" spc="-20" dirty="0" smtClean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is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called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 </a:t>
            </a:r>
            <a:r>
              <a:rPr sz="2400" spc="-735" dirty="0"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proper</a:t>
            </a:r>
            <a:r>
              <a:rPr sz="2400" spc="-20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binary</a:t>
            </a:r>
            <a:r>
              <a:rPr sz="2400" spc="25" dirty="0">
                <a:solidFill>
                  <a:srgbClr val="0070C0"/>
                </a:solidFill>
                <a:latin typeface="Arial MT"/>
                <a:cs typeface="Tahom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Arial MT"/>
                <a:cs typeface="Tahoma"/>
              </a:rPr>
              <a:t>tree.</a:t>
            </a:r>
            <a:endParaRPr sz="2400" dirty="0">
              <a:solidFill>
                <a:srgbClr val="0070C0"/>
              </a:solidFill>
              <a:latin typeface="Arial MT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4266320"/>
            <a:ext cx="2742858" cy="167061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38862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/>
              <a:t>Ordered</a:t>
            </a:r>
            <a:r>
              <a:rPr sz="3200" spc="-105" dirty="0"/>
              <a:t> </a:t>
            </a:r>
            <a:r>
              <a:rPr sz="3200" spc="-70" dirty="0"/>
              <a:t>Trees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3040482" y="6092444"/>
            <a:ext cx="1069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Tree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2581" y="6055867"/>
            <a:ext cx="1750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Proper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Binary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Tree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4535" y="4204497"/>
            <a:ext cx="2855794" cy="165529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075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25500" y="1785619"/>
            <a:ext cx="9770745" cy="24517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  <a:tab pos="7413625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traversal </a:t>
            </a:r>
            <a:r>
              <a:rPr sz="2400" spc="-5" dirty="0">
                <a:latin typeface="Tahoma"/>
                <a:cs typeface="Tahoma"/>
              </a:rPr>
              <a:t>of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tree </a:t>
            </a:r>
            <a:r>
              <a:rPr sz="2400" dirty="0">
                <a:latin typeface="Tahoma"/>
                <a:cs typeface="Tahoma"/>
              </a:rPr>
              <a:t>T </a:t>
            </a:r>
            <a:r>
              <a:rPr sz="2400" spc="-5" dirty="0">
                <a:latin typeface="Tahoma"/>
                <a:cs typeface="Tahoma"/>
              </a:rPr>
              <a:t>is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systematic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way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of </a:t>
            </a:r>
            <a:r>
              <a:rPr sz="2400" spc="-15" dirty="0">
                <a:latin typeface="Tahoma"/>
                <a:cs typeface="Tahoma"/>
              </a:rPr>
              <a:t>visiting	</a:t>
            </a:r>
            <a:r>
              <a:rPr sz="2400" spc="-5" dirty="0">
                <a:latin typeface="Tahoma"/>
                <a:cs typeface="Tahoma"/>
              </a:rPr>
              <a:t>all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nodes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of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</a:t>
            </a:r>
          </a:p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  <a:tab pos="6583045" algn="l"/>
              </a:tabLst>
            </a:pPr>
            <a:r>
              <a:rPr sz="2400" spc="-50" dirty="0">
                <a:latin typeface="Tahoma"/>
                <a:cs typeface="Tahoma"/>
              </a:rPr>
              <a:t>Traversing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tree </a:t>
            </a:r>
            <a:r>
              <a:rPr sz="2400" spc="-20" dirty="0">
                <a:latin typeface="Tahoma"/>
                <a:cs typeface="Tahoma"/>
              </a:rPr>
              <a:t>involves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visiting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root </a:t>
            </a:r>
            <a:r>
              <a:rPr sz="2400" spc="-5" dirty="0">
                <a:latin typeface="Tahoma"/>
                <a:cs typeface="Tahoma"/>
              </a:rPr>
              <a:t>and	</a:t>
            </a:r>
            <a:r>
              <a:rPr sz="2400" spc="-20" dirty="0">
                <a:latin typeface="Tahoma"/>
                <a:cs typeface="Tahoma"/>
              </a:rPr>
              <a:t>traversing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its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subtrees</a:t>
            </a:r>
            <a:endParaRPr sz="2400" dirty="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Tahoma"/>
                <a:cs typeface="Tahoma"/>
              </a:rPr>
              <a:t>There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are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following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traversal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methods: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310"/>
              </a:spcBef>
              <a:buSzPct val="54166"/>
              <a:buFont typeface="Wingdings"/>
              <a:buChar char=""/>
              <a:tabLst>
                <a:tab pos="683260" algn="l"/>
              </a:tabLst>
            </a:pPr>
            <a:r>
              <a:rPr sz="2400" spc="-10" dirty="0">
                <a:latin typeface="Tahoma"/>
                <a:cs typeface="Tahoma"/>
              </a:rPr>
              <a:t>Preorder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Traversal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310"/>
              </a:spcBef>
              <a:buSzPct val="54166"/>
              <a:buFont typeface="Wingdings"/>
              <a:buChar char=""/>
              <a:tabLst>
                <a:tab pos="683260" algn="l"/>
              </a:tabLst>
            </a:pPr>
            <a:r>
              <a:rPr sz="2400" spc="-15" dirty="0">
                <a:latin typeface="Tahoma"/>
                <a:cs typeface="Tahoma"/>
              </a:rPr>
              <a:t>Postorder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Traversal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340"/>
              </a:spcBef>
              <a:buSzPct val="54166"/>
              <a:buFont typeface="Wingdings"/>
              <a:buChar char=""/>
              <a:tabLst>
                <a:tab pos="683260" algn="l"/>
              </a:tabLst>
            </a:pPr>
            <a:r>
              <a:rPr sz="2400" spc="-10" dirty="0">
                <a:latin typeface="Tahoma"/>
                <a:cs typeface="Tahoma"/>
              </a:rPr>
              <a:t>Inorder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Traversal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400" dirty="0">
                <a:solidFill>
                  <a:srgbClr val="006600"/>
                </a:solidFill>
                <a:latin typeface="Tahoma"/>
                <a:cs typeface="Tahoma"/>
              </a:rPr>
              <a:t>of</a:t>
            </a:r>
            <a:r>
              <a:rPr sz="2400" spc="-15" dirty="0">
                <a:solidFill>
                  <a:srgbClr val="0066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6600"/>
                </a:solidFill>
                <a:latin typeface="Tahoma"/>
                <a:cs typeface="Tahoma"/>
              </a:rPr>
              <a:t>a</a:t>
            </a:r>
            <a:r>
              <a:rPr sz="2400" spc="-5" dirty="0">
                <a:solidFill>
                  <a:srgbClr val="006600"/>
                </a:solidFill>
                <a:latin typeface="Tahoma"/>
                <a:cs typeface="Tahoma"/>
              </a:rPr>
              <a:t> binary</a:t>
            </a:r>
            <a:r>
              <a:rPr sz="2400" spc="-155" dirty="0">
                <a:solidFill>
                  <a:srgbClr val="0066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06600"/>
                </a:solidFill>
                <a:latin typeface="Tahoma"/>
                <a:cs typeface="Tahoma"/>
              </a:rPr>
              <a:t>tree</a:t>
            </a:r>
            <a:r>
              <a:rPr sz="2400" spc="-10" dirty="0"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53340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/>
              <a:t>Traversal</a:t>
            </a:r>
            <a:r>
              <a:rPr sz="3200" spc="-35" dirty="0"/>
              <a:t> </a:t>
            </a:r>
            <a:r>
              <a:rPr sz="3200" dirty="0"/>
              <a:t>of</a:t>
            </a:r>
            <a:r>
              <a:rPr sz="3200" spc="-85" dirty="0"/>
              <a:t> </a:t>
            </a:r>
            <a:r>
              <a:rPr sz="3200" spc="-70" dirty="0"/>
              <a:t>Trees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85290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25500" y="1785619"/>
            <a:ext cx="9770745" cy="13965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  <a:tab pos="7413625" algn="l"/>
              </a:tabLst>
            </a:pPr>
            <a:r>
              <a:rPr lang="en-US" sz="2800" dirty="0"/>
              <a:t>In a preorder traversal, a node is visited before its </a:t>
            </a:r>
            <a:r>
              <a:rPr lang="en-US" sz="2800" dirty="0" smtClean="0"/>
              <a:t>descendants</a:t>
            </a: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  <a:tab pos="7413625" algn="l"/>
              </a:tabLst>
            </a:pPr>
            <a:r>
              <a:rPr lang="en-US" sz="2800" dirty="0"/>
              <a:t>If a tree is ordered, then the subtrees are traversed according to the order of the </a:t>
            </a:r>
            <a:r>
              <a:rPr lang="en-US" sz="2800" dirty="0" smtClean="0"/>
              <a:t>children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7010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Preorder Traversal (General Tree)</a:t>
            </a:r>
            <a:endParaRPr sz="3200" dirty="0"/>
          </a:p>
        </p:txBody>
      </p:sp>
      <p:pic>
        <p:nvPicPr>
          <p:cNvPr id="1026" name="Picture 2" descr="https://o.remove.bg/downloads/ba5043cb-6a32-4b50-b781-dbcb1de5eacf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200627"/>
            <a:ext cx="730567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52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25500" y="1785619"/>
            <a:ext cx="9770745" cy="19300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241300" algn="l"/>
                <a:tab pos="7413625" algn="l"/>
              </a:tabLst>
            </a:pPr>
            <a:r>
              <a:rPr lang="en-US" sz="2800" dirty="0"/>
              <a:t>Traversing a binary tree in Preorder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Visit </a:t>
            </a:r>
            <a:r>
              <a:rPr lang="en-US" sz="2800" dirty="0"/>
              <a:t>the root.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Traverse </a:t>
            </a:r>
            <a:r>
              <a:rPr lang="en-US" sz="2800" dirty="0"/>
              <a:t>the left subtree in Preorder.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Traverse </a:t>
            </a:r>
            <a:r>
              <a:rPr lang="en-US" sz="2800" dirty="0"/>
              <a:t>the right subtree in Preorder.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7010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Preorder Traversal (Binary Tree)</a:t>
            </a:r>
            <a:endParaRPr sz="3200" dirty="0"/>
          </a:p>
        </p:txBody>
      </p:sp>
      <p:pic>
        <p:nvPicPr>
          <p:cNvPr id="2050" name="Picture 2" descr="https://o.remove.bg/downloads/6124f6ac-d2db-457c-bfd2-a192bd6c4732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766993"/>
            <a:ext cx="696277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89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25500" y="1785619"/>
            <a:ext cx="9770745" cy="4834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  <a:tab pos="7413625" algn="l"/>
              </a:tabLst>
            </a:pPr>
            <a:r>
              <a:rPr lang="en-US" sz="2800" dirty="0"/>
              <a:t>In a </a:t>
            </a:r>
            <a:r>
              <a:rPr lang="en-US" sz="2800" dirty="0" err="1"/>
              <a:t>postorder</a:t>
            </a:r>
            <a:r>
              <a:rPr lang="en-US" sz="2800" dirty="0"/>
              <a:t> traversal, a node is visited after its descendants 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7010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 err="1"/>
              <a:t>Postorder</a:t>
            </a:r>
            <a:r>
              <a:rPr lang="en-US" sz="3200" dirty="0"/>
              <a:t> Traversal (General Tree)</a:t>
            </a:r>
            <a:endParaRPr sz="3200" dirty="0"/>
          </a:p>
        </p:txBody>
      </p:sp>
      <p:pic>
        <p:nvPicPr>
          <p:cNvPr id="4098" name="Picture 2" descr="https://o.remove.bg/downloads/c1f37c3f-fcf7-46cf-92ce-80c571b21848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200400"/>
            <a:ext cx="7439025" cy="30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13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25500" y="1785619"/>
            <a:ext cx="9770745" cy="19300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241300" algn="l"/>
                <a:tab pos="7413625" algn="l"/>
              </a:tabLst>
            </a:pPr>
            <a:r>
              <a:rPr lang="en-US" sz="2800" dirty="0"/>
              <a:t>Traversing a binary tree in </a:t>
            </a:r>
            <a:r>
              <a:rPr lang="en-US" sz="2800" dirty="0" err="1"/>
              <a:t>Postorder</a:t>
            </a:r>
            <a:r>
              <a:rPr lang="en-US" sz="2800" dirty="0"/>
              <a:t>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Traverse </a:t>
            </a:r>
            <a:r>
              <a:rPr lang="en-US" sz="2800" dirty="0"/>
              <a:t>the left subtree in Preorder.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Traverse </a:t>
            </a:r>
            <a:r>
              <a:rPr lang="en-US" sz="2800" dirty="0"/>
              <a:t>the right subtree in Preorder.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Visit </a:t>
            </a:r>
            <a:r>
              <a:rPr lang="en-US" sz="2800" dirty="0"/>
              <a:t>the root. 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7010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 err="1"/>
              <a:t>Postorder</a:t>
            </a:r>
            <a:r>
              <a:rPr lang="en-US" sz="3200" dirty="0"/>
              <a:t> Traversal (Binary Tree)</a:t>
            </a:r>
            <a:endParaRPr sz="3200" dirty="0"/>
          </a:p>
        </p:txBody>
      </p:sp>
      <p:pic>
        <p:nvPicPr>
          <p:cNvPr id="3074" name="Picture 2" descr="https://o.remove.bg/downloads/4ef730e4-0bcf-4a0c-8967-cdba9a0dadb2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084" y="3606661"/>
            <a:ext cx="7267575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86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25500" y="1785619"/>
            <a:ext cx="9770745" cy="4834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  <a:tab pos="7413625" algn="l"/>
              </a:tabLst>
            </a:pPr>
            <a:r>
              <a:rPr lang="en-US" sz="2800" dirty="0"/>
              <a:t>In a </a:t>
            </a:r>
            <a:r>
              <a:rPr lang="en-US" sz="2800" dirty="0" err="1"/>
              <a:t>postorder</a:t>
            </a:r>
            <a:r>
              <a:rPr lang="en-US" sz="2800" dirty="0"/>
              <a:t> traversal, a node is visited after its descendants 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7010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 err="1"/>
              <a:t>Inorder</a:t>
            </a:r>
            <a:r>
              <a:rPr lang="en-US" sz="3200" dirty="0"/>
              <a:t> Traversal</a:t>
            </a:r>
            <a:endParaRPr sz="3200" dirty="0"/>
          </a:p>
        </p:txBody>
      </p:sp>
      <p:pic>
        <p:nvPicPr>
          <p:cNvPr id="6146" name="Picture 2" descr="https://o.remove.bg/downloads/a2076967-3706-4e61-a226-4e610df72707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770673"/>
            <a:ext cx="466725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76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825500" y="1785619"/>
            <a:ext cx="9770745" cy="19300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241300" algn="l"/>
                <a:tab pos="7413625" algn="l"/>
              </a:tabLst>
            </a:pPr>
            <a:r>
              <a:rPr lang="en-US" sz="2800" dirty="0"/>
              <a:t>Traversing a binary tree in </a:t>
            </a:r>
            <a:r>
              <a:rPr lang="en-US" sz="2800" dirty="0" err="1"/>
              <a:t>inorder</a:t>
            </a:r>
            <a:r>
              <a:rPr lang="en-US" sz="2800" dirty="0"/>
              <a:t>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Traverse </a:t>
            </a:r>
            <a:r>
              <a:rPr lang="en-US" sz="2800" dirty="0"/>
              <a:t>the left subtree in </a:t>
            </a:r>
            <a:r>
              <a:rPr lang="en-US" sz="2800" dirty="0" err="1"/>
              <a:t>inorder</a:t>
            </a:r>
            <a:r>
              <a:rPr lang="en-US" sz="2800" dirty="0"/>
              <a:t>.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Visit </a:t>
            </a:r>
            <a:r>
              <a:rPr lang="en-US" sz="2800" dirty="0"/>
              <a:t>the root. </a:t>
            </a:r>
            <a:endParaRPr lang="en-US" sz="2800" dirty="0" smtClean="0"/>
          </a:p>
          <a:p>
            <a:pPr marL="984250" lvl="1" indent="-514350">
              <a:spcBef>
                <a:spcPts val="409"/>
              </a:spcBef>
              <a:buFont typeface="+mj-lt"/>
              <a:buAutoNum type="arabicPeriod"/>
              <a:tabLst>
                <a:tab pos="241300" algn="l"/>
                <a:tab pos="7413625" algn="l"/>
              </a:tabLst>
            </a:pPr>
            <a:r>
              <a:rPr lang="en-US" sz="2800" dirty="0" smtClean="0"/>
              <a:t>Traverse </a:t>
            </a:r>
            <a:r>
              <a:rPr lang="en-US" sz="2800" dirty="0"/>
              <a:t>the right subtree in </a:t>
            </a:r>
            <a:r>
              <a:rPr lang="en-US" sz="2800" dirty="0" err="1"/>
              <a:t>inorder</a:t>
            </a:r>
            <a:r>
              <a:rPr lang="en-US" sz="2800" dirty="0"/>
              <a:t>. 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7010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 err="1"/>
              <a:t>Inorder</a:t>
            </a:r>
            <a:r>
              <a:rPr lang="en-US" sz="3200" dirty="0"/>
              <a:t> Traversal</a:t>
            </a:r>
            <a:endParaRPr sz="3200" dirty="0"/>
          </a:p>
        </p:txBody>
      </p:sp>
      <p:pic>
        <p:nvPicPr>
          <p:cNvPr id="5122" name="Picture 2" descr="https://o.remove.bg/downloads/86206897-4532-4687-9956-a2ce0e8f40d7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933824"/>
            <a:ext cx="5715000" cy="262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23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457200"/>
            <a:ext cx="9828530" cy="519373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89560" marR="5080" indent="-277495">
              <a:lnSpc>
                <a:spcPts val="3790"/>
              </a:lnSpc>
              <a:spcBef>
                <a:spcPts val="250"/>
              </a:spcBef>
              <a:tabLst>
                <a:tab pos="7998459" algn="l"/>
              </a:tabLst>
            </a:pPr>
            <a:r>
              <a:rPr lang="en-US" sz="3200" dirty="0"/>
              <a:t>Preorder, </a:t>
            </a:r>
            <a:r>
              <a:rPr lang="en-US" sz="3200" dirty="0" err="1"/>
              <a:t>Inorder</a:t>
            </a:r>
            <a:r>
              <a:rPr lang="en-US" sz="3200" dirty="0"/>
              <a:t>, </a:t>
            </a:r>
            <a:r>
              <a:rPr lang="en-US" sz="3200" dirty="0" err="1"/>
              <a:t>Postorder</a:t>
            </a:r>
            <a:r>
              <a:rPr lang="en-US" sz="3200" dirty="0"/>
              <a:t> Traversals: Example</a:t>
            </a:r>
            <a:endParaRPr sz="3200" dirty="0"/>
          </a:p>
        </p:txBody>
      </p:sp>
      <p:pic>
        <p:nvPicPr>
          <p:cNvPr id="7172" name="Picture 4" descr="https://o.remove.bg/downloads/3e542224-33b7-4db3-9713-ce6f85c9e1f5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676400"/>
            <a:ext cx="321945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s://o.remove.bg/downloads/b82df78e-3275-45b6-9daf-7d261c422c87/image-removebg-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725352"/>
            <a:ext cx="6964674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55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916939" y="1795779"/>
            <a:ext cx="10132061" cy="2662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solidFill>
                  <a:schemeClr val="tx2"/>
                </a:solidFill>
                <a:latin typeface="Calibri"/>
                <a:cs typeface="Calibri"/>
              </a:rPr>
              <a:t>Preoder:</a:t>
            </a:r>
            <a:r>
              <a:rPr sz="2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chemeClr val="tx2"/>
                </a:solidFill>
                <a:latin typeface="Calibri"/>
                <a:cs typeface="Calibri"/>
              </a:rPr>
              <a:t>f</a:t>
            </a:r>
            <a:r>
              <a:rPr sz="2800" b="1" i="1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800" b="1" i="1" spc="-15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z="2800" b="1" i="1" dirty="0" smtClean="0">
                <a:solidFill>
                  <a:schemeClr val="tx2"/>
                </a:solidFill>
                <a:latin typeface="Calibri"/>
                <a:cs typeface="Calibri"/>
              </a:rPr>
              <a:t>b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spc="-15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z="2800" b="1" i="1" dirty="0" smtClean="0">
                <a:solidFill>
                  <a:schemeClr val="tx2"/>
                </a:solidFill>
                <a:latin typeface="Calibri"/>
                <a:cs typeface="Calibri"/>
              </a:rPr>
              <a:t>g</a:t>
            </a:r>
            <a:r>
              <a:rPr lang="en-US" sz="2800" b="1" i="1" spc="-15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sz="2800" b="1" i="1" dirty="0" err="1" smtClean="0">
                <a:solidFill>
                  <a:schemeClr val="tx2"/>
                </a:solidFill>
                <a:latin typeface="Calibri"/>
                <a:cs typeface="Calibri"/>
              </a:rPr>
              <a:t>i</a:t>
            </a:r>
            <a:r>
              <a:rPr lang="en-US" sz="2800" b="1" i="1" spc="-15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sz="2800" b="1" i="1" dirty="0" smtClean="0">
                <a:solidFill>
                  <a:schemeClr val="tx2"/>
                </a:solidFill>
                <a:latin typeface="Calibri"/>
                <a:cs typeface="Calibri"/>
              </a:rPr>
              <a:t>h</a:t>
            </a:r>
            <a:endParaRPr lang="en-US" sz="2800" b="1" i="1" dirty="0" smtClean="0">
              <a:solidFill>
                <a:schemeClr val="tx2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300" algn="l"/>
              </a:tabLst>
            </a:pPr>
            <a:endParaRPr lang="en-US"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5" dirty="0" smtClean="0"/>
              <a:t>No </a:t>
            </a:r>
            <a:r>
              <a:rPr lang="en-US" sz="2800" spc="-5" dirty="0"/>
              <a:t>Unique </a:t>
            </a:r>
            <a:r>
              <a:rPr lang="en-US" sz="2800" spc="-5" dirty="0" smtClean="0"/>
              <a:t>Tree if only one sequence is specified.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800" spc="-5" dirty="0" smtClean="0"/>
              <a:t>Need at least two traversal sequences to construct a unique tree.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endParaRPr lang="en-US" sz="2800" spc="-5" dirty="0" smtClean="0"/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457200"/>
            <a:ext cx="9828530" cy="1006686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89560" marR="5080" indent="-277495">
              <a:lnSpc>
                <a:spcPts val="3790"/>
              </a:lnSpc>
              <a:spcBef>
                <a:spcPts val="250"/>
              </a:spcBef>
              <a:tabLst>
                <a:tab pos="7998459" algn="l"/>
              </a:tabLst>
            </a:pPr>
            <a:r>
              <a:rPr sz="3200" spc="-10" dirty="0"/>
              <a:t>Construct</a:t>
            </a:r>
            <a:r>
              <a:rPr sz="3200" dirty="0"/>
              <a:t> a</a:t>
            </a:r>
            <a:r>
              <a:rPr sz="3200" spc="5" dirty="0"/>
              <a:t> </a:t>
            </a:r>
            <a:r>
              <a:rPr sz="3200" spc="-5" dirty="0"/>
              <a:t>Binary</a:t>
            </a:r>
            <a:r>
              <a:rPr sz="3200" spc="5" dirty="0"/>
              <a:t> </a:t>
            </a:r>
            <a:r>
              <a:rPr sz="3200" spc="-85" dirty="0" smtClean="0"/>
              <a:t>Tree</a:t>
            </a:r>
            <a:r>
              <a:rPr lang="en-US" sz="3200" dirty="0"/>
              <a:t> </a:t>
            </a:r>
            <a:r>
              <a:rPr lang="en-US" sz="3200" spc="-5" dirty="0" smtClean="0"/>
              <a:t>only </a:t>
            </a:r>
            <a:r>
              <a:rPr lang="en-US" sz="3200" spc="-5" dirty="0"/>
              <a:t>from </a:t>
            </a:r>
            <a:r>
              <a:rPr lang="en-US" sz="3200" spc="-5" dirty="0" smtClean="0"/>
              <a:t>Preorder, </a:t>
            </a:r>
            <a:r>
              <a:rPr lang="en-US" sz="3200" spc="-5" dirty="0" err="1" smtClean="0"/>
              <a:t>Inorder</a:t>
            </a:r>
            <a:r>
              <a:rPr lang="en-US" sz="3200" spc="-5" dirty="0" smtClean="0"/>
              <a:t> </a:t>
            </a:r>
            <a:r>
              <a:rPr lang="en-US" sz="3200" spc="-5" dirty="0"/>
              <a:t>or  </a:t>
            </a:r>
            <a:r>
              <a:rPr lang="en-US" sz="3200" spc="-5" dirty="0" err="1" smtClean="0"/>
              <a:t>Postorder</a:t>
            </a:r>
            <a:endParaRPr sz="3200" dirty="0"/>
          </a:p>
        </p:txBody>
      </p:sp>
      <p:pic>
        <p:nvPicPr>
          <p:cNvPr id="7170" name="Picture 2" descr="https://o.remove.bg/downloads/9a8754af-77d9-4670-86fc-ab4a50d7c85d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991767"/>
            <a:ext cx="50387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64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916938" y="1716532"/>
            <a:ext cx="10741661" cy="1037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  <a:tab pos="1652905" algn="l"/>
                <a:tab pos="1922780" algn="l"/>
                <a:tab pos="2272030" algn="l"/>
                <a:tab pos="2604135" algn="l"/>
                <a:tab pos="2954020" algn="l"/>
                <a:tab pos="3266440" algn="l"/>
                <a:tab pos="3604895" algn="l"/>
                <a:tab pos="3931920" algn="l"/>
                <a:tab pos="4175125" algn="l"/>
              </a:tabLst>
            </a:pPr>
            <a:r>
              <a:rPr sz="2800" dirty="0">
                <a:solidFill>
                  <a:schemeClr val="tx2"/>
                </a:solidFill>
                <a:latin typeface="Calibri"/>
                <a:cs typeface="Calibri"/>
              </a:rPr>
              <a:t>P</a:t>
            </a:r>
            <a:r>
              <a:rPr sz="2800" spc="-40" dirty="0">
                <a:solidFill>
                  <a:schemeClr val="tx2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chemeClr val="tx2"/>
                </a:solidFill>
                <a:latin typeface="Calibri"/>
                <a:cs typeface="Calibri"/>
              </a:rPr>
              <a:t>eo</a:t>
            </a:r>
            <a:r>
              <a:rPr sz="2800" dirty="0">
                <a:solidFill>
                  <a:schemeClr val="tx2"/>
                </a:solidFill>
                <a:latin typeface="Calibri"/>
                <a:cs typeface="Calibri"/>
              </a:rPr>
              <a:t>d</a:t>
            </a:r>
            <a:r>
              <a:rPr sz="2800" spc="-5" dirty="0">
                <a:solidFill>
                  <a:schemeClr val="tx2"/>
                </a:solidFill>
                <a:latin typeface="Calibri"/>
                <a:cs typeface="Calibri"/>
              </a:rPr>
              <a:t>er</a:t>
            </a:r>
            <a:r>
              <a:rPr sz="2800" dirty="0">
                <a:solidFill>
                  <a:schemeClr val="tx2"/>
                </a:solidFill>
                <a:latin typeface="Calibri"/>
                <a:cs typeface="Calibri"/>
              </a:rPr>
              <a:t>:	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f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b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a</a:t>
            </a:r>
            <a:r>
              <a:rPr sz="2800" b="1" dirty="0">
                <a:solidFill>
                  <a:schemeClr val="tx2"/>
                </a:solidFill>
                <a:latin typeface="Calibri"/>
                <a:cs typeface="Calibri"/>
              </a:rPr>
              <a:t>	</a:t>
            </a:r>
            <a:r>
              <a:rPr lang="en-US" sz="2800" b="1" i="1" spc="-15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d</a:t>
            </a:r>
            <a:r>
              <a:rPr lang="en-US" sz="2800" b="1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800" b="1" i="1" spc="-15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c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e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g</a:t>
            </a:r>
            <a:r>
              <a:rPr lang="en-US" sz="2800" b="1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b="1" dirty="0">
                <a:solidFill>
                  <a:schemeClr val="tx2"/>
                </a:solidFill>
                <a:latin typeface="Calibri"/>
                <a:cs typeface="Calibri"/>
              </a:rPr>
              <a:t>i</a:t>
            </a:r>
            <a:r>
              <a:rPr lang="en-US" sz="2800" b="1" dirty="0" smtClean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h</a:t>
            </a:r>
            <a:endParaRPr sz="2800" b="1" dirty="0">
              <a:solidFill>
                <a:schemeClr val="tx2"/>
              </a:solidFill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  <a:tab pos="1568450" algn="l"/>
                <a:tab pos="1900555" algn="l"/>
                <a:tab pos="2249805" algn="l"/>
                <a:tab pos="2562860" algn="l"/>
                <a:tab pos="2912110" algn="l"/>
                <a:tab pos="3250565" algn="l"/>
                <a:tab pos="3519170" algn="l"/>
                <a:tab pos="3761740" algn="l"/>
                <a:tab pos="4090670" algn="l"/>
              </a:tabLst>
            </a:pPr>
            <a:r>
              <a:rPr sz="2800" spc="-10" dirty="0">
                <a:solidFill>
                  <a:schemeClr val="tx2"/>
                </a:solidFill>
                <a:latin typeface="Calibri"/>
                <a:cs typeface="Calibri"/>
              </a:rPr>
              <a:t>Inorder:	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a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b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c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d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chemeClr val="tx2"/>
                </a:solidFill>
                <a:latin typeface="Calibri"/>
                <a:cs typeface="Calibri"/>
              </a:rPr>
              <a:t>	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f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err="1" smtClean="0">
                <a:solidFill>
                  <a:schemeClr val="tx2"/>
                </a:solidFill>
                <a:latin typeface="Calibri"/>
                <a:cs typeface="Calibri"/>
              </a:rPr>
              <a:t>i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g</a:t>
            </a:r>
            <a:r>
              <a:rPr lang="en-US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h</a:t>
            </a:r>
            <a:endParaRPr sz="2800" b="1" dirty="0">
              <a:solidFill>
                <a:schemeClr val="tx2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1089257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07660" algn="l"/>
              </a:tabLst>
            </a:pPr>
            <a:r>
              <a:rPr sz="3200" spc="-10" dirty="0"/>
              <a:t>Construct</a:t>
            </a:r>
            <a:r>
              <a:rPr sz="3200" dirty="0"/>
              <a:t> a</a:t>
            </a:r>
            <a:r>
              <a:rPr sz="3200" spc="5" dirty="0"/>
              <a:t> </a:t>
            </a:r>
            <a:r>
              <a:rPr sz="3200" spc="-5" dirty="0"/>
              <a:t>Binary</a:t>
            </a:r>
            <a:r>
              <a:rPr sz="3200" spc="5" dirty="0"/>
              <a:t> </a:t>
            </a:r>
            <a:r>
              <a:rPr sz="3200" spc="-85" dirty="0"/>
              <a:t>Tree</a:t>
            </a:r>
            <a:r>
              <a:rPr sz="3200" dirty="0"/>
              <a:t> </a:t>
            </a:r>
            <a:r>
              <a:rPr sz="3200" spc="-15" dirty="0" smtClean="0"/>
              <a:t>from</a:t>
            </a:r>
            <a:r>
              <a:rPr lang="en-US" sz="3200" spc="-15" dirty="0" smtClean="0"/>
              <a:t> </a:t>
            </a:r>
            <a:r>
              <a:rPr sz="3200" i="1" spc="-10" dirty="0" smtClean="0">
                <a:solidFill>
                  <a:srgbClr val="C00000"/>
                </a:solidFill>
              </a:rPr>
              <a:t>Preorder</a:t>
            </a:r>
            <a:r>
              <a:rPr sz="3200" i="1" spc="-60" dirty="0" smtClean="0">
                <a:solidFill>
                  <a:srgbClr val="C00000"/>
                </a:solidFill>
              </a:rPr>
              <a:t> </a:t>
            </a:r>
            <a:r>
              <a:rPr sz="3200" i="1" dirty="0">
                <a:solidFill>
                  <a:srgbClr val="C00000"/>
                </a:solidFill>
              </a:rPr>
              <a:t>&amp;</a:t>
            </a:r>
            <a:r>
              <a:rPr sz="3200" i="1" spc="-65" dirty="0">
                <a:solidFill>
                  <a:srgbClr val="C00000"/>
                </a:solidFill>
              </a:rPr>
              <a:t> </a:t>
            </a:r>
            <a:r>
              <a:rPr sz="3200" i="1" spc="-10" dirty="0">
                <a:solidFill>
                  <a:srgbClr val="C00000"/>
                </a:solidFill>
              </a:rPr>
              <a:t>Inorder</a:t>
            </a:r>
            <a:endParaRPr sz="3200" i="1" dirty="0">
              <a:solidFill>
                <a:srgbClr val="C00000"/>
              </a:solidFill>
            </a:endParaRPr>
          </a:p>
        </p:txBody>
      </p:sp>
      <p:pic>
        <p:nvPicPr>
          <p:cNvPr id="9218" name="Picture 2" descr="https://o.remove.bg/downloads/fda3318f-45ba-4b95-8e0f-92dabd5e0953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352800"/>
            <a:ext cx="4989143" cy="279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35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916938" y="1716532"/>
            <a:ext cx="10813837" cy="1031051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  <a:tab pos="1788795" algn="l"/>
                <a:tab pos="2120900" algn="l"/>
                <a:tab pos="2433955" algn="l"/>
                <a:tab pos="2772410" algn="l"/>
                <a:tab pos="3121660" algn="l"/>
                <a:tab pos="3471545" algn="l"/>
                <a:tab pos="3714115" algn="l"/>
                <a:tab pos="4064000" algn="l"/>
                <a:tab pos="4392930" algn="l"/>
              </a:tabLst>
            </a:pPr>
            <a:r>
              <a:rPr sz="2800" spc="-55" dirty="0">
                <a:solidFill>
                  <a:schemeClr val="tx2"/>
                </a:solidFill>
                <a:latin typeface="Calibri"/>
                <a:cs typeface="Calibri"/>
              </a:rPr>
              <a:t>P</a:t>
            </a:r>
            <a:r>
              <a:rPr sz="2800" dirty="0">
                <a:solidFill>
                  <a:schemeClr val="tx2"/>
                </a:solidFill>
                <a:latin typeface="Calibri"/>
                <a:cs typeface="Calibri"/>
              </a:rPr>
              <a:t>o</a:t>
            </a:r>
            <a:r>
              <a:rPr sz="2800" spc="-30" dirty="0">
                <a:solidFill>
                  <a:schemeClr val="tx2"/>
                </a:solidFill>
                <a:latin typeface="Calibri"/>
                <a:cs typeface="Calibri"/>
              </a:rPr>
              <a:t>st</a:t>
            </a:r>
            <a:r>
              <a:rPr sz="2800" spc="-5" dirty="0">
                <a:solidFill>
                  <a:schemeClr val="tx2"/>
                </a:solidFill>
                <a:latin typeface="Calibri"/>
                <a:cs typeface="Calibri"/>
              </a:rPr>
              <a:t>o</a:t>
            </a:r>
            <a:r>
              <a:rPr sz="2800" dirty="0">
                <a:solidFill>
                  <a:schemeClr val="tx2"/>
                </a:solidFill>
                <a:latin typeface="Calibri"/>
                <a:cs typeface="Calibri"/>
              </a:rPr>
              <a:t>d</a:t>
            </a:r>
            <a:r>
              <a:rPr sz="2800" spc="-5" dirty="0">
                <a:solidFill>
                  <a:schemeClr val="tx2"/>
                </a:solidFill>
                <a:latin typeface="Calibri"/>
                <a:cs typeface="Calibri"/>
              </a:rPr>
              <a:t>er</a:t>
            </a:r>
            <a:r>
              <a:rPr sz="2800" dirty="0">
                <a:solidFill>
                  <a:schemeClr val="tx2"/>
                </a:solidFill>
                <a:latin typeface="Calibri"/>
                <a:cs typeface="Calibri"/>
              </a:rPr>
              <a:t>:	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a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c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e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d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b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err="1" smtClean="0">
                <a:solidFill>
                  <a:schemeClr val="tx2"/>
                </a:solidFill>
                <a:latin typeface="Calibri"/>
                <a:cs typeface="Calibri"/>
              </a:rPr>
              <a:t>i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h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g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800" b="1" dirty="0" smtClean="0">
                <a:solidFill>
                  <a:schemeClr val="tx2"/>
                </a:solidFill>
                <a:latin typeface="Calibri"/>
                <a:cs typeface="Calibri"/>
              </a:rPr>
              <a:t>f</a:t>
            </a:r>
            <a:endParaRPr sz="2800" b="1" dirty="0">
              <a:solidFill>
                <a:schemeClr val="tx2"/>
              </a:solidFill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  <a:tab pos="1568450" algn="l"/>
                <a:tab pos="1900555" algn="l"/>
                <a:tab pos="2249805" algn="l"/>
                <a:tab pos="2562860" algn="l"/>
                <a:tab pos="2912110" algn="l"/>
                <a:tab pos="3250565" algn="l"/>
                <a:tab pos="3519170" algn="l"/>
                <a:tab pos="3761740" algn="l"/>
                <a:tab pos="4090670" algn="l"/>
              </a:tabLst>
            </a:pPr>
            <a:r>
              <a:rPr lang="pt-BR" sz="2800" spc="-10" dirty="0">
                <a:solidFill>
                  <a:schemeClr val="tx2"/>
                </a:solidFill>
                <a:cs typeface="Calibri"/>
              </a:rPr>
              <a:t>Inorder:	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a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b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c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d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e	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f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i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g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h</a:t>
            </a:r>
            <a:endParaRPr sz="2800" dirty="0">
              <a:solidFill>
                <a:schemeClr val="tx2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112397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07660" algn="l"/>
              </a:tabLst>
            </a:pPr>
            <a:r>
              <a:rPr sz="3200" spc="-10" dirty="0"/>
              <a:t>Construct</a:t>
            </a:r>
            <a:r>
              <a:rPr sz="3200" dirty="0"/>
              <a:t> a</a:t>
            </a:r>
            <a:r>
              <a:rPr sz="3200" spc="5" dirty="0"/>
              <a:t> </a:t>
            </a:r>
            <a:r>
              <a:rPr sz="3200" spc="-5" dirty="0"/>
              <a:t>Binary</a:t>
            </a:r>
            <a:r>
              <a:rPr sz="3200" spc="5" dirty="0"/>
              <a:t> </a:t>
            </a:r>
            <a:r>
              <a:rPr sz="3200" spc="-85" dirty="0"/>
              <a:t>Tree</a:t>
            </a:r>
            <a:r>
              <a:rPr sz="3200" dirty="0"/>
              <a:t> </a:t>
            </a:r>
            <a:r>
              <a:rPr sz="3200" spc="-15" dirty="0" smtClean="0"/>
              <a:t>from</a:t>
            </a:r>
            <a:r>
              <a:rPr lang="en-US" sz="3200" spc="-15" dirty="0" smtClean="0"/>
              <a:t> </a:t>
            </a:r>
            <a:r>
              <a:rPr sz="3200" i="1" spc="-20" dirty="0" err="1" smtClean="0">
                <a:solidFill>
                  <a:srgbClr val="C00000"/>
                </a:solidFill>
              </a:rPr>
              <a:t>Postorder</a:t>
            </a:r>
            <a:r>
              <a:rPr sz="3200" i="1" spc="-45" dirty="0" smtClean="0">
                <a:solidFill>
                  <a:srgbClr val="C00000"/>
                </a:solidFill>
              </a:rPr>
              <a:t> </a:t>
            </a:r>
            <a:r>
              <a:rPr sz="3200" i="1" dirty="0">
                <a:solidFill>
                  <a:srgbClr val="C00000"/>
                </a:solidFill>
              </a:rPr>
              <a:t>&amp;</a:t>
            </a:r>
            <a:r>
              <a:rPr sz="3200" i="1" spc="-45" dirty="0">
                <a:solidFill>
                  <a:srgbClr val="C00000"/>
                </a:solidFill>
              </a:rPr>
              <a:t> </a:t>
            </a:r>
            <a:r>
              <a:rPr sz="3200" i="1" spc="-10" dirty="0">
                <a:solidFill>
                  <a:srgbClr val="C00000"/>
                </a:solidFill>
              </a:rPr>
              <a:t>Inorder</a:t>
            </a:r>
            <a:endParaRPr sz="3200" i="1" dirty="0">
              <a:solidFill>
                <a:srgbClr val="C00000"/>
              </a:solidFill>
            </a:endParaRPr>
          </a:p>
        </p:txBody>
      </p:sp>
      <p:pic>
        <p:nvPicPr>
          <p:cNvPr id="10242" name="Picture 2" descr="https://o.remove.bg/downloads/9daddef5-5423-4ec4-a76f-570078b250e3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331" y="3733800"/>
            <a:ext cx="4257394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75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916939" y="1716532"/>
            <a:ext cx="11160970" cy="255454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  <a:tab pos="1652905" algn="l"/>
                <a:tab pos="1922780" algn="l"/>
                <a:tab pos="2272030" algn="l"/>
                <a:tab pos="2604135" algn="l"/>
                <a:tab pos="2954020" algn="l"/>
                <a:tab pos="3266440" algn="l"/>
                <a:tab pos="3604895" algn="l"/>
                <a:tab pos="3931920" algn="l"/>
                <a:tab pos="4175125" algn="l"/>
              </a:tabLst>
            </a:pPr>
            <a:r>
              <a:rPr lang="pt-BR" sz="2800" dirty="0">
                <a:solidFill>
                  <a:schemeClr val="tx2"/>
                </a:solidFill>
                <a:cs typeface="Calibri"/>
              </a:rPr>
              <a:t>P</a:t>
            </a:r>
            <a:r>
              <a:rPr lang="pt-BR" sz="2800" spc="-40" dirty="0">
                <a:solidFill>
                  <a:schemeClr val="tx2"/>
                </a:solidFill>
                <a:cs typeface="Calibri"/>
              </a:rPr>
              <a:t>r</a:t>
            </a:r>
            <a:r>
              <a:rPr lang="pt-BR" sz="2800" spc="-5" dirty="0">
                <a:solidFill>
                  <a:schemeClr val="tx2"/>
                </a:solidFill>
                <a:cs typeface="Calibri"/>
              </a:rPr>
              <a:t>eo</a:t>
            </a:r>
            <a:r>
              <a:rPr lang="pt-BR" sz="2800" dirty="0">
                <a:solidFill>
                  <a:schemeClr val="tx2"/>
                </a:solidFill>
                <a:cs typeface="Calibri"/>
              </a:rPr>
              <a:t>d</a:t>
            </a:r>
            <a:r>
              <a:rPr lang="pt-BR" sz="2800" spc="-5" dirty="0">
                <a:solidFill>
                  <a:schemeClr val="tx2"/>
                </a:solidFill>
                <a:cs typeface="Calibri"/>
              </a:rPr>
              <a:t>er</a:t>
            </a:r>
            <a:r>
              <a:rPr lang="pt-BR" sz="2800" dirty="0">
                <a:solidFill>
                  <a:schemeClr val="tx2"/>
                </a:solidFill>
                <a:cs typeface="Calibri"/>
              </a:rPr>
              <a:t>:	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f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b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a	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d 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c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e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g 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i 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h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  <a:tab pos="1788795" algn="l"/>
                <a:tab pos="2120900" algn="l"/>
                <a:tab pos="2433955" algn="l"/>
                <a:tab pos="2772410" algn="l"/>
                <a:tab pos="3121660" algn="l"/>
                <a:tab pos="3471545" algn="l"/>
                <a:tab pos="3714115" algn="l"/>
                <a:tab pos="4064000" algn="l"/>
                <a:tab pos="4392930" algn="l"/>
              </a:tabLst>
            </a:pPr>
            <a:r>
              <a:rPr lang="pt-BR" sz="2800" spc="-55" dirty="0">
                <a:solidFill>
                  <a:schemeClr val="tx2"/>
                </a:solidFill>
                <a:cs typeface="Calibri"/>
              </a:rPr>
              <a:t>P</a:t>
            </a:r>
            <a:r>
              <a:rPr lang="pt-BR" sz="2800" dirty="0">
                <a:solidFill>
                  <a:schemeClr val="tx2"/>
                </a:solidFill>
                <a:cs typeface="Calibri"/>
              </a:rPr>
              <a:t>o</a:t>
            </a:r>
            <a:r>
              <a:rPr lang="pt-BR" sz="2800" spc="-30" dirty="0">
                <a:solidFill>
                  <a:schemeClr val="tx2"/>
                </a:solidFill>
                <a:cs typeface="Calibri"/>
              </a:rPr>
              <a:t>st</a:t>
            </a:r>
            <a:r>
              <a:rPr lang="pt-BR" sz="2800" spc="-5" dirty="0">
                <a:solidFill>
                  <a:schemeClr val="tx2"/>
                </a:solidFill>
                <a:cs typeface="Calibri"/>
              </a:rPr>
              <a:t>o</a:t>
            </a:r>
            <a:r>
              <a:rPr lang="pt-BR" sz="2800" dirty="0">
                <a:solidFill>
                  <a:schemeClr val="tx2"/>
                </a:solidFill>
                <a:cs typeface="Calibri"/>
              </a:rPr>
              <a:t>d</a:t>
            </a:r>
            <a:r>
              <a:rPr lang="pt-BR" sz="2800" spc="-5" dirty="0">
                <a:solidFill>
                  <a:schemeClr val="tx2"/>
                </a:solidFill>
                <a:cs typeface="Calibri"/>
              </a:rPr>
              <a:t>er</a:t>
            </a:r>
            <a:r>
              <a:rPr lang="pt-BR" sz="2800" dirty="0">
                <a:solidFill>
                  <a:schemeClr val="tx2"/>
                </a:solidFill>
                <a:cs typeface="Calibri"/>
              </a:rPr>
              <a:t>:	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a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c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e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d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b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i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h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>
                <a:solidFill>
                  <a:schemeClr val="tx2"/>
                </a:solidFill>
                <a:cs typeface="Calibri"/>
              </a:rPr>
              <a:t>g</a:t>
            </a:r>
            <a:r>
              <a:rPr lang="pt-BR" sz="2800" b="1" i="1" spc="-1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pt-BR" sz="2800" b="1" dirty="0" smtClean="0">
                <a:solidFill>
                  <a:schemeClr val="tx2"/>
                </a:solidFill>
                <a:cs typeface="Calibri"/>
              </a:rPr>
              <a:t>f</a:t>
            </a:r>
          </a:p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241300" algn="l"/>
                <a:tab pos="1788795" algn="l"/>
                <a:tab pos="2120900" algn="l"/>
                <a:tab pos="2433955" algn="l"/>
                <a:tab pos="2772410" algn="l"/>
                <a:tab pos="3121660" algn="l"/>
                <a:tab pos="3471545" algn="l"/>
                <a:tab pos="3714115" algn="l"/>
                <a:tab pos="4064000" algn="l"/>
                <a:tab pos="4392930" algn="l"/>
              </a:tabLst>
            </a:pPr>
            <a:endParaRPr lang="pt-BR" sz="2800" b="1" dirty="0" smtClean="0">
              <a:solidFill>
                <a:schemeClr val="tx2"/>
              </a:solidFill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  <a:tab pos="1788795" algn="l"/>
                <a:tab pos="2120900" algn="l"/>
                <a:tab pos="2433955" algn="l"/>
                <a:tab pos="2772410" algn="l"/>
                <a:tab pos="3121660" algn="l"/>
                <a:tab pos="3471545" algn="l"/>
                <a:tab pos="3714115" algn="l"/>
                <a:tab pos="4064000" algn="l"/>
                <a:tab pos="4392930" algn="l"/>
              </a:tabLst>
            </a:pPr>
            <a:r>
              <a:rPr lang="pt-BR" sz="2800" dirty="0" smtClean="0">
                <a:latin typeface="Calibri"/>
                <a:cs typeface="Calibri"/>
              </a:rPr>
              <a:t>No unique Tree!!</a:t>
            </a: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300" algn="l"/>
                <a:tab pos="1788795" algn="l"/>
                <a:tab pos="2120900" algn="l"/>
                <a:tab pos="2433955" algn="l"/>
                <a:tab pos="2772410" algn="l"/>
                <a:tab pos="3121660" algn="l"/>
                <a:tab pos="3471545" algn="l"/>
                <a:tab pos="3714115" algn="l"/>
                <a:tab pos="4064000" algn="l"/>
                <a:tab pos="4392930" algn="l"/>
              </a:tabLst>
            </a:pPr>
            <a:r>
              <a:rPr lang="pt-BR" sz="2800" dirty="0" smtClean="0">
                <a:latin typeface="Calibri"/>
                <a:cs typeface="Calibri"/>
              </a:rPr>
              <a:t>Need at least one Inorder traversal sequence to construct Unique tree.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778763"/>
            <a:ext cx="107442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07660" algn="l"/>
              </a:tabLst>
            </a:pPr>
            <a:r>
              <a:rPr sz="3200" spc="-10" dirty="0"/>
              <a:t>Construct</a:t>
            </a:r>
            <a:r>
              <a:rPr sz="3200" dirty="0"/>
              <a:t> a</a:t>
            </a:r>
            <a:r>
              <a:rPr sz="3200" spc="5" dirty="0"/>
              <a:t> </a:t>
            </a:r>
            <a:r>
              <a:rPr sz="3200" spc="-5" dirty="0"/>
              <a:t>Binary</a:t>
            </a:r>
            <a:r>
              <a:rPr sz="3200" spc="5" dirty="0"/>
              <a:t> </a:t>
            </a:r>
            <a:r>
              <a:rPr sz="3200" spc="-85" dirty="0"/>
              <a:t>Tree</a:t>
            </a:r>
            <a:r>
              <a:rPr sz="3200" dirty="0"/>
              <a:t> </a:t>
            </a:r>
            <a:r>
              <a:rPr sz="3200" spc="-15" dirty="0" smtClean="0"/>
              <a:t>from</a:t>
            </a:r>
            <a:r>
              <a:rPr lang="en-US" sz="3200" spc="-15" dirty="0" smtClean="0"/>
              <a:t> </a:t>
            </a:r>
            <a:r>
              <a:rPr sz="3200" i="1" spc="-10" dirty="0" smtClean="0">
                <a:solidFill>
                  <a:srgbClr val="C00000"/>
                </a:solidFill>
              </a:rPr>
              <a:t>Preorder</a:t>
            </a:r>
            <a:r>
              <a:rPr sz="3200" i="1" spc="-65" dirty="0" smtClean="0">
                <a:solidFill>
                  <a:srgbClr val="C00000"/>
                </a:solidFill>
              </a:rPr>
              <a:t> </a:t>
            </a:r>
            <a:r>
              <a:rPr sz="3200" i="1" dirty="0">
                <a:solidFill>
                  <a:srgbClr val="C00000"/>
                </a:solidFill>
              </a:rPr>
              <a:t>&amp;</a:t>
            </a:r>
            <a:r>
              <a:rPr sz="3200" i="1" spc="-70" dirty="0">
                <a:solidFill>
                  <a:srgbClr val="C00000"/>
                </a:solidFill>
              </a:rPr>
              <a:t> </a:t>
            </a:r>
            <a:r>
              <a:rPr sz="3200" i="1" spc="-15" dirty="0">
                <a:solidFill>
                  <a:srgbClr val="C00000"/>
                </a:solidFill>
              </a:rPr>
              <a:t>Postorder</a:t>
            </a:r>
            <a:endParaRPr sz="3200" i="1" dirty="0">
              <a:solidFill>
                <a:srgbClr val="C00000"/>
              </a:solidFill>
            </a:endParaRPr>
          </a:p>
        </p:txBody>
      </p:sp>
      <p:pic>
        <p:nvPicPr>
          <p:cNvPr id="11266" name="Picture 2" descr="https://o.remove.bg/downloads/6dd66750-1314-4f83-a41d-ccc596c9cb98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555184"/>
            <a:ext cx="555307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83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21867"/>
            <a:ext cx="7543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Level Order Traversal</a:t>
            </a:r>
            <a:endParaRPr spc="-65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500" y="1825244"/>
            <a:ext cx="1031176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400" marR="5080" indent="-12700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  <a:tab pos="7052945" algn="l"/>
              </a:tabLst>
            </a:pPr>
            <a:r>
              <a:rPr sz="2400" spc="-5" dirty="0">
                <a:solidFill>
                  <a:srgbClr val="3F448B"/>
                </a:solidFill>
                <a:latin typeface="Tahoma"/>
                <a:cs typeface="Tahoma"/>
              </a:rPr>
              <a:t>In</a:t>
            </a:r>
            <a:r>
              <a:rPr sz="2400" dirty="0">
                <a:solidFill>
                  <a:srgbClr val="3F448B"/>
                </a:solidFill>
                <a:latin typeface="Tahoma"/>
                <a:cs typeface="Tahoma"/>
              </a:rPr>
              <a:t> a</a:t>
            </a:r>
            <a:r>
              <a:rPr sz="2400" spc="5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3F448B"/>
                </a:solidFill>
                <a:latin typeface="Tahoma"/>
                <a:cs typeface="Tahoma"/>
              </a:rPr>
              <a:t>level </a:t>
            </a:r>
            <a:r>
              <a:rPr sz="2400" spc="-10" dirty="0">
                <a:solidFill>
                  <a:srgbClr val="3F448B"/>
                </a:solidFill>
                <a:latin typeface="Tahoma"/>
                <a:cs typeface="Tahoma"/>
              </a:rPr>
              <a:t>order </a:t>
            </a:r>
            <a:r>
              <a:rPr sz="2400" spc="-20" dirty="0">
                <a:solidFill>
                  <a:srgbClr val="3F448B"/>
                </a:solidFill>
                <a:latin typeface="Tahoma"/>
                <a:cs typeface="Tahoma"/>
              </a:rPr>
              <a:t>traversal, </a:t>
            </a:r>
            <a:r>
              <a:rPr sz="2400" spc="-15" dirty="0">
                <a:solidFill>
                  <a:srgbClr val="3F448B"/>
                </a:solidFill>
                <a:latin typeface="Tahoma"/>
                <a:cs typeface="Tahoma"/>
              </a:rPr>
              <a:t>every</a:t>
            </a:r>
            <a:r>
              <a:rPr sz="2400" spc="-5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F448B"/>
                </a:solidFill>
                <a:latin typeface="Tahoma"/>
                <a:cs typeface="Tahoma"/>
              </a:rPr>
              <a:t>node </a:t>
            </a:r>
            <a:r>
              <a:rPr sz="2400" spc="-5" dirty="0">
                <a:solidFill>
                  <a:srgbClr val="3F448B"/>
                </a:solidFill>
                <a:latin typeface="Tahoma"/>
                <a:cs typeface="Tahoma"/>
              </a:rPr>
              <a:t>on</a:t>
            </a:r>
            <a:r>
              <a:rPr sz="2400" dirty="0">
                <a:solidFill>
                  <a:srgbClr val="3F448B"/>
                </a:solidFill>
                <a:latin typeface="Tahoma"/>
                <a:cs typeface="Tahoma"/>
              </a:rPr>
              <a:t> a</a:t>
            </a:r>
            <a:r>
              <a:rPr sz="2400" spc="5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3F448B"/>
                </a:solidFill>
                <a:latin typeface="Tahoma"/>
                <a:cs typeface="Tahoma"/>
              </a:rPr>
              <a:t>level </a:t>
            </a:r>
            <a:r>
              <a:rPr sz="2400" spc="-5" dirty="0">
                <a:solidFill>
                  <a:srgbClr val="3F448B"/>
                </a:solidFill>
                <a:latin typeface="Tahoma"/>
                <a:cs typeface="Tahoma"/>
              </a:rPr>
              <a:t>is	</a:t>
            </a:r>
            <a:r>
              <a:rPr sz="2400" spc="-10" dirty="0">
                <a:solidFill>
                  <a:srgbClr val="3F448B"/>
                </a:solidFill>
                <a:latin typeface="Tahoma"/>
                <a:cs typeface="Tahoma"/>
              </a:rPr>
              <a:t>visited</a:t>
            </a:r>
            <a:r>
              <a:rPr sz="2400" spc="-40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3F448B"/>
                </a:solidFill>
                <a:latin typeface="Tahoma"/>
                <a:cs typeface="Tahoma"/>
              </a:rPr>
              <a:t>before</a:t>
            </a:r>
            <a:r>
              <a:rPr sz="2400" spc="-25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F448B"/>
                </a:solidFill>
                <a:latin typeface="Tahoma"/>
                <a:cs typeface="Tahoma"/>
              </a:rPr>
              <a:t>going</a:t>
            </a:r>
            <a:r>
              <a:rPr sz="2400" spc="-30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Tahoma"/>
                <a:cs typeface="Tahoma"/>
              </a:rPr>
              <a:t>to</a:t>
            </a:r>
            <a:r>
              <a:rPr sz="2400" spc="-20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Tahoma"/>
                <a:cs typeface="Tahoma"/>
              </a:rPr>
              <a:t>a </a:t>
            </a:r>
            <a:r>
              <a:rPr sz="2400" spc="-735" dirty="0">
                <a:solidFill>
                  <a:srgbClr val="3F448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F448B"/>
                </a:solidFill>
                <a:latin typeface="Tahoma"/>
                <a:cs typeface="Tahoma"/>
              </a:rPr>
              <a:t>lower</a:t>
            </a:r>
            <a:r>
              <a:rPr sz="2400" spc="-15" dirty="0">
                <a:solidFill>
                  <a:srgbClr val="3F448B"/>
                </a:solidFill>
                <a:latin typeface="Tahoma"/>
                <a:cs typeface="Tahoma"/>
              </a:rPr>
              <a:t> level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362" y="2842731"/>
            <a:ext cx="6645275" cy="287631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1388"/>
            <a:ext cx="60172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Euler</a:t>
            </a:r>
            <a:r>
              <a:rPr spc="-35" dirty="0"/>
              <a:t> </a:t>
            </a:r>
            <a:r>
              <a:rPr spc="-95" dirty="0"/>
              <a:t>Tour</a:t>
            </a:r>
            <a:r>
              <a:rPr spc="-140" dirty="0"/>
              <a:t> </a:t>
            </a:r>
            <a:r>
              <a:rPr spc="-6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723643"/>
            <a:ext cx="8102600" cy="306045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dirty="0">
                <a:latin typeface="Arial MT"/>
                <a:cs typeface="Tahoma"/>
              </a:rPr>
              <a:t>G</a:t>
            </a:r>
            <a:r>
              <a:rPr sz="2400" spc="-5" dirty="0">
                <a:latin typeface="Arial MT"/>
                <a:cs typeface="Tahoma"/>
              </a:rPr>
              <a:t>ene</a:t>
            </a:r>
            <a:r>
              <a:rPr sz="2400" dirty="0">
                <a:latin typeface="Arial MT"/>
                <a:cs typeface="Tahoma"/>
              </a:rPr>
              <a:t>r</a:t>
            </a:r>
            <a:r>
              <a:rPr sz="2400" spc="5" dirty="0">
                <a:latin typeface="Arial MT"/>
                <a:cs typeface="Tahoma"/>
              </a:rPr>
              <a:t>i</a:t>
            </a:r>
            <a:r>
              <a:rPr sz="2400" dirty="0">
                <a:latin typeface="Arial MT"/>
                <a:cs typeface="Tahoma"/>
              </a:rPr>
              <a:t>c </a:t>
            </a:r>
            <a:r>
              <a:rPr sz="2400" spc="10" dirty="0">
                <a:latin typeface="Arial MT"/>
                <a:cs typeface="Tahoma"/>
              </a:rPr>
              <a:t>t</a:t>
            </a:r>
            <a:r>
              <a:rPr sz="2400" spc="-25" dirty="0">
                <a:latin typeface="Arial MT"/>
                <a:cs typeface="Tahoma"/>
              </a:rPr>
              <a:t>r</a:t>
            </a:r>
            <a:r>
              <a:rPr sz="2400" spc="-10" dirty="0">
                <a:latin typeface="Arial MT"/>
                <a:cs typeface="Tahoma"/>
              </a:rPr>
              <a:t>av</a:t>
            </a:r>
            <a:r>
              <a:rPr sz="2400" dirty="0">
                <a:latin typeface="Arial MT"/>
                <a:cs typeface="Tahoma"/>
              </a:rPr>
              <a:t>e</a:t>
            </a:r>
            <a:r>
              <a:rPr sz="2400" spc="5" dirty="0">
                <a:latin typeface="Arial MT"/>
                <a:cs typeface="Tahoma"/>
              </a:rPr>
              <a:t>r</a:t>
            </a:r>
            <a:r>
              <a:rPr sz="2400" spc="-5" dirty="0">
                <a:latin typeface="Arial MT"/>
                <a:cs typeface="Tahoma"/>
              </a:rPr>
              <a:t>s</a:t>
            </a:r>
            <a:r>
              <a:rPr sz="2400" dirty="0">
                <a:latin typeface="Arial MT"/>
                <a:cs typeface="Tahoma"/>
              </a:rPr>
              <a:t>al</a:t>
            </a:r>
            <a:r>
              <a:rPr sz="2400" spc="-204" dirty="0">
                <a:latin typeface="Arial MT"/>
                <a:cs typeface="Tahoma"/>
              </a:rPr>
              <a:t> </a:t>
            </a:r>
            <a:r>
              <a:rPr sz="2400" spc="5" dirty="0">
                <a:latin typeface="Arial MT"/>
                <a:cs typeface="Tahoma"/>
              </a:rPr>
              <a:t>o</a:t>
            </a:r>
            <a:r>
              <a:rPr sz="2400" dirty="0">
                <a:latin typeface="Arial MT"/>
                <a:cs typeface="Tahoma"/>
              </a:rPr>
              <a:t>f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b</a:t>
            </a:r>
            <a:r>
              <a:rPr sz="2400" spc="10" dirty="0">
                <a:latin typeface="Arial MT"/>
                <a:cs typeface="Tahoma"/>
              </a:rPr>
              <a:t>i</a:t>
            </a:r>
            <a:r>
              <a:rPr sz="2400" dirty="0">
                <a:latin typeface="Arial MT"/>
                <a:cs typeface="Tahoma"/>
              </a:rPr>
              <a:t>n</a:t>
            </a:r>
            <a:r>
              <a:rPr sz="2400" spc="5" dirty="0">
                <a:latin typeface="Arial MT"/>
                <a:cs typeface="Tahoma"/>
              </a:rPr>
              <a:t>ar</a:t>
            </a:r>
            <a:r>
              <a:rPr sz="2400" dirty="0">
                <a:latin typeface="Arial MT"/>
                <a:cs typeface="Tahoma"/>
              </a:rPr>
              <a:t>y</a:t>
            </a:r>
            <a:r>
              <a:rPr sz="2400" spc="10" dirty="0">
                <a:latin typeface="Arial MT"/>
                <a:cs typeface="Tahoma"/>
              </a:rPr>
              <a:t> t</a:t>
            </a:r>
            <a:r>
              <a:rPr sz="2400" spc="-5" dirty="0">
                <a:latin typeface="Arial MT"/>
                <a:cs typeface="Tahoma"/>
              </a:rPr>
              <a:t>r</a:t>
            </a:r>
            <a:r>
              <a:rPr sz="2400" dirty="0">
                <a:latin typeface="Arial MT"/>
                <a:cs typeface="Tahoma"/>
              </a:rPr>
              <a:t>ee</a:t>
            </a: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dirty="0">
                <a:latin typeface="Arial MT"/>
                <a:cs typeface="Tahoma"/>
              </a:rPr>
              <a:t>Includes</a:t>
            </a:r>
            <a:r>
              <a:rPr sz="2400" spc="-6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special</a:t>
            </a:r>
            <a:r>
              <a:rPr sz="2400" spc="-5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cases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35" dirty="0">
                <a:latin typeface="Arial MT"/>
                <a:cs typeface="Tahoma"/>
              </a:rPr>
              <a:t>preorder,</a:t>
            </a:r>
            <a:r>
              <a:rPr sz="2400" spc="-7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postorder</a:t>
            </a:r>
            <a:r>
              <a:rPr sz="2400" spc="-7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and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inorder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traversals</a:t>
            </a:r>
            <a:endParaRPr sz="24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5" dirty="0">
                <a:latin typeface="Arial MT"/>
                <a:cs typeface="Tahoma"/>
              </a:rPr>
              <a:t>Walk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around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tree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and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visit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each</a:t>
            </a:r>
            <a:r>
              <a:rPr sz="2400" spc="-5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node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three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times:</a:t>
            </a:r>
          </a:p>
          <a:p>
            <a:pPr marL="226060" lvl="1" indent="-143510">
              <a:lnSpc>
                <a:spcPct val="100000"/>
              </a:lnSpc>
              <a:spcBef>
                <a:spcPts val="190"/>
              </a:spcBef>
              <a:buSzPct val="60000"/>
              <a:buFont typeface="Wingdings"/>
              <a:buChar char=""/>
              <a:tabLst>
                <a:tab pos="226060" algn="l"/>
              </a:tabLst>
            </a:pPr>
            <a:r>
              <a:rPr sz="2400" dirty="0">
                <a:latin typeface="Arial MT"/>
                <a:cs typeface="Tahoma"/>
              </a:rPr>
              <a:t>on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5" dirty="0">
                <a:latin typeface="Arial MT"/>
                <a:cs typeface="Tahoma"/>
              </a:rPr>
              <a:t> left</a:t>
            </a:r>
            <a:r>
              <a:rPr sz="2400" spc="-114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(preorder</a:t>
            </a:r>
            <a:r>
              <a:rPr sz="2400" spc="-5" dirty="0" smtClean="0">
                <a:latin typeface="Arial MT"/>
                <a:cs typeface="Tahoma"/>
              </a:rPr>
              <a:t>)</a:t>
            </a:r>
            <a:endParaRPr sz="2400" dirty="0">
              <a:latin typeface="Arial MT"/>
              <a:cs typeface="Tahoma"/>
            </a:endParaRPr>
          </a:p>
          <a:p>
            <a:pPr marL="226060" lvl="1" indent="-143510">
              <a:lnSpc>
                <a:spcPct val="100000"/>
              </a:lnSpc>
              <a:spcBef>
                <a:spcPts val="190"/>
              </a:spcBef>
              <a:buSzPct val="60000"/>
              <a:buFont typeface="Wingdings"/>
              <a:buChar char=""/>
              <a:tabLst>
                <a:tab pos="226060" algn="l"/>
              </a:tabLst>
            </a:pPr>
            <a:r>
              <a:rPr sz="2400" spc="-5" dirty="0">
                <a:latin typeface="Arial MT"/>
                <a:cs typeface="Tahoma"/>
              </a:rPr>
              <a:t>from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below</a:t>
            </a:r>
            <a:r>
              <a:rPr sz="2400" spc="-13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(inorder)</a:t>
            </a:r>
          </a:p>
          <a:p>
            <a:pPr marL="226060" lvl="1" indent="-143510">
              <a:lnSpc>
                <a:spcPct val="100000"/>
              </a:lnSpc>
              <a:spcBef>
                <a:spcPts val="219"/>
              </a:spcBef>
              <a:buSzPct val="60000"/>
              <a:buFont typeface="Wingdings"/>
              <a:buChar char=""/>
              <a:tabLst>
                <a:tab pos="226060" algn="l"/>
              </a:tabLst>
            </a:pPr>
            <a:r>
              <a:rPr sz="2400" dirty="0">
                <a:latin typeface="Arial MT"/>
                <a:cs typeface="Tahoma"/>
              </a:rPr>
              <a:t>on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right (postorder)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7027" y="2622550"/>
            <a:ext cx="4441997" cy="391636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751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1388"/>
            <a:ext cx="60172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Euler</a:t>
            </a:r>
            <a:r>
              <a:rPr spc="-35" dirty="0"/>
              <a:t> </a:t>
            </a:r>
            <a:r>
              <a:rPr spc="-95" dirty="0"/>
              <a:t>Tour</a:t>
            </a:r>
            <a:r>
              <a:rPr spc="-140" dirty="0"/>
              <a:t> </a:t>
            </a:r>
            <a:r>
              <a:rPr spc="-6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723643"/>
            <a:ext cx="8102600" cy="306045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dirty="0">
                <a:latin typeface="Arial MT"/>
                <a:cs typeface="Tahoma"/>
              </a:rPr>
              <a:t>G</a:t>
            </a:r>
            <a:r>
              <a:rPr sz="2400" spc="-5" dirty="0">
                <a:latin typeface="Arial MT"/>
                <a:cs typeface="Tahoma"/>
              </a:rPr>
              <a:t>ene</a:t>
            </a:r>
            <a:r>
              <a:rPr sz="2400" dirty="0">
                <a:latin typeface="Arial MT"/>
                <a:cs typeface="Tahoma"/>
              </a:rPr>
              <a:t>r</a:t>
            </a:r>
            <a:r>
              <a:rPr sz="2400" spc="5" dirty="0">
                <a:latin typeface="Arial MT"/>
                <a:cs typeface="Tahoma"/>
              </a:rPr>
              <a:t>i</a:t>
            </a:r>
            <a:r>
              <a:rPr sz="2400" dirty="0">
                <a:latin typeface="Arial MT"/>
                <a:cs typeface="Tahoma"/>
              </a:rPr>
              <a:t>c </a:t>
            </a:r>
            <a:r>
              <a:rPr sz="2400" spc="10" dirty="0">
                <a:latin typeface="Arial MT"/>
                <a:cs typeface="Tahoma"/>
              </a:rPr>
              <a:t>t</a:t>
            </a:r>
            <a:r>
              <a:rPr sz="2400" spc="-25" dirty="0">
                <a:latin typeface="Arial MT"/>
                <a:cs typeface="Tahoma"/>
              </a:rPr>
              <a:t>r</a:t>
            </a:r>
            <a:r>
              <a:rPr sz="2400" spc="-10" dirty="0">
                <a:latin typeface="Arial MT"/>
                <a:cs typeface="Tahoma"/>
              </a:rPr>
              <a:t>av</a:t>
            </a:r>
            <a:r>
              <a:rPr sz="2400" dirty="0">
                <a:latin typeface="Arial MT"/>
                <a:cs typeface="Tahoma"/>
              </a:rPr>
              <a:t>e</a:t>
            </a:r>
            <a:r>
              <a:rPr sz="2400" spc="5" dirty="0">
                <a:latin typeface="Arial MT"/>
                <a:cs typeface="Tahoma"/>
              </a:rPr>
              <a:t>r</a:t>
            </a:r>
            <a:r>
              <a:rPr sz="2400" spc="-5" dirty="0">
                <a:latin typeface="Arial MT"/>
                <a:cs typeface="Tahoma"/>
              </a:rPr>
              <a:t>s</a:t>
            </a:r>
            <a:r>
              <a:rPr sz="2400" dirty="0">
                <a:latin typeface="Arial MT"/>
                <a:cs typeface="Tahoma"/>
              </a:rPr>
              <a:t>al</a:t>
            </a:r>
            <a:r>
              <a:rPr sz="2400" spc="-204" dirty="0">
                <a:latin typeface="Arial MT"/>
                <a:cs typeface="Tahoma"/>
              </a:rPr>
              <a:t> </a:t>
            </a:r>
            <a:r>
              <a:rPr sz="2400" spc="5" dirty="0">
                <a:latin typeface="Arial MT"/>
                <a:cs typeface="Tahoma"/>
              </a:rPr>
              <a:t>o</a:t>
            </a:r>
            <a:r>
              <a:rPr sz="2400" dirty="0">
                <a:latin typeface="Arial MT"/>
                <a:cs typeface="Tahoma"/>
              </a:rPr>
              <a:t>f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b</a:t>
            </a:r>
            <a:r>
              <a:rPr sz="2400" spc="10" dirty="0">
                <a:latin typeface="Arial MT"/>
                <a:cs typeface="Tahoma"/>
              </a:rPr>
              <a:t>i</a:t>
            </a:r>
            <a:r>
              <a:rPr sz="2400" dirty="0">
                <a:latin typeface="Arial MT"/>
                <a:cs typeface="Tahoma"/>
              </a:rPr>
              <a:t>n</a:t>
            </a:r>
            <a:r>
              <a:rPr sz="2400" spc="5" dirty="0">
                <a:latin typeface="Arial MT"/>
                <a:cs typeface="Tahoma"/>
              </a:rPr>
              <a:t>ar</a:t>
            </a:r>
            <a:r>
              <a:rPr sz="2400" dirty="0">
                <a:latin typeface="Arial MT"/>
                <a:cs typeface="Tahoma"/>
              </a:rPr>
              <a:t>y</a:t>
            </a:r>
            <a:r>
              <a:rPr sz="2400" spc="10" dirty="0">
                <a:latin typeface="Arial MT"/>
                <a:cs typeface="Tahoma"/>
              </a:rPr>
              <a:t> t</a:t>
            </a:r>
            <a:r>
              <a:rPr sz="2400" spc="-5" dirty="0">
                <a:latin typeface="Arial MT"/>
                <a:cs typeface="Tahoma"/>
              </a:rPr>
              <a:t>r</a:t>
            </a:r>
            <a:r>
              <a:rPr sz="2400" dirty="0">
                <a:latin typeface="Arial MT"/>
                <a:cs typeface="Tahoma"/>
              </a:rPr>
              <a:t>ee</a:t>
            </a: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dirty="0">
                <a:latin typeface="Arial MT"/>
                <a:cs typeface="Tahoma"/>
              </a:rPr>
              <a:t>Includes</a:t>
            </a:r>
            <a:r>
              <a:rPr sz="2400" spc="-6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special</a:t>
            </a:r>
            <a:r>
              <a:rPr sz="2400" spc="-5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cases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35" dirty="0">
                <a:latin typeface="Arial MT"/>
                <a:cs typeface="Tahoma"/>
              </a:rPr>
              <a:t>preorder,</a:t>
            </a:r>
            <a:r>
              <a:rPr sz="2400" spc="-7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postorder</a:t>
            </a:r>
            <a:r>
              <a:rPr sz="2400" spc="-7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and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inorder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traversals</a:t>
            </a:r>
            <a:endParaRPr sz="24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5" dirty="0">
                <a:latin typeface="Arial MT"/>
                <a:cs typeface="Tahoma"/>
              </a:rPr>
              <a:t>Walk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around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tree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and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visit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each</a:t>
            </a:r>
            <a:r>
              <a:rPr sz="2400" spc="-5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node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three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times:</a:t>
            </a:r>
          </a:p>
          <a:p>
            <a:pPr marL="226060" lvl="1" indent="-143510">
              <a:lnSpc>
                <a:spcPct val="100000"/>
              </a:lnSpc>
              <a:spcBef>
                <a:spcPts val="190"/>
              </a:spcBef>
              <a:buSzPct val="60000"/>
              <a:buFont typeface="Wingdings"/>
              <a:buChar char=""/>
              <a:tabLst>
                <a:tab pos="226060" algn="l"/>
              </a:tabLst>
            </a:pPr>
            <a:r>
              <a:rPr sz="2400" dirty="0">
                <a:latin typeface="Arial MT"/>
                <a:cs typeface="Tahoma"/>
              </a:rPr>
              <a:t>on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5" dirty="0">
                <a:latin typeface="Arial MT"/>
                <a:cs typeface="Tahoma"/>
              </a:rPr>
              <a:t> left</a:t>
            </a:r>
            <a:r>
              <a:rPr sz="2400" spc="-114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(preorder</a:t>
            </a:r>
            <a:r>
              <a:rPr sz="2400" spc="-5" dirty="0" smtClean="0">
                <a:latin typeface="Arial MT"/>
                <a:cs typeface="Tahoma"/>
              </a:rPr>
              <a:t>)</a:t>
            </a:r>
            <a:endParaRPr sz="2400" dirty="0">
              <a:latin typeface="Arial MT"/>
              <a:cs typeface="Tahoma"/>
            </a:endParaRPr>
          </a:p>
          <a:p>
            <a:pPr marL="226060" lvl="1" indent="-143510">
              <a:lnSpc>
                <a:spcPct val="100000"/>
              </a:lnSpc>
              <a:spcBef>
                <a:spcPts val="190"/>
              </a:spcBef>
              <a:buSzPct val="60000"/>
              <a:buFont typeface="Wingdings"/>
              <a:buChar char=""/>
              <a:tabLst>
                <a:tab pos="226060" algn="l"/>
              </a:tabLst>
            </a:pPr>
            <a:r>
              <a:rPr sz="2400" spc="-5" dirty="0">
                <a:latin typeface="Arial MT"/>
                <a:cs typeface="Tahoma"/>
              </a:rPr>
              <a:t>from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below</a:t>
            </a:r>
            <a:r>
              <a:rPr sz="2400" spc="-13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(inorder)</a:t>
            </a:r>
          </a:p>
          <a:p>
            <a:pPr marL="226060" lvl="1" indent="-143510">
              <a:lnSpc>
                <a:spcPct val="100000"/>
              </a:lnSpc>
              <a:spcBef>
                <a:spcPts val="219"/>
              </a:spcBef>
              <a:buSzPct val="60000"/>
              <a:buFont typeface="Wingdings"/>
              <a:buChar char=""/>
              <a:tabLst>
                <a:tab pos="226060" algn="l"/>
              </a:tabLst>
            </a:pPr>
            <a:r>
              <a:rPr sz="2400" dirty="0">
                <a:latin typeface="Arial MT"/>
                <a:cs typeface="Tahoma"/>
              </a:rPr>
              <a:t>on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the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right (postorder)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pic>
        <p:nvPicPr>
          <p:cNvPr id="12290" name="Picture 2" descr="https://o.remove.bg/downloads/a5f3f4dc-a4a4-408c-b98a-2ac88882fc33/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86200"/>
            <a:ext cx="704850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55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68554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(Proper) Binary Tree</a:t>
            </a:r>
            <a:endParaRPr spc="-80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7473" y="1690687"/>
            <a:ext cx="2346325" cy="21493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8200" y="1632343"/>
            <a:ext cx="10439400" cy="5042406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  <a:tab pos="241300" algn="l"/>
                <a:tab pos="3816985" algn="l"/>
              </a:tabLst>
            </a:pP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(proper)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binary</a:t>
            </a:r>
            <a:r>
              <a:rPr sz="2400" spc="5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BD2C00"/>
                </a:solidFill>
                <a:latin typeface="Arial MT"/>
                <a:cs typeface="Tahoma"/>
              </a:rPr>
              <a:t>tree</a:t>
            </a:r>
            <a:r>
              <a:rPr sz="2400" dirty="0">
                <a:solidFill>
                  <a:srgbClr val="BD2C00"/>
                </a:solidFill>
                <a:latin typeface="Arial MT"/>
                <a:cs typeface="Tahoma"/>
              </a:rPr>
              <a:t> 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is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400" spc="-18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 smtClean="0">
                <a:solidFill>
                  <a:srgbClr val="3F448B"/>
                </a:solidFill>
                <a:latin typeface="Arial MT"/>
                <a:cs typeface="Tahoma"/>
              </a:rPr>
              <a:t>tree</a:t>
            </a:r>
            <a:r>
              <a:rPr lang="en-US" sz="2400" spc="-5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 smtClean="0">
                <a:solidFill>
                  <a:srgbClr val="3F448B"/>
                </a:solidFill>
                <a:latin typeface="Arial MT"/>
                <a:cs typeface="Tahoma"/>
              </a:rPr>
              <a:t>with</a:t>
            </a:r>
            <a:r>
              <a:rPr sz="2400" spc="-5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the</a:t>
            </a:r>
            <a:r>
              <a:rPr sz="2400" spc="-2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following</a:t>
            </a:r>
            <a:r>
              <a:rPr sz="2400" spc="-10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properties:</a:t>
            </a:r>
            <a:endParaRPr sz="24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204"/>
              </a:spcBef>
              <a:buSzPct val="62500"/>
              <a:buFont typeface="Wingdings"/>
              <a:buChar char=""/>
              <a:tabLst>
                <a:tab pos="683260" algn="l"/>
                <a:tab pos="3228975" algn="l"/>
              </a:tabLst>
            </a:pP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Each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internal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node</a:t>
            </a:r>
            <a:r>
              <a:rPr sz="20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has</a:t>
            </a:r>
            <a:r>
              <a:rPr sz="2000" spc="-204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 smtClean="0">
                <a:solidFill>
                  <a:srgbClr val="3F448B"/>
                </a:solidFill>
                <a:latin typeface="Arial MT"/>
                <a:cs typeface="Tahoma"/>
              </a:rPr>
              <a:t>two</a:t>
            </a:r>
            <a:r>
              <a:rPr lang="en-US" sz="2000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 smtClean="0">
                <a:solidFill>
                  <a:srgbClr val="3F448B"/>
                </a:solidFill>
                <a:latin typeface="Arial MT"/>
                <a:cs typeface="Tahoma"/>
              </a:rPr>
              <a:t>children</a:t>
            </a:r>
            <a:endParaRPr sz="20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195"/>
              </a:spcBef>
              <a:buSzPct val="62500"/>
              <a:buFont typeface="Wingdings"/>
              <a:buChar char=""/>
              <a:tabLst>
                <a:tab pos="683260" algn="l"/>
                <a:tab pos="3444240" algn="l"/>
              </a:tabLst>
            </a:pP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T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h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e</a:t>
            </a:r>
            <a:r>
              <a:rPr sz="2000" spc="-6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c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h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il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d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e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n</a:t>
            </a:r>
            <a:r>
              <a:rPr sz="2000" spc="-7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10" dirty="0">
                <a:solidFill>
                  <a:srgbClr val="3F448B"/>
                </a:solidFill>
                <a:latin typeface="Arial MT"/>
                <a:cs typeface="Tahoma"/>
              </a:rPr>
              <a:t>o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f</a:t>
            </a:r>
            <a:r>
              <a:rPr sz="2000" spc="-2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n</a:t>
            </a:r>
            <a:r>
              <a:rPr sz="2000" spc="10" dirty="0">
                <a:solidFill>
                  <a:srgbClr val="3F448B"/>
                </a:solidFill>
                <a:latin typeface="Arial MT"/>
                <a:cs typeface="Tahoma"/>
              </a:rPr>
              <a:t>o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d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e</a:t>
            </a:r>
            <a:r>
              <a:rPr sz="2000" spc="-5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e</a:t>
            </a:r>
            <a:r>
              <a:rPr sz="2000" spc="-3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dirty="0" smtClean="0">
                <a:solidFill>
                  <a:srgbClr val="3F448B"/>
                </a:solidFill>
                <a:latin typeface="Arial MT"/>
                <a:cs typeface="Tahoma"/>
              </a:rPr>
              <a:t>an</a:t>
            </a:r>
            <a:r>
              <a:rPr lang="en-US" sz="2000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10" dirty="0" smtClean="0">
                <a:solidFill>
                  <a:srgbClr val="3F448B"/>
                </a:solidFill>
                <a:latin typeface="Arial MT"/>
                <a:cs typeface="Tahoma"/>
              </a:rPr>
              <a:t>o</a:t>
            </a:r>
            <a:r>
              <a:rPr sz="2000" spc="-5" dirty="0" smtClean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000" spc="5" dirty="0" smtClean="0">
                <a:solidFill>
                  <a:srgbClr val="3F448B"/>
                </a:solidFill>
                <a:latin typeface="Arial MT"/>
                <a:cs typeface="Tahoma"/>
              </a:rPr>
              <a:t>d</a:t>
            </a:r>
            <a:r>
              <a:rPr sz="2000" dirty="0" smtClean="0">
                <a:solidFill>
                  <a:srgbClr val="3F448B"/>
                </a:solidFill>
                <a:latin typeface="Arial MT"/>
                <a:cs typeface="Tahoma"/>
              </a:rPr>
              <a:t>e</a:t>
            </a:r>
            <a:r>
              <a:rPr sz="2000" spc="-5" dirty="0" smtClean="0">
                <a:solidFill>
                  <a:srgbClr val="3F448B"/>
                </a:solidFill>
                <a:latin typeface="Arial MT"/>
                <a:cs typeface="Tahoma"/>
              </a:rPr>
              <a:t>r</a:t>
            </a:r>
            <a:r>
              <a:rPr sz="2000" dirty="0" smtClean="0">
                <a:solidFill>
                  <a:srgbClr val="3F448B"/>
                </a:solidFill>
                <a:latin typeface="Arial MT"/>
                <a:cs typeface="Tahoma"/>
              </a:rPr>
              <a:t>ed</a:t>
            </a:r>
            <a:r>
              <a:rPr sz="2000" spc="-90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p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air</a:t>
            </a:r>
            <a:endParaRPr sz="20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240665" algn="l"/>
                <a:tab pos="241300" algn="l"/>
                <a:tab pos="4154804" algn="l"/>
              </a:tabLst>
            </a:pPr>
            <a:r>
              <a:rPr sz="2400" spc="-40" dirty="0">
                <a:solidFill>
                  <a:srgbClr val="3F448B"/>
                </a:solidFill>
                <a:latin typeface="Arial MT"/>
                <a:cs typeface="Tahoma"/>
              </a:rPr>
              <a:t>We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call</a:t>
            </a:r>
            <a:r>
              <a:rPr sz="2400" spc="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the</a:t>
            </a:r>
            <a:r>
              <a:rPr sz="2400" spc="-1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children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 of</a:t>
            </a:r>
            <a:r>
              <a:rPr sz="2400" spc="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an</a:t>
            </a:r>
            <a:r>
              <a:rPr sz="2400" spc="-12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 smtClean="0">
                <a:solidFill>
                  <a:srgbClr val="3F448B"/>
                </a:solidFill>
                <a:latin typeface="Arial MT"/>
                <a:cs typeface="Tahoma"/>
              </a:rPr>
              <a:t>internal</a:t>
            </a:r>
            <a:r>
              <a:rPr lang="en-US" sz="2400" spc="-5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 smtClean="0">
                <a:solidFill>
                  <a:srgbClr val="3F448B"/>
                </a:solidFill>
                <a:latin typeface="Arial MT"/>
                <a:cs typeface="Tahoma"/>
              </a:rPr>
              <a:t>node</a:t>
            </a:r>
            <a:r>
              <a:rPr sz="2400" spc="-20" dirty="0" smtClean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left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dirty="0">
                <a:solidFill>
                  <a:srgbClr val="3F448B"/>
                </a:solidFill>
                <a:latin typeface="Arial MT"/>
                <a:cs typeface="Tahoma"/>
              </a:rPr>
              <a:t>child</a:t>
            </a:r>
            <a:r>
              <a:rPr sz="2400" spc="-2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and</a:t>
            </a:r>
            <a:r>
              <a:rPr sz="2400" spc="-2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400" spc="-5" dirty="0">
                <a:solidFill>
                  <a:srgbClr val="3F448B"/>
                </a:solidFill>
                <a:latin typeface="Arial MT"/>
                <a:cs typeface="Tahoma"/>
              </a:rPr>
              <a:t>right </a:t>
            </a:r>
            <a:endParaRPr lang="en-US" sz="2400" spc="-5" dirty="0" smtClean="0">
              <a:solidFill>
                <a:srgbClr val="3F448B"/>
              </a:solidFill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  <a:tabLst>
                <a:tab pos="240665" algn="l"/>
                <a:tab pos="241300" algn="l"/>
                <a:tab pos="4154804" algn="l"/>
              </a:tabLst>
            </a:pPr>
            <a:r>
              <a:rPr sz="2400" dirty="0" smtClean="0">
                <a:solidFill>
                  <a:srgbClr val="3F448B"/>
                </a:solidFill>
                <a:latin typeface="Arial MT"/>
                <a:cs typeface="Tahoma"/>
              </a:rPr>
              <a:t>child</a:t>
            </a:r>
            <a:endParaRPr sz="24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5" dirty="0">
                <a:latin typeface="Arial MT"/>
                <a:cs typeface="Tahoma"/>
              </a:rPr>
              <a:t>Alternative recursive</a:t>
            </a:r>
            <a:r>
              <a:rPr sz="2400" spc="-9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definition:</a:t>
            </a:r>
            <a:endParaRPr sz="2400" dirty="0">
              <a:latin typeface="Arial MT"/>
              <a:cs typeface="Tahoma"/>
            </a:endParaRPr>
          </a:p>
          <a:p>
            <a:pPr marL="482600" indent="-2286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481965" algn="l"/>
                <a:tab pos="482600" algn="l"/>
              </a:tabLst>
            </a:pPr>
            <a:r>
              <a:rPr sz="2000" dirty="0">
                <a:latin typeface="Arial MT"/>
                <a:cs typeface="Tahoma"/>
              </a:rPr>
              <a:t>A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(proper)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binary</a:t>
            </a:r>
            <a:r>
              <a:rPr sz="2000" spc="-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tree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is</a:t>
            </a:r>
            <a:r>
              <a:rPr sz="2000" spc="-125" dirty="0">
                <a:latin typeface="Arial MT"/>
                <a:cs typeface="Tahoma"/>
              </a:rPr>
              <a:t> </a:t>
            </a:r>
            <a:r>
              <a:rPr sz="2000" spc="-10" dirty="0">
                <a:latin typeface="Arial MT"/>
                <a:cs typeface="Tahoma"/>
              </a:rPr>
              <a:t>either</a:t>
            </a:r>
            <a:endParaRPr sz="20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380"/>
              </a:spcBef>
              <a:buClr>
                <a:srgbClr val="3F448B"/>
              </a:buClr>
              <a:buSzPct val="62500"/>
              <a:buFont typeface="Wingdings"/>
              <a:buChar char=""/>
              <a:tabLst>
                <a:tab pos="683260" algn="l"/>
                <a:tab pos="3818890" algn="l"/>
              </a:tabLst>
            </a:pPr>
            <a:r>
              <a:rPr sz="2000" dirty="0">
                <a:latin typeface="Arial MT"/>
                <a:cs typeface="Tahoma"/>
              </a:rPr>
              <a:t>a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tree</a:t>
            </a:r>
            <a:r>
              <a:rPr sz="2000" spc="-5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consisting</a:t>
            </a:r>
            <a:r>
              <a:rPr sz="2000" spc="-85" dirty="0">
                <a:latin typeface="Arial MT"/>
                <a:cs typeface="Tahoma"/>
              </a:rPr>
              <a:t> </a:t>
            </a:r>
            <a:r>
              <a:rPr sz="2000" spc="5" dirty="0">
                <a:latin typeface="Arial MT"/>
                <a:cs typeface="Tahoma"/>
              </a:rPr>
              <a:t>of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single</a:t>
            </a:r>
            <a:r>
              <a:rPr sz="2000" spc="-5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node,	</a:t>
            </a:r>
            <a:r>
              <a:rPr sz="2000" spc="5" dirty="0">
                <a:latin typeface="Arial MT"/>
                <a:cs typeface="Tahoma"/>
              </a:rPr>
              <a:t>or</a:t>
            </a:r>
            <a:endParaRPr sz="20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195"/>
              </a:spcBef>
              <a:buClr>
                <a:srgbClr val="3F448B"/>
              </a:buClr>
              <a:buSzPct val="62500"/>
              <a:buFont typeface="Wingdings"/>
              <a:buChar char=""/>
              <a:tabLst>
                <a:tab pos="683260" algn="l"/>
                <a:tab pos="3825240" algn="l"/>
                <a:tab pos="7009130" algn="l"/>
              </a:tabLst>
            </a:pPr>
            <a:r>
              <a:rPr sz="2000" dirty="0">
                <a:latin typeface="Arial MT"/>
                <a:cs typeface="Tahoma"/>
              </a:rPr>
              <a:t>a</a:t>
            </a:r>
            <a:r>
              <a:rPr sz="2000" spc="5" dirty="0">
                <a:latin typeface="Arial MT"/>
                <a:cs typeface="Tahoma"/>
              </a:rPr>
              <a:t> t</a:t>
            </a:r>
            <a:r>
              <a:rPr sz="2000" spc="-5" dirty="0">
                <a:latin typeface="Arial MT"/>
                <a:cs typeface="Tahoma"/>
              </a:rPr>
              <a:t>r</a:t>
            </a:r>
            <a:r>
              <a:rPr sz="2000" dirty="0">
                <a:latin typeface="Arial MT"/>
                <a:cs typeface="Tahoma"/>
              </a:rPr>
              <a:t>ee</a:t>
            </a:r>
            <a:r>
              <a:rPr sz="2000" spc="5" dirty="0">
                <a:latin typeface="Arial MT"/>
                <a:cs typeface="Tahoma"/>
              </a:rPr>
              <a:t> w</a:t>
            </a:r>
            <a:r>
              <a:rPr sz="2000" dirty="0">
                <a:latin typeface="Arial MT"/>
                <a:cs typeface="Tahoma"/>
              </a:rPr>
              <a:t>h</a:t>
            </a:r>
            <a:r>
              <a:rPr sz="2000" spc="10" dirty="0">
                <a:latin typeface="Arial MT"/>
                <a:cs typeface="Tahoma"/>
              </a:rPr>
              <a:t>o</a:t>
            </a:r>
            <a:r>
              <a:rPr sz="2000" dirty="0">
                <a:latin typeface="Arial MT"/>
                <a:cs typeface="Tahoma"/>
              </a:rPr>
              <a:t>se</a:t>
            </a:r>
            <a:r>
              <a:rPr sz="2000" spc="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r</a:t>
            </a:r>
            <a:r>
              <a:rPr sz="2000" spc="10" dirty="0">
                <a:latin typeface="Arial MT"/>
                <a:cs typeface="Tahoma"/>
              </a:rPr>
              <a:t>oo</a:t>
            </a:r>
            <a:r>
              <a:rPr sz="2000" dirty="0">
                <a:latin typeface="Arial MT"/>
                <a:cs typeface="Tahoma"/>
              </a:rPr>
              <a:t>t</a:t>
            </a:r>
            <a:r>
              <a:rPr sz="2000" spc="1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ha</a:t>
            </a:r>
            <a:r>
              <a:rPr sz="2000" dirty="0">
                <a:latin typeface="Arial MT"/>
                <a:cs typeface="Tahoma"/>
              </a:rPr>
              <a:t>s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an </a:t>
            </a:r>
            <a:r>
              <a:rPr sz="2000" spc="10" dirty="0" smtClean="0">
                <a:latin typeface="Arial MT"/>
                <a:cs typeface="Tahoma"/>
              </a:rPr>
              <a:t>o</a:t>
            </a:r>
            <a:r>
              <a:rPr sz="2000" spc="-5" dirty="0" smtClean="0">
                <a:latin typeface="Arial MT"/>
                <a:cs typeface="Tahoma"/>
              </a:rPr>
              <a:t>r</a:t>
            </a:r>
            <a:r>
              <a:rPr sz="2000" spc="5" dirty="0" smtClean="0">
                <a:latin typeface="Arial MT"/>
                <a:cs typeface="Tahoma"/>
              </a:rPr>
              <a:t>d</a:t>
            </a:r>
            <a:r>
              <a:rPr sz="2000" dirty="0" smtClean="0">
                <a:latin typeface="Arial MT"/>
                <a:cs typeface="Tahoma"/>
              </a:rPr>
              <a:t>e</a:t>
            </a:r>
            <a:r>
              <a:rPr sz="2000" spc="-5" dirty="0" smtClean="0">
                <a:latin typeface="Arial MT"/>
                <a:cs typeface="Tahoma"/>
              </a:rPr>
              <a:t>r</a:t>
            </a:r>
            <a:r>
              <a:rPr sz="2000" dirty="0" smtClean="0">
                <a:latin typeface="Arial MT"/>
                <a:cs typeface="Tahoma"/>
              </a:rPr>
              <a:t>ed</a:t>
            </a:r>
            <a:r>
              <a:rPr lang="en-US" sz="2000" dirty="0" smtClean="0">
                <a:latin typeface="Arial MT"/>
                <a:cs typeface="Tahoma"/>
              </a:rPr>
              <a:t> </a:t>
            </a:r>
            <a:r>
              <a:rPr sz="2000" spc="5" dirty="0" smtClean="0">
                <a:latin typeface="Arial MT"/>
                <a:cs typeface="Tahoma"/>
              </a:rPr>
              <a:t>p</a:t>
            </a:r>
            <a:r>
              <a:rPr sz="2000" dirty="0" smtClean="0">
                <a:latin typeface="Arial MT"/>
                <a:cs typeface="Tahoma"/>
              </a:rPr>
              <a:t>air</a:t>
            </a:r>
            <a:r>
              <a:rPr sz="2000" spc="-65" dirty="0" smtClean="0">
                <a:latin typeface="Arial MT"/>
                <a:cs typeface="Tahoma"/>
              </a:rPr>
              <a:t> </a:t>
            </a:r>
            <a:r>
              <a:rPr sz="2000" spc="10" dirty="0">
                <a:latin typeface="Arial MT"/>
                <a:cs typeface="Tahoma"/>
              </a:rPr>
              <a:t>o</a:t>
            </a:r>
            <a:r>
              <a:rPr sz="2000" dirty="0">
                <a:latin typeface="Arial MT"/>
                <a:cs typeface="Tahoma"/>
              </a:rPr>
              <a:t>f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c</a:t>
            </a:r>
            <a:r>
              <a:rPr sz="2000" spc="-5" dirty="0">
                <a:latin typeface="Arial MT"/>
                <a:cs typeface="Tahoma"/>
              </a:rPr>
              <a:t>h</a:t>
            </a:r>
            <a:r>
              <a:rPr sz="2000" dirty="0">
                <a:latin typeface="Arial MT"/>
                <a:cs typeface="Tahoma"/>
              </a:rPr>
              <a:t>il</a:t>
            </a:r>
            <a:r>
              <a:rPr sz="2000" spc="5" dirty="0">
                <a:latin typeface="Arial MT"/>
                <a:cs typeface="Tahoma"/>
              </a:rPr>
              <a:t>d</a:t>
            </a:r>
            <a:r>
              <a:rPr sz="2000" spc="-10" dirty="0">
                <a:latin typeface="Arial MT"/>
                <a:cs typeface="Tahoma"/>
              </a:rPr>
              <a:t>r</a:t>
            </a:r>
            <a:r>
              <a:rPr sz="2000" spc="-5" dirty="0">
                <a:latin typeface="Arial MT"/>
                <a:cs typeface="Tahoma"/>
              </a:rPr>
              <a:t>e</a:t>
            </a:r>
            <a:r>
              <a:rPr sz="2000" dirty="0">
                <a:latin typeface="Arial MT"/>
                <a:cs typeface="Tahoma"/>
              </a:rPr>
              <a:t>n,</a:t>
            </a:r>
            <a:r>
              <a:rPr sz="2000" spc="-60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ea</a:t>
            </a:r>
            <a:r>
              <a:rPr sz="2000" spc="5" dirty="0">
                <a:latin typeface="Arial MT"/>
                <a:cs typeface="Tahoma"/>
              </a:rPr>
              <a:t>c</a:t>
            </a:r>
            <a:r>
              <a:rPr sz="2000" dirty="0">
                <a:latin typeface="Arial MT"/>
                <a:cs typeface="Tahoma"/>
              </a:rPr>
              <a:t>h</a:t>
            </a:r>
            <a:r>
              <a:rPr sz="2000" spc="-50" dirty="0">
                <a:latin typeface="Arial MT"/>
                <a:cs typeface="Tahoma"/>
              </a:rPr>
              <a:t> </a:t>
            </a:r>
            <a:r>
              <a:rPr sz="2000" spc="10" dirty="0">
                <a:latin typeface="Arial MT"/>
                <a:cs typeface="Tahoma"/>
              </a:rPr>
              <a:t>o</a:t>
            </a:r>
            <a:r>
              <a:rPr sz="2000" dirty="0">
                <a:latin typeface="Arial MT"/>
                <a:cs typeface="Tahoma"/>
              </a:rPr>
              <a:t>f</a:t>
            </a:r>
            <a:r>
              <a:rPr sz="2000" spc="-20" dirty="0">
                <a:latin typeface="Arial MT"/>
                <a:cs typeface="Tahoma"/>
              </a:rPr>
              <a:t> </a:t>
            </a:r>
            <a:r>
              <a:rPr sz="2000" spc="5" dirty="0">
                <a:latin typeface="Arial MT"/>
                <a:cs typeface="Tahoma"/>
              </a:rPr>
              <a:t>w</a:t>
            </a:r>
            <a:r>
              <a:rPr sz="2000" spc="-5" dirty="0">
                <a:latin typeface="Arial MT"/>
                <a:cs typeface="Tahoma"/>
              </a:rPr>
              <a:t>h</a:t>
            </a:r>
            <a:r>
              <a:rPr sz="2000" dirty="0">
                <a:latin typeface="Arial MT"/>
                <a:cs typeface="Tahoma"/>
              </a:rPr>
              <a:t>ich</a:t>
            </a:r>
            <a:r>
              <a:rPr sz="2000" spc="-5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is</a:t>
            </a:r>
            <a:r>
              <a:rPr sz="2000" spc="-25" dirty="0">
                <a:latin typeface="Arial MT"/>
                <a:cs typeface="Tahoma"/>
              </a:rPr>
              <a:t> </a:t>
            </a:r>
            <a:r>
              <a:rPr sz="2000" dirty="0" smtClean="0">
                <a:latin typeface="Arial MT"/>
                <a:cs typeface="Tahoma"/>
              </a:rPr>
              <a:t>a</a:t>
            </a:r>
            <a:r>
              <a:rPr lang="en-US" sz="2000" dirty="0" smtClean="0">
                <a:latin typeface="Arial MT"/>
                <a:cs typeface="Tahoma"/>
              </a:rPr>
              <a:t> </a:t>
            </a:r>
            <a:r>
              <a:rPr sz="2000" spc="5" dirty="0" smtClean="0">
                <a:latin typeface="Arial MT"/>
                <a:cs typeface="Tahoma"/>
              </a:rPr>
              <a:t>p</a:t>
            </a:r>
            <a:r>
              <a:rPr sz="2000" spc="-5" dirty="0" smtClean="0">
                <a:latin typeface="Arial MT"/>
                <a:cs typeface="Tahoma"/>
              </a:rPr>
              <a:t>r</a:t>
            </a:r>
            <a:r>
              <a:rPr sz="2000" spc="10" dirty="0" smtClean="0">
                <a:latin typeface="Arial MT"/>
                <a:cs typeface="Tahoma"/>
              </a:rPr>
              <a:t>o</a:t>
            </a:r>
            <a:r>
              <a:rPr sz="2000" spc="5" dirty="0" smtClean="0">
                <a:latin typeface="Arial MT"/>
                <a:cs typeface="Tahoma"/>
              </a:rPr>
              <a:t>p</a:t>
            </a:r>
            <a:r>
              <a:rPr sz="2000" dirty="0" smtClean="0">
                <a:latin typeface="Arial MT"/>
                <a:cs typeface="Tahoma"/>
              </a:rPr>
              <a:t>er</a:t>
            </a:r>
            <a:r>
              <a:rPr sz="2000" spc="5" dirty="0" smtClean="0">
                <a:latin typeface="Arial MT"/>
                <a:cs typeface="Tahoma"/>
              </a:rPr>
              <a:t> </a:t>
            </a:r>
            <a:r>
              <a:rPr sz="2000" spc="5" dirty="0">
                <a:latin typeface="Arial MT"/>
                <a:cs typeface="Tahoma"/>
              </a:rPr>
              <a:t>b</a:t>
            </a:r>
            <a:r>
              <a:rPr sz="2000" dirty="0">
                <a:latin typeface="Arial MT"/>
                <a:cs typeface="Tahoma"/>
              </a:rPr>
              <a:t>inary</a:t>
            </a:r>
            <a:r>
              <a:rPr sz="2000" spc="-105" dirty="0">
                <a:latin typeface="Arial MT"/>
                <a:cs typeface="Tahoma"/>
              </a:rPr>
              <a:t> </a:t>
            </a:r>
            <a:r>
              <a:rPr sz="2000" spc="5" dirty="0" smtClean="0">
                <a:latin typeface="Arial MT"/>
                <a:cs typeface="Tahoma"/>
              </a:rPr>
              <a:t>t</a:t>
            </a:r>
            <a:r>
              <a:rPr sz="2000" spc="-10" dirty="0" smtClean="0">
                <a:latin typeface="Arial MT"/>
                <a:cs typeface="Tahoma"/>
              </a:rPr>
              <a:t>r</a:t>
            </a:r>
            <a:r>
              <a:rPr sz="2000" spc="-5" dirty="0" smtClean="0">
                <a:latin typeface="Arial MT"/>
                <a:cs typeface="Tahoma"/>
              </a:rPr>
              <a:t>e</a:t>
            </a:r>
            <a:r>
              <a:rPr sz="2000" dirty="0" smtClean="0">
                <a:latin typeface="Arial MT"/>
                <a:cs typeface="Tahoma"/>
              </a:rPr>
              <a:t>e</a:t>
            </a:r>
            <a:endParaRPr lang="en-US" sz="2000" dirty="0" smtClean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195"/>
              </a:spcBef>
              <a:buClr>
                <a:srgbClr val="3F448B"/>
              </a:buClr>
              <a:buSzPct val="62500"/>
              <a:buFont typeface="Wingdings"/>
              <a:buChar char=""/>
              <a:tabLst>
                <a:tab pos="683260" algn="l"/>
                <a:tab pos="3825240" algn="l"/>
                <a:tab pos="7009130" algn="l"/>
              </a:tabLst>
            </a:pPr>
            <a:endParaRPr sz="2400" dirty="0">
              <a:latin typeface="Arial MT"/>
              <a:cs typeface="Tahoma"/>
            </a:endParaRPr>
          </a:p>
          <a:p>
            <a:pPr marL="24765">
              <a:lnSpc>
                <a:spcPct val="100000"/>
              </a:lnSpc>
            </a:pPr>
            <a:r>
              <a:rPr sz="2200" dirty="0">
                <a:solidFill>
                  <a:srgbClr val="3F448B"/>
                </a:solidFill>
                <a:latin typeface="Arial MT"/>
                <a:cs typeface="Tahoma"/>
              </a:rPr>
              <a:t>Application:</a:t>
            </a:r>
            <a:endParaRPr sz="2200" dirty="0">
              <a:latin typeface="Arial MT"/>
              <a:cs typeface="Tahoma"/>
            </a:endParaRPr>
          </a:p>
          <a:p>
            <a:pPr marL="168275" indent="-143510">
              <a:lnSpc>
                <a:spcPct val="100000"/>
              </a:lnSpc>
              <a:spcBef>
                <a:spcPts val="195"/>
              </a:spcBef>
              <a:buSzPct val="60000"/>
              <a:buFont typeface="Wingdings"/>
              <a:buChar char=""/>
              <a:tabLst>
                <a:tab pos="168275" algn="l"/>
              </a:tabLst>
            </a:pPr>
            <a:r>
              <a:rPr sz="2200" spc="5" dirty="0">
                <a:solidFill>
                  <a:srgbClr val="3F448B"/>
                </a:solidFill>
                <a:latin typeface="Arial MT"/>
                <a:cs typeface="Tahoma"/>
              </a:rPr>
              <a:t>ar</a:t>
            </a:r>
            <a:r>
              <a:rPr sz="2200" spc="10" dirty="0">
                <a:solidFill>
                  <a:srgbClr val="3F448B"/>
                </a:solidFill>
                <a:latin typeface="Arial MT"/>
                <a:cs typeface="Tahoma"/>
              </a:rPr>
              <a:t>it</a:t>
            </a:r>
            <a:r>
              <a:rPr sz="2200" dirty="0">
                <a:solidFill>
                  <a:srgbClr val="3F448B"/>
                </a:solidFill>
                <a:latin typeface="Arial MT"/>
                <a:cs typeface="Tahoma"/>
              </a:rPr>
              <a:t>hme</a:t>
            </a:r>
            <a:r>
              <a:rPr sz="2200" spc="10" dirty="0">
                <a:solidFill>
                  <a:srgbClr val="3F448B"/>
                </a:solidFill>
                <a:latin typeface="Arial MT"/>
                <a:cs typeface="Tahoma"/>
              </a:rPr>
              <a:t>ti</a:t>
            </a:r>
            <a:r>
              <a:rPr sz="2200" dirty="0">
                <a:solidFill>
                  <a:srgbClr val="3F448B"/>
                </a:solidFill>
                <a:latin typeface="Arial MT"/>
                <a:cs typeface="Tahoma"/>
              </a:rPr>
              <a:t>c</a:t>
            </a:r>
            <a:r>
              <a:rPr sz="2200" spc="-14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200" dirty="0">
                <a:solidFill>
                  <a:srgbClr val="3F448B"/>
                </a:solidFill>
                <a:latin typeface="Arial MT"/>
                <a:cs typeface="Tahoma"/>
              </a:rPr>
              <a:t>ex</a:t>
            </a:r>
            <a:r>
              <a:rPr sz="2200" spc="-5" dirty="0">
                <a:solidFill>
                  <a:srgbClr val="3F448B"/>
                </a:solidFill>
                <a:latin typeface="Arial MT"/>
                <a:cs typeface="Tahoma"/>
              </a:rPr>
              <a:t>pr</a:t>
            </a:r>
            <a:r>
              <a:rPr sz="2200" dirty="0">
                <a:solidFill>
                  <a:srgbClr val="3F448B"/>
                </a:solidFill>
                <a:latin typeface="Arial MT"/>
                <a:cs typeface="Tahoma"/>
              </a:rPr>
              <a:t>ess</a:t>
            </a:r>
            <a:r>
              <a:rPr sz="2200" spc="10" dirty="0">
                <a:solidFill>
                  <a:srgbClr val="3F448B"/>
                </a:solidFill>
                <a:latin typeface="Arial MT"/>
                <a:cs typeface="Tahoma"/>
              </a:rPr>
              <a:t>i</a:t>
            </a:r>
            <a:r>
              <a:rPr sz="2200" spc="5" dirty="0">
                <a:solidFill>
                  <a:srgbClr val="3F448B"/>
                </a:solidFill>
                <a:latin typeface="Arial MT"/>
                <a:cs typeface="Tahoma"/>
              </a:rPr>
              <a:t>o</a:t>
            </a:r>
            <a:r>
              <a:rPr sz="2200" dirty="0">
                <a:solidFill>
                  <a:srgbClr val="3F448B"/>
                </a:solidFill>
                <a:latin typeface="Arial MT"/>
                <a:cs typeface="Tahoma"/>
              </a:rPr>
              <a:t>ns</a:t>
            </a:r>
            <a:endParaRPr sz="2200" dirty="0">
              <a:latin typeface="Arial MT"/>
              <a:cs typeface="Tahoma"/>
            </a:endParaRPr>
          </a:p>
          <a:p>
            <a:pPr marL="168275" indent="-143510">
              <a:lnSpc>
                <a:spcPct val="100000"/>
              </a:lnSpc>
              <a:spcBef>
                <a:spcPts val="95"/>
              </a:spcBef>
              <a:buSzPct val="60000"/>
              <a:buFont typeface="Wingdings"/>
              <a:buChar char=""/>
              <a:tabLst>
                <a:tab pos="168275" algn="l"/>
              </a:tabLst>
            </a:pPr>
            <a:r>
              <a:rPr sz="2200" dirty="0">
                <a:solidFill>
                  <a:srgbClr val="3F448B"/>
                </a:solidFill>
                <a:latin typeface="Arial MT"/>
                <a:cs typeface="Tahoma"/>
              </a:rPr>
              <a:t>decision</a:t>
            </a:r>
            <a:r>
              <a:rPr sz="2200" spc="-12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200" spc="-5" dirty="0">
                <a:solidFill>
                  <a:srgbClr val="3F448B"/>
                </a:solidFill>
                <a:latin typeface="Arial MT"/>
                <a:cs typeface="Tahoma"/>
              </a:rPr>
              <a:t>processes</a:t>
            </a:r>
            <a:endParaRPr sz="2200" dirty="0">
              <a:latin typeface="Arial MT"/>
              <a:cs typeface="Tahoma"/>
            </a:endParaRPr>
          </a:p>
          <a:p>
            <a:pPr marL="168275" indent="-143510">
              <a:lnSpc>
                <a:spcPct val="100000"/>
              </a:lnSpc>
              <a:spcBef>
                <a:spcPts val="95"/>
              </a:spcBef>
              <a:buSzPct val="60000"/>
              <a:buFont typeface="Wingdings"/>
              <a:buChar char=""/>
              <a:tabLst>
                <a:tab pos="168275" algn="l"/>
              </a:tabLst>
            </a:pPr>
            <a:r>
              <a:rPr sz="2200" dirty="0">
                <a:solidFill>
                  <a:srgbClr val="3F448B"/>
                </a:solidFill>
                <a:latin typeface="Arial MT"/>
                <a:cs typeface="Tahoma"/>
              </a:rPr>
              <a:t>searching</a:t>
            </a:r>
            <a:endParaRPr sz="2200" dirty="0">
              <a:latin typeface="Arial MT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820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91388"/>
            <a:ext cx="80746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25" dirty="0"/>
              <a:t> </a:t>
            </a:r>
            <a:r>
              <a:rPr spc="-5" dirty="0"/>
              <a:t>Expression</a:t>
            </a:r>
            <a:r>
              <a:rPr spc="-190" dirty="0"/>
              <a:t> </a:t>
            </a:r>
            <a:r>
              <a:rPr spc="-9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39467"/>
            <a:ext cx="11442700" cy="150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" dirty="0">
                <a:latin typeface="Arial MT"/>
                <a:cs typeface="Tahoma"/>
              </a:rPr>
              <a:t>Binary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associated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with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arithmetic</a:t>
            </a:r>
            <a:r>
              <a:rPr sz="2400" spc="10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expression</a:t>
            </a:r>
            <a:endParaRPr sz="2400" dirty="0">
              <a:latin typeface="Arial MT"/>
              <a:cs typeface="Tahoma"/>
            </a:endParaRPr>
          </a:p>
          <a:p>
            <a:pPr marL="670560" lvl="1" indent="-143510">
              <a:lnSpc>
                <a:spcPct val="100000"/>
              </a:lnSpc>
              <a:spcBef>
                <a:spcPts val="95"/>
              </a:spcBef>
              <a:buSzPct val="60000"/>
              <a:buFont typeface="Wingdings"/>
              <a:buChar char=""/>
              <a:tabLst>
                <a:tab pos="670560" algn="l"/>
              </a:tabLst>
            </a:pPr>
            <a:r>
              <a:rPr sz="2400" spc="-5" dirty="0">
                <a:latin typeface="Arial MT"/>
                <a:cs typeface="Tahoma"/>
              </a:rPr>
              <a:t>internal</a:t>
            </a:r>
            <a:r>
              <a:rPr sz="2400" spc="-5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nodes:</a:t>
            </a:r>
            <a:r>
              <a:rPr sz="2400" spc="-1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operators</a:t>
            </a:r>
            <a:endParaRPr sz="2400" dirty="0">
              <a:latin typeface="Arial MT"/>
              <a:cs typeface="Tahoma"/>
            </a:endParaRPr>
          </a:p>
          <a:p>
            <a:pPr marL="670560" lvl="1" indent="-143510">
              <a:lnSpc>
                <a:spcPct val="100000"/>
              </a:lnSpc>
              <a:spcBef>
                <a:spcPts val="120"/>
              </a:spcBef>
              <a:buSzPct val="60000"/>
              <a:buFont typeface="Wingdings"/>
              <a:buChar char=""/>
              <a:tabLst>
                <a:tab pos="670560" algn="l"/>
              </a:tabLst>
            </a:pPr>
            <a:r>
              <a:rPr sz="2400" spc="-10" dirty="0">
                <a:latin typeface="Arial MT"/>
                <a:cs typeface="Tahoma"/>
              </a:rPr>
              <a:t>external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nodes:</a:t>
            </a:r>
            <a:r>
              <a:rPr sz="2400" spc="-10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operands</a:t>
            </a:r>
            <a:endParaRPr sz="2400" dirty="0">
              <a:latin typeface="Arial MT"/>
              <a:cs typeface="Tahoma"/>
            </a:endParaRPr>
          </a:p>
          <a:p>
            <a:pPr marL="240665" marR="999490" indent="-240665">
              <a:lnSpc>
                <a:spcPts val="2710"/>
              </a:lnSpc>
              <a:spcBef>
                <a:spcPts val="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" dirty="0">
                <a:latin typeface="Arial MT"/>
                <a:cs typeface="Tahoma"/>
              </a:rPr>
              <a:t>Example: </a:t>
            </a:r>
            <a:r>
              <a:rPr sz="2400" spc="-5" dirty="0">
                <a:latin typeface="Arial MT"/>
                <a:cs typeface="Tahoma"/>
              </a:rPr>
              <a:t>arithmetic </a:t>
            </a:r>
            <a:r>
              <a:rPr sz="2400" spc="-15" dirty="0">
                <a:latin typeface="Arial MT"/>
                <a:cs typeface="Tahoma"/>
              </a:rPr>
              <a:t>expression </a:t>
            </a:r>
            <a:r>
              <a:rPr sz="2400" spc="-10" dirty="0">
                <a:latin typeface="Arial MT"/>
                <a:cs typeface="Tahoma"/>
              </a:rPr>
              <a:t>tree for </a:t>
            </a:r>
            <a:r>
              <a:rPr sz="2400" dirty="0">
                <a:latin typeface="Arial MT"/>
                <a:cs typeface="Tahoma"/>
              </a:rPr>
              <a:t>the </a:t>
            </a:r>
            <a:r>
              <a:rPr sz="2400" spc="-610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expression</a:t>
            </a:r>
            <a:r>
              <a:rPr sz="2400" spc="-3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(2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lang="en-US" sz="2400" dirty="0">
                <a:latin typeface="Arial MT"/>
                <a:cs typeface="Tahoma"/>
              </a:rPr>
              <a:t>*</a:t>
            </a:r>
            <a:r>
              <a:rPr sz="2400" spc="-10" dirty="0" smtClean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(a </a:t>
            </a:r>
            <a:r>
              <a:rPr sz="2400" dirty="0">
                <a:latin typeface="Arial MT"/>
                <a:cs typeface="Tahoma"/>
              </a:rPr>
              <a:t>-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1)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+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(3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lang="en-US" sz="2400" dirty="0">
                <a:latin typeface="Arial MT"/>
                <a:cs typeface="Tahoma"/>
              </a:rPr>
              <a:t>*</a:t>
            </a:r>
            <a:r>
              <a:rPr sz="2400" spc="145" dirty="0" smtClean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b))</a:t>
            </a:r>
            <a:endParaRPr sz="24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3874" y="3659562"/>
            <a:ext cx="4264248" cy="253189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803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79195"/>
            <a:ext cx="74650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Decision Tree</a:t>
            </a:r>
            <a:endParaRPr spc="-80" dirty="0">
              <a:solidFill>
                <a:srgbClr val="C00000"/>
              </a:solidFill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500" y="1824736"/>
            <a:ext cx="11137900" cy="1490151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" dirty="0">
                <a:latin typeface="Arial MT"/>
                <a:cs typeface="Tahoma"/>
              </a:rPr>
              <a:t>Binary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associated</a:t>
            </a:r>
            <a:r>
              <a:rPr sz="2400" spc="-4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with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decision</a:t>
            </a:r>
            <a:r>
              <a:rPr sz="2400" spc="10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process</a:t>
            </a:r>
            <a:endParaRPr sz="2400" dirty="0">
              <a:latin typeface="Arial MT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204"/>
              </a:spcBef>
              <a:buSzPct val="62500"/>
              <a:buFont typeface="Wingdings"/>
              <a:buChar char=""/>
              <a:tabLst>
                <a:tab pos="683260" algn="l"/>
              </a:tabLst>
            </a:pPr>
            <a:r>
              <a:rPr sz="2000" spc="-10" dirty="0">
                <a:latin typeface="Arial MT"/>
                <a:cs typeface="Tahoma"/>
              </a:rPr>
              <a:t>in</a:t>
            </a:r>
            <a:r>
              <a:rPr sz="2000" spc="-5" dirty="0">
                <a:latin typeface="Arial MT"/>
                <a:cs typeface="Tahoma"/>
              </a:rPr>
              <a:t>t</a:t>
            </a:r>
            <a:r>
              <a:rPr sz="2000" spc="-10" dirty="0">
                <a:latin typeface="Arial MT"/>
                <a:cs typeface="Tahoma"/>
              </a:rPr>
              <a:t>erna</a:t>
            </a:r>
            <a:r>
              <a:rPr sz="2000" dirty="0">
                <a:latin typeface="Arial MT"/>
                <a:cs typeface="Tahoma"/>
              </a:rPr>
              <a:t>l</a:t>
            </a:r>
            <a:r>
              <a:rPr sz="2000" spc="-1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n</a:t>
            </a:r>
            <a:r>
              <a:rPr sz="2000" spc="5" dirty="0">
                <a:latin typeface="Arial MT"/>
                <a:cs typeface="Tahoma"/>
              </a:rPr>
              <a:t>o</a:t>
            </a:r>
            <a:r>
              <a:rPr sz="2000" dirty="0">
                <a:latin typeface="Arial MT"/>
                <a:cs typeface="Tahoma"/>
              </a:rPr>
              <a:t>d</a:t>
            </a:r>
            <a:r>
              <a:rPr sz="2000" spc="-5" dirty="0">
                <a:latin typeface="Arial MT"/>
                <a:cs typeface="Tahoma"/>
              </a:rPr>
              <a:t>es</a:t>
            </a:r>
            <a:r>
              <a:rPr sz="2000" dirty="0">
                <a:latin typeface="Arial MT"/>
                <a:cs typeface="Tahoma"/>
              </a:rPr>
              <a:t>: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dirty="0">
                <a:latin typeface="Arial MT"/>
                <a:cs typeface="Tahoma"/>
              </a:rPr>
              <a:t>q</a:t>
            </a:r>
            <a:r>
              <a:rPr sz="2000" spc="-5" dirty="0">
                <a:latin typeface="Arial MT"/>
                <a:cs typeface="Tahoma"/>
              </a:rPr>
              <a:t>ues</a:t>
            </a:r>
            <a:r>
              <a:rPr sz="2000" dirty="0">
                <a:latin typeface="Arial MT"/>
                <a:cs typeface="Tahoma"/>
              </a:rPr>
              <a:t>t</a:t>
            </a:r>
            <a:r>
              <a:rPr sz="2000" spc="-5" dirty="0">
                <a:latin typeface="Arial MT"/>
                <a:cs typeface="Tahoma"/>
              </a:rPr>
              <a:t>i</a:t>
            </a:r>
            <a:r>
              <a:rPr sz="2000" spc="5" dirty="0">
                <a:latin typeface="Arial MT"/>
                <a:cs typeface="Tahoma"/>
              </a:rPr>
              <a:t>o</a:t>
            </a:r>
            <a:r>
              <a:rPr sz="2000" spc="-5" dirty="0">
                <a:latin typeface="Arial MT"/>
                <a:cs typeface="Tahoma"/>
              </a:rPr>
              <a:t>n</a:t>
            </a:r>
            <a:r>
              <a:rPr sz="2000" dirty="0">
                <a:latin typeface="Arial MT"/>
                <a:cs typeface="Tahoma"/>
              </a:rPr>
              <a:t>s with</a:t>
            </a:r>
            <a:r>
              <a:rPr sz="2000" spc="-5" dirty="0">
                <a:latin typeface="Arial MT"/>
                <a:cs typeface="Tahoma"/>
              </a:rPr>
              <a:t> </a:t>
            </a:r>
            <a:r>
              <a:rPr sz="2000" spc="-15" dirty="0">
                <a:latin typeface="Arial MT"/>
                <a:cs typeface="Tahoma"/>
              </a:rPr>
              <a:t>y</a:t>
            </a:r>
            <a:r>
              <a:rPr sz="2000" spc="-5" dirty="0">
                <a:latin typeface="Arial MT"/>
                <a:cs typeface="Tahoma"/>
              </a:rPr>
              <a:t>es</a:t>
            </a:r>
            <a:r>
              <a:rPr sz="2000" dirty="0">
                <a:latin typeface="Arial MT"/>
                <a:cs typeface="Tahoma"/>
              </a:rPr>
              <a:t>/</a:t>
            </a:r>
            <a:r>
              <a:rPr sz="2000" spc="-5" dirty="0">
                <a:latin typeface="Arial MT"/>
                <a:cs typeface="Tahoma"/>
              </a:rPr>
              <a:t>n</a:t>
            </a:r>
            <a:r>
              <a:rPr sz="2000" dirty="0">
                <a:latin typeface="Arial MT"/>
                <a:cs typeface="Tahoma"/>
              </a:rPr>
              <a:t>o</a:t>
            </a:r>
            <a:r>
              <a:rPr sz="2000" spc="-130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a</a:t>
            </a:r>
            <a:r>
              <a:rPr sz="2000" spc="-10" dirty="0">
                <a:latin typeface="Arial MT"/>
                <a:cs typeface="Tahoma"/>
              </a:rPr>
              <a:t>n</a:t>
            </a:r>
            <a:r>
              <a:rPr sz="2000" spc="-5" dirty="0">
                <a:latin typeface="Arial MT"/>
                <a:cs typeface="Tahoma"/>
              </a:rPr>
              <a:t>s</a:t>
            </a:r>
            <a:r>
              <a:rPr sz="2000" dirty="0">
                <a:latin typeface="Arial MT"/>
                <a:cs typeface="Tahoma"/>
              </a:rPr>
              <a:t>w</a:t>
            </a:r>
            <a:r>
              <a:rPr sz="2000" spc="-5" dirty="0">
                <a:latin typeface="Arial MT"/>
                <a:cs typeface="Tahoma"/>
              </a:rPr>
              <a:t>e</a:t>
            </a:r>
            <a:r>
              <a:rPr sz="2000" dirty="0">
                <a:latin typeface="Arial MT"/>
                <a:cs typeface="Tahoma"/>
              </a:rPr>
              <a:t>r</a:t>
            </a:r>
          </a:p>
          <a:p>
            <a:pPr marL="683260" lvl="1" indent="-143510">
              <a:lnSpc>
                <a:spcPct val="100000"/>
              </a:lnSpc>
              <a:spcBef>
                <a:spcPts val="170"/>
              </a:spcBef>
              <a:buSzPct val="62500"/>
              <a:buFont typeface="Wingdings"/>
              <a:buChar char=""/>
              <a:tabLst>
                <a:tab pos="683260" algn="l"/>
              </a:tabLst>
            </a:pPr>
            <a:r>
              <a:rPr sz="2000" spc="-10" dirty="0">
                <a:latin typeface="Arial MT"/>
                <a:cs typeface="Tahoma"/>
              </a:rPr>
              <a:t>external</a:t>
            </a:r>
            <a:r>
              <a:rPr sz="2000" spc="-3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nodes:</a:t>
            </a:r>
            <a:r>
              <a:rPr sz="2000" spc="-85" dirty="0">
                <a:latin typeface="Arial MT"/>
                <a:cs typeface="Tahoma"/>
              </a:rPr>
              <a:t> </a:t>
            </a:r>
            <a:r>
              <a:rPr sz="2000" spc="-5" dirty="0">
                <a:latin typeface="Arial MT"/>
                <a:cs typeface="Tahoma"/>
              </a:rPr>
              <a:t>decisions</a:t>
            </a:r>
            <a:endParaRPr sz="2000" dirty="0">
              <a:latin typeface="Arial MT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0" dirty="0">
                <a:latin typeface="Arial MT"/>
                <a:cs typeface="Tahoma"/>
              </a:rPr>
              <a:t>Example: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dining</a:t>
            </a:r>
            <a:r>
              <a:rPr sz="2400" spc="-5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decision</a:t>
            </a:r>
            <a:endParaRPr sz="24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3949" y="3563006"/>
            <a:ext cx="5664098" cy="21265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987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91388"/>
            <a:ext cx="9522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Linked</a:t>
            </a:r>
            <a:r>
              <a:rPr spc="-35" dirty="0"/>
              <a:t> </a:t>
            </a:r>
            <a:r>
              <a:rPr spc="-15" dirty="0"/>
              <a:t>Structure</a:t>
            </a:r>
            <a:r>
              <a:rPr spc="-30" dirty="0"/>
              <a:t> </a:t>
            </a:r>
            <a:r>
              <a:rPr spc="-25" dirty="0"/>
              <a:t>for</a:t>
            </a:r>
            <a:r>
              <a:rPr spc="-35" dirty="0"/>
              <a:t> </a:t>
            </a:r>
            <a:r>
              <a:rPr spc="-5" dirty="0"/>
              <a:t>Binary</a:t>
            </a:r>
            <a:r>
              <a:rPr spc="65" dirty="0"/>
              <a:t> </a:t>
            </a:r>
            <a:r>
              <a:rPr spc="-7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789887"/>
            <a:ext cx="7023100" cy="205889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  <a:tab pos="3354070" algn="l"/>
              </a:tabLst>
            </a:pPr>
            <a:r>
              <a:rPr sz="2800" dirty="0">
                <a:latin typeface="Tahoma"/>
                <a:cs typeface="Tahoma"/>
              </a:rPr>
              <a:t>A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node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130" dirty="0">
                <a:latin typeface="Tahoma"/>
                <a:cs typeface="Tahoma"/>
              </a:rPr>
              <a:t> </a:t>
            </a:r>
            <a:r>
              <a:rPr sz="2800" spc="-10" dirty="0" smtClean="0">
                <a:latin typeface="Tahoma"/>
                <a:cs typeface="Tahoma"/>
              </a:rPr>
              <a:t>represented</a:t>
            </a:r>
            <a:r>
              <a:rPr lang="en-US" sz="2800" spc="-10" dirty="0" smtClean="0">
                <a:latin typeface="Tahoma"/>
                <a:cs typeface="Tahoma"/>
              </a:rPr>
              <a:t> </a:t>
            </a:r>
            <a:r>
              <a:rPr sz="2800" spc="-5" dirty="0" smtClean="0">
                <a:latin typeface="Tahoma"/>
                <a:cs typeface="Tahoma"/>
              </a:rPr>
              <a:t>by</a:t>
            </a:r>
            <a:r>
              <a:rPr sz="2800" spc="-25" dirty="0" smtClean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object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storing</a:t>
            </a:r>
            <a:endParaRPr sz="28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235"/>
              </a:spcBef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400" spc="-5" dirty="0">
                <a:latin typeface="Tahoma"/>
                <a:cs typeface="Tahoma"/>
              </a:rPr>
              <a:t>Element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190"/>
              </a:spcBef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400" spc="-20" dirty="0">
                <a:latin typeface="Tahoma"/>
                <a:cs typeface="Tahoma"/>
              </a:rPr>
              <a:t>Parent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node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195"/>
              </a:spcBef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400" spc="-5" dirty="0">
                <a:latin typeface="Tahoma"/>
                <a:cs typeface="Tahoma"/>
              </a:rPr>
              <a:t>Left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child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node</a:t>
            </a:r>
            <a:endParaRPr sz="2400" dirty="0">
              <a:latin typeface="Tahoma"/>
              <a:cs typeface="Tahoma"/>
            </a:endParaRPr>
          </a:p>
          <a:p>
            <a:pPr marL="683260" lvl="1" indent="-143510">
              <a:lnSpc>
                <a:spcPct val="100000"/>
              </a:lnSpc>
              <a:spcBef>
                <a:spcPts val="215"/>
              </a:spcBef>
              <a:buSzPct val="60000"/>
              <a:buFont typeface="Wingdings"/>
              <a:buChar char=""/>
              <a:tabLst>
                <a:tab pos="683260" algn="l"/>
              </a:tabLst>
            </a:pPr>
            <a:r>
              <a:rPr sz="2400" spc="-5" dirty="0">
                <a:latin typeface="Tahoma"/>
                <a:cs typeface="Tahoma"/>
              </a:rPr>
              <a:t>Right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child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node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577" y="2514600"/>
            <a:ext cx="4206765" cy="32485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4606265"/>
            <a:ext cx="3030334" cy="188554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889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1388"/>
            <a:ext cx="86842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Codes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spc="-10" dirty="0"/>
              <a:t>Creation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Binary</a:t>
            </a:r>
            <a:r>
              <a:rPr spc="-10" dirty="0"/>
              <a:t> </a:t>
            </a:r>
            <a:r>
              <a:rPr spc="-7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25244"/>
            <a:ext cx="10037445" cy="3129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15815">
              <a:lnSpc>
                <a:spcPts val="3000"/>
              </a:lnSpc>
              <a:spcBef>
                <a:spcPts val="100"/>
              </a:spcBef>
              <a:tabLst>
                <a:tab pos="3589654" algn="l"/>
              </a:tabLst>
            </a:pPr>
            <a:r>
              <a:rPr sz="2400" dirty="0">
                <a:latin typeface="Arial MT"/>
                <a:cs typeface="Tahoma"/>
              </a:rPr>
              <a:t>A</a:t>
            </a:r>
            <a:r>
              <a:rPr sz="2400" spc="-5" dirty="0">
                <a:latin typeface="Arial MT"/>
                <a:cs typeface="Tahoma"/>
              </a:rPr>
              <a:t> binary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tree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can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be </a:t>
            </a:r>
            <a:r>
              <a:rPr sz="2400" spc="-10" dirty="0">
                <a:latin typeface="Arial MT"/>
                <a:cs typeface="Tahoma"/>
              </a:rPr>
              <a:t>created </a:t>
            </a:r>
            <a:r>
              <a:rPr sz="2400" spc="-25" dirty="0">
                <a:latin typeface="Arial MT"/>
                <a:cs typeface="Tahoma"/>
              </a:rPr>
              <a:t>recursively. </a:t>
            </a:r>
            <a:r>
              <a:rPr sz="2400" spc="-7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The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program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will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work</a:t>
            </a:r>
            <a:r>
              <a:rPr sz="2400" spc="-155" dirty="0">
                <a:latin typeface="Arial MT"/>
                <a:cs typeface="Tahoma"/>
              </a:rPr>
              <a:t> </a:t>
            </a:r>
            <a:r>
              <a:rPr sz="2400" dirty="0" smtClean="0">
                <a:latin typeface="Arial MT"/>
                <a:cs typeface="Tahoma"/>
              </a:rPr>
              <a:t>as</a:t>
            </a:r>
            <a:r>
              <a:rPr lang="en-US" sz="2400" dirty="0" smtClean="0">
                <a:latin typeface="Arial MT"/>
                <a:cs typeface="Tahoma"/>
              </a:rPr>
              <a:t> </a:t>
            </a:r>
            <a:r>
              <a:rPr sz="2400" spc="-5" dirty="0" smtClean="0">
                <a:latin typeface="Arial MT"/>
                <a:cs typeface="Tahoma"/>
              </a:rPr>
              <a:t>follow:</a:t>
            </a:r>
            <a:endParaRPr lang="en-US" sz="2400" spc="-5" dirty="0" smtClean="0">
              <a:latin typeface="Arial MT"/>
              <a:cs typeface="Tahoma"/>
            </a:endParaRPr>
          </a:p>
          <a:p>
            <a:pPr marL="12700" marR="4615815">
              <a:lnSpc>
                <a:spcPts val="3000"/>
              </a:lnSpc>
              <a:spcBef>
                <a:spcPts val="100"/>
              </a:spcBef>
              <a:tabLst>
                <a:tab pos="3589654" algn="l"/>
              </a:tabLst>
            </a:pPr>
            <a:endParaRPr sz="2400" dirty="0">
              <a:latin typeface="Arial MT"/>
              <a:cs typeface="Tahoma"/>
            </a:endParaRPr>
          </a:p>
          <a:p>
            <a:pPr marL="425450" indent="-342900">
              <a:lnSpc>
                <a:spcPct val="100000"/>
              </a:lnSpc>
              <a:buSzPct val="54166"/>
              <a:buFont typeface="Courier New" panose="02070309020205020404" pitchFamily="49" charset="0"/>
              <a:buChar char="o"/>
              <a:tabLst>
                <a:tab pos="226060" algn="l"/>
              </a:tabLst>
            </a:pPr>
            <a:r>
              <a:rPr sz="2400" spc="-15" dirty="0">
                <a:latin typeface="Arial MT"/>
                <a:cs typeface="Tahoma"/>
              </a:rPr>
              <a:t>Read</a:t>
            </a:r>
            <a:r>
              <a:rPr sz="2400" spc="-2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a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data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in</a:t>
            </a:r>
            <a:r>
              <a:rPr sz="2400" spc="-180" dirty="0">
                <a:latin typeface="Arial MT"/>
                <a:cs typeface="Tahoma"/>
              </a:rPr>
              <a:t> </a:t>
            </a:r>
            <a:r>
              <a:rPr sz="2400" i="1" spc="-5" dirty="0">
                <a:solidFill>
                  <a:schemeClr val="tx2"/>
                </a:solidFill>
                <a:latin typeface="Arial MT"/>
                <a:cs typeface="Tahoma"/>
              </a:rPr>
              <a:t>x</a:t>
            </a:r>
            <a:r>
              <a:rPr sz="2400" spc="-5" dirty="0">
                <a:latin typeface="Arial MT"/>
                <a:cs typeface="Tahoma"/>
              </a:rPr>
              <a:t>.</a:t>
            </a:r>
            <a:endParaRPr sz="2400" dirty="0">
              <a:latin typeface="Arial MT"/>
              <a:cs typeface="Tahoma"/>
            </a:endParaRPr>
          </a:p>
          <a:p>
            <a:pPr marL="425450" indent="-342900">
              <a:lnSpc>
                <a:spcPct val="100000"/>
              </a:lnSpc>
              <a:spcBef>
                <a:spcPts val="215"/>
              </a:spcBef>
              <a:buSzPct val="54166"/>
              <a:buFont typeface="Courier New" panose="02070309020205020404" pitchFamily="49" charset="0"/>
              <a:buChar char="o"/>
              <a:tabLst>
                <a:tab pos="226060" algn="l"/>
                <a:tab pos="8122284" algn="l"/>
              </a:tabLst>
            </a:pPr>
            <a:r>
              <a:rPr sz="2400" spc="-5" dirty="0">
                <a:latin typeface="Arial MT"/>
                <a:cs typeface="Tahoma"/>
              </a:rPr>
              <a:t>Allocate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memory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5" dirty="0">
                <a:latin typeface="Arial MT"/>
                <a:cs typeface="Tahoma"/>
              </a:rPr>
              <a:t>for</a:t>
            </a:r>
            <a:r>
              <a:rPr sz="2400" dirty="0">
                <a:latin typeface="Arial MT"/>
                <a:cs typeface="Tahoma"/>
              </a:rPr>
              <a:t> a</a:t>
            </a:r>
            <a:r>
              <a:rPr sz="2400" spc="1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new node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and</a:t>
            </a:r>
            <a:r>
              <a:rPr sz="2400" spc="-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store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</a:t>
            </a:r>
            <a:r>
              <a:rPr sz="2400" spc="-5" dirty="0">
                <a:latin typeface="Arial MT"/>
                <a:cs typeface="Tahoma"/>
              </a:rPr>
              <a:t> address</a:t>
            </a:r>
            <a:r>
              <a:rPr sz="2400" spc="-16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in	</a:t>
            </a:r>
            <a:r>
              <a:rPr sz="2400" spc="-5" dirty="0">
                <a:latin typeface="Arial MT"/>
                <a:cs typeface="Tahoma"/>
              </a:rPr>
              <a:t>pointer</a:t>
            </a:r>
            <a:r>
              <a:rPr sz="2400" spc="-105" dirty="0">
                <a:latin typeface="Arial MT"/>
                <a:cs typeface="Tahoma"/>
              </a:rPr>
              <a:t> </a:t>
            </a:r>
            <a:r>
              <a:rPr sz="2400" i="1" spc="-25" dirty="0">
                <a:solidFill>
                  <a:schemeClr val="tx2"/>
                </a:solidFill>
                <a:latin typeface="Arial MT"/>
                <a:cs typeface="Tahoma"/>
              </a:rPr>
              <a:t>p</a:t>
            </a:r>
            <a:r>
              <a:rPr sz="2400" spc="-25" dirty="0">
                <a:latin typeface="Arial MT"/>
                <a:cs typeface="Tahoma"/>
              </a:rPr>
              <a:t>.</a:t>
            </a:r>
            <a:endParaRPr sz="2400" dirty="0">
              <a:latin typeface="Arial MT"/>
              <a:cs typeface="Tahoma"/>
            </a:endParaRPr>
          </a:p>
          <a:p>
            <a:pPr marL="425450" indent="-342900">
              <a:lnSpc>
                <a:spcPct val="100000"/>
              </a:lnSpc>
              <a:spcBef>
                <a:spcPts val="240"/>
              </a:spcBef>
              <a:buSzPct val="54166"/>
              <a:buFont typeface="Courier New" panose="02070309020205020404" pitchFamily="49" charset="0"/>
              <a:buChar char="o"/>
              <a:tabLst>
                <a:tab pos="226060" algn="l"/>
              </a:tabLst>
            </a:pPr>
            <a:r>
              <a:rPr sz="2400" spc="-5" dirty="0">
                <a:latin typeface="Arial MT"/>
                <a:cs typeface="Tahoma"/>
              </a:rPr>
              <a:t>Store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</a:t>
            </a:r>
            <a:r>
              <a:rPr sz="2400" spc="-15" dirty="0">
                <a:latin typeface="Arial MT"/>
                <a:cs typeface="Tahoma"/>
              </a:rPr>
              <a:t> </a:t>
            </a:r>
            <a:r>
              <a:rPr sz="2400" i="1" spc="-5" dirty="0">
                <a:solidFill>
                  <a:schemeClr val="tx2"/>
                </a:solidFill>
                <a:latin typeface="Arial MT"/>
                <a:cs typeface="Tahoma"/>
              </a:rPr>
              <a:t>data</a:t>
            </a:r>
            <a:r>
              <a:rPr sz="2400" i="1" spc="-10" dirty="0">
                <a:solidFill>
                  <a:schemeClr val="tx2"/>
                </a:solidFill>
                <a:latin typeface="Arial MT"/>
                <a:cs typeface="Tahoma"/>
              </a:rPr>
              <a:t> </a:t>
            </a:r>
            <a:r>
              <a:rPr sz="2400" i="1" dirty="0">
                <a:solidFill>
                  <a:schemeClr val="tx2"/>
                </a:solidFill>
                <a:latin typeface="Arial MT"/>
                <a:cs typeface="Tahoma"/>
              </a:rPr>
              <a:t>x</a:t>
            </a:r>
            <a:r>
              <a:rPr sz="2400" i="1" spc="-10" dirty="0">
                <a:solidFill>
                  <a:schemeClr val="tx2"/>
                </a:solidFill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in </a:t>
            </a:r>
            <a:r>
              <a:rPr sz="2400" spc="-10" dirty="0">
                <a:latin typeface="Arial MT"/>
                <a:cs typeface="Tahoma"/>
              </a:rPr>
              <a:t>the</a:t>
            </a:r>
            <a:r>
              <a:rPr sz="2400" spc="-20" dirty="0">
                <a:latin typeface="Arial MT"/>
                <a:cs typeface="Tahoma"/>
              </a:rPr>
              <a:t> </a:t>
            </a:r>
            <a:r>
              <a:rPr sz="2400" i="1" spc="-5" dirty="0">
                <a:solidFill>
                  <a:schemeClr val="tx2"/>
                </a:solidFill>
                <a:latin typeface="Arial MT"/>
                <a:cs typeface="Tahoma"/>
              </a:rPr>
              <a:t>node</a:t>
            </a:r>
            <a:r>
              <a:rPr sz="2400" i="1" spc="-100" dirty="0">
                <a:solidFill>
                  <a:schemeClr val="tx2"/>
                </a:solidFill>
                <a:latin typeface="Arial MT"/>
                <a:cs typeface="Tahoma"/>
              </a:rPr>
              <a:t> </a:t>
            </a:r>
            <a:r>
              <a:rPr sz="2400" i="1" spc="-25" dirty="0">
                <a:solidFill>
                  <a:schemeClr val="tx2"/>
                </a:solidFill>
                <a:latin typeface="Arial MT"/>
                <a:cs typeface="Tahoma"/>
              </a:rPr>
              <a:t>p</a:t>
            </a:r>
            <a:r>
              <a:rPr sz="2400" spc="-25" dirty="0">
                <a:latin typeface="Arial MT"/>
                <a:cs typeface="Tahoma"/>
              </a:rPr>
              <a:t>.</a:t>
            </a:r>
            <a:endParaRPr sz="2400" dirty="0">
              <a:latin typeface="Arial MT"/>
              <a:cs typeface="Tahoma"/>
            </a:endParaRPr>
          </a:p>
          <a:p>
            <a:pPr marL="425450" indent="-342900">
              <a:lnSpc>
                <a:spcPct val="100000"/>
              </a:lnSpc>
              <a:spcBef>
                <a:spcPts val="215"/>
              </a:spcBef>
              <a:buSzPct val="54166"/>
              <a:buFont typeface="Courier New" panose="02070309020205020404" pitchFamily="49" charset="0"/>
              <a:buChar char="o"/>
              <a:tabLst>
                <a:tab pos="226060" algn="l"/>
                <a:tab pos="8339455" algn="l"/>
              </a:tabLst>
            </a:pPr>
            <a:r>
              <a:rPr sz="2400" spc="-10" dirty="0">
                <a:latin typeface="Arial MT"/>
                <a:cs typeface="Tahoma"/>
              </a:rPr>
              <a:t>Recursively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create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</a:t>
            </a:r>
            <a:r>
              <a:rPr sz="2400" spc="-5" dirty="0">
                <a:latin typeface="Arial MT"/>
                <a:cs typeface="Tahoma"/>
              </a:rPr>
              <a:t> left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subtree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i="1" dirty="0">
                <a:solidFill>
                  <a:schemeClr val="tx2"/>
                </a:solidFill>
                <a:latin typeface="Arial MT"/>
                <a:cs typeface="Tahoma"/>
              </a:rPr>
              <a:t>p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and</a:t>
            </a:r>
            <a:r>
              <a:rPr sz="2400" spc="-10" dirty="0">
                <a:latin typeface="Arial MT"/>
                <a:cs typeface="Tahoma"/>
              </a:rPr>
              <a:t> make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dirty="0">
                <a:latin typeface="Arial MT"/>
                <a:cs typeface="Tahoma"/>
              </a:rPr>
              <a:t>it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</a:t>
            </a:r>
            <a:r>
              <a:rPr sz="2400" spc="-5" dirty="0">
                <a:latin typeface="Arial MT"/>
                <a:cs typeface="Tahoma"/>
              </a:rPr>
              <a:t> left	</a:t>
            </a:r>
            <a:r>
              <a:rPr sz="2400" dirty="0">
                <a:latin typeface="Arial MT"/>
                <a:cs typeface="Tahoma"/>
              </a:rPr>
              <a:t>child</a:t>
            </a:r>
            <a:r>
              <a:rPr sz="2400" spc="-3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spc="-80" dirty="0">
                <a:latin typeface="Arial MT"/>
                <a:cs typeface="Tahoma"/>
              </a:rPr>
              <a:t> </a:t>
            </a:r>
            <a:r>
              <a:rPr sz="2400" i="1" spc="-25" dirty="0">
                <a:solidFill>
                  <a:schemeClr val="tx2"/>
                </a:solidFill>
                <a:latin typeface="Arial MT"/>
                <a:cs typeface="Tahoma"/>
              </a:rPr>
              <a:t>p</a:t>
            </a:r>
            <a:r>
              <a:rPr sz="2400" spc="-25" dirty="0">
                <a:latin typeface="Arial MT"/>
                <a:cs typeface="Tahoma"/>
              </a:rPr>
              <a:t>.</a:t>
            </a:r>
            <a:endParaRPr sz="2400" dirty="0">
              <a:latin typeface="Arial MT"/>
              <a:cs typeface="Tahoma"/>
            </a:endParaRPr>
          </a:p>
          <a:p>
            <a:pPr marL="425450" indent="-342900">
              <a:lnSpc>
                <a:spcPct val="100000"/>
              </a:lnSpc>
              <a:spcBef>
                <a:spcPts val="215"/>
              </a:spcBef>
              <a:buSzPct val="54166"/>
              <a:buFont typeface="Courier New" panose="02070309020205020404" pitchFamily="49" charset="0"/>
              <a:buChar char="o"/>
              <a:tabLst>
                <a:tab pos="226060" algn="l"/>
                <a:tab pos="8703310" algn="l"/>
              </a:tabLst>
            </a:pPr>
            <a:r>
              <a:rPr sz="2400" spc="-10" dirty="0">
                <a:latin typeface="Arial MT"/>
                <a:cs typeface="Tahoma"/>
              </a:rPr>
              <a:t>Recursively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create</a:t>
            </a:r>
            <a:r>
              <a:rPr sz="2400" spc="-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</a:t>
            </a:r>
            <a:r>
              <a:rPr sz="2400" spc="-5" dirty="0">
                <a:latin typeface="Arial MT"/>
                <a:cs typeface="Tahoma"/>
              </a:rPr>
              <a:t> right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subtree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dirty="0">
                <a:latin typeface="Arial MT"/>
                <a:cs typeface="Tahoma"/>
              </a:rPr>
              <a:t> </a:t>
            </a:r>
            <a:r>
              <a:rPr sz="2400" i="1" dirty="0">
                <a:solidFill>
                  <a:schemeClr val="tx2"/>
                </a:solidFill>
                <a:latin typeface="Arial MT"/>
                <a:cs typeface="Tahoma"/>
              </a:rPr>
              <a:t>p</a:t>
            </a:r>
            <a:r>
              <a:rPr sz="2400" spc="1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and </a:t>
            </a:r>
            <a:r>
              <a:rPr sz="2400" spc="-10" dirty="0">
                <a:latin typeface="Arial MT"/>
                <a:cs typeface="Tahoma"/>
              </a:rPr>
              <a:t>make</a:t>
            </a:r>
            <a:r>
              <a:rPr sz="2400" dirty="0">
                <a:latin typeface="Arial MT"/>
                <a:cs typeface="Tahoma"/>
              </a:rPr>
              <a:t> it</a:t>
            </a:r>
            <a:r>
              <a:rPr sz="2400" spc="5" dirty="0">
                <a:latin typeface="Arial MT"/>
                <a:cs typeface="Tahoma"/>
              </a:rPr>
              <a:t> </a:t>
            </a:r>
            <a:r>
              <a:rPr sz="2400" spc="-10" dirty="0">
                <a:latin typeface="Arial MT"/>
                <a:cs typeface="Tahoma"/>
              </a:rPr>
              <a:t>the</a:t>
            </a:r>
            <a:r>
              <a:rPr sz="2400" spc="-145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right	child</a:t>
            </a:r>
            <a:r>
              <a:rPr sz="2400" spc="-40" dirty="0">
                <a:latin typeface="Arial MT"/>
                <a:cs typeface="Tahoma"/>
              </a:rPr>
              <a:t> </a:t>
            </a:r>
            <a:r>
              <a:rPr sz="2400" spc="-5" dirty="0">
                <a:latin typeface="Arial MT"/>
                <a:cs typeface="Tahoma"/>
              </a:rPr>
              <a:t>of</a:t>
            </a:r>
            <a:r>
              <a:rPr sz="2400" i="1" spc="-85" dirty="0">
                <a:solidFill>
                  <a:schemeClr val="tx2"/>
                </a:solidFill>
                <a:latin typeface="Arial MT"/>
                <a:cs typeface="Tahoma"/>
              </a:rPr>
              <a:t> </a:t>
            </a:r>
            <a:r>
              <a:rPr sz="2400" i="1" spc="-25" dirty="0">
                <a:solidFill>
                  <a:schemeClr val="tx2"/>
                </a:solidFill>
                <a:latin typeface="Arial MT"/>
                <a:cs typeface="Tahoma"/>
              </a:rPr>
              <a:t>p</a:t>
            </a:r>
            <a:r>
              <a:rPr sz="2400" spc="-25" dirty="0">
                <a:latin typeface="Arial MT"/>
                <a:cs typeface="Tahoma"/>
              </a:rPr>
              <a:t>.</a:t>
            </a:r>
            <a:endParaRPr sz="2400" dirty="0">
              <a:latin typeface="Arial MT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333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1388"/>
            <a:ext cx="89128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Codes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spc="-10" dirty="0"/>
              <a:t>Creation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Binary</a:t>
            </a:r>
            <a:r>
              <a:rPr spc="-10" dirty="0"/>
              <a:t> </a:t>
            </a:r>
            <a:r>
              <a:rPr spc="-7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790699"/>
            <a:ext cx="9156700" cy="25996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1564640">
              <a:lnSpc>
                <a:spcPct val="120000"/>
              </a:lnSpc>
              <a:spcBef>
                <a:spcPts val="100"/>
              </a:spcBef>
            </a:pPr>
            <a:r>
              <a:rPr sz="2000" b="1" spc="-5" dirty="0">
                <a:latin typeface="Consolas" panose="020B0609020204030204" pitchFamily="49" charset="0"/>
                <a:cs typeface="Tahoma"/>
              </a:rPr>
              <a:t>#include&lt;stdio.h&gt; 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 </a:t>
            </a:r>
            <a:endParaRPr lang="en-US" sz="2000" b="1" dirty="0" smtClean="0">
              <a:latin typeface="Consolas" panose="020B0609020204030204" pitchFamily="49" charset="0"/>
              <a:cs typeface="Tahoma"/>
            </a:endParaRPr>
          </a:p>
          <a:p>
            <a:pPr marL="24765" marR="1564640">
              <a:lnSpc>
                <a:spcPct val="120000"/>
              </a:lnSpc>
              <a:spcBef>
                <a:spcPts val="100"/>
              </a:spcBef>
            </a:pPr>
            <a:r>
              <a:rPr sz="2000" b="1" spc="-10" dirty="0" err="1" smtClean="0">
                <a:latin typeface="Consolas" panose="020B0609020204030204" pitchFamily="49" charset="0"/>
                <a:cs typeface="Tahoma"/>
              </a:rPr>
              <a:t>t</a:t>
            </a:r>
            <a:r>
              <a:rPr sz="2000" b="1" spc="5" dirty="0" err="1" smtClean="0">
                <a:latin typeface="Consolas" panose="020B0609020204030204" pitchFamily="49" charset="0"/>
                <a:cs typeface="Tahoma"/>
              </a:rPr>
              <a:t>y</a:t>
            </a:r>
            <a:r>
              <a:rPr sz="2000" b="1" spc="-5" dirty="0" err="1" smtClean="0">
                <a:latin typeface="Consolas" panose="020B0609020204030204" pitchFamily="49" charset="0"/>
                <a:cs typeface="Tahoma"/>
              </a:rPr>
              <a:t>p</a:t>
            </a:r>
            <a:r>
              <a:rPr sz="2000" b="1" dirty="0" err="1" smtClean="0">
                <a:latin typeface="Consolas" panose="020B0609020204030204" pitchFamily="49" charset="0"/>
                <a:cs typeface="Tahoma"/>
              </a:rPr>
              <a:t>e</a:t>
            </a:r>
            <a:r>
              <a:rPr sz="2000" b="1" spc="-5" dirty="0" err="1" smtClean="0">
                <a:latin typeface="Consolas" panose="020B0609020204030204" pitchFamily="49" charset="0"/>
                <a:cs typeface="Tahoma"/>
              </a:rPr>
              <a:t>d</a:t>
            </a:r>
            <a:r>
              <a:rPr sz="2000" b="1" dirty="0" err="1" smtClean="0">
                <a:latin typeface="Consolas" panose="020B0609020204030204" pitchFamily="49" charset="0"/>
                <a:cs typeface="Tahoma"/>
              </a:rPr>
              <a:t>ef</a:t>
            </a:r>
            <a:r>
              <a:rPr sz="2000" b="1" spc="1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s</a:t>
            </a:r>
            <a:r>
              <a:rPr sz="2000" b="1" spc="10" dirty="0">
                <a:latin typeface="Consolas" panose="020B0609020204030204" pitchFamily="49" charset="0"/>
                <a:cs typeface="Tahoma"/>
              </a:rPr>
              <a:t>t</a:t>
            </a:r>
            <a:r>
              <a:rPr sz="2000" b="1" spc="5" dirty="0">
                <a:latin typeface="Consolas" panose="020B0609020204030204" pitchFamily="49" charset="0"/>
                <a:cs typeface="Tahoma"/>
              </a:rPr>
              <a:t>r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u</a:t>
            </a:r>
            <a:r>
              <a:rPr sz="2000" b="1" spc="5" dirty="0">
                <a:latin typeface="Consolas" panose="020B0609020204030204" pitchFamily="49" charset="0"/>
                <a:cs typeface="Tahoma"/>
              </a:rPr>
              <a:t>c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t</a:t>
            </a:r>
            <a:r>
              <a:rPr sz="2000" b="1" spc="15" dirty="0">
                <a:latin typeface="Consolas" panose="020B0609020204030204" pitchFamily="49" charset="0"/>
                <a:cs typeface="Tahoma"/>
              </a:rPr>
              <a:t> </a:t>
            </a:r>
            <a:r>
              <a:rPr sz="2000" b="1" spc="-195" dirty="0">
                <a:latin typeface="Consolas" panose="020B0609020204030204" pitchFamily="49" charset="0"/>
                <a:cs typeface="Tahoma"/>
              </a:rPr>
              <a:t>T</a:t>
            </a:r>
            <a:r>
              <a:rPr sz="2000" b="1" spc="-5" dirty="0">
                <a:latin typeface="Consolas" panose="020B0609020204030204" pitchFamily="49" charset="0"/>
                <a:cs typeface="Tahoma"/>
              </a:rPr>
              <a:t>ree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No</a:t>
            </a:r>
            <a:r>
              <a:rPr sz="2000" b="1" spc="-5" dirty="0">
                <a:latin typeface="Consolas" panose="020B0609020204030204" pitchFamily="49" charset="0"/>
                <a:cs typeface="Tahoma"/>
              </a:rPr>
              <a:t>d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e</a:t>
            </a:r>
            <a:r>
              <a:rPr sz="2000" b="1" spc="-200" dirty="0">
                <a:latin typeface="Consolas" panose="020B0609020204030204" pitchFamily="49" charset="0"/>
                <a:cs typeface="Tahoma"/>
              </a:rPr>
              <a:t> 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{</a:t>
            </a:r>
          </a:p>
          <a:p>
            <a:pPr marL="927100" marR="5080">
              <a:lnSpc>
                <a:spcPct val="121000"/>
              </a:lnSpc>
              <a:spcBef>
                <a:spcPts val="1005"/>
              </a:spcBef>
              <a:tabLst>
                <a:tab pos="3517265" algn="l"/>
              </a:tabLst>
            </a:pPr>
            <a:r>
              <a:rPr sz="2000" b="1" dirty="0">
                <a:latin typeface="Consolas" panose="020B0609020204030204" pitchFamily="49" charset="0"/>
                <a:cs typeface="Tahoma"/>
              </a:rPr>
              <a:t>struct</a:t>
            </a:r>
            <a:r>
              <a:rPr sz="2000" b="1" spc="25" dirty="0">
                <a:latin typeface="Consolas" panose="020B0609020204030204" pitchFamily="49" charset="0"/>
                <a:cs typeface="Tahoma"/>
              </a:rPr>
              <a:t> </a:t>
            </a:r>
            <a:r>
              <a:rPr sz="2000" b="1" spc="-30" dirty="0">
                <a:latin typeface="Consolas" panose="020B0609020204030204" pitchFamily="49" charset="0"/>
                <a:cs typeface="Tahoma"/>
              </a:rPr>
              <a:t>TreeNode</a:t>
            </a:r>
            <a:r>
              <a:rPr sz="2000" b="1" spc="-165" dirty="0">
                <a:latin typeface="Consolas" panose="020B0609020204030204" pitchFamily="49" charset="0"/>
                <a:cs typeface="Tahoma"/>
              </a:rPr>
              <a:t> 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*</a:t>
            </a:r>
            <a:r>
              <a:rPr sz="2000" b="1" dirty="0" smtClean="0">
                <a:latin typeface="Consolas" panose="020B0609020204030204" pitchFamily="49" charset="0"/>
                <a:cs typeface="Tahoma"/>
              </a:rPr>
              <a:t>left;</a:t>
            </a:r>
            <a:endParaRPr lang="en-US" sz="2000" b="1" dirty="0" smtClean="0">
              <a:latin typeface="Consolas" panose="020B0609020204030204" pitchFamily="49" charset="0"/>
              <a:cs typeface="Tahoma"/>
            </a:endParaRPr>
          </a:p>
          <a:p>
            <a:pPr marL="927100" marR="5080">
              <a:lnSpc>
                <a:spcPct val="121000"/>
              </a:lnSpc>
              <a:spcBef>
                <a:spcPts val="1005"/>
              </a:spcBef>
              <a:tabLst>
                <a:tab pos="3517265" algn="l"/>
              </a:tabLst>
            </a:pPr>
            <a:r>
              <a:rPr sz="2000" b="1" dirty="0" err="1" smtClean="0">
                <a:latin typeface="Consolas" panose="020B0609020204030204" pitchFamily="49" charset="0"/>
                <a:cs typeface="Tahoma"/>
              </a:rPr>
              <a:t>int</a:t>
            </a:r>
            <a:r>
              <a:rPr sz="2000" b="1" spc="-9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data; </a:t>
            </a:r>
            <a:endParaRPr lang="en-US" sz="2000" b="1" spc="-610" dirty="0">
              <a:latin typeface="Consolas" panose="020B0609020204030204" pitchFamily="49" charset="0"/>
              <a:cs typeface="Tahoma"/>
            </a:endParaRPr>
          </a:p>
          <a:p>
            <a:pPr marL="927100" marR="5080">
              <a:lnSpc>
                <a:spcPct val="121000"/>
              </a:lnSpc>
              <a:spcBef>
                <a:spcPts val="1005"/>
              </a:spcBef>
              <a:tabLst>
                <a:tab pos="3517265" algn="l"/>
              </a:tabLst>
            </a:pPr>
            <a:r>
              <a:rPr sz="2000" b="1" dirty="0" err="1" smtClean="0">
                <a:latin typeface="Consolas" panose="020B0609020204030204" pitchFamily="49" charset="0"/>
                <a:cs typeface="Tahoma"/>
              </a:rPr>
              <a:t>s</a:t>
            </a:r>
            <a:r>
              <a:rPr sz="2000" b="1" spc="10" dirty="0" err="1" smtClean="0">
                <a:latin typeface="Consolas" panose="020B0609020204030204" pitchFamily="49" charset="0"/>
                <a:cs typeface="Tahoma"/>
              </a:rPr>
              <a:t>t</a:t>
            </a:r>
            <a:r>
              <a:rPr sz="2000" b="1" spc="5" dirty="0" err="1" smtClean="0">
                <a:latin typeface="Consolas" panose="020B0609020204030204" pitchFamily="49" charset="0"/>
                <a:cs typeface="Tahoma"/>
              </a:rPr>
              <a:t>r</a:t>
            </a:r>
            <a:r>
              <a:rPr sz="2000" b="1" dirty="0" err="1" smtClean="0">
                <a:latin typeface="Consolas" panose="020B0609020204030204" pitchFamily="49" charset="0"/>
                <a:cs typeface="Tahoma"/>
              </a:rPr>
              <a:t>u</a:t>
            </a:r>
            <a:r>
              <a:rPr sz="2000" b="1" spc="5" dirty="0" err="1" smtClean="0">
                <a:latin typeface="Consolas" panose="020B0609020204030204" pitchFamily="49" charset="0"/>
                <a:cs typeface="Tahoma"/>
              </a:rPr>
              <a:t>c</a:t>
            </a:r>
            <a:r>
              <a:rPr sz="2000" b="1" dirty="0" err="1" smtClean="0">
                <a:latin typeface="Consolas" panose="020B0609020204030204" pitchFamily="49" charset="0"/>
                <a:cs typeface="Tahoma"/>
              </a:rPr>
              <a:t>t</a:t>
            </a:r>
            <a:r>
              <a:rPr sz="2000" b="1" spc="1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2000" b="1" spc="-195" dirty="0">
                <a:latin typeface="Consolas" panose="020B0609020204030204" pitchFamily="49" charset="0"/>
                <a:cs typeface="Tahoma"/>
              </a:rPr>
              <a:t>T</a:t>
            </a:r>
            <a:r>
              <a:rPr sz="2000" b="1" spc="-5" dirty="0">
                <a:latin typeface="Consolas" panose="020B0609020204030204" pitchFamily="49" charset="0"/>
                <a:cs typeface="Tahoma"/>
              </a:rPr>
              <a:t>ree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No</a:t>
            </a:r>
            <a:r>
              <a:rPr sz="2000" b="1" spc="-5" dirty="0">
                <a:latin typeface="Consolas" panose="020B0609020204030204" pitchFamily="49" charset="0"/>
                <a:cs typeface="Tahoma"/>
              </a:rPr>
              <a:t>d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e</a:t>
            </a:r>
            <a:r>
              <a:rPr sz="2000" b="1" spc="-160" dirty="0">
                <a:latin typeface="Consolas" panose="020B0609020204030204" pitchFamily="49" charset="0"/>
                <a:cs typeface="Tahoma"/>
              </a:rPr>
              <a:t> 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*</a:t>
            </a:r>
            <a:r>
              <a:rPr sz="2000" b="1" spc="10" dirty="0">
                <a:latin typeface="Consolas" panose="020B0609020204030204" pitchFamily="49" charset="0"/>
                <a:cs typeface="Tahoma"/>
              </a:rPr>
              <a:t>r</a:t>
            </a:r>
            <a:r>
              <a:rPr sz="2000" b="1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2000" b="1" spc="-5" dirty="0">
                <a:latin typeface="Consolas" panose="020B0609020204030204" pitchFamily="49" charset="0"/>
                <a:cs typeface="Tahoma"/>
              </a:rPr>
              <a:t>g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h</a:t>
            </a:r>
            <a:r>
              <a:rPr sz="2000" b="1" spc="10" dirty="0">
                <a:latin typeface="Consolas" panose="020B0609020204030204" pitchFamily="49" charset="0"/>
                <a:cs typeface="Tahoma"/>
              </a:rPr>
              <a:t>t</a:t>
            </a:r>
            <a:r>
              <a:rPr sz="2000" b="1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000" b="1" dirty="0">
                <a:latin typeface="Consolas" panose="020B0609020204030204" pitchFamily="49" charset="0"/>
                <a:cs typeface="Tahoma"/>
              </a:rPr>
              <a:t>}</a:t>
            </a:r>
            <a:r>
              <a:rPr sz="2000" b="1" spc="-70" dirty="0">
                <a:latin typeface="Consolas" panose="020B0609020204030204" pitchFamily="49" charset="0"/>
                <a:cs typeface="Tahoma"/>
              </a:rPr>
              <a:t> </a:t>
            </a:r>
            <a:r>
              <a:rPr sz="2000" b="1" spc="-25" dirty="0">
                <a:latin typeface="Consolas" panose="020B0609020204030204" pitchFamily="49" charset="0"/>
                <a:cs typeface="Tahoma"/>
              </a:rPr>
              <a:t>TreeNode;</a:t>
            </a:r>
            <a:endParaRPr sz="2000" b="1" dirty="0">
              <a:latin typeface="Consolas" panose="020B0609020204030204" pitchFamily="49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2265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1388"/>
            <a:ext cx="91414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Codes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spc="-10" dirty="0"/>
              <a:t>Creation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Binary</a:t>
            </a:r>
            <a:r>
              <a:rPr spc="-10" dirty="0"/>
              <a:t> </a:t>
            </a:r>
            <a:r>
              <a:rPr spc="-75" dirty="0"/>
              <a:t>Trees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8200" y="1600200"/>
            <a:ext cx="10287636" cy="5343642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915035" marR="1905635" indent="-902335">
              <a:lnSpc>
                <a:spcPct val="103800"/>
              </a:lnSpc>
              <a:spcBef>
                <a:spcPts val="25"/>
              </a:spcBef>
            </a:pPr>
            <a:r>
              <a:rPr sz="1600" b="1" spc="-150" dirty="0"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10" dirty="0">
                <a:latin typeface="Consolas" panose="020B0609020204030204" pitchFamily="49" charset="0"/>
                <a:cs typeface="Tahoma"/>
              </a:rPr>
              <a:t>reeN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o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de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*</a:t>
            </a:r>
            <a:r>
              <a:rPr sz="1600" b="1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c</a:t>
            </a:r>
            <a:r>
              <a:rPr sz="1600" b="1" spc="-1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-10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600" b="1" spc="-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a</a:t>
            </a:r>
            <a:r>
              <a:rPr sz="1600" b="1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10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600" b="1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B</a:t>
            </a:r>
            <a:r>
              <a:rPr sz="1600" b="1" spc="-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inar</a:t>
            </a:r>
            <a:r>
              <a:rPr sz="1600" b="1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y</a:t>
            </a:r>
            <a:r>
              <a:rPr sz="1600" b="1" spc="-150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1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-10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ee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(</a:t>
            </a:r>
            <a:r>
              <a:rPr sz="1600" b="1" spc="-17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10" dirty="0">
                <a:latin typeface="Consolas" panose="020B0609020204030204" pitchFamily="49" charset="0"/>
                <a:cs typeface="Tahoma"/>
              </a:rPr>
              <a:t>){  </a:t>
            </a:r>
            <a:endParaRPr lang="en-US" sz="1600" b="1" spc="10" dirty="0" smtClean="0">
              <a:latin typeface="Consolas" panose="020B0609020204030204" pitchFamily="49" charset="0"/>
              <a:cs typeface="Tahoma"/>
            </a:endParaRPr>
          </a:p>
          <a:p>
            <a:pPr marL="915035" marR="1905635" indent="-902335">
              <a:lnSpc>
                <a:spcPct val="103800"/>
              </a:lnSpc>
              <a:spcBef>
                <a:spcPts val="25"/>
              </a:spcBef>
            </a:pPr>
            <a:r>
              <a:rPr lang="en-US" sz="1600" b="1" spc="10" dirty="0">
                <a:latin typeface="Consolas" panose="020B0609020204030204" pitchFamily="49" charset="0"/>
                <a:cs typeface="Tahoma"/>
              </a:rPr>
              <a:t>	</a:t>
            </a:r>
            <a:r>
              <a:rPr sz="1600" b="1" spc="-25" dirty="0" err="1" smtClean="0">
                <a:latin typeface="Consolas" panose="020B0609020204030204" pitchFamily="49" charset="0"/>
                <a:cs typeface="Tahoma"/>
              </a:rPr>
              <a:t>TreeNode</a:t>
            </a:r>
            <a:r>
              <a:rPr sz="1600" b="1" spc="-6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*p;</a:t>
            </a:r>
          </a:p>
          <a:p>
            <a:pPr marL="915035">
              <a:lnSpc>
                <a:spcPct val="100000"/>
              </a:lnSpc>
              <a:spcBef>
                <a:spcPts val="170"/>
              </a:spcBef>
            </a:pPr>
            <a:r>
              <a:rPr sz="1600" b="1" spc="-5" dirty="0">
                <a:latin typeface="Consolas" panose="020B0609020204030204" pitchFamily="49" charset="0"/>
                <a:cs typeface="Tahoma"/>
              </a:rPr>
              <a:t>int</a:t>
            </a:r>
            <a:r>
              <a:rPr sz="1600" b="1" spc="-6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x;</a:t>
            </a:r>
            <a:endParaRPr sz="1600" b="1" dirty="0">
              <a:latin typeface="Consolas" panose="020B0609020204030204" pitchFamily="49" charset="0"/>
              <a:cs typeface="Tahoma"/>
            </a:endParaRPr>
          </a:p>
          <a:p>
            <a:pPr marL="915035" marR="572135">
              <a:lnSpc>
                <a:spcPct val="151300"/>
              </a:lnSpc>
              <a:spcBef>
                <a:spcPts val="95"/>
              </a:spcBef>
            </a:pPr>
            <a:r>
              <a:rPr sz="1600" b="1" dirty="0">
                <a:latin typeface="Consolas" panose="020B0609020204030204" pitchFamily="49" charset="0"/>
                <a:cs typeface="Tahoma"/>
              </a:rPr>
              <a:t>p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rin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tf(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"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E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n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e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r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d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a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t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a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(</a:t>
            </a:r>
            <a:r>
              <a:rPr sz="1600" b="1" spc="10" dirty="0">
                <a:latin typeface="Consolas" panose="020B0609020204030204" pitchFamily="49" charset="0"/>
                <a:cs typeface="Tahoma"/>
              </a:rPr>
              <a:t>-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1</a:t>
            </a:r>
            <a:r>
              <a:rPr sz="1600" b="1" spc="-21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10" dirty="0">
                <a:latin typeface="Consolas" panose="020B0609020204030204" pitchFamily="49" charset="0"/>
                <a:cs typeface="Tahoma"/>
              </a:rPr>
              <a:t>f</a:t>
            </a:r>
            <a:r>
              <a:rPr sz="1600" b="1" spc="10" dirty="0">
                <a:latin typeface="Consolas" panose="020B0609020204030204" pitchFamily="49" charset="0"/>
                <a:cs typeface="Tahoma"/>
              </a:rPr>
              <a:t>o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r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n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o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 d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a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t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a):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")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; </a:t>
            </a:r>
            <a:endParaRPr lang="en-US" sz="1600" b="1" dirty="0" smtClean="0">
              <a:latin typeface="Consolas" panose="020B0609020204030204" pitchFamily="49" charset="0"/>
              <a:cs typeface="Tahoma"/>
            </a:endParaRPr>
          </a:p>
          <a:p>
            <a:pPr marL="915035" marR="572135">
              <a:lnSpc>
                <a:spcPct val="151300"/>
              </a:lnSpc>
              <a:spcBef>
                <a:spcPts val="95"/>
              </a:spcBef>
            </a:pPr>
            <a:r>
              <a:rPr sz="1600" b="1" spc="-5" dirty="0" err="1" smtClean="0">
                <a:latin typeface="Consolas" panose="020B0609020204030204" pitchFamily="49" charset="0"/>
                <a:cs typeface="Tahoma"/>
              </a:rPr>
              <a:t>scanf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("%d",</a:t>
            </a:r>
            <a:r>
              <a:rPr sz="1600" b="1" spc="-6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&amp;x);</a:t>
            </a:r>
          </a:p>
          <a:p>
            <a:pPr marL="915035">
              <a:lnSpc>
                <a:spcPct val="100000"/>
              </a:lnSpc>
              <a:spcBef>
                <a:spcPts val="985"/>
              </a:spcBef>
              <a:tabLst>
                <a:tab pos="2026920" algn="l"/>
              </a:tabLst>
            </a:pPr>
            <a:r>
              <a:rPr sz="1600" b="1" dirty="0">
                <a:latin typeface="Consolas" panose="020B0609020204030204" pitchFamily="49" charset="0"/>
                <a:cs typeface="Tahoma"/>
              </a:rPr>
              <a:t>i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f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(x </a:t>
            </a:r>
            <a:r>
              <a:rPr sz="1600" b="1" spc="5" dirty="0" smtClean="0">
                <a:latin typeface="Consolas" panose="020B0609020204030204" pitchFamily="49" charset="0"/>
                <a:cs typeface="Tahoma"/>
              </a:rPr>
              <a:t>=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=</a:t>
            </a:r>
            <a:r>
              <a:rPr lang="en-US" sz="1600" b="1" spc="1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10" dirty="0" smtClean="0">
                <a:latin typeface="Consolas" panose="020B0609020204030204" pitchFamily="49" charset="0"/>
                <a:cs typeface="Tahoma"/>
              </a:rPr>
              <a:t>-</a:t>
            </a:r>
            <a:r>
              <a:rPr sz="1600" b="1" spc="5" dirty="0" smtClean="0">
                <a:latin typeface="Consolas" panose="020B0609020204030204" pitchFamily="49" charset="0"/>
                <a:cs typeface="Tahoma"/>
              </a:rPr>
              <a:t>1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)</a:t>
            </a:r>
            <a:r>
              <a:rPr lang="en-US" sz="1600" b="1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10" dirty="0" smtClean="0">
                <a:latin typeface="Consolas" panose="020B0609020204030204" pitchFamily="49" charset="0"/>
                <a:cs typeface="Tahoma"/>
              </a:rPr>
              <a:t>r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e</a:t>
            </a:r>
            <a:r>
              <a:rPr sz="1600" b="1" spc="5" dirty="0" smtClean="0">
                <a:latin typeface="Consolas" panose="020B0609020204030204" pitchFamily="49" charset="0"/>
                <a:cs typeface="Tahoma"/>
              </a:rPr>
              <a:t>t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urn</a:t>
            </a:r>
            <a:r>
              <a:rPr sz="1600" b="1" spc="-114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10" dirty="0">
                <a:latin typeface="Consolas" panose="020B0609020204030204" pitchFamily="49" charset="0"/>
                <a:cs typeface="Tahoma"/>
              </a:rPr>
              <a:t>N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U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LL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;</a:t>
            </a:r>
            <a:endParaRPr lang="en-US" sz="1600" b="1" dirty="0">
              <a:latin typeface="Consolas" panose="020B0609020204030204" pitchFamily="49" charset="0"/>
              <a:cs typeface="Tahoma"/>
            </a:endParaRPr>
          </a:p>
          <a:p>
            <a:pPr marL="915035">
              <a:lnSpc>
                <a:spcPct val="100000"/>
              </a:lnSpc>
              <a:spcBef>
                <a:spcPts val="985"/>
              </a:spcBef>
              <a:tabLst>
                <a:tab pos="2026920" algn="l"/>
              </a:tabLst>
            </a:pPr>
            <a:r>
              <a:rPr lang="en-US" sz="1600" b="1" dirty="0" smtClean="0">
                <a:latin typeface="Consolas" panose="020B0609020204030204" pitchFamily="49" charset="0"/>
                <a:cs typeface="Tahoma"/>
              </a:rPr>
              <a:t>//create current node</a:t>
            </a:r>
            <a:endParaRPr sz="1600" b="1" dirty="0">
              <a:latin typeface="Consolas" panose="020B0609020204030204" pitchFamily="49" charset="0"/>
              <a:cs typeface="Tahoma"/>
            </a:endParaRPr>
          </a:p>
          <a:p>
            <a:pPr marL="915035" marR="5080">
              <a:lnSpc>
                <a:spcPct val="151200"/>
              </a:lnSpc>
            </a:pP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p</a:t>
            </a:r>
            <a:r>
              <a:rPr sz="1600" b="1" spc="10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=</a:t>
            </a:r>
            <a:r>
              <a:rPr sz="1600" b="1" spc="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20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(</a:t>
            </a:r>
            <a:r>
              <a:rPr sz="1600" b="1" spc="-14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ee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600" b="1" spc="10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600" b="1" spc="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d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600" b="1" spc="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*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)</a:t>
            </a:r>
            <a:r>
              <a:rPr sz="1600" b="1" spc="-130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m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a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l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l</a:t>
            </a:r>
            <a:r>
              <a:rPr sz="1600" b="1" spc="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c(si</a:t>
            </a:r>
            <a:r>
              <a:rPr sz="1600" b="1" spc="-10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z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600" b="1" spc="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f</a:t>
            </a:r>
            <a:r>
              <a:rPr sz="1600" b="1" spc="1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(</a:t>
            </a:r>
            <a:r>
              <a:rPr sz="1600" b="1" spc="-150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10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ee</a:t>
            </a:r>
            <a:r>
              <a:rPr sz="1600" b="1" spc="-10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600" b="1" spc="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d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e))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; </a:t>
            </a:r>
            <a:endParaRPr lang="en-US" sz="1600" b="1" dirty="0" smtClean="0">
              <a:solidFill>
                <a:schemeClr val="tx2"/>
              </a:solidFill>
              <a:latin typeface="Consolas" panose="020B0609020204030204" pitchFamily="49" charset="0"/>
              <a:cs typeface="Tahoma"/>
            </a:endParaRPr>
          </a:p>
          <a:p>
            <a:pPr marL="915035" marR="5080">
              <a:lnSpc>
                <a:spcPct val="151200"/>
              </a:lnSpc>
            </a:pPr>
            <a:r>
              <a:rPr sz="1600" b="1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p-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&gt;data =</a:t>
            </a:r>
            <a:r>
              <a:rPr sz="1600" b="1" spc="-8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x</a:t>
            </a:r>
            <a:r>
              <a:rPr sz="1600" b="1" spc="-5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;</a:t>
            </a:r>
            <a:endParaRPr lang="en-US" sz="1600" b="1" spc="-5" dirty="0" smtClean="0">
              <a:solidFill>
                <a:schemeClr val="tx2"/>
              </a:solidFill>
              <a:latin typeface="Consolas" panose="020B0609020204030204" pitchFamily="49" charset="0"/>
              <a:cs typeface="Tahoma"/>
            </a:endParaRPr>
          </a:p>
          <a:p>
            <a:pPr marL="915035" marR="5080">
              <a:lnSpc>
                <a:spcPct val="151200"/>
              </a:lnSpc>
            </a:pPr>
            <a:r>
              <a:rPr lang="en-US" sz="1600" b="1" spc="-5" dirty="0" smtClean="0">
                <a:latin typeface="Consolas" panose="020B0609020204030204" pitchFamily="49" charset="0"/>
                <a:cs typeface="Tahoma"/>
              </a:rPr>
              <a:t>//recursively create left and right subtree</a:t>
            </a:r>
            <a:endParaRPr sz="1600" b="1" dirty="0">
              <a:latin typeface="Consolas" panose="020B0609020204030204" pitchFamily="49" charset="0"/>
              <a:cs typeface="Tahoma"/>
            </a:endParaRPr>
          </a:p>
          <a:p>
            <a:pPr marL="915035" marR="505459">
              <a:lnSpc>
                <a:spcPct val="1509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printf("Enter</a:t>
            </a:r>
            <a:r>
              <a:rPr sz="1600" b="1" spc="-1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left child</a:t>
            </a:r>
            <a:r>
              <a:rPr sz="1600" b="1" spc="1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of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%d: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\n",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x); </a:t>
            </a:r>
            <a:endParaRPr lang="en-US" sz="1600" b="1" spc="-484" dirty="0">
              <a:solidFill>
                <a:srgbClr val="00B050"/>
              </a:solidFill>
              <a:latin typeface="Consolas" panose="020B0609020204030204" pitchFamily="49" charset="0"/>
              <a:cs typeface="Tahoma"/>
            </a:endParaRPr>
          </a:p>
          <a:p>
            <a:pPr marL="915035" marR="505459">
              <a:lnSpc>
                <a:spcPct val="150900"/>
              </a:lnSpc>
              <a:spcBef>
                <a:spcPts val="100"/>
              </a:spcBef>
            </a:pPr>
            <a:r>
              <a:rPr sz="1600" b="1" spc="-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p-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&gt;left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= </a:t>
            </a:r>
            <a:r>
              <a:rPr sz="1600" b="1" spc="-1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createBinaryTree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( ); 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600" b="1" spc="5" dirty="0" smtClean="0">
              <a:solidFill>
                <a:srgbClr val="00B050"/>
              </a:solidFill>
              <a:latin typeface="Consolas" panose="020B0609020204030204" pitchFamily="49" charset="0"/>
              <a:cs typeface="Tahoma"/>
            </a:endParaRPr>
          </a:p>
          <a:p>
            <a:pPr marL="915035" marR="505459">
              <a:lnSpc>
                <a:spcPct val="150900"/>
              </a:lnSpc>
              <a:spcBef>
                <a:spcPts val="100"/>
              </a:spcBef>
            </a:pPr>
            <a:r>
              <a:rPr sz="1600" b="1" spc="-5" dirty="0" err="1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printf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("Enter</a:t>
            </a:r>
            <a:r>
              <a:rPr sz="1600" b="1" spc="-10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right</a:t>
            </a:r>
            <a:r>
              <a:rPr sz="1600" b="1" spc="-3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child</a:t>
            </a:r>
            <a:r>
              <a:rPr sz="1600" b="1" spc="-4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of</a:t>
            </a:r>
            <a:r>
              <a:rPr sz="1600" b="1" spc="-2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%d:</a:t>
            </a:r>
            <a:r>
              <a:rPr sz="1600" b="1" spc="-3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\n",x); </a:t>
            </a:r>
            <a:r>
              <a:rPr sz="1600" b="1" spc="-484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600" b="1" spc="-484" dirty="0" smtClean="0">
              <a:solidFill>
                <a:srgbClr val="00B050"/>
              </a:solidFill>
              <a:latin typeface="Consolas" panose="020B0609020204030204" pitchFamily="49" charset="0"/>
              <a:cs typeface="Tahoma"/>
            </a:endParaRPr>
          </a:p>
          <a:p>
            <a:pPr marL="915035" marR="505459">
              <a:lnSpc>
                <a:spcPct val="150900"/>
              </a:lnSpc>
              <a:spcBef>
                <a:spcPts val="100"/>
              </a:spcBef>
            </a:pPr>
            <a:r>
              <a:rPr sz="1600" b="1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p-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&gt;right</a:t>
            </a:r>
            <a:r>
              <a:rPr sz="1600" b="1" spc="8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=</a:t>
            </a:r>
            <a:r>
              <a:rPr sz="1600" b="1" spc="8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1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createBinaryTree</a:t>
            </a:r>
            <a:r>
              <a:rPr sz="1600" b="1" spc="7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1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(); </a:t>
            </a:r>
            <a:endParaRPr lang="en-US" sz="1600" b="1" spc="15" dirty="0">
              <a:solidFill>
                <a:srgbClr val="00B050"/>
              </a:solidFill>
              <a:latin typeface="Consolas" panose="020B0609020204030204" pitchFamily="49" charset="0"/>
              <a:cs typeface="Tahoma"/>
            </a:endParaRPr>
          </a:p>
          <a:p>
            <a:pPr marL="915035" marR="505459">
              <a:lnSpc>
                <a:spcPct val="150900"/>
              </a:lnSpc>
              <a:spcBef>
                <a:spcPts val="100"/>
              </a:spcBef>
            </a:pPr>
            <a:r>
              <a:rPr sz="1600" b="1" spc="-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return</a:t>
            </a:r>
            <a:r>
              <a:rPr sz="1600" b="1" spc="-5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p</a:t>
            </a:r>
            <a:r>
              <a:rPr sz="1600" b="1" spc="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;</a:t>
            </a:r>
            <a:r>
              <a:rPr lang="en-US"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lang="en-US" sz="1600" b="1" spc="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}</a:t>
            </a:r>
            <a:endParaRPr sz="1600" b="1" dirty="0">
              <a:solidFill>
                <a:srgbClr val="00B050"/>
              </a:solidFill>
              <a:latin typeface="Consolas" panose="020B0609020204030204" pitchFamily="49" charset="0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50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1388"/>
            <a:ext cx="95986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Codes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spc="-10" dirty="0"/>
              <a:t>Creation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Binary</a:t>
            </a:r>
            <a:r>
              <a:rPr spc="-10" dirty="0"/>
              <a:t> </a:t>
            </a:r>
            <a:r>
              <a:rPr spc="-75" dirty="0" smtClean="0"/>
              <a:t>Tree</a:t>
            </a:r>
            <a:r>
              <a:rPr lang="en-US" spc="-75" dirty="0" smtClean="0"/>
              <a:t> Traversal</a:t>
            </a:r>
            <a:endParaRPr spc="-75" dirty="0"/>
          </a:p>
        </p:txBody>
      </p:sp>
      <p:sp>
        <p:nvSpPr>
          <p:cNvPr id="3" name="object 3"/>
          <p:cNvSpPr txBox="1"/>
          <p:nvPr/>
        </p:nvSpPr>
        <p:spPr>
          <a:xfrm>
            <a:off x="816169" y="1614959"/>
            <a:ext cx="10905276" cy="506920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5" dirty="0">
                <a:latin typeface="Consolas" panose="020B0609020204030204" pitchFamily="49" charset="0"/>
                <a:cs typeface="Tahoma"/>
              </a:rPr>
              <a:t>v</a:t>
            </a:r>
            <a:r>
              <a:rPr sz="1600" b="1" spc="10" dirty="0">
                <a:latin typeface="Consolas" panose="020B0609020204030204" pitchFamily="49" charset="0"/>
                <a:cs typeface="Tahoma"/>
              </a:rPr>
              <a:t>o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id</a:t>
            </a:r>
            <a:r>
              <a:rPr sz="1600" b="1" spc="-8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p</a:t>
            </a:r>
            <a:r>
              <a:rPr sz="1600" b="1" spc="-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600" b="1" spc="10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600" b="1" spc="-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5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d</a:t>
            </a:r>
            <a:r>
              <a:rPr sz="1600" b="1" dirty="0">
                <a:solidFill>
                  <a:srgbClr val="C00000"/>
                </a:solidFill>
                <a:latin typeface="Consolas" panose="020B0609020204030204" pitchFamily="49" charset="0"/>
                <a:cs typeface="Tahoma"/>
              </a:rPr>
              <a:t>er</a:t>
            </a:r>
            <a:r>
              <a:rPr sz="1600" b="1" spc="20" dirty="0">
                <a:latin typeface="Consolas" panose="020B0609020204030204" pitchFamily="49" charset="0"/>
                <a:cs typeface="Tahoma"/>
              </a:rPr>
              <a:t>(</a:t>
            </a:r>
            <a:r>
              <a:rPr sz="1600" b="1" spc="-145" dirty="0"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r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ee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N</a:t>
            </a:r>
            <a:r>
              <a:rPr sz="1600" b="1" spc="10" dirty="0">
                <a:latin typeface="Consolas" panose="020B0609020204030204" pitchFamily="49" charset="0"/>
                <a:cs typeface="Tahoma"/>
              </a:rPr>
              <a:t>o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d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e</a:t>
            </a:r>
            <a:r>
              <a:rPr sz="1600" b="1" spc="-13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*t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)</a:t>
            </a:r>
            <a:r>
              <a:rPr sz="1600" b="1" spc="-5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{</a:t>
            </a:r>
            <a:endParaRPr lang="en-US" sz="1600" b="1" dirty="0">
              <a:latin typeface="Consolas" panose="020B0609020204030204" pitchFamily="49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lang="en-US" sz="1600" b="1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i</a:t>
            </a:r>
            <a:r>
              <a:rPr sz="1600" b="1" spc="5" dirty="0" smtClean="0">
                <a:latin typeface="Consolas" panose="020B0609020204030204" pitchFamily="49" charset="0"/>
                <a:cs typeface="Tahoma"/>
              </a:rPr>
              <a:t>f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(t</a:t>
            </a:r>
            <a:r>
              <a:rPr sz="1600" b="1" spc="1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10" dirty="0">
                <a:latin typeface="Consolas" panose="020B0609020204030204" pitchFamily="49" charset="0"/>
                <a:cs typeface="Tahoma"/>
              </a:rPr>
              <a:t>!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=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10" dirty="0">
                <a:latin typeface="Consolas" panose="020B0609020204030204" pitchFamily="49" charset="0"/>
                <a:cs typeface="Tahoma"/>
              </a:rPr>
              <a:t>N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U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LL)</a:t>
            </a:r>
            <a:r>
              <a:rPr sz="1600" b="1" spc="-12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{</a:t>
            </a:r>
          </a:p>
          <a:p>
            <a:pPr marL="927100">
              <a:lnSpc>
                <a:spcPct val="100000"/>
              </a:lnSpc>
              <a:spcBef>
                <a:spcPts val="1365"/>
              </a:spcBef>
            </a:pPr>
            <a:r>
              <a:rPr sz="1600" b="1" dirty="0" err="1" smtClean="0">
                <a:latin typeface="Consolas" panose="020B0609020204030204" pitchFamily="49" charset="0"/>
                <a:cs typeface="Tahoma"/>
              </a:rPr>
              <a:t>printf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("\n%d",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 t-&gt;data);</a:t>
            </a:r>
            <a:endParaRPr sz="1600" b="1" dirty="0">
              <a:latin typeface="Consolas" panose="020B0609020204030204" pitchFamily="49" charset="0"/>
              <a:cs typeface="Tahoma"/>
            </a:endParaRPr>
          </a:p>
          <a:p>
            <a:pPr marL="927100" marR="2531110">
              <a:lnSpc>
                <a:spcPct val="171200"/>
              </a:lnSpc>
              <a:spcBef>
                <a:spcPts val="25"/>
              </a:spcBef>
            </a:pPr>
            <a:r>
              <a:rPr sz="1600" b="1" spc="-5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preorder(t-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&gt;left); </a:t>
            </a:r>
            <a:endParaRPr lang="en-US" sz="1600" b="1" dirty="0">
              <a:solidFill>
                <a:schemeClr val="tx2"/>
              </a:solidFill>
              <a:latin typeface="Consolas" panose="020B0609020204030204" pitchFamily="49" charset="0"/>
              <a:cs typeface="Tahoma"/>
            </a:endParaRPr>
          </a:p>
          <a:p>
            <a:pPr marL="927100" marR="2531110">
              <a:lnSpc>
                <a:spcPct val="171200"/>
              </a:lnSpc>
              <a:spcBef>
                <a:spcPts val="25"/>
              </a:spcBef>
            </a:pPr>
            <a:r>
              <a:rPr sz="1600" b="1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p</a:t>
            </a:r>
            <a:r>
              <a:rPr sz="1600" b="1" spc="-10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-5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600" b="1" spc="5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600" b="1" spc="-10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d</a:t>
            </a:r>
            <a:r>
              <a:rPr sz="1600" b="1" spc="-5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er(</a:t>
            </a:r>
            <a:r>
              <a:rPr sz="1600" b="1" spc="-35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5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-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&gt;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g</a:t>
            </a:r>
            <a:r>
              <a:rPr sz="1600" b="1" spc="-5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h</a:t>
            </a:r>
            <a:r>
              <a:rPr sz="1600" b="1" dirty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5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)</a:t>
            </a:r>
            <a:r>
              <a:rPr sz="1600" b="1" dirty="0" smtClean="0">
                <a:solidFill>
                  <a:schemeClr val="tx2"/>
                </a:solidFill>
                <a:latin typeface="Consolas" panose="020B0609020204030204" pitchFamily="49" charset="0"/>
                <a:cs typeface="Tahoma"/>
              </a:rPr>
              <a:t>;</a:t>
            </a:r>
            <a:endParaRPr lang="en-US" sz="1600" b="1" dirty="0">
              <a:solidFill>
                <a:schemeClr val="tx2"/>
              </a:solidFill>
              <a:latin typeface="Consolas" panose="020B0609020204030204" pitchFamily="49" charset="0"/>
              <a:cs typeface="Tahoma"/>
            </a:endParaRPr>
          </a:p>
          <a:p>
            <a:pPr marL="927100" marR="2531110">
              <a:lnSpc>
                <a:spcPct val="171200"/>
              </a:lnSpc>
              <a:spcBef>
                <a:spcPts val="25"/>
              </a:spcBef>
            </a:pPr>
            <a:r>
              <a:rPr sz="1600" b="1" dirty="0" smtClean="0">
                <a:latin typeface="Consolas" panose="020B0609020204030204" pitchFamily="49" charset="0"/>
                <a:cs typeface="Tahoma"/>
              </a:rPr>
              <a:t>}</a:t>
            </a:r>
            <a:endParaRPr sz="1600" b="1" dirty="0">
              <a:latin typeface="Consolas" panose="020B0609020204030204" pitchFamily="49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b="1" dirty="0">
                <a:latin typeface="Consolas" panose="020B0609020204030204" pitchFamily="49" charset="0"/>
                <a:cs typeface="Tahoma"/>
              </a:rPr>
              <a:t>}</a:t>
            </a:r>
          </a:p>
          <a:p>
            <a:pPr marL="24765">
              <a:lnSpc>
                <a:spcPct val="100000"/>
              </a:lnSpc>
              <a:spcBef>
                <a:spcPts val="1485"/>
              </a:spcBef>
            </a:pPr>
            <a:r>
              <a:rPr sz="1600" b="1" spc="-5" dirty="0">
                <a:latin typeface="Consolas" panose="020B0609020204030204" pitchFamily="49" charset="0"/>
                <a:cs typeface="Tahoma"/>
              </a:rPr>
              <a:t>int</a:t>
            </a:r>
            <a:r>
              <a:rPr sz="1600" b="1" spc="-3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main()</a:t>
            </a:r>
            <a:r>
              <a:rPr sz="1600" b="1" spc="-2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{</a:t>
            </a:r>
            <a:endParaRPr lang="en-US" sz="1600" b="1" dirty="0">
              <a:latin typeface="Consolas" panose="020B0609020204030204" pitchFamily="49" charset="0"/>
              <a:cs typeface="Tahoma"/>
            </a:endParaRPr>
          </a:p>
          <a:p>
            <a:pPr marL="24765">
              <a:lnSpc>
                <a:spcPct val="100000"/>
              </a:lnSpc>
              <a:spcBef>
                <a:spcPts val="1485"/>
              </a:spcBef>
            </a:pPr>
            <a:r>
              <a:rPr lang="en-US" sz="1600" b="1" spc="-15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150" dirty="0" err="1" smtClean="0"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10" dirty="0" err="1" smtClean="0">
                <a:latin typeface="Consolas" panose="020B0609020204030204" pitchFamily="49" charset="0"/>
                <a:cs typeface="Tahoma"/>
              </a:rPr>
              <a:t>reeN</a:t>
            </a:r>
            <a:r>
              <a:rPr sz="1600" b="1" spc="5" dirty="0" err="1" smtClean="0">
                <a:latin typeface="Consolas" panose="020B0609020204030204" pitchFamily="49" charset="0"/>
                <a:cs typeface="Tahoma"/>
              </a:rPr>
              <a:t>o</a:t>
            </a:r>
            <a:r>
              <a:rPr sz="1600" b="1" dirty="0" err="1" smtClean="0">
                <a:latin typeface="Consolas" panose="020B0609020204030204" pitchFamily="49" charset="0"/>
                <a:cs typeface="Tahoma"/>
              </a:rPr>
              <a:t>de</a:t>
            </a:r>
            <a:r>
              <a:rPr sz="1600" b="1" spc="-7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*</a:t>
            </a:r>
            <a:r>
              <a:rPr sz="1600" b="1" spc="-5" dirty="0" smtClean="0">
                <a:latin typeface="Consolas" panose="020B0609020204030204" pitchFamily="49" charset="0"/>
                <a:cs typeface="Tahoma"/>
              </a:rPr>
              <a:t>r</a:t>
            </a:r>
            <a:r>
              <a:rPr sz="1600" b="1" spc="10" dirty="0" smtClean="0">
                <a:latin typeface="Consolas" panose="020B0609020204030204" pitchFamily="49" charset="0"/>
                <a:cs typeface="Tahoma"/>
              </a:rPr>
              <a:t>oo</a:t>
            </a:r>
            <a:r>
              <a:rPr sz="1600" b="1" spc="5" dirty="0" smtClean="0">
                <a:latin typeface="Consolas" panose="020B0609020204030204" pitchFamily="49" charset="0"/>
                <a:cs typeface="Tahoma"/>
              </a:rPr>
              <a:t>t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;</a:t>
            </a:r>
            <a:r>
              <a:rPr lang="en-US" sz="1600" b="1" dirty="0">
                <a:latin typeface="Consolas" panose="020B0609020204030204" pitchFamily="49" charset="0"/>
                <a:cs typeface="Tahoma"/>
              </a:rPr>
              <a:t> </a:t>
            </a:r>
            <a:endParaRPr lang="en-US" sz="1600" b="1" dirty="0" smtClean="0">
              <a:latin typeface="Consolas" panose="020B0609020204030204" pitchFamily="49" charset="0"/>
              <a:cs typeface="Tahoma"/>
            </a:endParaRPr>
          </a:p>
          <a:p>
            <a:pPr marL="24765">
              <a:lnSpc>
                <a:spcPct val="100000"/>
              </a:lnSpc>
              <a:spcBef>
                <a:spcPts val="1485"/>
              </a:spcBef>
            </a:pPr>
            <a:r>
              <a:rPr lang="en-US" sz="1600" b="1" spc="-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10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oo</a:t>
            </a:r>
            <a:r>
              <a:rPr sz="1600" b="1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10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=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c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ea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B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ar</a:t>
            </a:r>
            <a:r>
              <a:rPr sz="1600" b="1" spc="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y</a:t>
            </a:r>
            <a:r>
              <a:rPr sz="1600" b="1" spc="-140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ee</a:t>
            </a:r>
            <a:r>
              <a:rPr sz="1600" b="1" spc="-21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( </a:t>
            </a:r>
            <a:r>
              <a:rPr sz="1600" b="1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);</a:t>
            </a:r>
            <a:endParaRPr lang="en-US" sz="1600" b="1" dirty="0">
              <a:solidFill>
                <a:srgbClr val="00B050"/>
              </a:solidFill>
              <a:latin typeface="Consolas" panose="020B0609020204030204" pitchFamily="49" charset="0"/>
              <a:cs typeface="Tahoma"/>
            </a:endParaRPr>
          </a:p>
          <a:p>
            <a:pPr marL="24765">
              <a:lnSpc>
                <a:spcPct val="100000"/>
              </a:lnSpc>
              <a:spcBef>
                <a:spcPts val="1485"/>
              </a:spcBef>
            </a:pPr>
            <a:r>
              <a:rPr lang="en-US" sz="1600" b="1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 err="1" smtClean="0">
                <a:latin typeface="Consolas" panose="020B0609020204030204" pitchFamily="49" charset="0"/>
                <a:cs typeface="Tahoma"/>
              </a:rPr>
              <a:t>printf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("\nThe</a:t>
            </a:r>
            <a:r>
              <a:rPr sz="1600" b="1" spc="-11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preorder</a:t>
            </a:r>
            <a:r>
              <a:rPr sz="1600" b="1" spc="-7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traversal</a:t>
            </a:r>
            <a:r>
              <a:rPr sz="1600" b="1" spc="-7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5" dirty="0">
                <a:latin typeface="Consolas" panose="020B0609020204030204" pitchFamily="49" charset="0"/>
                <a:cs typeface="Tahoma"/>
              </a:rPr>
              <a:t>of</a:t>
            </a:r>
            <a:r>
              <a:rPr sz="1600" b="1" spc="-30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spc="-5" dirty="0">
                <a:latin typeface="Consolas" panose="020B0609020204030204" pitchFamily="49" charset="0"/>
                <a:cs typeface="Tahoma"/>
              </a:rPr>
              <a:t>tree</a:t>
            </a:r>
            <a:r>
              <a:rPr sz="1600" b="1" spc="-6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is:</a:t>
            </a:r>
            <a:r>
              <a:rPr sz="1600" b="1" spc="-35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>
                <a:latin typeface="Consolas" panose="020B0609020204030204" pitchFamily="49" charset="0"/>
                <a:cs typeface="Tahoma"/>
              </a:rPr>
              <a:t>\n</a:t>
            </a:r>
            <a:r>
              <a:rPr sz="1600" b="1" dirty="0" smtClean="0">
                <a:latin typeface="Consolas" panose="020B0609020204030204" pitchFamily="49" charset="0"/>
                <a:cs typeface="Tahoma"/>
              </a:rPr>
              <a:t>");</a:t>
            </a:r>
            <a:r>
              <a:rPr lang="en-US" sz="1600" b="1" dirty="0">
                <a:latin typeface="Consolas" panose="020B0609020204030204" pitchFamily="49" charset="0"/>
                <a:cs typeface="Tahoma"/>
              </a:rPr>
              <a:t> </a:t>
            </a:r>
            <a:endParaRPr lang="en-US" sz="1600" b="1" dirty="0" smtClean="0">
              <a:latin typeface="Consolas" panose="020B0609020204030204" pitchFamily="49" charset="0"/>
              <a:cs typeface="Tahoma"/>
            </a:endParaRPr>
          </a:p>
          <a:p>
            <a:pPr marL="24765">
              <a:lnSpc>
                <a:spcPct val="100000"/>
              </a:lnSpc>
              <a:spcBef>
                <a:spcPts val="1485"/>
              </a:spcBef>
            </a:pPr>
            <a:r>
              <a:rPr lang="en-US" sz="1600" b="1" dirty="0">
                <a:latin typeface="Consolas" panose="020B0609020204030204" pitchFamily="49" charset="0"/>
                <a:cs typeface="Tahoma"/>
              </a:rPr>
              <a:t> </a:t>
            </a:r>
            <a:r>
              <a:rPr sz="1600" b="1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p</a:t>
            </a:r>
            <a:r>
              <a:rPr sz="1600" b="1" spc="-10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-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600" b="1" spc="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600" b="1" spc="-10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d</a:t>
            </a:r>
            <a:r>
              <a:rPr sz="1600" b="1" spc="-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er(</a:t>
            </a:r>
            <a:r>
              <a:rPr sz="1600" b="1" spc="-10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600" b="1" spc="5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oo</a:t>
            </a:r>
            <a:r>
              <a:rPr sz="1600" b="1" dirty="0" smtClean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600" b="1" spc="-5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)</a:t>
            </a:r>
            <a:r>
              <a:rPr sz="1600" b="1" dirty="0">
                <a:solidFill>
                  <a:srgbClr val="00B050"/>
                </a:solidFill>
                <a:latin typeface="Consolas" panose="020B0609020204030204" pitchFamily="49" charset="0"/>
                <a:cs typeface="Tahoma"/>
              </a:rPr>
              <a:t>;  </a:t>
            </a:r>
            <a:endParaRPr lang="en-US" sz="1600" b="1" dirty="0" smtClean="0">
              <a:solidFill>
                <a:srgbClr val="00B050"/>
              </a:solidFill>
              <a:latin typeface="Consolas" panose="020B0609020204030204" pitchFamily="49" charset="0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165"/>
              </a:spcBef>
            </a:pPr>
            <a:r>
              <a:rPr sz="1600" b="1" dirty="0" smtClean="0">
                <a:latin typeface="Consolas" panose="020B0609020204030204" pitchFamily="49" charset="0"/>
                <a:cs typeface="Tahoma"/>
              </a:rPr>
              <a:t>}</a:t>
            </a:r>
            <a:endParaRPr sz="1600" b="1" dirty="0">
              <a:latin typeface="Consolas" panose="020B0609020204030204" pitchFamily="49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16799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1388"/>
            <a:ext cx="898906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 err="1" smtClean="0"/>
              <a:t>Linke</a:t>
            </a:r>
            <a:r>
              <a:rPr lang="en-US" spc="-15" dirty="0" err="1" smtClean="0"/>
              <a:t>S</a:t>
            </a:r>
            <a:r>
              <a:rPr spc="-15" dirty="0" err="1" smtClean="0"/>
              <a:t>d</a:t>
            </a:r>
            <a:r>
              <a:rPr spc="-40" dirty="0" smtClean="0"/>
              <a:t> </a:t>
            </a:r>
            <a:r>
              <a:rPr spc="-15" dirty="0"/>
              <a:t>Structure</a:t>
            </a:r>
            <a:r>
              <a:rPr spc="-35" dirty="0"/>
              <a:t> </a:t>
            </a:r>
            <a:r>
              <a:rPr spc="-25" dirty="0"/>
              <a:t>for</a:t>
            </a:r>
            <a:r>
              <a:rPr spc="-35" dirty="0"/>
              <a:t> </a:t>
            </a:r>
            <a:r>
              <a:rPr spc="-15" dirty="0"/>
              <a:t>General</a:t>
            </a:r>
            <a:r>
              <a:rPr spc="45" dirty="0"/>
              <a:t> </a:t>
            </a:r>
            <a:r>
              <a:rPr spc="-7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54708"/>
            <a:ext cx="56972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A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 node </a:t>
            </a:r>
            <a:r>
              <a:rPr sz="2000" spc="5" dirty="0">
                <a:solidFill>
                  <a:srgbClr val="3F448B"/>
                </a:solidFill>
                <a:latin typeface="Arial MT"/>
                <a:cs typeface="Tahoma"/>
              </a:rPr>
              <a:t>is</a:t>
            </a:r>
            <a:r>
              <a:rPr sz="2000" spc="-14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represented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by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 an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 object</a:t>
            </a:r>
            <a:r>
              <a:rPr sz="2000" spc="-9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storing</a:t>
            </a:r>
            <a:endParaRPr sz="2000" dirty="0">
              <a:latin typeface="Arial MT"/>
              <a:cs typeface="Tahoma"/>
            </a:endParaRPr>
          </a:p>
          <a:p>
            <a:pPr marL="226060" lvl="1" indent="-143510">
              <a:lnSpc>
                <a:spcPct val="100000"/>
              </a:lnSpc>
              <a:buSzPct val="60000"/>
              <a:buFont typeface="Wingdings"/>
              <a:buChar char=""/>
              <a:tabLst>
                <a:tab pos="226060" algn="l"/>
              </a:tabLst>
            </a:pP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Element</a:t>
            </a:r>
            <a:endParaRPr sz="2000" dirty="0">
              <a:latin typeface="Arial MT"/>
              <a:cs typeface="Tahoma"/>
            </a:endParaRPr>
          </a:p>
          <a:p>
            <a:pPr marL="226060" lvl="1" indent="-143510">
              <a:lnSpc>
                <a:spcPct val="100000"/>
              </a:lnSpc>
              <a:spcBef>
                <a:spcPts val="1005"/>
              </a:spcBef>
              <a:buSzPct val="60000"/>
              <a:buFont typeface="Wingdings"/>
              <a:buChar char=""/>
              <a:tabLst>
                <a:tab pos="226060" algn="l"/>
              </a:tabLst>
            </a:pPr>
            <a:r>
              <a:rPr sz="2000" spc="-20" dirty="0">
                <a:solidFill>
                  <a:srgbClr val="3F448B"/>
                </a:solidFill>
                <a:latin typeface="Arial MT"/>
                <a:cs typeface="Tahoma"/>
              </a:rPr>
              <a:t>Parent</a:t>
            </a:r>
            <a:r>
              <a:rPr sz="2000" spc="-70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node</a:t>
            </a:r>
            <a:endParaRPr sz="2000" dirty="0">
              <a:latin typeface="Arial MT"/>
              <a:cs typeface="Tahoma"/>
            </a:endParaRPr>
          </a:p>
          <a:p>
            <a:pPr marL="226060" lvl="1" indent="-143510">
              <a:lnSpc>
                <a:spcPct val="100000"/>
              </a:lnSpc>
              <a:spcBef>
                <a:spcPts val="195"/>
              </a:spcBef>
              <a:buSzPct val="60000"/>
              <a:buFont typeface="Wingdings"/>
              <a:buChar char=""/>
              <a:tabLst>
                <a:tab pos="226060" algn="l"/>
                <a:tab pos="2529840" algn="l"/>
                <a:tab pos="4063365" algn="l"/>
              </a:tabLst>
            </a:pP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Children</a:t>
            </a:r>
            <a:r>
              <a:rPr sz="2000" spc="-65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10" dirty="0">
                <a:solidFill>
                  <a:srgbClr val="3F448B"/>
                </a:solidFill>
                <a:latin typeface="Arial MT"/>
                <a:cs typeface="Tahoma"/>
              </a:rPr>
              <a:t>Container:	Sequence </a:t>
            </a:r>
            <a:r>
              <a:rPr sz="2000" dirty="0">
                <a:solidFill>
                  <a:srgbClr val="3F448B"/>
                </a:solidFill>
                <a:latin typeface="Arial MT"/>
                <a:cs typeface="Tahoma"/>
              </a:rPr>
              <a:t>of	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children</a:t>
            </a:r>
            <a:r>
              <a:rPr sz="2000" spc="-114" dirty="0">
                <a:solidFill>
                  <a:srgbClr val="3F448B"/>
                </a:solidFill>
                <a:latin typeface="Arial MT"/>
                <a:cs typeface="Tahoma"/>
              </a:rPr>
              <a:t> </a:t>
            </a:r>
            <a:r>
              <a:rPr sz="2000" spc="-5" dirty="0">
                <a:solidFill>
                  <a:srgbClr val="3F448B"/>
                </a:solidFill>
                <a:latin typeface="Arial MT"/>
                <a:cs typeface="Tahoma"/>
              </a:rPr>
              <a:t>nodes</a:t>
            </a:r>
            <a:endParaRPr sz="2000" dirty="0">
              <a:latin typeface="Arial MT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1800" y="1724568"/>
            <a:ext cx="4660005" cy="44725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8923" y="3960835"/>
            <a:ext cx="2275834" cy="183737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77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3109</TotalTime>
  <Words>1034</Words>
  <Application>Microsoft Office PowerPoint</Application>
  <PresentationFormat>Widescreen</PresentationFormat>
  <Paragraphs>249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Arial MT</vt:lpstr>
      <vt:lpstr>Calibri</vt:lpstr>
      <vt:lpstr>Calibri Light</vt:lpstr>
      <vt:lpstr>Consolas</vt:lpstr>
      <vt:lpstr>Courier New</vt:lpstr>
      <vt:lpstr>Tahoma</vt:lpstr>
      <vt:lpstr>Times New Roman</vt:lpstr>
      <vt:lpstr>Wingdings</vt:lpstr>
      <vt:lpstr>Office Theme</vt:lpstr>
      <vt:lpstr>PowerPoint Presentation</vt:lpstr>
      <vt:lpstr>What is a Tree?</vt:lpstr>
      <vt:lpstr>What is a Tree?</vt:lpstr>
      <vt:lpstr>Tree Terminology</vt:lpstr>
      <vt:lpstr>Depth</vt:lpstr>
      <vt:lpstr>Height</vt:lpstr>
      <vt:lpstr>Height</vt:lpstr>
      <vt:lpstr>Ordered Trees</vt:lpstr>
      <vt:lpstr>Traversal of Trees</vt:lpstr>
      <vt:lpstr>Preorder Traversal (General Tree)</vt:lpstr>
      <vt:lpstr>Preorder Traversal (Binary Tree)</vt:lpstr>
      <vt:lpstr>Postorder Traversal (General Tree)</vt:lpstr>
      <vt:lpstr>Postorder Traversal (Binary Tree)</vt:lpstr>
      <vt:lpstr>Inorder Traversal</vt:lpstr>
      <vt:lpstr>Inorder Traversal</vt:lpstr>
      <vt:lpstr>Preorder, Inorder, Postorder Traversals: Example</vt:lpstr>
      <vt:lpstr>Construct a Binary Tree only from Preorder, Inorder or  Postorder</vt:lpstr>
      <vt:lpstr>Construct a Binary Tree from Preorder &amp; Inorder</vt:lpstr>
      <vt:lpstr>Construct a Binary Tree from Postorder &amp; Inorder</vt:lpstr>
      <vt:lpstr>Construct a Binary Tree from Preorder &amp; Postorder</vt:lpstr>
      <vt:lpstr>Level Order Traversal</vt:lpstr>
      <vt:lpstr>Euler Tour Traversal</vt:lpstr>
      <vt:lpstr>Euler Tour Traversal</vt:lpstr>
      <vt:lpstr>(Proper) Binary Tree</vt:lpstr>
      <vt:lpstr>Arithmetic Expression Tree</vt:lpstr>
      <vt:lpstr>Decision Tree</vt:lpstr>
      <vt:lpstr>Linked Structure for Binary Trees</vt:lpstr>
      <vt:lpstr>Codes for Creation of Binary Trees</vt:lpstr>
      <vt:lpstr>Codes for Creation of Binary Trees</vt:lpstr>
      <vt:lpstr>Codes for Creation of Binary Trees</vt:lpstr>
      <vt:lpstr>Codes for Creation of Binary Tree Traversal</vt:lpstr>
      <vt:lpstr>LinkeSd Structure for General Trees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Fahmid Rifat</cp:lastModifiedBy>
  <cp:revision>303</cp:revision>
  <dcterms:created xsi:type="dcterms:W3CDTF">2022-06-16T11:58:56Z</dcterms:created>
  <dcterms:modified xsi:type="dcterms:W3CDTF">2023-07-23T15:42:07Z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