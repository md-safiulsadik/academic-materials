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270" r:id="rId2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D5022-0398-4A5B-92D0-8DCAEC3C86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5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BFS &amp; Level Order 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dirty="0" smtClean="0">
                <a:solidFill>
                  <a:srgbClr val="2388DB"/>
                </a:solidFill>
                <a:latin typeface="Arial MT"/>
                <a:cs typeface="Arial MT"/>
              </a:rPr>
              <a:t>14</a:t>
            </a:r>
            <a:r>
              <a:rPr sz="3000" spc="-20" dirty="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Summer 2023</a:t>
            </a:r>
          </a:p>
          <a:p>
            <a:pPr marL="12700">
              <a:spcBef>
                <a:spcPts val="2560"/>
              </a:spcBef>
            </a:pPr>
            <a:r>
              <a:rPr lang="en-US" spc="-5" dirty="0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</a:t>
            </a:r>
            <a:r>
              <a:rPr lang="en-US" dirty="0" smtClean="0"/>
              <a:t>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3731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Graph</a:t>
            </a:r>
            <a:r>
              <a:rPr sz="3600" spc="-70" dirty="0"/>
              <a:t> </a:t>
            </a:r>
            <a:r>
              <a:rPr sz="3600" spc="-15" dirty="0"/>
              <a:t>Search</a:t>
            </a:r>
            <a:endParaRPr sz="36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9788525" cy="246092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5" dirty="0">
                <a:latin typeface="Arial MT"/>
                <a:cs typeface="Times New Roman"/>
              </a:rPr>
              <a:t>G</a:t>
            </a:r>
            <a:r>
              <a:rPr sz="2400" spc="-30" dirty="0">
                <a:latin typeface="Arial MT"/>
                <a:cs typeface="Times New Roman"/>
              </a:rPr>
              <a:t>i</a:t>
            </a:r>
            <a:r>
              <a:rPr sz="2400" spc="-20" dirty="0">
                <a:latin typeface="Arial MT"/>
                <a:cs typeface="Times New Roman"/>
              </a:rPr>
              <a:t>ven</a:t>
            </a:r>
            <a:r>
              <a:rPr sz="2400" dirty="0">
                <a:latin typeface="Arial MT"/>
                <a:cs typeface="Times New Roman"/>
              </a:rPr>
              <a:t>: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g</a:t>
            </a:r>
            <a:r>
              <a:rPr sz="2400" spc="-5" dirty="0">
                <a:latin typeface="Arial MT"/>
                <a:cs typeface="Times New Roman"/>
              </a:rPr>
              <a:t>ra</a:t>
            </a:r>
            <a:r>
              <a:rPr sz="2400" dirty="0">
                <a:latin typeface="Arial MT"/>
                <a:cs typeface="Times New Roman"/>
              </a:rPr>
              <a:t>ph G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=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(</a:t>
            </a:r>
            <a:r>
              <a:rPr sz="2400" spc="-270" dirty="0">
                <a:latin typeface="Arial MT"/>
                <a:cs typeface="Times New Roman"/>
              </a:rPr>
              <a:t>V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E</a:t>
            </a:r>
            <a:r>
              <a:rPr sz="2400" spc="-10" dirty="0">
                <a:latin typeface="Arial MT"/>
                <a:cs typeface="Times New Roman"/>
              </a:rPr>
              <a:t>)</a:t>
            </a:r>
            <a:r>
              <a:rPr sz="2400" dirty="0">
                <a:latin typeface="Arial MT"/>
                <a:cs typeface="Times New Roman"/>
              </a:rPr>
              <a:t>,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d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10" dirty="0">
                <a:latin typeface="Arial MT"/>
                <a:cs typeface="Times New Roman"/>
              </a:rPr>
              <a:t>ec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e</a:t>
            </a:r>
            <a:r>
              <a:rPr sz="2400" dirty="0">
                <a:latin typeface="Arial MT"/>
                <a:cs typeface="Times New Roman"/>
              </a:rPr>
              <a:t>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o</a:t>
            </a:r>
            <a:r>
              <a:rPr sz="2400" dirty="0">
                <a:latin typeface="Arial MT"/>
                <a:cs typeface="Times New Roman"/>
              </a:rPr>
              <a:t>r</a:t>
            </a:r>
            <a:r>
              <a:rPr sz="2400" spc="18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und</a:t>
            </a:r>
            <a:r>
              <a:rPr sz="2400" spc="-20" dirty="0">
                <a:latin typeface="Arial MT"/>
                <a:cs typeface="Times New Roman"/>
              </a:rPr>
              <a:t>i</a:t>
            </a:r>
            <a:r>
              <a:rPr sz="2400" spc="-15" dirty="0">
                <a:latin typeface="Arial MT"/>
                <a:cs typeface="Times New Roman"/>
              </a:rPr>
              <a:t>r</a:t>
            </a:r>
            <a:r>
              <a:rPr sz="2400" spc="-10" dirty="0">
                <a:latin typeface="Arial MT"/>
                <a:cs typeface="Times New Roman"/>
              </a:rPr>
              <a:t>ec</a:t>
            </a:r>
            <a:r>
              <a:rPr sz="2400" spc="-20" dirty="0">
                <a:latin typeface="Arial MT"/>
                <a:cs typeface="Times New Roman"/>
              </a:rPr>
              <a:t>t</a:t>
            </a:r>
            <a:r>
              <a:rPr sz="2400" spc="-10" dirty="0">
                <a:latin typeface="Arial MT"/>
                <a:cs typeface="Times New Roman"/>
              </a:rPr>
              <a:t>ed</a:t>
            </a: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Goal: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methodically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explore</a:t>
            </a:r>
            <a:r>
              <a:rPr sz="2400" spc="-20" dirty="0">
                <a:latin typeface="Arial MT"/>
                <a:cs typeface="Times New Roman"/>
              </a:rPr>
              <a:t> every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vertex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and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every</a:t>
            </a:r>
            <a:r>
              <a:rPr sz="2400" spc="8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edge</a:t>
            </a: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20" dirty="0">
                <a:latin typeface="Arial MT"/>
                <a:cs typeface="Times New Roman"/>
              </a:rPr>
              <a:t>Ultimately: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build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0" dirty="0">
                <a:latin typeface="Arial MT"/>
                <a:cs typeface="Times New Roman"/>
              </a:rPr>
              <a:t> tree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on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15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graph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0" dirty="0">
                <a:latin typeface="Arial MT"/>
                <a:cs typeface="Times New Roman"/>
              </a:rPr>
              <a:t>Pick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vertex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as</a:t>
            </a:r>
            <a:r>
              <a:rPr sz="2400" spc="-10" dirty="0">
                <a:latin typeface="Arial MT"/>
                <a:cs typeface="Times New Roman"/>
              </a:rPr>
              <a:t> the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root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Choose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certain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edges</a:t>
            </a:r>
            <a:r>
              <a:rPr sz="2400" spc="-6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to</a:t>
            </a:r>
            <a:r>
              <a:rPr sz="2400" spc="-1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produce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7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Note: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might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also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build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i="1" spc="-20" dirty="0">
                <a:solidFill>
                  <a:srgbClr val="CC0000"/>
                </a:solidFill>
                <a:latin typeface="Arial MT"/>
                <a:cs typeface="Times New Roman"/>
              </a:rPr>
              <a:t>forest</a:t>
            </a:r>
            <a:r>
              <a:rPr sz="24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if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graph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not</a:t>
            </a:r>
            <a:r>
              <a:rPr sz="2400" spc="-6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connected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455" y="4701540"/>
            <a:ext cx="5873115" cy="10560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28905" algn="l"/>
              </a:tabLst>
            </a:pPr>
            <a:r>
              <a:rPr sz="2000" spc="-10" dirty="0">
                <a:latin typeface="Arial MT"/>
                <a:cs typeface="Tahoma"/>
              </a:rPr>
              <a:t>There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are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two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standard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graph </a:t>
            </a:r>
            <a:r>
              <a:rPr sz="2000" spc="-20" dirty="0">
                <a:latin typeface="Arial MT"/>
                <a:cs typeface="Tahoma"/>
              </a:rPr>
              <a:t>traversal </a:t>
            </a:r>
            <a:r>
              <a:rPr sz="2000" spc="-10" dirty="0">
                <a:latin typeface="Arial MT"/>
                <a:cs typeface="Tahoma"/>
              </a:rPr>
              <a:t>techniques:</a:t>
            </a:r>
            <a:endParaRPr sz="2000" dirty="0">
              <a:latin typeface="Arial MT"/>
              <a:cs typeface="Tahoma"/>
            </a:endParaRPr>
          </a:p>
          <a:p>
            <a:pPr marL="358140" lvl="1" indent="-116839">
              <a:lnSpc>
                <a:spcPct val="100000"/>
              </a:lnSpc>
              <a:spcBef>
                <a:spcPts val="310"/>
              </a:spcBef>
              <a:buSzPct val="95000"/>
              <a:buFont typeface="Wingdings"/>
              <a:buChar char=""/>
              <a:tabLst>
                <a:tab pos="358140" algn="l"/>
              </a:tabLst>
            </a:pP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Breadth-First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Search</a:t>
            </a:r>
            <a:r>
              <a:rPr sz="200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(BFS)</a:t>
            </a:r>
            <a:endParaRPr sz="2000" dirty="0">
              <a:latin typeface="Arial MT"/>
              <a:cs typeface="Tahoma"/>
            </a:endParaRPr>
          </a:p>
          <a:p>
            <a:pPr marL="358140" lvl="1" indent="-116839">
              <a:lnSpc>
                <a:spcPct val="100000"/>
              </a:lnSpc>
              <a:spcBef>
                <a:spcPts val="290"/>
              </a:spcBef>
              <a:buSzPct val="95000"/>
              <a:buFont typeface="Wingdings"/>
              <a:buChar char=""/>
              <a:tabLst>
                <a:tab pos="358140" algn="l"/>
              </a:tabLst>
            </a:pP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Depth-First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Search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CC0000"/>
                </a:solidFill>
                <a:latin typeface="Arial MT"/>
                <a:cs typeface="Tahoma"/>
              </a:rPr>
              <a:t>(DFS)</a:t>
            </a:r>
            <a:endParaRPr sz="20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6717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931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Breadth-First</a:t>
            </a:r>
            <a:r>
              <a:rPr sz="4400" spc="-60" dirty="0"/>
              <a:t> </a:t>
            </a:r>
            <a:r>
              <a:rPr sz="4400" spc="-15" dirty="0"/>
              <a:t>Search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805940"/>
            <a:ext cx="10245725" cy="286873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“Explore”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graph,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turning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it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into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7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0" dirty="0">
                <a:latin typeface="Arial MT"/>
                <a:cs typeface="Times New Roman"/>
              </a:rPr>
              <a:t>One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vertex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at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30" dirty="0">
                <a:latin typeface="Arial MT"/>
                <a:cs typeface="Times New Roman"/>
              </a:rPr>
              <a:t>time</a:t>
            </a:r>
            <a:endParaRPr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15" dirty="0">
                <a:latin typeface="Arial MT"/>
                <a:cs typeface="Times New Roman"/>
              </a:rPr>
              <a:t>Expand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frontier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explored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vertices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across the </a:t>
            </a:r>
            <a:r>
              <a:rPr sz="2400" i="1" spc="-20" dirty="0">
                <a:latin typeface="Arial MT"/>
                <a:cs typeface="Times New Roman"/>
              </a:rPr>
              <a:t>breadth</a:t>
            </a:r>
            <a:r>
              <a:rPr sz="2400" i="1" spc="-15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of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5" dirty="0" smtClean="0">
                <a:latin typeface="Arial MT"/>
                <a:cs typeface="Times New Roman"/>
              </a:rPr>
              <a:t>frontier</a:t>
            </a:r>
            <a:endParaRPr lang="en-US" sz="2400" spc="-15" dirty="0" smtClean="0">
              <a:latin typeface="Arial MT"/>
              <a:cs typeface="Times New Roman"/>
            </a:endParaRPr>
          </a:p>
          <a:p>
            <a:pPr marL="241300" lvl="1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tabLst>
                <a:tab pos="384810" algn="l"/>
              </a:tabLst>
            </a:pPr>
            <a:endParaRPr sz="24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400" spc="-10" dirty="0">
                <a:latin typeface="Arial MT"/>
                <a:cs typeface="Times New Roman"/>
              </a:rPr>
              <a:t>Builds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tree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over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2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graph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15" dirty="0">
                <a:latin typeface="Arial MT"/>
                <a:cs typeface="Times New Roman"/>
              </a:rPr>
              <a:t>Pick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a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i="1" spc="-20" dirty="0">
                <a:latin typeface="Arial MT"/>
                <a:cs typeface="Times New Roman"/>
              </a:rPr>
              <a:t>source </a:t>
            </a:r>
            <a:r>
              <a:rPr sz="2400" i="1" spc="-10" dirty="0">
                <a:latin typeface="Arial MT"/>
                <a:cs typeface="Times New Roman"/>
              </a:rPr>
              <a:t>vertex</a:t>
            </a:r>
            <a:r>
              <a:rPr sz="2400" i="1" spc="-20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to</a:t>
            </a:r>
            <a:r>
              <a:rPr sz="2400" spc="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be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the</a:t>
            </a:r>
            <a:r>
              <a:rPr sz="2400" spc="50" dirty="0">
                <a:latin typeface="Arial MT"/>
                <a:cs typeface="Times New Roman"/>
              </a:rPr>
              <a:t> </a:t>
            </a:r>
            <a:r>
              <a:rPr sz="2400" spc="5" dirty="0">
                <a:latin typeface="Arial MT"/>
                <a:cs typeface="Times New Roman"/>
              </a:rPr>
              <a:t>root</a:t>
            </a:r>
            <a:endParaRPr sz="24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400" spc="-25" dirty="0">
                <a:latin typeface="Arial MT"/>
                <a:cs typeface="Times New Roman"/>
              </a:rPr>
              <a:t>Find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(“discover”) its</a:t>
            </a:r>
            <a:r>
              <a:rPr sz="2400" spc="-20" dirty="0">
                <a:latin typeface="Arial MT"/>
                <a:cs typeface="Times New Roman"/>
              </a:rPr>
              <a:t> children,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then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their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children,</a:t>
            </a:r>
            <a:r>
              <a:rPr sz="2400" spc="-15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etc.</a:t>
            </a:r>
            <a:endParaRPr sz="24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021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846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Breadth-First</a:t>
            </a:r>
            <a:r>
              <a:rPr sz="4400" spc="-60" dirty="0"/>
              <a:t> </a:t>
            </a:r>
            <a:r>
              <a:rPr sz="4400" spc="-15" dirty="0"/>
              <a:t>Search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10473690" cy="370742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15" dirty="0">
                <a:latin typeface="Arial MT"/>
                <a:cs typeface="Times New Roman"/>
              </a:rPr>
              <a:t>Again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will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associate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vertex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“colors”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to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guide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-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algorithm</a:t>
            </a:r>
            <a:endParaRPr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25" dirty="0">
                <a:solidFill>
                  <a:srgbClr val="CC0000"/>
                </a:solidFill>
                <a:latin typeface="Arial MT"/>
                <a:cs typeface="Times New Roman"/>
              </a:rPr>
              <a:t>White</a:t>
            </a:r>
            <a:r>
              <a:rPr sz="2400" spc="-4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sz="2400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have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not</a:t>
            </a:r>
            <a:r>
              <a:rPr sz="2400" u="sng" spc="35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 </a:t>
            </a:r>
            <a:r>
              <a:rPr sz="2400" u="sng" spc="-10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b</a:t>
            </a:r>
            <a:r>
              <a:rPr sz="2400" spc="-10" dirty="0">
                <a:latin typeface="Arial MT"/>
                <a:cs typeface="Times New Roman"/>
              </a:rPr>
              <a:t>een</a:t>
            </a:r>
            <a:r>
              <a:rPr sz="2400" spc="18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discovered</a:t>
            </a:r>
            <a:endParaRPr sz="24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400" spc="-10" dirty="0">
                <a:latin typeface="Arial MT"/>
                <a:cs typeface="Times New Roman"/>
              </a:rPr>
              <a:t>A</a:t>
            </a:r>
            <a:r>
              <a:rPr sz="2400" spc="-25" dirty="0">
                <a:latin typeface="Arial MT"/>
                <a:cs typeface="Times New Roman"/>
              </a:rPr>
              <a:t>l</a:t>
            </a:r>
            <a:r>
              <a:rPr sz="2400" dirty="0">
                <a:latin typeface="Arial MT"/>
                <a:cs typeface="Times New Roman"/>
              </a:rPr>
              <a:t>l</a:t>
            </a:r>
            <a:r>
              <a:rPr sz="2400" spc="-4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ve</a:t>
            </a:r>
            <a:r>
              <a:rPr sz="2400" spc="-20" dirty="0">
                <a:latin typeface="Arial MT"/>
                <a:cs typeface="Times New Roman"/>
              </a:rPr>
              <a:t>r</a:t>
            </a:r>
            <a:r>
              <a:rPr sz="2400" spc="-25" dirty="0">
                <a:latin typeface="Arial MT"/>
                <a:cs typeface="Times New Roman"/>
              </a:rPr>
              <a:t>ti</a:t>
            </a:r>
            <a:r>
              <a:rPr sz="2400" spc="-15" dirty="0">
                <a:latin typeface="Arial MT"/>
                <a:cs typeface="Times New Roman"/>
              </a:rPr>
              <a:t>ce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dirty="0">
                <a:latin typeface="Arial MT"/>
                <a:cs typeface="Times New Roman"/>
              </a:rPr>
              <a:t>s</a:t>
            </a:r>
            <a:r>
              <a:rPr sz="2400" spc="-5" dirty="0">
                <a:latin typeface="Arial MT"/>
                <a:cs typeface="Times New Roman"/>
              </a:rPr>
              <a:t>t</a:t>
            </a:r>
            <a:r>
              <a:rPr sz="2400" dirty="0">
                <a:latin typeface="Arial MT"/>
                <a:cs typeface="Times New Roman"/>
              </a:rPr>
              <a:t>art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ou</a:t>
            </a:r>
            <a:r>
              <a:rPr sz="2400" dirty="0">
                <a:latin typeface="Arial MT"/>
                <a:cs typeface="Times New Roman"/>
              </a:rPr>
              <a:t>t</a:t>
            </a:r>
            <a:r>
              <a:rPr sz="2400" spc="-20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w</a:t>
            </a:r>
            <a:r>
              <a:rPr sz="2400" spc="-20" dirty="0">
                <a:latin typeface="Arial MT"/>
                <a:cs typeface="Times New Roman"/>
              </a:rPr>
              <a:t>h</a:t>
            </a:r>
            <a:r>
              <a:rPr sz="2400" spc="-25" dirty="0">
                <a:latin typeface="Arial MT"/>
                <a:cs typeface="Times New Roman"/>
              </a:rPr>
              <a:t>it</a:t>
            </a:r>
            <a:r>
              <a:rPr sz="2400" dirty="0">
                <a:latin typeface="Arial MT"/>
                <a:cs typeface="Times New Roman"/>
              </a:rPr>
              <a:t>e</a:t>
            </a: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400" spc="-5" dirty="0">
                <a:solidFill>
                  <a:srgbClr val="CC0000"/>
                </a:solidFill>
                <a:latin typeface="Arial MT"/>
                <a:cs typeface="Times New Roman"/>
              </a:rPr>
              <a:t>Grey </a:t>
            </a:r>
            <a:r>
              <a:rPr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sz="2400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are</a:t>
            </a:r>
            <a:r>
              <a:rPr sz="2400" spc="5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discovered </a:t>
            </a:r>
            <a:r>
              <a:rPr sz="2400" spc="-10" dirty="0">
                <a:latin typeface="Arial MT"/>
                <a:cs typeface="Times New Roman"/>
              </a:rPr>
              <a:t>but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not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fully</a:t>
            </a:r>
            <a:r>
              <a:rPr sz="2400" spc="170" dirty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explored</a:t>
            </a:r>
            <a:endParaRPr sz="2400" dirty="0" smtClean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sz="2400" spc="-10" dirty="0" smtClean="0">
                <a:latin typeface="Arial MT"/>
                <a:cs typeface="Times New Roman"/>
              </a:rPr>
              <a:t>They</a:t>
            </a:r>
            <a:r>
              <a:rPr sz="2400" spc="-35" dirty="0" smtClean="0">
                <a:latin typeface="Arial MT"/>
                <a:cs typeface="Times New Roman"/>
              </a:rPr>
              <a:t> </a:t>
            </a:r>
            <a:r>
              <a:rPr sz="2400" spc="-15" dirty="0" smtClean="0">
                <a:latin typeface="Arial MT"/>
                <a:cs typeface="Times New Roman"/>
              </a:rPr>
              <a:t>may</a:t>
            </a:r>
            <a:r>
              <a:rPr sz="2400" spc="-25" dirty="0" smtClean="0">
                <a:latin typeface="Arial MT"/>
                <a:cs typeface="Times New Roman"/>
              </a:rPr>
              <a:t> </a:t>
            </a:r>
            <a:r>
              <a:rPr sz="2400" dirty="0" smtClean="0">
                <a:latin typeface="Arial MT"/>
                <a:cs typeface="Times New Roman"/>
              </a:rPr>
              <a:t>be</a:t>
            </a:r>
            <a:r>
              <a:rPr sz="2400" spc="-10" dirty="0" smtClean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adjacent</a:t>
            </a:r>
            <a:r>
              <a:rPr sz="2400" spc="-40" dirty="0" smtClean="0">
                <a:latin typeface="Arial MT"/>
                <a:cs typeface="Times New Roman"/>
              </a:rPr>
              <a:t> </a:t>
            </a:r>
            <a:r>
              <a:rPr sz="2400" spc="-5" dirty="0" smtClean="0">
                <a:latin typeface="Arial MT"/>
                <a:cs typeface="Times New Roman"/>
              </a:rPr>
              <a:t>to </a:t>
            </a:r>
            <a:r>
              <a:rPr sz="2400" spc="-20" dirty="0" smtClean="0">
                <a:latin typeface="Arial MT"/>
                <a:cs typeface="Times New Roman"/>
              </a:rPr>
              <a:t>white</a:t>
            </a:r>
            <a:r>
              <a:rPr sz="2400" spc="130" dirty="0" smtClean="0">
                <a:latin typeface="Arial MT"/>
                <a:cs typeface="Times New Roman"/>
              </a:rPr>
              <a:t> </a:t>
            </a:r>
            <a:r>
              <a:rPr sz="2400" spc="-20" dirty="0" smtClean="0">
                <a:latin typeface="Arial MT"/>
                <a:cs typeface="Times New Roman"/>
              </a:rPr>
              <a:t>vertices</a:t>
            </a:r>
            <a:endParaRPr lang="en-US" sz="24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lang="en-US" sz="2400" spc="-20" dirty="0">
                <a:solidFill>
                  <a:srgbClr val="CC0000"/>
                </a:solidFill>
                <a:latin typeface="Arial MT"/>
                <a:cs typeface="Times New Roman"/>
              </a:rPr>
              <a:t>Black</a:t>
            </a:r>
            <a:r>
              <a:rPr lang="en-US" sz="2400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lang="en-US" sz="2400" spc="-15" dirty="0">
                <a:solidFill>
                  <a:srgbClr val="CC0000"/>
                </a:solidFill>
                <a:latin typeface="Arial MT"/>
                <a:cs typeface="Times New Roman"/>
              </a:rPr>
              <a:t>vertices</a:t>
            </a:r>
            <a:r>
              <a:rPr lang="en-US" sz="2400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Arial MT"/>
                <a:cs typeface="Times New Roman"/>
              </a:rPr>
              <a:t>are</a:t>
            </a:r>
            <a:r>
              <a:rPr lang="en-US" sz="2400" spc="10" dirty="0">
                <a:latin typeface="Arial MT"/>
                <a:cs typeface="Times New Roman"/>
              </a:rPr>
              <a:t> </a:t>
            </a:r>
            <a:r>
              <a:rPr lang="en-US" sz="2400" spc="-15" dirty="0">
                <a:latin typeface="Arial MT"/>
                <a:cs typeface="Times New Roman"/>
              </a:rPr>
              <a:t>discovered </a:t>
            </a:r>
            <a:r>
              <a:rPr lang="en-US" sz="2400" spc="-10" dirty="0">
                <a:latin typeface="Arial MT"/>
                <a:cs typeface="Times New Roman"/>
              </a:rPr>
              <a:t>and</a:t>
            </a:r>
            <a:r>
              <a:rPr lang="en-US" sz="2400" spc="-15" dirty="0">
                <a:latin typeface="Arial MT"/>
                <a:cs typeface="Times New Roman"/>
              </a:rPr>
              <a:t> </a:t>
            </a:r>
            <a:r>
              <a:rPr lang="en-US" sz="2400" spc="-25" dirty="0">
                <a:latin typeface="Arial MT"/>
                <a:cs typeface="Times New Roman"/>
              </a:rPr>
              <a:t>fully</a:t>
            </a:r>
            <a:r>
              <a:rPr lang="en-US" sz="2400" spc="215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explored</a:t>
            </a:r>
            <a:endParaRPr lang="en-US" sz="2400" dirty="0">
              <a:latin typeface="Arial MT"/>
              <a:cs typeface="Times New Roman"/>
            </a:endParaRPr>
          </a:p>
          <a:p>
            <a:pPr marL="632460" lvl="2" indent="-16383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SzPct val="60000"/>
              <a:buFont typeface="Wingdings"/>
              <a:buChar char=""/>
              <a:tabLst>
                <a:tab pos="633095" algn="l"/>
              </a:tabLst>
            </a:pPr>
            <a:r>
              <a:rPr lang="en-US" sz="2400" spc="-10" dirty="0">
                <a:latin typeface="Arial MT"/>
                <a:cs typeface="Times New Roman"/>
              </a:rPr>
              <a:t>They</a:t>
            </a:r>
            <a:r>
              <a:rPr lang="en-US" sz="2400" spc="-25" dirty="0">
                <a:latin typeface="Arial MT"/>
                <a:cs typeface="Times New Roman"/>
              </a:rPr>
              <a:t> </a:t>
            </a:r>
            <a:r>
              <a:rPr lang="en-US" sz="2400" dirty="0">
                <a:latin typeface="Arial MT"/>
                <a:cs typeface="Times New Roman"/>
              </a:rPr>
              <a:t>are</a:t>
            </a:r>
            <a:r>
              <a:rPr lang="en-US" sz="2400" spc="20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adjacent</a:t>
            </a:r>
            <a:r>
              <a:rPr lang="en-US" sz="2400" spc="-40" dirty="0">
                <a:latin typeface="Arial MT"/>
                <a:cs typeface="Times New Roman"/>
              </a:rPr>
              <a:t> </a:t>
            </a:r>
            <a:r>
              <a:rPr lang="en-US" sz="2400" spc="-20" dirty="0">
                <a:latin typeface="Arial MT"/>
                <a:cs typeface="Times New Roman"/>
              </a:rPr>
              <a:t>only</a:t>
            </a:r>
            <a:r>
              <a:rPr lang="en-US" sz="2400" spc="-40" dirty="0">
                <a:latin typeface="Arial MT"/>
                <a:cs typeface="Times New Roman"/>
              </a:rPr>
              <a:t> </a:t>
            </a:r>
            <a:r>
              <a:rPr lang="en-US" sz="2400" spc="-5" dirty="0">
                <a:latin typeface="Arial MT"/>
                <a:cs typeface="Times New Roman"/>
              </a:rPr>
              <a:t>to </a:t>
            </a:r>
            <a:r>
              <a:rPr lang="en-US" sz="2400" spc="-10" dirty="0">
                <a:latin typeface="Arial MT"/>
                <a:cs typeface="Times New Roman"/>
              </a:rPr>
              <a:t>black </a:t>
            </a:r>
            <a:r>
              <a:rPr lang="en-US" sz="2400" spc="-5" dirty="0">
                <a:latin typeface="Arial MT"/>
                <a:cs typeface="Times New Roman"/>
              </a:rPr>
              <a:t>and</a:t>
            </a:r>
            <a:r>
              <a:rPr lang="en-US" sz="2400" spc="-15" dirty="0">
                <a:latin typeface="Arial MT"/>
                <a:cs typeface="Times New Roman"/>
              </a:rPr>
              <a:t> </a:t>
            </a:r>
            <a:r>
              <a:rPr lang="en-US" sz="2400" spc="-10" dirty="0">
                <a:latin typeface="Arial MT"/>
                <a:cs typeface="Times New Roman"/>
              </a:rPr>
              <a:t>grey</a:t>
            </a:r>
            <a:r>
              <a:rPr lang="en-US" sz="2400" spc="170" dirty="0">
                <a:latin typeface="Arial MT"/>
                <a:cs typeface="Times New Roman"/>
              </a:rPr>
              <a:t> </a:t>
            </a:r>
            <a:r>
              <a:rPr lang="en-US" sz="2400" spc="-20" dirty="0" smtClean="0">
                <a:latin typeface="Arial MT"/>
                <a:cs typeface="Times New Roman"/>
              </a:rPr>
              <a:t>vertices</a:t>
            </a:r>
            <a:endParaRPr lang="en-US" sz="2400" dirty="0" smtClean="0">
              <a:latin typeface="Arial MT"/>
              <a:cs typeface="Times New Roman"/>
            </a:endParaRPr>
          </a:p>
          <a:p>
            <a:pPr marL="468630" lvl="2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SzPct val="60000"/>
              <a:tabLst>
                <a:tab pos="633095" algn="l"/>
              </a:tabLst>
            </a:pPr>
            <a:endParaRPr sz="28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5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400" spc="-10" dirty="0">
                <a:latin typeface="Arial MT"/>
                <a:cs typeface="Times New Roman"/>
              </a:rPr>
              <a:t>Explore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vertices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by</a:t>
            </a:r>
            <a:r>
              <a:rPr sz="2400" dirty="0">
                <a:latin typeface="Arial MT"/>
                <a:cs typeface="Times New Roman"/>
              </a:rPr>
              <a:t> </a:t>
            </a:r>
            <a:r>
              <a:rPr sz="2400" spc="-15" dirty="0">
                <a:latin typeface="Arial MT"/>
                <a:cs typeface="Times New Roman"/>
              </a:rPr>
              <a:t>scanning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FF0066"/>
                </a:solidFill>
                <a:latin typeface="Arial MT"/>
                <a:cs typeface="Times New Roman"/>
              </a:rPr>
              <a:t>adjacency</a:t>
            </a:r>
            <a:r>
              <a:rPr sz="2400" spc="-2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FF0066"/>
                </a:solidFill>
                <a:latin typeface="Arial MT"/>
                <a:cs typeface="Times New Roman"/>
              </a:rPr>
              <a:t>list</a:t>
            </a:r>
            <a:r>
              <a:rPr sz="2400" spc="-20" dirty="0">
                <a:solidFill>
                  <a:srgbClr val="FF0066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latin typeface="Arial MT"/>
                <a:cs typeface="Times New Roman"/>
              </a:rPr>
              <a:t>of</a:t>
            </a:r>
            <a:r>
              <a:rPr sz="2400" spc="-1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grey</a:t>
            </a:r>
            <a:r>
              <a:rPr sz="2400" spc="46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vertices</a:t>
            </a:r>
            <a:endParaRPr sz="24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26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20" dirty="0"/>
              <a:t> </a:t>
            </a:r>
            <a:r>
              <a:rPr sz="4400" dirty="0"/>
              <a:t>–</a:t>
            </a:r>
            <a:r>
              <a:rPr sz="4400" spc="-20" dirty="0"/>
              <a:t> </a:t>
            </a:r>
            <a:r>
              <a:rPr sz="4400" spc="-15" dirty="0"/>
              <a:t>Graphical</a:t>
            </a:r>
            <a:r>
              <a:rPr sz="4400" spc="-10" dirty="0"/>
              <a:t> </a:t>
            </a:r>
            <a:r>
              <a:rPr sz="4400" spc="-25" dirty="0"/>
              <a:t>Representation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252" y="1698668"/>
            <a:ext cx="7364418" cy="44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0201" y="2966019"/>
            <a:ext cx="4433264" cy="186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5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4288" y="3053454"/>
            <a:ext cx="4664799" cy="196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3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7574" y="3044928"/>
            <a:ext cx="4212273" cy="27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078" y="2999652"/>
            <a:ext cx="4159597" cy="262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8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7783" y="2820329"/>
            <a:ext cx="4303563" cy="274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3083" y="2863533"/>
            <a:ext cx="4005018" cy="25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9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3083" y="2863533"/>
            <a:ext cx="4005018" cy="258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4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145" y="2865349"/>
            <a:ext cx="4206402" cy="273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628" y="2949731"/>
            <a:ext cx="4110682" cy="259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8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3006" y="2846172"/>
            <a:ext cx="4153124" cy="262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0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9939" y="2893680"/>
            <a:ext cx="3932120" cy="24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448" y="2794161"/>
            <a:ext cx="4103050" cy="18175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1990" y="5383293"/>
            <a:ext cx="712463" cy="29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6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15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6198" y="2899724"/>
            <a:ext cx="4061786" cy="257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8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90688"/>
            <a:ext cx="3913211" cy="159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58870" cy="199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 smtClean="0"/>
              <a:t>–</a:t>
            </a:r>
            <a:r>
              <a:rPr lang="en-US" sz="4400" dirty="0" smtClean="0"/>
              <a:t>2</a:t>
            </a:r>
            <a:r>
              <a:rPr sz="4400" spc="-30" dirty="0" smtClean="0"/>
              <a:t> </a:t>
            </a:r>
            <a:endParaRPr sz="4400" dirty="0"/>
          </a:p>
          <a:p>
            <a:pPr marL="149225" marR="51435" indent="685800">
              <a:lnSpc>
                <a:spcPct val="200000"/>
              </a:lnSpc>
              <a:spcBef>
                <a:spcPts val="625"/>
              </a:spcBef>
              <a:tabLst>
                <a:tab pos="2157730" algn="l"/>
                <a:tab pos="2854325" algn="l"/>
                <a:tab pos="3491229" algn="l"/>
              </a:tabLs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	b		c  d		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739900" y="2884932"/>
            <a:ext cx="2874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8740" algn="l"/>
                <a:tab pos="2726690" algn="l"/>
              </a:tabLst>
            </a:pPr>
            <a:r>
              <a:rPr sz="2000" dirty="0">
                <a:latin typeface="Calibri"/>
                <a:cs typeface="Calibri"/>
              </a:rPr>
              <a:t>f	g	h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00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dirty="0"/>
              <a:t>Code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90687"/>
            <a:ext cx="4301359" cy="4802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95905" y="1690687"/>
            <a:ext cx="6096000" cy="36574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lang="en-US" b="1" spc="-5" dirty="0">
                <a:latin typeface="Courier New"/>
                <a:cs typeface="Courier New"/>
              </a:rPr>
              <a:t>BFS(G,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s)</a:t>
            </a:r>
            <a:r>
              <a:rPr lang="en-US" b="1" spc="-45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{</a:t>
            </a:r>
            <a:endParaRPr lang="en-US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lang="en-US" b="1" spc="-10" dirty="0">
                <a:latin typeface="Courier New"/>
                <a:cs typeface="Courier New"/>
              </a:rPr>
              <a:t>initialize</a:t>
            </a:r>
            <a:r>
              <a:rPr lang="en-US" b="1" spc="-75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vertices;</a:t>
            </a:r>
            <a:endParaRPr lang="en-US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lang="en-US" b="1" dirty="0">
                <a:latin typeface="Courier New"/>
                <a:cs typeface="Courier New"/>
              </a:rPr>
              <a:t>Q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=</a:t>
            </a:r>
            <a:r>
              <a:rPr lang="en-US" b="1" spc="-5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{s};</a:t>
            </a:r>
            <a:endParaRPr lang="en-US" dirty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5" dirty="0">
                <a:latin typeface="Courier New"/>
                <a:cs typeface="Courier New"/>
              </a:rPr>
              <a:t>while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(Q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not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spc="-5" dirty="0">
                <a:latin typeface="Courier New"/>
                <a:cs typeface="Courier New"/>
              </a:rPr>
              <a:t>empty)</a:t>
            </a:r>
            <a:r>
              <a:rPr lang="en-US" b="1" spc="-30" dirty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{ </a:t>
            </a:r>
            <a:endParaRPr lang="en-US" b="1" dirty="0" smtClean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944" dirty="0" smtClean="0">
                <a:latin typeface="Courier New"/>
                <a:cs typeface="Courier New"/>
              </a:rPr>
              <a:t> 	</a:t>
            </a:r>
            <a:r>
              <a:rPr lang="en-US" b="1" dirty="0" smtClean="0">
                <a:latin typeface="Courier New"/>
                <a:cs typeface="Courier New"/>
              </a:rPr>
              <a:t>u</a:t>
            </a:r>
            <a:r>
              <a:rPr lang="en-US" b="1" spc="-35" dirty="0" smtClean="0"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=</a:t>
            </a:r>
            <a:r>
              <a:rPr lang="en-US" b="1" spc="-90" dirty="0">
                <a:latin typeface="Courier New"/>
                <a:cs typeface="Courier New"/>
              </a:rPr>
              <a:t> </a:t>
            </a:r>
            <a:r>
              <a:rPr lang="en-US" b="1" spc="-5" dirty="0" err="1">
                <a:latin typeface="Courier New"/>
                <a:cs typeface="Courier New"/>
              </a:rPr>
              <a:t>RemoveTop</a:t>
            </a:r>
            <a:r>
              <a:rPr lang="en-US" b="1" spc="-5" dirty="0">
                <a:latin typeface="Courier New"/>
                <a:cs typeface="Courier New"/>
              </a:rPr>
              <a:t>(Q</a:t>
            </a:r>
            <a:r>
              <a:rPr lang="en-US" b="1" spc="-5" dirty="0" smtClean="0">
                <a:latin typeface="Courier New"/>
                <a:cs typeface="Courier New"/>
              </a:rPr>
              <a:t>);</a:t>
            </a:r>
            <a:endParaRPr lang="en-US" dirty="0" smtClean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spc="-5" dirty="0" smtClean="0">
                <a:solidFill>
                  <a:srgbClr val="0000CC"/>
                </a:solidFill>
                <a:latin typeface="Courier New"/>
                <a:cs typeface="Courier New"/>
              </a:rPr>
              <a:t>	for</a:t>
            </a:r>
            <a:r>
              <a:rPr lang="en-US" b="1" spc="-30" dirty="0" smtClean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lang="en-US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lang="en-US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lang="en-US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u-&gt;</a:t>
            </a:r>
            <a:r>
              <a:rPr lang="en-US" b="1" dirty="0" err="1">
                <a:solidFill>
                  <a:srgbClr val="0000CC"/>
                </a:solidFill>
                <a:latin typeface="Courier New"/>
                <a:cs typeface="Courier New"/>
              </a:rPr>
              <a:t>adj</a:t>
            </a:r>
            <a:r>
              <a:rPr lang="en-US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if(v-&gt;color == WHITE)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v-&gt;color = GRAY;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v-&gt;d = u-&gt;d + 1;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v-&gt;p = u;	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	</a:t>
            </a:r>
            <a:r>
              <a:rPr lang="en-US" b="1" dirty="0" err="1" smtClean="0">
                <a:solidFill>
                  <a:srgbClr val="0000CC"/>
                </a:solidFill>
                <a:latin typeface="Courier New"/>
                <a:cs typeface="Courier New"/>
              </a:rPr>
              <a:t>EnQueue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(</a:t>
            </a:r>
            <a:r>
              <a:rPr lang="en-US" b="1" dirty="0" err="1" smtClean="0">
                <a:solidFill>
                  <a:srgbClr val="0000CC"/>
                </a:solidFill>
                <a:latin typeface="Courier New"/>
                <a:cs typeface="Courier New"/>
              </a:rPr>
              <a:t>Q,v</a:t>
            </a: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);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 smtClean="0">
                <a:solidFill>
                  <a:srgbClr val="0000CC"/>
                </a:solidFill>
                <a:latin typeface="Courier New"/>
                <a:cs typeface="Courier New"/>
              </a:rPr>
              <a:t>	}</a:t>
            </a: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solidFill>
                  <a:srgbClr val="0000CC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u-&gt;color = BLACK;</a:t>
            </a:r>
            <a:endParaRPr lang="en-US" b="1" dirty="0" smtClean="0">
              <a:solidFill>
                <a:srgbClr val="0000CC"/>
              </a:solidFill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lang="en-US" b="1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5905" y="1690687"/>
            <a:ext cx="5357895" cy="3795713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4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/>
              <a:t>–</a:t>
            </a:r>
            <a:r>
              <a:rPr sz="4400" spc="-30" dirty="0"/>
              <a:t> </a:t>
            </a:r>
            <a:r>
              <a:rPr sz="4400" dirty="0"/>
              <a:t>Code</a:t>
            </a:r>
            <a:r>
              <a:rPr sz="4400" spc="-35" dirty="0"/>
              <a:t> </a:t>
            </a:r>
            <a:r>
              <a:rPr sz="4400" spc="-15" dirty="0"/>
              <a:t>again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26398" y="1868932"/>
            <a:ext cx="296037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b="1" spc="-5" dirty="0">
                <a:latin typeface="Courier New"/>
                <a:cs typeface="Courier New"/>
              </a:rPr>
              <a:t>BFS(G,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s)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sz="1600" b="1" spc="-10" dirty="0">
                <a:latin typeface="Courier New"/>
                <a:cs typeface="Courier New"/>
              </a:rPr>
              <a:t>initialize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vertices;</a:t>
            </a:r>
            <a:endParaRPr sz="1600" dirty="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Q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{s};</a:t>
            </a:r>
            <a:endParaRPr sz="1600" dirty="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sz="1600" b="1" spc="-5" dirty="0">
                <a:latin typeface="Courier New"/>
                <a:cs typeface="Courier New"/>
              </a:rPr>
              <a:t>while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(Q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not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empty)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u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RemoveTop(Q);</a:t>
            </a:r>
            <a:endParaRPr sz="1600" dirty="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  <a:spcBef>
                <a:spcPts val="225"/>
              </a:spcBef>
            </a:pP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for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sz="160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sz="1600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u-&gt;adj</a:t>
            </a:r>
            <a:r>
              <a:rPr sz="1600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08958"/>
            <a:ext cx="4277710" cy="25184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54422" y="2085340"/>
            <a:ext cx="2099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6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c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1600" b="1" i="1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ex:</a:t>
            </a:r>
            <a:r>
              <a:rPr sz="1600" b="1" i="1" spc="-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V)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5442" y="2859531"/>
            <a:ext cx="2566670" cy="5378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= 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ex, b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y</a:t>
            </a:r>
            <a:r>
              <a:rPr sz="1600" b="1" i="1" spc="-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ce</a:t>
            </a:r>
            <a:endParaRPr sz="1600" dirty="0">
              <a:latin typeface="Times New Roman"/>
              <a:cs typeface="Times New Roman"/>
            </a:endParaRPr>
          </a:p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Why?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600" y="2221625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3004644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75489" y="4723892"/>
            <a:ext cx="2945765" cy="9677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What</a:t>
            </a:r>
            <a:r>
              <a:rPr sz="1800" b="1" i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will</a:t>
            </a:r>
            <a:r>
              <a:rPr sz="1800" b="1" i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be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running</a:t>
            </a:r>
            <a:r>
              <a:rPr sz="1800" b="1" i="1" spc="-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time?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spc="-195" dirty="0">
                <a:latin typeface="Times New Roman"/>
                <a:cs typeface="Times New Roman"/>
              </a:rPr>
              <a:t>T</a:t>
            </a:r>
            <a:r>
              <a:rPr sz="1800" b="1" spc="-25" dirty="0">
                <a:latin typeface="Times New Roman"/>
                <a:cs typeface="Times New Roman"/>
              </a:rPr>
              <a:t>ota</a:t>
            </a:r>
            <a:r>
              <a:rPr sz="1800" b="1" dirty="0">
                <a:latin typeface="Times New Roman"/>
                <a:cs typeface="Times New Roman"/>
              </a:rPr>
              <a:t>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</a:t>
            </a:r>
            <a:r>
              <a:rPr sz="1800" b="1" spc="-10" dirty="0">
                <a:latin typeface="Times New Roman"/>
                <a:cs typeface="Times New Roman"/>
              </a:rPr>
              <a:t>unnin</a:t>
            </a:r>
            <a:r>
              <a:rPr sz="1800" b="1" dirty="0">
                <a:latin typeface="Times New Roman"/>
                <a:cs typeface="Times New Roman"/>
              </a:rPr>
              <a:t>g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</a:t>
            </a:r>
            <a:r>
              <a:rPr sz="1800" b="1" spc="-10" dirty="0">
                <a:latin typeface="Times New Roman"/>
                <a:cs typeface="Times New Roman"/>
              </a:rPr>
              <a:t>i</a:t>
            </a:r>
            <a:r>
              <a:rPr sz="1800" b="1" spc="-5" dirty="0">
                <a:latin typeface="Times New Roman"/>
                <a:cs typeface="Times New Roman"/>
              </a:rPr>
              <a:t>me: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Σ(degree(v)))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i="1" spc="-15" dirty="0">
                <a:latin typeface="Times New Roman"/>
                <a:cs typeface="Times New Roman"/>
              </a:rPr>
              <a:t>O</a:t>
            </a:r>
            <a:r>
              <a:rPr sz="1800" b="1" spc="-15" dirty="0">
                <a:latin typeface="Times New Roman"/>
                <a:cs typeface="Times New Roman"/>
              </a:rPr>
              <a:t>(</a:t>
            </a:r>
            <a:r>
              <a:rPr sz="1800" b="1" i="1" spc="-15" dirty="0">
                <a:latin typeface="Times New Roman"/>
                <a:cs typeface="Times New Roman"/>
              </a:rPr>
              <a:t>V</a:t>
            </a:r>
            <a:r>
              <a:rPr sz="1800" b="1" spc="-15" dirty="0">
                <a:latin typeface="Times New Roman"/>
                <a:cs typeface="Times New Roman"/>
              </a:rPr>
              <a:t>+</a:t>
            </a:r>
            <a:r>
              <a:rPr sz="1800" b="1" i="1" spc="-15" dirty="0">
                <a:latin typeface="Times New Roman"/>
                <a:cs typeface="Times New Roman"/>
              </a:rPr>
              <a:t>E</a:t>
            </a:r>
            <a:r>
              <a:rPr sz="1800" b="1" spc="-1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97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4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35" dirty="0"/>
              <a:t> </a:t>
            </a:r>
            <a:r>
              <a:rPr sz="4400" dirty="0"/>
              <a:t>–</a:t>
            </a:r>
            <a:r>
              <a:rPr sz="4400" spc="-30" dirty="0"/>
              <a:t> </a:t>
            </a:r>
            <a:r>
              <a:rPr sz="4400" dirty="0"/>
              <a:t>Code</a:t>
            </a:r>
            <a:r>
              <a:rPr sz="4400" spc="-35" dirty="0"/>
              <a:t> </a:t>
            </a:r>
            <a:r>
              <a:rPr sz="4400" spc="-15" dirty="0"/>
              <a:t>again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26398" y="1868932"/>
            <a:ext cx="2960370" cy="152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b="1" spc="-5" dirty="0">
                <a:latin typeface="Courier New"/>
                <a:cs typeface="Courier New"/>
              </a:rPr>
              <a:t>BFS(G,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s)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</a:pPr>
            <a:r>
              <a:rPr sz="1600" b="1" spc="-10" dirty="0">
                <a:latin typeface="Courier New"/>
                <a:cs typeface="Courier New"/>
              </a:rPr>
              <a:t>initialize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vertices;</a:t>
            </a:r>
            <a:endParaRPr sz="1600">
              <a:latin typeface="Courier New"/>
              <a:cs typeface="Courier New"/>
            </a:endParaRPr>
          </a:p>
          <a:p>
            <a:pPr marL="243840">
              <a:lnSpc>
                <a:spcPts val="1910"/>
              </a:lnSpc>
              <a:spcBef>
                <a:spcPts val="70"/>
              </a:spcBef>
            </a:pPr>
            <a:r>
              <a:rPr sz="1600" b="1" dirty="0">
                <a:latin typeface="Courier New"/>
                <a:cs typeface="Courier New"/>
              </a:rPr>
              <a:t>Q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{s};</a:t>
            </a:r>
            <a:endParaRPr sz="1600">
              <a:latin typeface="Courier New"/>
              <a:cs typeface="Courier New"/>
            </a:endParaRPr>
          </a:p>
          <a:p>
            <a:pPr marL="472440" marR="154305" indent="-228600">
              <a:lnSpc>
                <a:spcPts val="1900"/>
              </a:lnSpc>
              <a:spcBef>
                <a:spcPts val="70"/>
              </a:spcBef>
            </a:pPr>
            <a:r>
              <a:rPr sz="1600" b="1" spc="-5" dirty="0">
                <a:latin typeface="Courier New"/>
                <a:cs typeface="Courier New"/>
              </a:rPr>
              <a:t>while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(Q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not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empty)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u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RemoveTop(Q);</a:t>
            </a:r>
            <a:endParaRPr sz="160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  <a:spcBef>
                <a:spcPts val="225"/>
              </a:spcBef>
            </a:pP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for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each</a:t>
            </a:r>
            <a:r>
              <a:rPr sz="160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v</a:t>
            </a:r>
            <a:r>
              <a:rPr sz="1600" b="1" spc="-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CC"/>
                </a:solidFill>
                <a:latin typeface="Cambria Math"/>
                <a:cs typeface="Cambria Math"/>
              </a:rPr>
              <a:t>∈</a:t>
            </a:r>
            <a:r>
              <a:rPr sz="1600" spc="-35" dirty="0">
                <a:solidFill>
                  <a:srgbClr val="0000CC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u-&gt;adj</a:t>
            </a:r>
            <a:r>
              <a:rPr sz="1600" b="1" spc="-7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08958"/>
            <a:ext cx="4277710" cy="25184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54422" y="2085340"/>
            <a:ext cx="2099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spc="-16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20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c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h</a:t>
            </a:r>
            <a:r>
              <a:rPr sz="1600" b="1" i="1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ex:</a:t>
            </a:r>
            <a:r>
              <a:rPr sz="1600" b="1" i="1" spc="-1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15" dirty="0">
                <a:solidFill>
                  <a:srgbClr val="CC0000"/>
                </a:solidFill>
                <a:latin typeface="Times New Roman"/>
                <a:cs typeface="Times New Roman"/>
              </a:rPr>
              <a:t>V)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5442" y="2859531"/>
            <a:ext cx="2566670" cy="5378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= every ver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ex, b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u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t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spc="5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y</a:t>
            </a:r>
            <a:r>
              <a:rPr sz="1600" b="1" i="1" spc="-1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sz="16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ce</a:t>
            </a:r>
            <a:endParaRPr sz="1600">
              <a:latin typeface="Times New Roman"/>
              <a:cs typeface="Times New Roman"/>
            </a:endParaRPr>
          </a:p>
          <a:p>
            <a:pPr marL="109093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sz="16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Why?</a:t>
            </a:r>
            <a:r>
              <a:rPr sz="16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600" y="2221625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3004644"/>
            <a:ext cx="1343025" cy="76200"/>
          </a:xfrm>
          <a:custGeom>
            <a:avLst/>
            <a:gdLst/>
            <a:ahLst/>
            <a:cxnLst/>
            <a:rect l="l" t="t" r="r" b="b"/>
            <a:pathLst>
              <a:path w="134302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4"/>
                </a:lnTo>
                <a:lnTo>
                  <a:pt x="76200" y="0"/>
                </a:lnTo>
                <a:close/>
              </a:path>
              <a:path w="1343025" h="76200">
                <a:moveTo>
                  <a:pt x="76200" y="28574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4"/>
                </a:lnTo>
                <a:lnTo>
                  <a:pt x="76200" y="28574"/>
                </a:lnTo>
                <a:close/>
              </a:path>
              <a:path w="1343025" h="76200">
                <a:moveTo>
                  <a:pt x="76200" y="47624"/>
                </a:moveTo>
                <a:lnTo>
                  <a:pt x="63500" y="47625"/>
                </a:lnTo>
                <a:lnTo>
                  <a:pt x="76200" y="47625"/>
                </a:lnTo>
                <a:close/>
              </a:path>
              <a:path w="1343025" h="76200">
                <a:moveTo>
                  <a:pt x="1342697" y="28573"/>
                </a:moveTo>
                <a:lnTo>
                  <a:pt x="76200" y="28574"/>
                </a:lnTo>
                <a:lnTo>
                  <a:pt x="76200" y="47624"/>
                </a:lnTo>
                <a:lnTo>
                  <a:pt x="1342697" y="47623"/>
                </a:lnTo>
                <a:lnTo>
                  <a:pt x="1342697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72488" y="4644644"/>
            <a:ext cx="3851910" cy="1214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780" marR="5080">
              <a:lnSpc>
                <a:spcPct val="101099"/>
              </a:lnSpc>
              <a:spcBef>
                <a:spcPts val="75"/>
              </a:spcBef>
            </a:pP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What will 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be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the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storage cost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 in addition </a:t>
            </a:r>
            <a:r>
              <a:rPr sz="1800" b="1" i="1" spc="-43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o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storin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g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th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e</a:t>
            </a:r>
            <a:r>
              <a:rPr sz="1800" b="1" i="1" spc="-1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00" b="1" i="1" spc="-10" dirty="0">
                <a:solidFill>
                  <a:srgbClr val="0033CC"/>
                </a:solidFill>
                <a:latin typeface="Times New Roman"/>
                <a:cs typeface="Times New Roman"/>
              </a:rPr>
              <a:t>tr</a:t>
            </a:r>
            <a:r>
              <a:rPr sz="1800" b="1" i="1" spc="-5" dirty="0">
                <a:solidFill>
                  <a:srgbClr val="0033CC"/>
                </a:solidFill>
                <a:latin typeface="Times New Roman"/>
                <a:cs typeface="Times New Roman"/>
              </a:rPr>
              <a:t>ee</a:t>
            </a:r>
            <a:r>
              <a:rPr sz="1800" b="1" i="1" dirty="0">
                <a:solidFill>
                  <a:srgbClr val="0033CC"/>
                </a:solidFill>
                <a:latin typeface="Times New Roman"/>
                <a:cs typeface="Times New Roman"/>
              </a:rPr>
              <a:t>?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5"/>
              </a:lnSpc>
              <a:spcBef>
                <a:spcPts val="745"/>
              </a:spcBef>
            </a:pPr>
            <a:r>
              <a:rPr sz="1800" b="1" spc="-195" dirty="0">
                <a:latin typeface="Times New Roman"/>
                <a:cs typeface="Times New Roman"/>
              </a:rPr>
              <a:t>T</a:t>
            </a:r>
            <a:r>
              <a:rPr sz="1800" b="1" spc="-25" dirty="0">
                <a:latin typeface="Times New Roman"/>
                <a:cs typeface="Times New Roman"/>
              </a:rPr>
              <a:t>ota</a:t>
            </a:r>
            <a:r>
              <a:rPr sz="1800" b="1" dirty="0">
                <a:latin typeface="Times New Roman"/>
                <a:cs typeface="Times New Roman"/>
              </a:rPr>
              <a:t>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spa</a:t>
            </a:r>
            <a:r>
              <a:rPr sz="1800" b="1" spc="-5" dirty="0">
                <a:latin typeface="Times New Roman"/>
                <a:cs typeface="Times New Roman"/>
              </a:rPr>
              <a:t>c</a:t>
            </a:r>
            <a:r>
              <a:rPr sz="1800" b="1" dirty="0">
                <a:latin typeface="Times New Roman"/>
                <a:cs typeface="Times New Roman"/>
              </a:rPr>
              <a:t>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us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10" dirty="0">
                <a:latin typeface="Times New Roman"/>
                <a:cs typeface="Times New Roman"/>
              </a:rPr>
              <a:t>d: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5"/>
              </a:lnSpc>
            </a:pP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Σ</a:t>
            </a:r>
            <a:r>
              <a:rPr sz="1800" b="1" spc="-5" dirty="0">
                <a:latin typeface="Times New Roman"/>
                <a:cs typeface="Times New Roman"/>
              </a:rPr>
              <a:t>(</a:t>
            </a:r>
            <a:r>
              <a:rPr sz="1800" b="1" spc="-10" dirty="0">
                <a:latin typeface="Times New Roman"/>
                <a:cs typeface="Times New Roman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10" dirty="0">
                <a:latin typeface="Times New Roman"/>
                <a:cs typeface="Times New Roman"/>
              </a:rPr>
              <a:t>g</a:t>
            </a:r>
            <a:r>
              <a:rPr sz="1800" b="1" spc="-40" dirty="0">
                <a:latin typeface="Times New Roman"/>
                <a:cs typeface="Times New Roman"/>
              </a:rPr>
              <a:t>r</a:t>
            </a:r>
            <a:r>
              <a:rPr sz="1800" b="1" spc="-5" dirty="0">
                <a:latin typeface="Times New Roman"/>
                <a:cs typeface="Times New Roman"/>
              </a:rPr>
              <a:t>ee(</a:t>
            </a:r>
            <a:r>
              <a:rPr sz="1800" b="1" spc="-10" dirty="0">
                <a:latin typeface="Times New Roman"/>
                <a:cs typeface="Times New Roman"/>
              </a:rPr>
              <a:t>v</a:t>
            </a:r>
            <a:r>
              <a:rPr sz="1800" b="1" spc="-5" dirty="0">
                <a:latin typeface="Times New Roman"/>
                <a:cs typeface="Times New Roman"/>
              </a:rPr>
              <a:t>))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V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-150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181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788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BFS</a:t>
            </a:r>
            <a:r>
              <a:rPr sz="4400" spc="-45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spc="-15" dirty="0"/>
              <a:t>Properties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9605010" cy="25920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BFS</a:t>
            </a:r>
            <a:r>
              <a:rPr sz="2000" spc="-15" dirty="0">
                <a:latin typeface="Arial MT"/>
                <a:cs typeface="Times New Roman"/>
              </a:rPr>
              <a:t> calculates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shortest-path distance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to the </a:t>
            </a:r>
            <a:r>
              <a:rPr sz="2000" spc="-15" dirty="0">
                <a:latin typeface="Arial MT"/>
                <a:cs typeface="Times New Roman"/>
              </a:rPr>
              <a:t>source</a:t>
            </a:r>
            <a:r>
              <a:rPr sz="2000" spc="47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node</a:t>
            </a:r>
            <a:endParaRPr sz="2000" dirty="0">
              <a:latin typeface="Arial MT"/>
              <a:cs typeface="Times New Roman"/>
            </a:endParaRPr>
          </a:p>
          <a:p>
            <a:pPr marL="384175" marR="74485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5" dirty="0">
                <a:latin typeface="Arial MT"/>
                <a:cs typeface="Times New Roman"/>
              </a:rPr>
              <a:t>Shortest-path </a:t>
            </a:r>
            <a:r>
              <a:rPr sz="2000" spc="-15" dirty="0">
                <a:latin typeface="Arial MT"/>
                <a:cs typeface="Times New Roman"/>
              </a:rPr>
              <a:t>distance </a:t>
            </a:r>
            <a:r>
              <a:rPr lang="en-US" sz="2000" spc="-15" dirty="0">
                <a:latin typeface="Symbol"/>
                <a:cs typeface="Symbol"/>
              </a:rPr>
              <a:t></a:t>
            </a:r>
            <a:r>
              <a:rPr sz="2000" spc="-15" dirty="0" smtClean="0">
                <a:latin typeface="Arial MT"/>
                <a:cs typeface="Times New Roman"/>
              </a:rPr>
              <a:t>(</a:t>
            </a:r>
            <a:r>
              <a:rPr sz="2000" i="1" spc="-15" dirty="0">
                <a:latin typeface="Arial MT"/>
                <a:cs typeface="Times New Roman"/>
              </a:rPr>
              <a:t>s</a:t>
            </a:r>
            <a:r>
              <a:rPr sz="2000" spc="-15" dirty="0">
                <a:latin typeface="Arial MT"/>
                <a:cs typeface="Times New Roman"/>
              </a:rPr>
              <a:t>,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) </a:t>
            </a:r>
            <a:r>
              <a:rPr sz="2000" dirty="0">
                <a:latin typeface="Arial MT"/>
                <a:cs typeface="Times New Roman"/>
              </a:rPr>
              <a:t>= </a:t>
            </a:r>
            <a:r>
              <a:rPr sz="2000" spc="-20" dirty="0">
                <a:latin typeface="Arial MT"/>
                <a:cs typeface="Times New Roman"/>
              </a:rPr>
              <a:t>minimum number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10" dirty="0">
                <a:latin typeface="Arial MT"/>
                <a:cs typeface="Times New Roman"/>
              </a:rPr>
              <a:t>edges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i="1" dirty="0">
                <a:latin typeface="Arial MT"/>
                <a:cs typeface="Times New Roman"/>
              </a:rPr>
              <a:t>s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, </a:t>
            </a:r>
            <a:r>
              <a:rPr sz="2000" spc="5" dirty="0">
                <a:latin typeface="Arial MT"/>
                <a:cs typeface="Times New Roman"/>
              </a:rPr>
              <a:t>or </a:t>
            </a:r>
            <a:r>
              <a:rPr lang="en-US" sz="2000" dirty="0">
                <a:latin typeface="Symbol"/>
                <a:cs typeface="Symbol"/>
              </a:rPr>
              <a:t></a:t>
            </a:r>
            <a:r>
              <a:rPr sz="2000" dirty="0" smtClean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if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5" dirty="0">
                <a:latin typeface="Arial MT"/>
                <a:cs typeface="Times New Roman"/>
              </a:rPr>
              <a:t>not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reachable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21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s</a:t>
            </a:r>
            <a:endParaRPr sz="20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Wingdings"/>
              <a:buChar char=""/>
            </a:pPr>
            <a:endParaRPr sz="2150" dirty="0">
              <a:latin typeface="Arial MT"/>
              <a:cs typeface="Times New Roman"/>
            </a:endParaRPr>
          </a:p>
          <a:p>
            <a:pPr marL="183515" marR="267335" indent="-170815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BFS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builds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breadth-first spanning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30" dirty="0">
                <a:solidFill>
                  <a:srgbClr val="CC0000"/>
                </a:solidFill>
                <a:latin typeface="Arial MT"/>
                <a:cs typeface="Times New Roman"/>
              </a:rPr>
              <a:t>tree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imes New Roman"/>
              </a:rPr>
              <a:t>(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forest</a:t>
            </a:r>
            <a:r>
              <a:rPr sz="2000" spc="-20" dirty="0">
                <a:solidFill>
                  <a:srgbClr val="CC0000"/>
                </a:solidFill>
                <a:latin typeface="Arial MT"/>
                <a:cs typeface="Times New Roman"/>
              </a:rPr>
              <a:t>)</a:t>
            </a:r>
            <a:r>
              <a:rPr sz="2000" spc="-20" dirty="0">
                <a:latin typeface="Arial MT"/>
                <a:cs typeface="Times New Roman"/>
              </a:rPr>
              <a:t>,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which</a:t>
            </a:r>
            <a:r>
              <a:rPr sz="2000" spc="47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paths to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root(s) represent </a:t>
            </a:r>
            <a:r>
              <a:rPr sz="2000" spc="-15" dirty="0">
                <a:latin typeface="Arial MT"/>
                <a:cs typeface="Times New Roman"/>
              </a:rPr>
              <a:t>shortest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paths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6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G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175" algn="l"/>
              </a:tabLst>
            </a:pPr>
            <a:r>
              <a:rPr sz="2000" spc="-10" dirty="0">
                <a:latin typeface="Arial MT"/>
                <a:cs typeface="Times New Roman"/>
              </a:rPr>
              <a:t>Thus can use BFS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spc="-20" dirty="0">
                <a:latin typeface="Arial MT"/>
                <a:cs typeface="Times New Roman"/>
              </a:rPr>
              <a:t>calculate </a:t>
            </a:r>
            <a:r>
              <a:rPr sz="2000" spc="-5" dirty="0">
                <a:latin typeface="Arial MT"/>
                <a:cs typeface="Times New Roman"/>
              </a:rPr>
              <a:t>shortest </a:t>
            </a:r>
            <a:r>
              <a:rPr sz="2000" dirty="0">
                <a:latin typeface="Arial MT"/>
                <a:cs typeface="Times New Roman"/>
              </a:rPr>
              <a:t>path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spc="-5" dirty="0">
                <a:latin typeface="Arial MT"/>
                <a:cs typeface="Times New Roman"/>
              </a:rPr>
              <a:t>one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dirty="0">
                <a:latin typeface="Arial MT"/>
                <a:cs typeface="Times New Roman"/>
              </a:rPr>
              <a:t>to </a:t>
            </a:r>
            <a:r>
              <a:rPr sz="2000" spc="-10" dirty="0">
                <a:latin typeface="Arial MT"/>
                <a:cs typeface="Times New Roman"/>
              </a:rPr>
              <a:t>another </a:t>
            </a:r>
            <a:r>
              <a:rPr sz="2000" spc="-20" dirty="0">
                <a:latin typeface="Arial MT"/>
                <a:cs typeface="Times New Roman"/>
              </a:rPr>
              <a:t>in </a:t>
            </a:r>
            <a:r>
              <a:rPr sz="2000" i="1" dirty="0">
                <a:latin typeface="Arial MT"/>
                <a:cs typeface="Times New Roman"/>
              </a:rPr>
              <a:t>O</a:t>
            </a:r>
            <a:r>
              <a:rPr sz="2000" dirty="0">
                <a:latin typeface="Arial MT"/>
                <a:cs typeface="Times New Roman"/>
              </a:rPr>
              <a:t>(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dirty="0">
                <a:latin typeface="Arial MT"/>
                <a:cs typeface="Times New Roman"/>
              </a:rPr>
              <a:t>+ </a:t>
            </a:r>
            <a:r>
              <a:rPr sz="2000" i="1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) </a:t>
            </a:r>
            <a:r>
              <a:rPr sz="2000" spc="-25" dirty="0">
                <a:latin typeface="Arial MT"/>
                <a:cs typeface="Times New Roman"/>
              </a:rPr>
              <a:t>time </a:t>
            </a:r>
            <a:r>
              <a:rPr sz="2000" spc="-35" dirty="0">
                <a:latin typeface="Arial MT"/>
                <a:cs typeface="Times New Roman"/>
              </a:rPr>
              <a:t>in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unweighted</a:t>
            </a:r>
            <a:r>
              <a:rPr sz="2000" spc="15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92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02844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Level</a:t>
            </a:r>
            <a:r>
              <a:rPr sz="4400" dirty="0"/>
              <a:t> </a:t>
            </a:r>
            <a:r>
              <a:rPr sz="4400" spc="-20" dirty="0"/>
              <a:t>Order</a:t>
            </a:r>
            <a:r>
              <a:rPr sz="4400" spc="-10" dirty="0"/>
              <a:t> </a:t>
            </a:r>
            <a:r>
              <a:rPr sz="4400" spc="-70" dirty="0"/>
              <a:t>Traversal</a:t>
            </a:r>
            <a:r>
              <a:rPr sz="4400" spc="-10" dirty="0"/>
              <a:t> </a:t>
            </a:r>
            <a:r>
              <a:rPr sz="4400" dirty="0"/>
              <a:t>–</a:t>
            </a:r>
            <a:r>
              <a:rPr sz="4400" spc="-10" dirty="0"/>
              <a:t> </a:t>
            </a:r>
            <a:r>
              <a:rPr sz="4400" spc="-5" dirty="0"/>
              <a:t>Using Queue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8158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Tahoma"/>
              </a:rPr>
              <a:t>In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 </a:t>
            </a:r>
            <a:r>
              <a:rPr sz="2000" spc="-10" dirty="0">
                <a:latin typeface="Arial MT"/>
                <a:cs typeface="Tahoma"/>
              </a:rPr>
              <a:t>order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20" dirty="0">
                <a:latin typeface="Arial MT"/>
                <a:cs typeface="Tahoma"/>
              </a:rPr>
              <a:t>traversal, </a:t>
            </a:r>
            <a:r>
              <a:rPr sz="2000" spc="-10" dirty="0">
                <a:latin typeface="Arial MT"/>
                <a:cs typeface="Tahoma"/>
              </a:rPr>
              <a:t>every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node </a:t>
            </a:r>
            <a:r>
              <a:rPr sz="2000" spc="-5" dirty="0">
                <a:latin typeface="Arial MT"/>
                <a:cs typeface="Tahoma"/>
              </a:rPr>
              <a:t>on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is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visited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before </a:t>
            </a:r>
            <a:r>
              <a:rPr sz="2000" spc="-10" dirty="0">
                <a:latin typeface="Arial MT"/>
                <a:cs typeface="Tahoma"/>
              </a:rPr>
              <a:t>going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to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lower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level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42" y="2495053"/>
            <a:ext cx="3379608" cy="290534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638800" y="2895600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0070C0"/>
                </a:solidFill>
                <a:latin typeface="Arial MT"/>
              </a:rPr>
              <a:t>Solution?</a:t>
            </a:r>
          </a:p>
          <a:p>
            <a:endParaRPr lang="en-US" sz="2400" i="1" dirty="0">
              <a:solidFill>
                <a:srgbClr val="0070C0"/>
              </a:solidFill>
              <a:latin typeface="Arial MT"/>
            </a:endParaRPr>
          </a:p>
          <a:p>
            <a:r>
              <a:rPr lang="en-US" sz="2400" dirty="0" smtClean="0">
                <a:latin typeface="Arial MT"/>
              </a:rPr>
              <a:t>Start a BFS traversal from the tree root !!</a:t>
            </a:r>
            <a:endParaRPr lang="en-US" sz="24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827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</TotalTime>
  <Words>590</Words>
  <Application>Microsoft Office PowerPoint</Application>
  <PresentationFormat>Widescreen</PresentationFormat>
  <Paragraphs>127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MT</vt:lpstr>
      <vt:lpstr>Calibri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PowerPoint Presentation</vt:lpstr>
      <vt:lpstr>Graph Search</vt:lpstr>
      <vt:lpstr>Breadth-First Search</vt:lpstr>
      <vt:lpstr>Breadth-First Search</vt:lpstr>
      <vt:lpstr>BFS – Graphical Representation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 Example</vt:lpstr>
      <vt:lpstr>BFS –2  a b  c  d  e</vt:lpstr>
      <vt:lpstr>BFS – Code</vt:lpstr>
      <vt:lpstr>BFS – Code again</vt:lpstr>
      <vt:lpstr>BFS – Code again</vt:lpstr>
      <vt:lpstr>BFS – Properties</vt:lpstr>
      <vt:lpstr>Level Order Traversal – Using Queue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 Rifat</cp:lastModifiedBy>
  <cp:revision>404</cp:revision>
  <dcterms:created xsi:type="dcterms:W3CDTF">2022-06-16T11:58:56Z</dcterms:created>
  <dcterms:modified xsi:type="dcterms:W3CDTF">2023-07-23T14:00:08Z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