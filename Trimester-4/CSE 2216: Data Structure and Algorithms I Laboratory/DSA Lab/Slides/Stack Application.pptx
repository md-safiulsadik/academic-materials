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658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5" dirty="0"/>
              <a:t>1/19/22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8/14/2023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C00000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5" dirty="0"/>
              <a:t>1/19/22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8/14/2023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C00000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5" dirty="0"/>
              <a:t>1/19/22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8/14/2023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C00000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5" dirty="0"/>
              <a:t>1/19/22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8/14/2023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5" dirty="0"/>
              <a:t>1/19/22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8/14/2023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746184" y="2020315"/>
            <a:ext cx="6699631" cy="20516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rgbClr val="C00000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86179" y="1845564"/>
            <a:ext cx="9819640" cy="41040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916939" y="6428920"/>
            <a:ext cx="532130" cy="2114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5" dirty="0"/>
              <a:t>1/19/22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8/14/2023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067415" y="6428920"/>
            <a:ext cx="231775" cy="2114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fahmid@cse.uiu.ac.bd" TargetMode="Externa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mailto:fahmid@cse.uiu.ac.bd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mailto:fahmid@cse.uiu.ac.bd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mailto:fahmid@cse.uiu.ac.bd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mailto:fahmid@cse.uiu.ac.bd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mailto:fahmid@cse.uiu.ac.bd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mailto:fahmid@cse.uiu.ac.bd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mailto:fahmid@cse.uiu.ac.bd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mailto:fahmid@cse.uiu.ac.bd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mailto:fahmid@cse.uiu.ac.bd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12700" marR="5080" algn="ctr">
              <a:lnSpc>
                <a:spcPts val="5210"/>
              </a:lnSpc>
              <a:spcBef>
                <a:spcPts val="730"/>
              </a:spcBef>
            </a:pPr>
            <a:r>
              <a:rPr dirty="0"/>
              <a:t>CSE 2215: </a:t>
            </a:r>
            <a:r>
              <a:rPr spc="-35" dirty="0"/>
              <a:t>Data </a:t>
            </a:r>
            <a:r>
              <a:rPr spc="-10" dirty="0"/>
              <a:t>Structure </a:t>
            </a:r>
            <a:r>
              <a:rPr dirty="0"/>
              <a:t>&amp; </a:t>
            </a:r>
            <a:r>
              <a:rPr spc="-1075" dirty="0"/>
              <a:t> </a:t>
            </a:r>
            <a:r>
              <a:rPr spc="-10" dirty="0"/>
              <a:t>Algorithms</a:t>
            </a:r>
            <a:r>
              <a:rPr spc="15" dirty="0"/>
              <a:t> </a:t>
            </a:r>
            <a:r>
              <a:rPr dirty="0"/>
              <a:t>-</a:t>
            </a:r>
            <a:r>
              <a:rPr spc="5" dirty="0"/>
              <a:t> </a:t>
            </a:r>
            <a:r>
              <a:rPr dirty="0"/>
              <a:t>I</a:t>
            </a:r>
          </a:p>
          <a:p>
            <a:pPr marL="635" algn="ctr">
              <a:lnSpc>
                <a:spcPct val="100000"/>
              </a:lnSpc>
              <a:spcBef>
                <a:spcPts val="1060"/>
              </a:spcBef>
            </a:pPr>
            <a:r>
              <a:rPr sz="3200" spc="-10" dirty="0">
                <a:solidFill>
                  <a:srgbClr val="0432FF"/>
                </a:solidFill>
                <a:latin typeface="Calibri"/>
                <a:cs typeface="Calibri"/>
              </a:rPr>
              <a:t>Application</a:t>
            </a:r>
            <a:r>
              <a:rPr sz="3200" spc="-20" dirty="0">
                <a:solidFill>
                  <a:srgbClr val="0432FF"/>
                </a:solidFill>
                <a:latin typeface="Calibri"/>
                <a:cs typeface="Calibri"/>
              </a:rPr>
              <a:t> </a:t>
            </a:r>
            <a:r>
              <a:rPr sz="3200" spc="-5" dirty="0">
                <a:solidFill>
                  <a:srgbClr val="0432FF"/>
                </a:solidFill>
                <a:latin typeface="Calibri"/>
                <a:cs typeface="Calibri"/>
              </a:rPr>
              <a:t>of</a:t>
            </a:r>
            <a:r>
              <a:rPr sz="3200" spc="-15" dirty="0">
                <a:solidFill>
                  <a:srgbClr val="0432FF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0432FF"/>
                </a:solidFill>
                <a:latin typeface="Calibri"/>
                <a:cs typeface="Calibri"/>
              </a:rPr>
              <a:t>Stack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5" dirty="0"/>
              <a:t>1/19/22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348287" y="6428920"/>
            <a:ext cx="1496060" cy="189796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 sz="1200" spc="-5" dirty="0">
                <a:solidFill>
                  <a:srgbClr val="898989"/>
                </a:solidFill>
                <a:cs typeface="Calibri"/>
                <a:hlinkClick r:id="rId2"/>
              </a:rPr>
              <a:t>fahmid@cse.uiu.ac.bd</a:t>
            </a:r>
            <a:endParaRPr lang="en-US" sz="1200" dirty="0"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1</a:t>
            </a:fld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79195"/>
            <a:ext cx="41808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Infix</a:t>
            </a:r>
            <a:r>
              <a:rPr sz="3600" spc="-25" dirty="0"/>
              <a:t> </a:t>
            </a:r>
            <a:r>
              <a:rPr sz="3600" spc="-20" dirty="0"/>
              <a:t>Postfix </a:t>
            </a:r>
            <a:r>
              <a:rPr sz="3600" spc="-10" dirty="0"/>
              <a:t>Expression</a:t>
            </a:r>
            <a:endParaRPr sz="36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5" dirty="0"/>
              <a:t>1/19/22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348287" y="6428920"/>
            <a:ext cx="1496060" cy="189796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 sz="1200" spc="-5" dirty="0">
                <a:solidFill>
                  <a:srgbClr val="898989"/>
                </a:solidFill>
                <a:cs typeface="Calibri"/>
                <a:hlinkClick r:id="rId2"/>
              </a:rPr>
              <a:t>fahmid@cse.uiu.ac.bd</a:t>
            </a:r>
            <a:endParaRPr lang="en-US" sz="1200" dirty="0"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2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4154" marR="363220" indent="-172720">
              <a:lnSpc>
                <a:spcPct val="100000"/>
              </a:lnSpc>
              <a:spcBef>
                <a:spcPts val="100"/>
              </a:spcBef>
            </a:pPr>
            <a:r>
              <a:rPr sz="1500" spc="85" dirty="0">
                <a:solidFill>
                  <a:srgbClr val="0033CC"/>
                </a:solidFill>
                <a:latin typeface="Georgia"/>
                <a:cs typeface="Georgia"/>
              </a:rPr>
              <a:t>□</a:t>
            </a:r>
            <a:r>
              <a:rPr spc="85" dirty="0">
                <a:solidFill>
                  <a:srgbClr val="0000CC"/>
                </a:solidFill>
              </a:rPr>
              <a:t>Infix</a:t>
            </a:r>
            <a:r>
              <a:rPr spc="-25" dirty="0">
                <a:solidFill>
                  <a:srgbClr val="0000CC"/>
                </a:solidFill>
              </a:rPr>
              <a:t> </a:t>
            </a:r>
            <a:r>
              <a:rPr spc="-10" dirty="0">
                <a:solidFill>
                  <a:srgbClr val="0000CC"/>
                </a:solidFill>
              </a:rPr>
              <a:t>expression</a:t>
            </a:r>
            <a:r>
              <a:rPr spc="-10" dirty="0"/>
              <a:t>:</a:t>
            </a:r>
            <a:r>
              <a:rPr spc="-50" dirty="0"/>
              <a:t> </a:t>
            </a:r>
            <a:r>
              <a:rPr spc="-5" dirty="0"/>
              <a:t>The</a:t>
            </a:r>
            <a:r>
              <a:rPr spc="-10" dirty="0"/>
              <a:t> expression </a:t>
            </a:r>
            <a:r>
              <a:rPr dirty="0"/>
              <a:t>of</a:t>
            </a:r>
            <a:r>
              <a:rPr spc="-5" dirty="0"/>
              <a:t> the</a:t>
            </a:r>
            <a:r>
              <a:rPr dirty="0"/>
              <a:t> </a:t>
            </a:r>
            <a:r>
              <a:rPr spc="-10" dirty="0"/>
              <a:t>form</a:t>
            </a:r>
            <a:r>
              <a:rPr spc="-20" dirty="0"/>
              <a:t> </a:t>
            </a:r>
            <a:r>
              <a:rPr dirty="0">
                <a:solidFill>
                  <a:srgbClr val="216721"/>
                </a:solidFill>
              </a:rPr>
              <a:t>a op </a:t>
            </a:r>
            <a:r>
              <a:rPr spc="-5" dirty="0">
                <a:solidFill>
                  <a:srgbClr val="216721"/>
                </a:solidFill>
              </a:rPr>
              <a:t>b</a:t>
            </a:r>
            <a:r>
              <a:rPr spc="-5" dirty="0"/>
              <a:t>.</a:t>
            </a:r>
            <a:r>
              <a:rPr spc="-45" dirty="0"/>
              <a:t> </a:t>
            </a:r>
            <a:r>
              <a:rPr spc="-5" dirty="0"/>
              <a:t>When</a:t>
            </a:r>
            <a:r>
              <a:rPr dirty="0"/>
              <a:t> </a:t>
            </a:r>
            <a:r>
              <a:rPr spc="-5" dirty="0"/>
              <a:t>an</a:t>
            </a:r>
            <a:r>
              <a:rPr spc="484" dirty="0"/>
              <a:t> </a:t>
            </a:r>
            <a:r>
              <a:rPr spc="-10" dirty="0"/>
              <a:t>operator </a:t>
            </a:r>
            <a:r>
              <a:rPr spc="-5" dirty="0"/>
              <a:t>is</a:t>
            </a:r>
            <a:r>
              <a:rPr dirty="0"/>
              <a:t> </a:t>
            </a:r>
            <a:r>
              <a:rPr spc="-10" dirty="0"/>
              <a:t>in-between </a:t>
            </a:r>
            <a:r>
              <a:rPr spc="-5" dirty="0"/>
              <a:t>every </a:t>
            </a:r>
            <a:r>
              <a:rPr spc="-484" dirty="0"/>
              <a:t> </a:t>
            </a:r>
            <a:r>
              <a:rPr spc="-10" dirty="0"/>
              <a:t>pair</a:t>
            </a:r>
            <a:r>
              <a:rPr spc="-20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-10" dirty="0"/>
              <a:t>operands.</a:t>
            </a:r>
            <a:endParaRPr sz="1500">
              <a:latin typeface="Georgia"/>
              <a:cs typeface="Georgia"/>
            </a:endParaRPr>
          </a:p>
          <a:p>
            <a:pPr marL="280670">
              <a:lnSpc>
                <a:spcPct val="100000"/>
              </a:lnSpc>
              <a:spcBef>
                <a:spcPts val="310"/>
              </a:spcBef>
            </a:pPr>
            <a:r>
              <a:rPr spc="80" dirty="0">
                <a:solidFill>
                  <a:srgbClr val="CC0000"/>
                </a:solidFill>
                <a:latin typeface="Georgia"/>
                <a:cs typeface="Georgia"/>
              </a:rPr>
              <a:t>□</a:t>
            </a:r>
            <a:r>
              <a:rPr spc="80" dirty="0">
                <a:solidFill>
                  <a:srgbClr val="CC0000"/>
                </a:solidFill>
              </a:rPr>
              <a:t>Example</a:t>
            </a:r>
            <a:r>
              <a:rPr spc="80" dirty="0"/>
              <a:t>:</a:t>
            </a:r>
            <a:r>
              <a:rPr spc="-45" dirty="0"/>
              <a:t> </a:t>
            </a:r>
            <a:r>
              <a:rPr dirty="0">
                <a:solidFill>
                  <a:srgbClr val="216721"/>
                </a:solidFill>
              </a:rPr>
              <a:t>5</a:t>
            </a:r>
            <a:r>
              <a:rPr spc="-25" dirty="0">
                <a:solidFill>
                  <a:srgbClr val="216721"/>
                </a:solidFill>
              </a:rPr>
              <a:t> </a:t>
            </a:r>
            <a:r>
              <a:rPr dirty="0">
                <a:solidFill>
                  <a:srgbClr val="216721"/>
                </a:solidFill>
              </a:rPr>
              <a:t>+</a:t>
            </a:r>
            <a:r>
              <a:rPr spc="-45" dirty="0">
                <a:solidFill>
                  <a:srgbClr val="216721"/>
                </a:solidFill>
              </a:rPr>
              <a:t> </a:t>
            </a:r>
            <a:r>
              <a:rPr dirty="0">
                <a:solidFill>
                  <a:srgbClr val="216721"/>
                </a:solidFill>
              </a:rPr>
              <a:t>8</a:t>
            </a:r>
          </a:p>
          <a:p>
            <a:pPr marL="39370">
              <a:lnSpc>
                <a:spcPct val="100000"/>
              </a:lnSpc>
              <a:spcBef>
                <a:spcPts val="35"/>
              </a:spcBef>
            </a:pPr>
            <a:endParaRPr sz="3100"/>
          </a:p>
          <a:p>
            <a:pPr marL="224154" marR="5080" indent="-172720">
              <a:lnSpc>
                <a:spcPct val="100000"/>
              </a:lnSpc>
            </a:pPr>
            <a:r>
              <a:rPr sz="1500" spc="65" dirty="0">
                <a:solidFill>
                  <a:srgbClr val="0033CC"/>
                </a:solidFill>
                <a:latin typeface="Georgia"/>
                <a:cs typeface="Georgia"/>
              </a:rPr>
              <a:t>□</a:t>
            </a:r>
            <a:r>
              <a:rPr spc="65" dirty="0">
                <a:solidFill>
                  <a:srgbClr val="0000CC"/>
                </a:solidFill>
              </a:rPr>
              <a:t>Postfix </a:t>
            </a:r>
            <a:r>
              <a:rPr spc="-10" dirty="0">
                <a:solidFill>
                  <a:srgbClr val="0000CC"/>
                </a:solidFill>
              </a:rPr>
              <a:t>expression</a:t>
            </a:r>
            <a:r>
              <a:rPr spc="-10" dirty="0"/>
              <a:t>: </a:t>
            </a:r>
            <a:r>
              <a:rPr spc="-5" dirty="0"/>
              <a:t>The </a:t>
            </a:r>
            <a:r>
              <a:rPr spc="-10" dirty="0"/>
              <a:t>expression </a:t>
            </a:r>
            <a:r>
              <a:rPr dirty="0"/>
              <a:t>of </a:t>
            </a:r>
            <a:r>
              <a:rPr spc="-5" dirty="0"/>
              <a:t>the </a:t>
            </a:r>
            <a:r>
              <a:rPr spc="-10" dirty="0"/>
              <a:t>form </a:t>
            </a:r>
            <a:r>
              <a:rPr dirty="0">
                <a:solidFill>
                  <a:srgbClr val="216721"/>
                </a:solidFill>
              </a:rPr>
              <a:t>a b </a:t>
            </a:r>
            <a:r>
              <a:rPr spc="-5" dirty="0">
                <a:solidFill>
                  <a:srgbClr val="216721"/>
                </a:solidFill>
              </a:rPr>
              <a:t>op</a:t>
            </a:r>
            <a:r>
              <a:rPr spc="-5" dirty="0"/>
              <a:t>. When an</a:t>
            </a:r>
            <a:r>
              <a:rPr dirty="0"/>
              <a:t> </a:t>
            </a:r>
            <a:r>
              <a:rPr spc="-10" dirty="0"/>
              <a:t>operator </a:t>
            </a:r>
            <a:r>
              <a:rPr spc="-5" dirty="0"/>
              <a:t>is </a:t>
            </a:r>
            <a:r>
              <a:rPr spc="-10" dirty="0"/>
              <a:t>followed </a:t>
            </a:r>
            <a:r>
              <a:rPr spc="-5" dirty="0"/>
              <a:t>for </a:t>
            </a:r>
            <a:r>
              <a:rPr spc="-10" dirty="0"/>
              <a:t>every </a:t>
            </a:r>
            <a:r>
              <a:rPr spc="-484" dirty="0"/>
              <a:t> </a:t>
            </a:r>
            <a:r>
              <a:rPr spc="-10" dirty="0"/>
              <a:t>pair</a:t>
            </a:r>
            <a:r>
              <a:rPr spc="-20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-10" dirty="0"/>
              <a:t>operands.</a:t>
            </a:r>
            <a:endParaRPr sz="1500">
              <a:latin typeface="Georgia"/>
              <a:cs typeface="Georgia"/>
            </a:endParaRPr>
          </a:p>
          <a:p>
            <a:pPr marL="280670">
              <a:lnSpc>
                <a:spcPct val="100000"/>
              </a:lnSpc>
              <a:spcBef>
                <a:spcPts val="290"/>
              </a:spcBef>
            </a:pPr>
            <a:r>
              <a:rPr spc="80" dirty="0">
                <a:solidFill>
                  <a:srgbClr val="CC0000"/>
                </a:solidFill>
                <a:latin typeface="Georgia"/>
                <a:cs typeface="Georgia"/>
              </a:rPr>
              <a:t>□</a:t>
            </a:r>
            <a:r>
              <a:rPr spc="80" dirty="0">
                <a:solidFill>
                  <a:srgbClr val="CC0000"/>
                </a:solidFill>
              </a:rPr>
              <a:t>Example</a:t>
            </a:r>
            <a:r>
              <a:rPr spc="80" dirty="0"/>
              <a:t>:</a:t>
            </a:r>
            <a:r>
              <a:rPr spc="-45" dirty="0"/>
              <a:t> </a:t>
            </a:r>
            <a:r>
              <a:rPr dirty="0">
                <a:solidFill>
                  <a:srgbClr val="216721"/>
                </a:solidFill>
              </a:rPr>
              <a:t>5</a:t>
            </a:r>
            <a:r>
              <a:rPr spc="-25" dirty="0">
                <a:solidFill>
                  <a:srgbClr val="216721"/>
                </a:solidFill>
              </a:rPr>
              <a:t> </a:t>
            </a:r>
            <a:r>
              <a:rPr dirty="0">
                <a:solidFill>
                  <a:srgbClr val="216721"/>
                </a:solidFill>
              </a:rPr>
              <a:t>8</a:t>
            </a:r>
            <a:r>
              <a:rPr spc="-45" dirty="0">
                <a:solidFill>
                  <a:srgbClr val="216721"/>
                </a:solidFill>
              </a:rPr>
              <a:t> </a:t>
            </a:r>
            <a:r>
              <a:rPr dirty="0">
                <a:solidFill>
                  <a:srgbClr val="216721"/>
                </a:solidFill>
              </a:rPr>
              <a:t>+</a:t>
            </a:r>
          </a:p>
          <a:p>
            <a:pPr marL="52069">
              <a:lnSpc>
                <a:spcPct val="100000"/>
              </a:lnSpc>
              <a:spcBef>
                <a:spcPts val="910"/>
              </a:spcBef>
            </a:pPr>
            <a:r>
              <a:rPr sz="1500" spc="145" dirty="0">
                <a:solidFill>
                  <a:srgbClr val="0033CC"/>
                </a:solidFill>
                <a:latin typeface="Georgia"/>
                <a:cs typeface="Georgia"/>
              </a:rPr>
              <a:t>□</a:t>
            </a:r>
            <a:r>
              <a:rPr spc="145" dirty="0">
                <a:solidFill>
                  <a:srgbClr val="0000CC"/>
                </a:solidFill>
              </a:rPr>
              <a:t>Why</a:t>
            </a:r>
            <a:r>
              <a:rPr dirty="0">
                <a:solidFill>
                  <a:srgbClr val="0000CC"/>
                </a:solidFill>
              </a:rPr>
              <a:t> </a:t>
            </a:r>
            <a:r>
              <a:rPr spc="-10" dirty="0">
                <a:solidFill>
                  <a:srgbClr val="0000CC"/>
                </a:solidFill>
              </a:rPr>
              <a:t>postfix representation</a:t>
            </a:r>
            <a:r>
              <a:rPr spc="-15" dirty="0">
                <a:solidFill>
                  <a:srgbClr val="0000CC"/>
                </a:solidFill>
              </a:rPr>
              <a:t> </a:t>
            </a:r>
            <a:r>
              <a:rPr dirty="0">
                <a:solidFill>
                  <a:srgbClr val="0000CC"/>
                </a:solidFill>
              </a:rPr>
              <a:t>of</a:t>
            </a:r>
            <a:r>
              <a:rPr spc="-5" dirty="0">
                <a:solidFill>
                  <a:srgbClr val="0000CC"/>
                </a:solidFill>
              </a:rPr>
              <a:t> the</a:t>
            </a:r>
            <a:r>
              <a:rPr spc="-10" dirty="0">
                <a:solidFill>
                  <a:srgbClr val="0000CC"/>
                </a:solidFill>
              </a:rPr>
              <a:t> </a:t>
            </a:r>
            <a:r>
              <a:rPr spc="-15" dirty="0">
                <a:solidFill>
                  <a:srgbClr val="0000CC"/>
                </a:solidFill>
              </a:rPr>
              <a:t>expression?</a:t>
            </a:r>
            <a:endParaRPr sz="1500">
              <a:latin typeface="Georgia"/>
              <a:cs typeface="Georgia"/>
            </a:endParaRPr>
          </a:p>
          <a:p>
            <a:pPr marL="396875" marR="262255" indent="-170815">
              <a:lnSpc>
                <a:spcPct val="100000"/>
              </a:lnSpc>
              <a:spcBef>
                <a:spcPts val="290"/>
              </a:spcBef>
            </a:pPr>
            <a:r>
              <a:rPr spc="125" dirty="0">
                <a:solidFill>
                  <a:srgbClr val="BF0000"/>
                </a:solidFill>
                <a:latin typeface="Georgia"/>
                <a:cs typeface="Georgia"/>
              </a:rPr>
              <a:t>□</a:t>
            </a:r>
            <a:r>
              <a:rPr spc="125" dirty="0"/>
              <a:t>Infix </a:t>
            </a:r>
            <a:r>
              <a:rPr spc="-5" dirty="0"/>
              <a:t>expressions are readable and solvable </a:t>
            </a:r>
            <a:r>
              <a:rPr dirty="0"/>
              <a:t>by </a:t>
            </a:r>
            <a:r>
              <a:rPr spc="-10" dirty="0"/>
              <a:t>humans. </a:t>
            </a:r>
            <a:r>
              <a:rPr spc="-80" dirty="0"/>
              <a:t>We </a:t>
            </a:r>
            <a:r>
              <a:rPr spc="-5" dirty="0"/>
              <a:t>can</a:t>
            </a:r>
            <a:r>
              <a:rPr dirty="0"/>
              <a:t> </a:t>
            </a:r>
            <a:r>
              <a:rPr spc="-10" dirty="0"/>
              <a:t>easily </a:t>
            </a:r>
            <a:r>
              <a:rPr spc="-5" dirty="0"/>
              <a:t>distinguish </a:t>
            </a:r>
            <a:r>
              <a:rPr dirty="0"/>
              <a:t>the </a:t>
            </a:r>
            <a:r>
              <a:rPr spc="5" dirty="0"/>
              <a:t> </a:t>
            </a:r>
            <a:r>
              <a:rPr spc="-5" dirty="0">
                <a:solidFill>
                  <a:srgbClr val="006600"/>
                </a:solidFill>
              </a:rPr>
              <a:t>precedence </a:t>
            </a:r>
            <a:r>
              <a:rPr dirty="0">
                <a:solidFill>
                  <a:srgbClr val="006600"/>
                </a:solidFill>
              </a:rPr>
              <a:t>of </a:t>
            </a:r>
            <a:r>
              <a:rPr spc="-5" dirty="0">
                <a:solidFill>
                  <a:srgbClr val="006600"/>
                </a:solidFill>
              </a:rPr>
              <a:t>operators</a:t>
            </a:r>
            <a:r>
              <a:rPr spc="-5" dirty="0"/>
              <a:t>,</a:t>
            </a:r>
            <a:r>
              <a:rPr spc="5" dirty="0"/>
              <a:t> </a:t>
            </a:r>
            <a:r>
              <a:rPr spc="-10" dirty="0">
                <a:solidFill>
                  <a:srgbClr val="006600"/>
                </a:solidFill>
              </a:rPr>
              <a:t>associativity</a:t>
            </a:r>
            <a:r>
              <a:rPr dirty="0">
                <a:solidFill>
                  <a:srgbClr val="006600"/>
                </a:solidFill>
              </a:rPr>
              <a:t> of</a:t>
            </a:r>
            <a:r>
              <a:rPr spc="5" dirty="0">
                <a:solidFill>
                  <a:srgbClr val="006600"/>
                </a:solidFill>
              </a:rPr>
              <a:t> </a:t>
            </a:r>
            <a:r>
              <a:rPr spc="-5" dirty="0">
                <a:solidFill>
                  <a:srgbClr val="006600"/>
                </a:solidFill>
              </a:rPr>
              <a:t>operators</a:t>
            </a:r>
            <a:r>
              <a:rPr spc="-5" dirty="0"/>
              <a:t>,</a:t>
            </a:r>
            <a:r>
              <a:rPr spc="5" dirty="0"/>
              <a:t> </a:t>
            </a:r>
            <a:r>
              <a:rPr spc="-5" dirty="0"/>
              <a:t>and</a:t>
            </a:r>
            <a:r>
              <a:rPr spc="5" dirty="0"/>
              <a:t> </a:t>
            </a:r>
            <a:r>
              <a:rPr spc="-5" dirty="0"/>
              <a:t>also</a:t>
            </a:r>
            <a:r>
              <a:rPr dirty="0"/>
              <a:t> </a:t>
            </a:r>
            <a:r>
              <a:rPr spc="-5" dirty="0"/>
              <a:t>know</a:t>
            </a:r>
            <a:r>
              <a:rPr dirty="0"/>
              <a:t> </a:t>
            </a:r>
            <a:r>
              <a:rPr spc="-5" dirty="0"/>
              <a:t>the</a:t>
            </a:r>
            <a:r>
              <a:rPr dirty="0"/>
              <a:t> </a:t>
            </a:r>
            <a:r>
              <a:rPr spc="-5" dirty="0">
                <a:solidFill>
                  <a:srgbClr val="006600"/>
                </a:solidFill>
              </a:rPr>
              <a:t>uses </a:t>
            </a:r>
            <a:r>
              <a:rPr dirty="0">
                <a:solidFill>
                  <a:srgbClr val="006600"/>
                </a:solidFill>
              </a:rPr>
              <a:t>of</a:t>
            </a:r>
            <a:r>
              <a:rPr spc="-100" dirty="0">
                <a:solidFill>
                  <a:srgbClr val="006600"/>
                </a:solidFill>
              </a:rPr>
              <a:t> </a:t>
            </a:r>
            <a:r>
              <a:rPr spc="-5" dirty="0">
                <a:solidFill>
                  <a:srgbClr val="006600"/>
                </a:solidFill>
              </a:rPr>
              <a:t>parenthesis</a:t>
            </a:r>
            <a:r>
              <a:rPr spc="-5" dirty="0"/>
              <a:t>.</a:t>
            </a:r>
          </a:p>
          <a:p>
            <a:pPr marL="396875" marR="238125" indent="-170815">
              <a:lnSpc>
                <a:spcPct val="100000"/>
              </a:lnSpc>
              <a:spcBef>
                <a:spcPts val="310"/>
              </a:spcBef>
            </a:pPr>
            <a:r>
              <a:rPr spc="195" dirty="0">
                <a:solidFill>
                  <a:srgbClr val="BF0000"/>
                </a:solidFill>
                <a:latin typeface="Georgia"/>
                <a:cs typeface="Georgia"/>
              </a:rPr>
              <a:t>□</a:t>
            </a:r>
            <a:r>
              <a:rPr spc="195" dirty="0"/>
              <a:t>The</a:t>
            </a:r>
            <a:r>
              <a:rPr spc="10" dirty="0"/>
              <a:t> </a:t>
            </a:r>
            <a:r>
              <a:rPr spc="-5" dirty="0"/>
              <a:t>computer</a:t>
            </a:r>
            <a:r>
              <a:rPr dirty="0"/>
              <a:t> </a:t>
            </a:r>
            <a:r>
              <a:rPr spc="-5" dirty="0"/>
              <a:t>cannot </a:t>
            </a:r>
            <a:r>
              <a:rPr spc="-10" dirty="0"/>
              <a:t>differentiate</a:t>
            </a:r>
            <a:r>
              <a:rPr spc="-5" dirty="0"/>
              <a:t> the</a:t>
            </a:r>
            <a:r>
              <a:rPr dirty="0"/>
              <a:t> </a:t>
            </a:r>
            <a:r>
              <a:rPr spc="-5" dirty="0"/>
              <a:t>operators</a:t>
            </a:r>
            <a:r>
              <a:rPr dirty="0"/>
              <a:t> </a:t>
            </a:r>
            <a:r>
              <a:rPr spc="-5" dirty="0"/>
              <a:t>and</a:t>
            </a:r>
            <a:r>
              <a:rPr spc="-145" dirty="0"/>
              <a:t> </a:t>
            </a:r>
            <a:r>
              <a:rPr spc="-5" dirty="0"/>
              <a:t>parenthesis</a:t>
            </a:r>
            <a:r>
              <a:rPr spc="15" dirty="0"/>
              <a:t> </a:t>
            </a:r>
            <a:r>
              <a:rPr spc="-25" dirty="0"/>
              <a:t>easily,</a:t>
            </a:r>
            <a:r>
              <a:rPr spc="5" dirty="0"/>
              <a:t> </a:t>
            </a:r>
            <a:r>
              <a:rPr spc="-25" dirty="0"/>
              <a:t>that’s</a:t>
            </a:r>
            <a:r>
              <a:rPr dirty="0"/>
              <a:t> why </a:t>
            </a:r>
            <a:r>
              <a:rPr spc="-5" dirty="0"/>
              <a:t>postfix </a:t>
            </a:r>
            <a:r>
              <a:rPr spc="-484" dirty="0"/>
              <a:t> </a:t>
            </a:r>
            <a:r>
              <a:rPr spc="-5" dirty="0"/>
              <a:t>conversion is</a:t>
            </a:r>
            <a:r>
              <a:rPr spc="-145" dirty="0"/>
              <a:t> </a:t>
            </a:r>
            <a:r>
              <a:rPr spc="-5" dirty="0"/>
              <a:t>needed.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79195"/>
            <a:ext cx="48863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" dirty="0"/>
              <a:t>Mathematical</a:t>
            </a:r>
            <a:r>
              <a:rPr sz="3600" spc="-45" dirty="0"/>
              <a:t> </a:t>
            </a:r>
            <a:r>
              <a:rPr sz="3600" spc="-5" dirty="0"/>
              <a:t>Calculations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929005" y="1845564"/>
            <a:ext cx="657669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135" dirty="0">
                <a:solidFill>
                  <a:srgbClr val="0033CC"/>
                </a:solidFill>
                <a:latin typeface="Georgia"/>
                <a:cs typeface="Georgia"/>
              </a:rPr>
              <a:t>□</a:t>
            </a:r>
            <a:r>
              <a:rPr sz="2000" spc="135" dirty="0">
                <a:latin typeface="Times New Roman"/>
                <a:cs typeface="Times New Roman"/>
              </a:rPr>
              <a:t>The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spc="-15" dirty="0">
                <a:latin typeface="Times New Roman"/>
                <a:cs typeface="Times New Roman"/>
              </a:rPr>
              <a:t>way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we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usually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write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30" dirty="0">
                <a:latin typeface="Times New Roman"/>
                <a:cs typeface="Times New Roman"/>
              </a:rPr>
              <a:t>expressions</a:t>
            </a:r>
            <a:r>
              <a:rPr sz="2000" spc="-85" dirty="0">
                <a:latin typeface="Times New Roman"/>
                <a:cs typeface="Times New Roman"/>
              </a:rPr>
              <a:t> </a:t>
            </a:r>
            <a:r>
              <a:rPr sz="2000" spc="-15" dirty="0">
                <a:latin typeface="Times New Roman"/>
                <a:cs typeface="Times New Roman"/>
              </a:rPr>
              <a:t>is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known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as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infix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spc="-30" dirty="0">
                <a:latin typeface="Times New Roman"/>
                <a:cs typeface="Times New Roman"/>
              </a:rPr>
              <a:t>notation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29005" y="2342388"/>
            <a:ext cx="2981325" cy="824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114" dirty="0">
                <a:solidFill>
                  <a:srgbClr val="0033CC"/>
                </a:solidFill>
                <a:latin typeface="Georgia"/>
                <a:cs typeface="Georgia"/>
              </a:rPr>
              <a:t>□</a:t>
            </a:r>
            <a:r>
              <a:rPr sz="2000" spc="114" dirty="0">
                <a:latin typeface="Times New Roman"/>
                <a:cs typeface="Times New Roman"/>
              </a:rPr>
              <a:t>What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does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16721"/>
                </a:solidFill>
                <a:latin typeface="Times New Roman"/>
                <a:cs typeface="Times New Roman"/>
              </a:rPr>
              <a:t>3</a:t>
            </a:r>
            <a:r>
              <a:rPr sz="2000" spc="-10" dirty="0">
                <a:solidFill>
                  <a:srgbClr val="216721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16721"/>
                </a:solidFill>
                <a:latin typeface="Times New Roman"/>
                <a:cs typeface="Times New Roman"/>
              </a:rPr>
              <a:t>+</a:t>
            </a:r>
            <a:r>
              <a:rPr sz="2000" spc="-20" dirty="0">
                <a:solidFill>
                  <a:srgbClr val="216721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16721"/>
                </a:solidFill>
                <a:latin typeface="Times New Roman"/>
                <a:cs typeface="Times New Roman"/>
              </a:rPr>
              <a:t>2</a:t>
            </a:r>
            <a:r>
              <a:rPr sz="2000" spc="-10" dirty="0">
                <a:solidFill>
                  <a:srgbClr val="216721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16721"/>
                </a:solidFill>
                <a:latin typeface="Times New Roman"/>
                <a:cs typeface="Times New Roman"/>
              </a:rPr>
              <a:t>*</a:t>
            </a:r>
            <a:r>
              <a:rPr sz="2000" spc="-10" dirty="0">
                <a:solidFill>
                  <a:srgbClr val="216721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16721"/>
                </a:solidFill>
                <a:latin typeface="Times New Roman"/>
                <a:cs typeface="Times New Roman"/>
              </a:rPr>
              <a:t>6</a:t>
            </a:r>
            <a:r>
              <a:rPr sz="2000" spc="-15" dirty="0">
                <a:solidFill>
                  <a:srgbClr val="216721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equal?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85"/>
              </a:spcBef>
            </a:pPr>
            <a:r>
              <a:rPr sz="1500" spc="114" dirty="0">
                <a:solidFill>
                  <a:srgbClr val="0033CC"/>
                </a:solidFill>
                <a:latin typeface="Georgia"/>
                <a:cs typeface="Georgia"/>
              </a:rPr>
              <a:t>□</a:t>
            </a:r>
            <a:r>
              <a:rPr sz="2000" spc="114" dirty="0">
                <a:latin typeface="Times New Roman"/>
                <a:cs typeface="Times New Roman"/>
              </a:rPr>
              <a:t>What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does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16721"/>
                </a:solidFill>
                <a:latin typeface="Times New Roman"/>
                <a:cs typeface="Times New Roman"/>
              </a:rPr>
              <a:t>3</a:t>
            </a:r>
            <a:r>
              <a:rPr sz="2000" spc="-10" dirty="0">
                <a:solidFill>
                  <a:srgbClr val="216721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16721"/>
                </a:solidFill>
                <a:latin typeface="Times New Roman"/>
                <a:cs typeface="Times New Roman"/>
              </a:rPr>
              <a:t>*</a:t>
            </a:r>
            <a:r>
              <a:rPr sz="2000" spc="-15" dirty="0">
                <a:solidFill>
                  <a:srgbClr val="216721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16721"/>
                </a:solidFill>
                <a:latin typeface="Times New Roman"/>
                <a:cs typeface="Times New Roman"/>
              </a:rPr>
              <a:t>2</a:t>
            </a:r>
            <a:r>
              <a:rPr sz="2000" spc="-10" dirty="0">
                <a:solidFill>
                  <a:srgbClr val="216721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16721"/>
                </a:solidFill>
                <a:latin typeface="Times New Roman"/>
                <a:cs typeface="Times New Roman"/>
              </a:rPr>
              <a:t>+</a:t>
            </a:r>
            <a:r>
              <a:rPr sz="2000" spc="-15" dirty="0">
                <a:solidFill>
                  <a:srgbClr val="216721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16721"/>
                </a:solidFill>
                <a:latin typeface="Times New Roman"/>
                <a:cs typeface="Times New Roman"/>
              </a:rPr>
              <a:t>6</a:t>
            </a:r>
            <a:r>
              <a:rPr sz="2000" spc="-15" dirty="0">
                <a:solidFill>
                  <a:srgbClr val="216721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equal?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58856" y="2342388"/>
            <a:ext cx="814069" cy="824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0000CC"/>
                </a:solidFill>
                <a:latin typeface="Times New Roman"/>
                <a:cs typeface="Times New Roman"/>
              </a:rPr>
              <a:t>A</a:t>
            </a:r>
            <a:r>
              <a:rPr sz="2000" spc="-10" dirty="0">
                <a:solidFill>
                  <a:srgbClr val="0000CC"/>
                </a:solidFill>
                <a:latin typeface="Times New Roman"/>
                <a:cs typeface="Times New Roman"/>
              </a:rPr>
              <a:t>ns</a:t>
            </a:r>
            <a:r>
              <a:rPr sz="2000" dirty="0">
                <a:solidFill>
                  <a:srgbClr val="0000CC"/>
                </a:solidFill>
                <a:latin typeface="Times New Roman"/>
                <a:cs typeface="Times New Roman"/>
              </a:rPr>
              <a:t>:</a:t>
            </a:r>
            <a:r>
              <a:rPr sz="2000" spc="-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CC"/>
                </a:solidFill>
                <a:latin typeface="Times New Roman"/>
                <a:cs typeface="Times New Roman"/>
              </a:rPr>
              <a:t>15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85"/>
              </a:spcBef>
            </a:pPr>
            <a:r>
              <a:rPr sz="2000" dirty="0">
                <a:solidFill>
                  <a:srgbClr val="0000CC"/>
                </a:solidFill>
                <a:latin typeface="Times New Roman"/>
                <a:cs typeface="Times New Roman"/>
              </a:rPr>
              <a:t>A</a:t>
            </a:r>
            <a:r>
              <a:rPr sz="2000" spc="-10" dirty="0">
                <a:solidFill>
                  <a:srgbClr val="0000CC"/>
                </a:solidFill>
                <a:latin typeface="Times New Roman"/>
                <a:cs typeface="Times New Roman"/>
              </a:rPr>
              <a:t>ns</a:t>
            </a:r>
            <a:r>
              <a:rPr sz="2000" dirty="0">
                <a:solidFill>
                  <a:srgbClr val="0000CC"/>
                </a:solidFill>
                <a:latin typeface="Times New Roman"/>
                <a:cs typeface="Times New Roman"/>
              </a:rPr>
              <a:t>:</a:t>
            </a:r>
            <a:r>
              <a:rPr sz="2000" spc="-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CC"/>
                </a:solidFill>
                <a:latin typeface="Times New Roman"/>
                <a:cs typeface="Times New Roman"/>
              </a:rPr>
              <a:t>12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29005" y="3140964"/>
            <a:ext cx="6816725" cy="116840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1500" spc="140" dirty="0">
                <a:solidFill>
                  <a:srgbClr val="0033CC"/>
                </a:solidFill>
                <a:latin typeface="Georgia"/>
                <a:cs typeface="Georgia"/>
              </a:rPr>
              <a:t>□</a:t>
            </a:r>
            <a:r>
              <a:rPr sz="2000" spc="14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precedence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operators </a:t>
            </a:r>
            <a:r>
              <a:rPr sz="2000" spc="-15" dirty="0">
                <a:latin typeface="Times New Roman"/>
                <a:cs typeface="Times New Roman"/>
              </a:rPr>
              <a:t>affects </a:t>
            </a:r>
            <a:r>
              <a:rPr sz="2000" spc="-5" dirty="0">
                <a:latin typeface="Times New Roman"/>
                <a:cs typeface="Times New Roman"/>
              </a:rPr>
              <a:t>the order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operations.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500" spc="295" dirty="0">
                <a:solidFill>
                  <a:srgbClr val="0033CC"/>
                </a:solidFill>
                <a:latin typeface="Georgia"/>
                <a:cs typeface="Georgia"/>
              </a:rPr>
              <a:t>□</a:t>
            </a:r>
            <a:r>
              <a:rPr sz="2000" spc="295" dirty="0">
                <a:latin typeface="Times New Roman"/>
                <a:cs typeface="Times New Roman"/>
              </a:rPr>
              <a:t>A</a:t>
            </a:r>
            <a:r>
              <a:rPr sz="2000" spc="-165" dirty="0">
                <a:latin typeface="Times New Roman"/>
                <a:cs typeface="Times New Roman"/>
              </a:rPr>
              <a:t> </a:t>
            </a:r>
            <a:r>
              <a:rPr sz="2000" spc="-30" dirty="0">
                <a:latin typeface="Times New Roman"/>
                <a:cs typeface="Times New Roman"/>
              </a:rPr>
              <a:t>mathematical</a:t>
            </a:r>
            <a:r>
              <a:rPr sz="2000" spc="-105" dirty="0">
                <a:latin typeface="Times New Roman"/>
                <a:cs typeface="Times New Roman"/>
              </a:rPr>
              <a:t> </a:t>
            </a:r>
            <a:r>
              <a:rPr sz="2000" spc="-30" dirty="0">
                <a:latin typeface="Times New Roman"/>
                <a:cs typeface="Times New Roman"/>
              </a:rPr>
              <a:t>expression</a:t>
            </a:r>
            <a:r>
              <a:rPr sz="2000" spc="-8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cannot</a:t>
            </a:r>
            <a:r>
              <a:rPr sz="2000" spc="-95" dirty="0">
                <a:latin typeface="Times New Roman"/>
                <a:cs typeface="Times New Roman"/>
              </a:rPr>
              <a:t> </a:t>
            </a:r>
            <a:r>
              <a:rPr sz="2000" spc="-30" dirty="0">
                <a:latin typeface="Times New Roman"/>
                <a:cs typeface="Times New Roman"/>
              </a:rPr>
              <a:t>simply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be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spc="-30" dirty="0">
                <a:latin typeface="Times New Roman"/>
                <a:cs typeface="Times New Roman"/>
              </a:rPr>
              <a:t>evaluated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left</a:t>
            </a:r>
            <a:r>
              <a:rPr sz="2000" spc="-85" dirty="0">
                <a:latin typeface="Times New Roman"/>
                <a:cs typeface="Times New Roman"/>
              </a:rPr>
              <a:t> </a:t>
            </a:r>
            <a:r>
              <a:rPr sz="2000" spc="-15" dirty="0">
                <a:latin typeface="Times New Roman"/>
                <a:cs typeface="Times New Roman"/>
              </a:rPr>
              <a:t>to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right.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500" spc="65" dirty="0">
                <a:solidFill>
                  <a:srgbClr val="0033CC"/>
                </a:solidFill>
                <a:latin typeface="Georgia"/>
                <a:cs typeface="Georgia"/>
              </a:rPr>
              <a:t>□</a:t>
            </a:r>
            <a:r>
              <a:rPr sz="2000" spc="65" dirty="0">
                <a:latin typeface="Times New Roman"/>
                <a:cs typeface="Times New Roman"/>
              </a:rPr>
              <a:t>Postfix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expression </a:t>
            </a:r>
            <a:r>
              <a:rPr sz="2000" spc="-5" dirty="0">
                <a:latin typeface="Times New Roman"/>
                <a:cs typeface="Times New Roman"/>
              </a:rPr>
              <a:t>does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not</a:t>
            </a:r>
            <a:r>
              <a:rPr sz="2000" spc="-10" dirty="0">
                <a:latin typeface="Times New Roman"/>
                <a:cs typeface="Times New Roman"/>
              </a:rPr>
              <a:t> require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any</a:t>
            </a:r>
            <a:r>
              <a:rPr sz="2000" spc="-10" dirty="0">
                <a:latin typeface="Times New Roman"/>
                <a:cs typeface="Times New Roman"/>
              </a:rPr>
              <a:t> precedence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rules.</a:t>
            </a:r>
            <a:endParaRPr sz="2000">
              <a:latin typeface="Times New Roman"/>
              <a:cs typeface="Times New Roman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4125786" y="4459517"/>
          <a:ext cx="3932554" cy="171744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44600"/>
                <a:gridCol w="1343660"/>
                <a:gridCol w="1344294"/>
              </a:tblGrid>
              <a:tr h="34348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1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Operator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Precedence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1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Associativity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solidFill>
                      <a:srgbClr val="4472C4"/>
                    </a:solidFill>
                  </a:tcPr>
                </a:tc>
              </a:tr>
              <a:tr h="34348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(</a:t>
                      </a:r>
                      <a:r>
                        <a:rPr sz="1100" spc="204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83185" marB="0">
                    <a:lnL w="9525">
                      <a:solidFill>
                        <a:srgbClr val="4472C4"/>
                      </a:solidFill>
                      <a:prstDash val="solid"/>
                    </a:lnL>
                    <a:lnR w="9525">
                      <a:solidFill>
                        <a:srgbClr val="4472C4"/>
                      </a:solidFill>
                      <a:prstDash val="solid"/>
                    </a:lnR>
                    <a:lnB w="9525">
                      <a:solidFill>
                        <a:srgbClr val="4472C4"/>
                      </a:solidFill>
                      <a:prstDash val="soli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83185" marB="0">
                    <a:lnL w="9525">
                      <a:solidFill>
                        <a:srgbClr val="4472C4"/>
                      </a:solidFill>
                      <a:prstDash val="solid"/>
                    </a:lnL>
                    <a:lnR w="9525">
                      <a:solidFill>
                        <a:srgbClr val="4472C4"/>
                      </a:solidFill>
                      <a:prstDash val="solid"/>
                    </a:lnR>
                    <a:lnB w="9525">
                      <a:solidFill>
                        <a:srgbClr val="4472C4"/>
                      </a:solidFill>
                      <a:prstDash val="soli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L 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t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o</a:t>
                      </a:r>
                      <a:r>
                        <a:rPr sz="11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R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83185" marB="0">
                    <a:lnL w="9525">
                      <a:solidFill>
                        <a:srgbClr val="4472C4"/>
                      </a:solidFill>
                      <a:prstDash val="solid"/>
                    </a:lnL>
                    <a:lnR w="9525">
                      <a:solidFill>
                        <a:srgbClr val="4472C4"/>
                      </a:solidFill>
                      <a:prstDash val="solid"/>
                    </a:lnR>
                    <a:lnB w="9525">
                      <a:solidFill>
                        <a:srgbClr val="4472C4"/>
                      </a:solidFill>
                      <a:prstDash val="solid"/>
                    </a:lnB>
                    <a:solidFill>
                      <a:srgbClr val="B4C6E7"/>
                    </a:solidFill>
                  </a:tcPr>
                </a:tc>
              </a:tr>
              <a:tr h="34348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^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84455" marB="0">
                    <a:lnL w="9525">
                      <a:solidFill>
                        <a:srgbClr val="4472C4"/>
                      </a:solidFill>
                      <a:prstDash val="solid"/>
                    </a:lnL>
                    <a:lnR w="9525">
                      <a:solidFill>
                        <a:srgbClr val="4472C4"/>
                      </a:solidFill>
                      <a:prstDash val="solid"/>
                    </a:lnR>
                    <a:lnT w="9525">
                      <a:solidFill>
                        <a:srgbClr val="4472C4"/>
                      </a:solidFill>
                      <a:prstDash val="solid"/>
                    </a:lnT>
                    <a:lnB w="9525">
                      <a:solidFill>
                        <a:srgbClr val="4472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84455" marB="0">
                    <a:lnL w="9525">
                      <a:solidFill>
                        <a:srgbClr val="4472C4"/>
                      </a:solidFill>
                      <a:prstDash val="solid"/>
                    </a:lnL>
                    <a:lnR w="9525">
                      <a:solidFill>
                        <a:srgbClr val="4472C4"/>
                      </a:solidFill>
                      <a:prstDash val="solid"/>
                    </a:lnR>
                    <a:lnT w="9525">
                      <a:solidFill>
                        <a:srgbClr val="4472C4"/>
                      </a:solidFill>
                      <a:prstDash val="solid"/>
                    </a:lnT>
                    <a:lnB w="9525">
                      <a:solidFill>
                        <a:srgbClr val="4472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sz="11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R </a:t>
                      </a:r>
                      <a:r>
                        <a:rPr sz="1100" spc="-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t</a:t>
                      </a:r>
                      <a:r>
                        <a:rPr sz="11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o</a:t>
                      </a:r>
                      <a:r>
                        <a:rPr sz="1100" spc="-4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L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84455" marB="0">
                    <a:lnL w="9525">
                      <a:solidFill>
                        <a:srgbClr val="4472C4"/>
                      </a:solidFill>
                      <a:prstDash val="solid"/>
                    </a:lnL>
                    <a:lnR w="9525">
                      <a:solidFill>
                        <a:srgbClr val="4472C4"/>
                      </a:solidFill>
                      <a:prstDash val="solid"/>
                    </a:lnR>
                    <a:lnT w="9525">
                      <a:solidFill>
                        <a:srgbClr val="4472C4"/>
                      </a:solidFill>
                      <a:prstDash val="solid"/>
                    </a:lnT>
                    <a:lnB w="9525">
                      <a:solidFill>
                        <a:srgbClr val="4472C4"/>
                      </a:solidFill>
                      <a:prstDash val="solid"/>
                    </a:lnB>
                  </a:tcPr>
                </a:tc>
              </a:tr>
              <a:tr h="34348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*,</a:t>
                      </a:r>
                      <a:r>
                        <a:rPr sz="11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/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85090" marB="0">
                    <a:lnL w="9525">
                      <a:solidFill>
                        <a:srgbClr val="4472C4"/>
                      </a:solidFill>
                      <a:prstDash val="solid"/>
                    </a:lnL>
                    <a:lnR w="9525">
                      <a:solidFill>
                        <a:srgbClr val="4472C4"/>
                      </a:solidFill>
                      <a:prstDash val="solid"/>
                    </a:lnR>
                    <a:lnT w="9525">
                      <a:solidFill>
                        <a:srgbClr val="4472C4"/>
                      </a:solidFill>
                      <a:prstDash val="solid"/>
                    </a:lnT>
                    <a:lnB w="9525">
                      <a:solidFill>
                        <a:srgbClr val="4472C4"/>
                      </a:solidFill>
                      <a:prstDash val="soli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85090" marB="0">
                    <a:lnL w="9525">
                      <a:solidFill>
                        <a:srgbClr val="4472C4"/>
                      </a:solidFill>
                      <a:prstDash val="solid"/>
                    </a:lnL>
                    <a:lnR w="9525">
                      <a:solidFill>
                        <a:srgbClr val="4472C4"/>
                      </a:solidFill>
                      <a:prstDash val="solid"/>
                    </a:lnR>
                    <a:lnT w="9525">
                      <a:solidFill>
                        <a:srgbClr val="4472C4"/>
                      </a:solidFill>
                      <a:prstDash val="solid"/>
                    </a:lnT>
                    <a:lnB w="9525">
                      <a:solidFill>
                        <a:srgbClr val="4472C4"/>
                      </a:solidFill>
                      <a:prstDash val="soli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L 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t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o</a:t>
                      </a:r>
                      <a:r>
                        <a:rPr sz="11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R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85090" marB="0">
                    <a:lnL w="9525">
                      <a:solidFill>
                        <a:srgbClr val="4472C4"/>
                      </a:solidFill>
                      <a:prstDash val="solid"/>
                    </a:lnL>
                    <a:lnR w="9525">
                      <a:solidFill>
                        <a:srgbClr val="4472C4"/>
                      </a:solidFill>
                      <a:prstDash val="solid"/>
                    </a:lnR>
                    <a:lnT w="9525">
                      <a:solidFill>
                        <a:srgbClr val="4472C4"/>
                      </a:solidFill>
                      <a:prstDash val="solid"/>
                    </a:lnT>
                    <a:lnB w="9525">
                      <a:solidFill>
                        <a:srgbClr val="4472C4"/>
                      </a:solidFill>
                      <a:prstDash val="solid"/>
                    </a:lnB>
                    <a:solidFill>
                      <a:srgbClr val="B4C6E7"/>
                    </a:solidFill>
                  </a:tcPr>
                </a:tc>
              </a:tr>
              <a:tr h="34348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1100" spc="-5" dirty="0">
                          <a:latin typeface="Calibri"/>
                          <a:cs typeface="Calibri"/>
                        </a:rPr>
                        <a:t>+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,</a:t>
                      </a:r>
                      <a:r>
                        <a:rPr sz="11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-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83185" marB="0">
                    <a:lnL w="9525">
                      <a:solidFill>
                        <a:srgbClr val="4472C4"/>
                      </a:solidFill>
                      <a:prstDash val="solid"/>
                    </a:lnL>
                    <a:lnR w="9525">
                      <a:solidFill>
                        <a:srgbClr val="4472C4"/>
                      </a:solidFill>
                      <a:prstDash val="solid"/>
                    </a:lnR>
                    <a:lnT w="9525">
                      <a:solidFill>
                        <a:srgbClr val="4472C4"/>
                      </a:solidFill>
                      <a:prstDash val="solid"/>
                    </a:lnT>
                    <a:lnB w="9525">
                      <a:solidFill>
                        <a:srgbClr val="4472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83185" marB="0">
                    <a:lnL w="9525">
                      <a:solidFill>
                        <a:srgbClr val="4472C4"/>
                      </a:solidFill>
                      <a:prstDash val="solid"/>
                    </a:lnL>
                    <a:lnR w="9525">
                      <a:solidFill>
                        <a:srgbClr val="4472C4"/>
                      </a:solidFill>
                      <a:prstDash val="solid"/>
                    </a:lnR>
                    <a:lnT w="9525">
                      <a:solidFill>
                        <a:srgbClr val="4472C4"/>
                      </a:solidFill>
                      <a:prstDash val="solid"/>
                    </a:lnT>
                    <a:lnB w="9525">
                      <a:solidFill>
                        <a:srgbClr val="4472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L 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t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o</a:t>
                      </a:r>
                      <a:r>
                        <a:rPr sz="11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R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83185" marB="0">
                    <a:lnL w="9525">
                      <a:solidFill>
                        <a:srgbClr val="4472C4"/>
                      </a:solidFill>
                      <a:prstDash val="solid"/>
                    </a:lnL>
                    <a:lnR w="9525">
                      <a:solidFill>
                        <a:srgbClr val="4472C4"/>
                      </a:solidFill>
                      <a:prstDash val="solid"/>
                    </a:lnR>
                    <a:lnT w="9525">
                      <a:solidFill>
                        <a:srgbClr val="4472C4"/>
                      </a:solidFill>
                      <a:prstDash val="solid"/>
                    </a:lnT>
                    <a:lnB w="9525">
                      <a:solidFill>
                        <a:srgbClr val="4472C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8" name="object 8"/>
          <p:cNvGrpSpPr/>
          <p:nvPr/>
        </p:nvGrpSpPr>
        <p:grpSpPr>
          <a:xfrm>
            <a:off x="4125786" y="4459517"/>
            <a:ext cx="3940810" cy="1717675"/>
            <a:chOff x="4125786" y="4459517"/>
            <a:chExt cx="3940810" cy="1717675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28961" y="4459517"/>
              <a:ext cx="3934075" cy="1717445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4125786" y="4803006"/>
              <a:ext cx="3940810" cy="0"/>
            </a:xfrm>
            <a:custGeom>
              <a:avLst/>
              <a:gdLst/>
              <a:ahLst/>
              <a:cxnLst/>
              <a:rect l="l" t="t" r="r" b="b"/>
              <a:pathLst>
                <a:path w="3940809">
                  <a:moveTo>
                    <a:pt x="0" y="0"/>
                  </a:moveTo>
                  <a:lnTo>
                    <a:pt x="3940425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5" dirty="0"/>
              <a:t>1/19/22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5348287" y="6428920"/>
            <a:ext cx="1496060" cy="189796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 sz="1200" spc="-5" dirty="0">
                <a:solidFill>
                  <a:srgbClr val="898989"/>
                </a:solidFill>
                <a:cs typeface="Calibri"/>
                <a:hlinkClick r:id="rId3"/>
              </a:rPr>
              <a:t>fahmid@cse.uiu.ac.bd</a:t>
            </a:r>
            <a:endParaRPr lang="en-US" sz="1200" dirty="0">
              <a:cs typeface="Calibri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3</a:t>
            </a:fld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5" dirty="0"/>
              <a:t>1/19/22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348287" y="6428920"/>
            <a:ext cx="1496060" cy="189796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 sz="1200" spc="-5" dirty="0">
                <a:solidFill>
                  <a:srgbClr val="898989"/>
                </a:solidFill>
                <a:cs typeface="Calibri"/>
                <a:hlinkClick r:id="rId2"/>
              </a:rPr>
              <a:t>fahmid@cse.uiu.ac.bd</a:t>
            </a:r>
            <a:endParaRPr lang="en-US" sz="1200" dirty="0"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4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79195"/>
            <a:ext cx="61899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Algorithm:</a:t>
            </a:r>
            <a:r>
              <a:rPr sz="3600" spc="-10" dirty="0"/>
              <a:t> </a:t>
            </a:r>
            <a:r>
              <a:rPr sz="3600" spc="-20" dirty="0"/>
              <a:t>Convert</a:t>
            </a:r>
            <a:r>
              <a:rPr sz="3600" spc="-10" dirty="0"/>
              <a:t> </a:t>
            </a:r>
            <a:r>
              <a:rPr sz="3600" spc="-5" dirty="0"/>
              <a:t>Infix</a:t>
            </a:r>
            <a:r>
              <a:rPr sz="3600" dirty="0"/>
              <a:t> </a:t>
            </a:r>
            <a:r>
              <a:rPr sz="3600" spc="-15" dirty="0"/>
              <a:t>to</a:t>
            </a:r>
            <a:r>
              <a:rPr sz="3600" spc="-20" dirty="0"/>
              <a:t> </a:t>
            </a:r>
            <a:r>
              <a:rPr sz="3600" spc="-25" dirty="0"/>
              <a:t>Postfix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1082039" y="1816100"/>
            <a:ext cx="9827260" cy="391160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340"/>
              </a:spcBef>
              <a:buAutoNum type="arabicPeriod"/>
              <a:tabLst>
                <a:tab pos="239395" algn="l"/>
              </a:tabLst>
            </a:pPr>
            <a:r>
              <a:rPr sz="1800" spc="-5" dirty="0">
                <a:solidFill>
                  <a:srgbClr val="263138"/>
                </a:solidFill>
                <a:latin typeface="Times New Roman"/>
                <a:cs typeface="Times New Roman"/>
              </a:rPr>
              <a:t>Scan</a:t>
            </a:r>
            <a:r>
              <a:rPr sz="1800" spc="-15" dirty="0">
                <a:solidFill>
                  <a:srgbClr val="263138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263138"/>
                </a:solidFill>
                <a:latin typeface="Times New Roman"/>
                <a:cs typeface="Times New Roman"/>
              </a:rPr>
              <a:t>the</a:t>
            </a:r>
            <a:r>
              <a:rPr sz="1800" dirty="0">
                <a:solidFill>
                  <a:srgbClr val="263138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263138"/>
                </a:solidFill>
                <a:latin typeface="Times New Roman"/>
                <a:cs typeface="Times New Roman"/>
              </a:rPr>
              <a:t>infix</a:t>
            </a:r>
            <a:r>
              <a:rPr sz="1800" spc="-20" dirty="0">
                <a:solidFill>
                  <a:srgbClr val="263138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263138"/>
                </a:solidFill>
                <a:latin typeface="Times New Roman"/>
                <a:cs typeface="Times New Roman"/>
              </a:rPr>
              <a:t>expression</a:t>
            </a:r>
            <a:r>
              <a:rPr sz="1800" spc="-15" dirty="0">
                <a:solidFill>
                  <a:srgbClr val="263138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263138"/>
                </a:solidFill>
                <a:latin typeface="Times New Roman"/>
                <a:cs typeface="Times New Roman"/>
              </a:rPr>
              <a:t>from</a:t>
            </a:r>
            <a:r>
              <a:rPr sz="1800" spc="-20" dirty="0">
                <a:solidFill>
                  <a:srgbClr val="263138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263138"/>
                </a:solidFill>
                <a:latin typeface="Times New Roman"/>
                <a:cs typeface="Times New Roman"/>
              </a:rPr>
              <a:t>left</a:t>
            </a:r>
            <a:r>
              <a:rPr sz="1800" spc="-15" dirty="0">
                <a:solidFill>
                  <a:srgbClr val="263138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263138"/>
                </a:solidFill>
                <a:latin typeface="Times New Roman"/>
                <a:cs typeface="Times New Roman"/>
              </a:rPr>
              <a:t>to</a:t>
            </a:r>
            <a:r>
              <a:rPr sz="1800" spc="20" dirty="0">
                <a:solidFill>
                  <a:srgbClr val="263138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263138"/>
                </a:solidFill>
                <a:latin typeface="Times New Roman"/>
                <a:cs typeface="Times New Roman"/>
              </a:rPr>
              <a:t>right.</a:t>
            </a:r>
            <a:endParaRPr sz="1800">
              <a:latin typeface="Times New Roman"/>
              <a:cs typeface="Times New Roman"/>
            </a:endParaRPr>
          </a:p>
          <a:p>
            <a:pPr marL="239395" indent="-226695">
              <a:lnSpc>
                <a:spcPct val="100000"/>
              </a:lnSpc>
              <a:spcBef>
                <a:spcPts val="240"/>
              </a:spcBef>
              <a:buAutoNum type="arabicPeriod"/>
              <a:tabLst>
                <a:tab pos="239395" algn="l"/>
              </a:tabLst>
            </a:pPr>
            <a:r>
              <a:rPr sz="1800" spc="-5" dirty="0">
                <a:solidFill>
                  <a:srgbClr val="263138"/>
                </a:solidFill>
                <a:latin typeface="Times New Roman"/>
                <a:cs typeface="Times New Roman"/>
              </a:rPr>
              <a:t>If</a:t>
            </a:r>
            <a:r>
              <a:rPr sz="1800" spc="-15" dirty="0">
                <a:solidFill>
                  <a:srgbClr val="263138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263138"/>
                </a:solidFill>
                <a:latin typeface="Times New Roman"/>
                <a:cs typeface="Times New Roman"/>
              </a:rPr>
              <a:t>the </a:t>
            </a:r>
            <a:r>
              <a:rPr sz="1800" spc="-10" dirty="0">
                <a:solidFill>
                  <a:srgbClr val="263138"/>
                </a:solidFill>
                <a:latin typeface="Times New Roman"/>
                <a:cs typeface="Times New Roman"/>
              </a:rPr>
              <a:t>scanned</a:t>
            </a:r>
            <a:r>
              <a:rPr sz="1800" spc="-15" dirty="0">
                <a:solidFill>
                  <a:srgbClr val="263138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263138"/>
                </a:solidFill>
                <a:latin typeface="Times New Roman"/>
                <a:cs typeface="Times New Roman"/>
              </a:rPr>
              <a:t>character</a:t>
            </a:r>
            <a:r>
              <a:rPr sz="1800" spc="-20" dirty="0">
                <a:solidFill>
                  <a:srgbClr val="263138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63138"/>
                </a:solidFill>
                <a:latin typeface="Times New Roman"/>
                <a:cs typeface="Times New Roman"/>
              </a:rPr>
              <a:t>is</a:t>
            </a:r>
            <a:r>
              <a:rPr sz="1800" spc="-10" dirty="0">
                <a:solidFill>
                  <a:srgbClr val="263138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263138"/>
                </a:solidFill>
                <a:latin typeface="Times New Roman"/>
                <a:cs typeface="Times New Roman"/>
              </a:rPr>
              <a:t>an</a:t>
            </a:r>
            <a:r>
              <a:rPr sz="1800" spc="-15" dirty="0">
                <a:solidFill>
                  <a:srgbClr val="263138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63138"/>
                </a:solidFill>
                <a:latin typeface="Times New Roman"/>
                <a:cs typeface="Times New Roman"/>
              </a:rPr>
              <a:t>operand,</a:t>
            </a:r>
            <a:r>
              <a:rPr sz="1800" spc="-5" dirty="0">
                <a:solidFill>
                  <a:srgbClr val="263138"/>
                </a:solidFill>
                <a:latin typeface="Times New Roman"/>
                <a:cs typeface="Times New Roman"/>
              </a:rPr>
              <a:t> output</a:t>
            </a:r>
            <a:r>
              <a:rPr sz="1800" spc="-50" dirty="0">
                <a:solidFill>
                  <a:srgbClr val="263138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263138"/>
                </a:solidFill>
                <a:latin typeface="Times New Roman"/>
                <a:cs typeface="Times New Roman"/>
              </a:rPr>
              <a:t>it.</a:t>
            </a:r>
            <a:endParaRPr sz="1800">
              <a:latin typeface="Times New Roman"/>
              <a:cs typeface="Times New Roman"/>
            </a:endParaRPr>
          </a:p>
          <a:p>
            <a:pPr marL="239395" indent="-226695">
              <a:lnSpc>
                <a:spcPct val="100000"/>
              </a:lnSpc>
              <a:spcBef>
                <a:spcPts val="240"/>
              </a:spcBef>
              <a:buAutoNum type="arabicPeriod"/>
              <a:tabLst>
                <a:tab pos="239395" algn="l"/>
              </a:tabLst>
            </a:pPr>
            <a:r>
              <a:rPr sz="1800" spc="-5" dirty="0">
                <a:solidFill>
                  <a:srgbClr val="263138"/>
                </a:solidFill>
                <a:latin typeface="Times New Roman"/>
                <a:cs typeface="Times New Roman"/>
              </a:rPr>
              <a:t>Else</a:t>
            </a:r>
            <a:r>
              <a:rPr sz="1800" spc="-15" dirty="0">
                <a:solidFill>
                  <a:srgbClr val="263138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263138"/>
                </a:solidFill>
                <a:latin typeface="Times New Roman"/>
                <a:cs typeface="Times New Roman"/>
              </a:rPr>
              <a:t>[scanned</a:t>
            </a:r>
            <a:r>
              <a:rPr sz="1800" spc="5" dirty="0">
                <a:solidFill>
                  <a:srgbClr val="263138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263138"/>
                </a:solidFill>
                <a:latin typeface="Times New Roman"/>
                <a:cs typeface="Times New Roman"/>
              </a:rPr>
              <a:t>character</a:t>
            </a:r>
            <a:r>
              <a:rPr sz="1800" spc="-5" dirty="0">
                <a:solidFill>
                  <a:srgbClr val="263138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63138"/>
                </a:solidFill>
                <a:latin typeface="Times New Roman"/>
                <a:cs typeface="Times New Roman"/>
              </a:rPr>
              <a:t>is </a:t>
            </a:r>
            <a:r>
              <a:rPr sz="1800" spc="-5" dirty="0">
                <a:solidFill>
                  <a:srgbClr val="263138"/>
                </a:solidFill>
                <a:latin typeface="Times New Roman"/>
                <a:cs typeface="Times New Roman"/>
              </a:rPr>
              <a:t>an</a:t>
            </a:r>
            <a:r>
              <a:rPr sz="1800" spc="-15" dirty="0">
                <a:solidFill>
                  <a:srgbClr val="263138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263138"/>
                </a:solidFill>
                <a:latin typeface="Times New Roman"/>
                <a:cs typeface="Times New Roman"/>
              </a:rPr>
              <a:t>operator]</a:t>
            </a:r>
            <a:endParaRPr sz="1800">
              <a:latin typeface="Times New Roman"/>
              <a:cs typeface="Times New Roman"/>
            </a:endParaRPr>
          </a:p>
          <a:p>
            <a:pPr marL="419734" lvl="1" indent="-179070">
              <a:lnSpc>
                <a:spcPct val="100000"/>
              </a:lnSpc>
              <a:spcBef>
                <a:spcPts val="145"/>
              </a:spcBef>
              <a:buSzPct val="94444"/>
              <a:buAutoNum type="alphaLcParenR"/>
              <a:tabLst>
                <a:tab pos="420370" algn="l"/>
              </a:tabLst>
            </a:pPr>
            <a:r>
              <a:rPr sz="1800" spc="-5" dirty="0">
                <a:solidFill>
                  <a:srgbClr val="263138"/>
                </a:solidFill>
                <a:latin typeface="Times New Roman"/>
                <a:cs typeface="Times New Roman"/>
              </a:rPr>
              <a:t>if</a:t>
            </a:r>
            <a:r>
              <a:rPr sz="1800" spc="5" dirty="0">
                <a:solidFill>
                  <a:srgbClr val="263138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263138"/>
                </a:solidFill>
                <a:latin typeface="Times New Roman"/>
                <a:cs typeface="Times New Roman"/>
              </a:rPr>
              <a:t>stack </a:t>
            </a:r>
            <a:r>
              <a:rPr sz="1800" dirty="0">
                <a:solidFill>
                  <a:srgbClr val="263138"/>
                </a:solidFill>
                <a:latin typeface="Times New Roman"/>
                <a:cs typeface="Times New Roman"/>
              </a:rPr>
              <a:t>is </a:t>
            </a:r>
            <a:r>
              <a:rPr sz="1800" spc="-10" dirty="0">
                <a:solidFill>
                  <a:srgbClr val="263138"/>
                </a:solidFill>
                <a:latin typeface="Times New Roman"/>
                <a:cs typeface="Times New Roman"/>
              </a:rPr>
              <a:t>empty</a:t>
            </a:r>
            <a:r>
              <a:rPr sz="1800" spc="-5" dirty="0">
                <a:solidFill>
                  <a:srgbClr val="263138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63138"/>
                </a:solidFill>
                <a:latin typeface="Times New Roman"/>
                <a:cs typeface="Times New Roman"/>
              </a:rPr>
              <a:t>or</a:t>
            </a:r>
            <a:r>
              <a:rPr sz="1800" spc="10" dirty="0">
                <a:solidFill>
                  <a:srgbClr val="263138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263138"/>
                </a:solidFill>
                <a:latin typeface="Times New Roman"/>
                <a:cs typeface="Times New Roman"/>
              </a:rPr>
              <a:t>contains</a:t>
            </a:r>
            <a:r>
              <a:rPr sz="1800" dirty="0">
                <a:solidFill>
                  <a:srgbClr val="263138"/>
                </a:solidFill>
                <a:latin typeface="Times New Roman"/>
                <a:cs typeface="Times New Roman"/>
              </a:rPr>
              <a:t> a</a:t>
            </a:r>
            <a:r>
              <a:rPr sz="1800" spc="5" dirty="0">
                <a:solidFill>
                  <a:srgbClr val="263138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263138"/>
                </a:solidFill>
                <a:latin typeface="Times New Roman"/>
                <a:cs typeface="Times New Roman"/>
              </a:rPr>
              <a:t>left</a:t>
            </a:r>
            <a:r>
              <a:rPr sz="1800" spc="-10" dirty="0">
                <a:solidFill>
                  <a:srgbClr val="263138"/>
                </a:solidFill>
                <a:latin typeface="Times New Roman"/>
                <a:cs typeface="Times New Roman"/>
              </a:rPr>
              <a:t> parenthesis</a:t>
            </a:r>
            <a:r>
              <a:rPr sz="1800" spc="-5" dirty="0">
                <a:solidFill>
                  <a:srgbClr val="263138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63138"/>
                </a:solidFill>
                <a:latin typeface="Times New Roman"/>
                <a:cs typeface="Times New Roman"/>
              </a:rPr>
              <a:t>‘(’</a:t>
            </a:r>
            <a:r>
              <a:rPr sz="1800" spc="-130" dirty="0">
                <a:solidFill>
                  <a:srgbClr val="263138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63138"/>
                </a:solidFill>
                <a:latin typeface="Times New Roman"/>
                <a:cs typeface="Times New Roman"/>
              </a:rPr>
              <a:t>on</a:t>
            </a:r>
            <a:r>
              <a:rPr sz="1800" spc="5" dirty="0">
                <a:solidFill>
                  <a:srgbClr val="263138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263138"/>
                </a:solidFill>
                <a:latin typeface="Times New Roman"/>
                <a:cs typeface="Times New Roman"/>
              </a:rPr>
              <a:t>top,</a:t>
            </a:r>
            <a:r>
              <a:rPr sz="1800" spc="5" dirty="0">
                <a:solidFill>
                  <a:srgbClr val="263138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263138"/>
                </a:solidFill>
                <a:latin typeface="Times New Roman"/>
                <a:cs typeface="Times New Roman"/>
              </a:rPr>
              <a:t>push</a:t>
            </a:r>
            <a:r>
              <a:rPr sz="1800" spc="5" dirty="0">
                <a:solidFill>
                  <a:srgbClr val="263138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263138"/>
                </a:solidFill>
                <a:latin typeface="Times New Roman"/>
                <a:cs typeface="Times New Roman"/>
              </a:rPr>
              <a:t>the</a:t>
            </a:r>
            <a:r>
              <a:rPr sz="1800" spc="10" dirty="0">
                <a:solidFill>
                  <a:srgbClr val="263138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263138"/>
                </a:solidFill>
                <a:latin typeface="Times New Roman"/>
                <a:cs typeface="Times New Roman"/>
              </a:rPr>
              <a:t>incoming</a:t>
            </a:r>
            <a:r>
              <a:rPr sz="1800" spc="-5" dirty="0">
                <a:solidFill>
                  <a:srgbClr val="263138"/>
                </a:solidFill>
                <a:latin typeface="Times New Roman"/>
                <a:cs typeface="Times New Roman"/>
              </a:rPr>
              <a:t> operator</a:t>
            </a:r>
            <a:r>
              <a:rPr sz="1800" spc="25" dirty="0">
                <a:solidFill>
                  <a:srgbClr val="263138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263138"/>
                </a:solidFill>
                <a:latin typeface="Times New Roman"/>
                <a:cs typeface="Times New Roman"/>
              </a:rPr>
              <a:t>onto</a:t>
            </a:r>
            <a:r>
              <a:rPr sz="1800" spc="5" dirty="0">
                <a:solidFill>
                  <a:srgbClr val="263138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263138"/>
                </a:solidFill>
                <a:latin typeface="Times New Roman"/>
                <a:cs typeface="Times New Roman"/>
              </a:rPr>
              <a:t>the </a:t>
            </a:r>
            <a:r>
              <a:rPr sz="1800" spc="-10" dirty="0">
                <a:solidFill>
                  <a:srgbClr val="263138"/>
                </a:solidFill>
                <a:latin typeface="Times New Roman"/>
                <a:cs typeface="Times New Roman"/>
              </a:rPr>
              <a:t>stack.</a:t>
            </a:r>
            <a:endParaRPr sz="1800">
              <a:latin typeface="Times New Roman"/>
              <a:cs typeface="Times New Roman"/>
            </a:endParaRPr>
          </a:p>
          <a:p>
            <a:pPr marL="431800" lvl="1" indent="-191135">
              <a:lnSpc>
                <a:spcPct val="100000"/>
              </a:lnSpc>
              <a:spcBef>
                <a:spcPts val="240"/>
              </a:spcBef>
              <a:buSzPct val="94444"/>
              <a:buAutoNum type="alphaLcParenR"/>
              <a:tabLst>
                <a:tab pos="432434" algn="l"/>
              </a:tabLst>
            </a:pPr>
            <a:r>
              <a:rPr sz="1800" spc="-5" dirty="0">
                <a:solidFill>
                  <a:srgbClr val="263138"/>
                </a:solidFill>
                <a:latin typeface="Times New Roman"/>
                <a:cs typeface="Times New Roman"/>
              </a:rPr>
              <a:t>if</a:t>
            </a:r>
            <a:r>
              <a:rPr sz="1800" dirty="0">
                <a:solidFill>
                  <a:srgbClr val="263138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263138"/>
                </a:solidFill>
                <a:latin typeface="Times New Roman"/>
                <a:cs typeface="Times New Roman"/>
              </a:rPr>
              <a:t>the</a:t>
            </a:r>
            <a:r>
              <a:rPr sz="1800" dirty="0">
                <a:solidFill>
                  <a:srgbClr val="263138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263138"/>
                </a:solidFill>
                <a:latin typeface="Times New Roman"/>
                <a:cs typeface="Times New Roman"/>
              </a:rPr>
              <a:t>incoming </a:t>
            </a:r>
            <a:r>
              <a:rPr sz="1800" spc="-15" dirty="0">
                <a:solidFill>
                  <a:srgbClr val="263138"/>
                </a:solidFill>
                <a:latin typeface="Times New Roman"/>
                <a:cs typeface="Times New Roman"/>
              </a:rPr>
              <a:t>symbol</a:t>
            </a:r>
            <a:r>
              <a:rPr sz="1800" spc="-20" dirty="0">
                <a:solidFill>
                  <a:srgbClr val="263138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63138"/>
                </a:solidFill>
                <a:latin typeface="Times New Roman"/>
                <a:cs typeface="Times New Roman"/>
              </a:rPr>
              <a:t>is</a:t>
            </a:r>
            <a:r>
              <a:rPr sz="1800" spc="-5" dirty="0">
                <a:solidFill>
                  <a:srgbClr val="263138"/>
                </a:solidFill>
                <a:latin typeface="Times New Roman"/>
                <a:cs typeface="Times New Roman"/>
              </a:rPr>
              <a:t> ‘(’,</a:t>
            </a:r>
            <a:r>
              <a:rPr sz="1800" spc="-15" dirty="0">
                <a:solidFill>
                  <a:srgbClr val="263138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263138"/>
                </a:solidFill>
                <a:latin typeface="Times New Roman"/>
                <a:cs typeface="Times New Roman"/>
              </a:rPr>
              <a:t>push</a:t>
            </a:r>
            <a:r>
              <a:rPr sz="1800" dirty="0">
                <a:solidFill>
                  <a:srgbClr val="263138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263138"/>
                </a:solidFill>
                <a:latin typeface="Times New Roman"/>
                <a:cs typeface="Times New Roman"/>
              </a:rPr>
              <a:t>it onto</a:t>
            </a:r>
            <a:r>
              <a:rPr sz="1800" dirty="0">
                <a:solidFill>
                  <a:srgbClr val="263138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263138"/>
                </a:solidFill>
                <a:latin typeface="Times New Roman"/>
                <a:cs typeface="Times New Roman"/>
              </a:rPr>
              <a:t>the</a:t>
            </a:r>
            <a:r>
              <a:rPr sz="1800" spc="5" dirty="0">
                <a:solidFill>
                  <a:srgbClr val="263138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263138"/>
                </a:solidFill>
                <a:latin typeface="Times New Roman"/>
                <a:cs typeface="Times New Roman"/>
              </a:rPr>
              <a:t>stack.</a:t>
            </a:r>
            <a:endParaRPr sz="1800">
              <a:latin typeface="Times New Roman"/>
              <a:cs typeface="Times New Roman"/>
            </a:endParaRPr>
          </a:p>
          <a:p>
            <a:pPr marL="419734" lvl="1" indent="-179070">
              <a:lnSpc>
                <a:spcPct val="100000"/>
              </a:lnSpc>
              <a:spcBef>
                <a:spcPts val="114"/>
              </a:spcBef>
              <a:buSzPct val="94444"/>
              <a:buAutoNum type="alphaLcParenR"/>
              <a:tabLst>
                <a:tab pos="420370" algn="l"/>
              </a:tabLst>
            </a:pPr>
            <a:r>
              <a:rPr sz="1800" spc="-5" dirty="0">
                <a:solidFill>
                  <a:srgbClr val="263138"/>
                </a:solidFill>
                <a:latin typeface="Times New Roman"/>
                <a:cs typeface="Times New Roman"/>
              </a:rPr>
              <a:t>if</a:t>
            </a:r>
            <a:r>
              <a:rPr sz="1800" spc="5" dirty="0">
                <a:solidFill>
                  <a:srgbClr val="263138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263138"/>
                </a:solidFill>
                <a:latin typeface="Times New Roman"/>
                <a:cs typeface="Times New Roman"/>
              </a:rPr>
              <a:t>the</a:t>
            </a:r>
            <a:r>
              <a:rPr sz="1800" spc="5" dirty="0">
                <a:solidFill>
                  <a:srgbClr val="263138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263138"/>
                </a:solidFill>
                <a:latin typeface="Times New Roman"/>
                <a:cs typeface="Times New Roman"/>
              </a:rPr>
              <a:t>incoming</a:t>
            </a:r>
            <a:r>
              <a:rPr sz="1800" spc="-5" dirty="0">
                <a:solidFill>
                  <a:srgbClr val="263138"/>
                </a:solidFill>
                <a:latin typeface="Times New Roman"/>
                <a:cs typeface="Times New Roman"/>
              </a:rPr>
              <a:t> </a:t>
            </a:r>
            <a:r>
              <a:rPr sz="1800" spc="-15" dirty="0">
                <a:solidFill>
                  <a:srgbClr val="263138"/>
                </a:solidFill>
                <a:latin typeface="Times New Roman"/>
                <a:cs typeface="Times New Roman"/>
              </a:rPr>
              <a:t>symbol </a:t>
            </a:r>
            <a:r>
              <a:rPr sz="1800" dirty="0">
                <a:solidFill>
                  <a:srgbClr val="263138"/>
                </a:solidFill>
                <a:latin typeface="Times New Roman"/>
                <a:cs typeface="Times New Roman"/>
              </a:rPr>
              <a:t>is </a:t>
            </a:r>
            <a:r>
              <a:rPr sz="1800" spc="-5" dirty="0">
                <a:solidFill>
                  <a:srgbClr val="263138"/>
                </a:solidFill>
                <a:latin typeface="Times New Roman"/>
                <a:cs typeface="Times New Roman"/>
              </a:rPr>
              <a:t>‘)’,</a:t>
            </a:r>
            <a:r>
              <a:rPr sz="1800" spc="-10" dirty="0">
                <a:solidFill>
                  <a:srgbClr val="263138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63138"/>
                </a:solidFill>
                <a:latin typeface="Times New Roman"/>
                <a:cs typeface="Times New Roman"/>
              </a:rPr>
              <a:t>pop</a:t>
            </a:r>
            <a:r>
              <a:rPr sz="1800" spc="5" dirty="0">
                <a:solidFill>
                  <a:srgbClr val="263138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263138"/>
                </a:solidFill>
                <a:latin typeface="Times New Roman"/>
                <a:cs typeface="Times New Roman"/>
              </a:rPr>
              <a:t>the</a:t>
            </a:r>
            <a:r>
              <a:rPr sz="1800" spc="5" dirty="0">
                <a:solidFill>
                  <a:srgbClr val="263138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263138"/>
                </a:solidFill>
                <a:latin typeface="Times New Roman"/>
                <a:cs typeface="Times New Roman"/>
              </a:rPr>
              <a:t>stack </a:t>
            </a:r>
            <a:r>
              <a:rPr sz="1800" dirty="0">
                <a:solidFill>
                  <a:srgbClr val="263138"/>
                </a:solidFill>
                <a:latin typeface="Times New Roman"/>
                <a:cs typeface="Times New Roman"/>
              </a:rPr>
              <a:t>and</a:t>
            </a:r>
            <a:r>
              <a:rPr sz="1800" spc="5" dirty="0">
                <a:solidFill>
                  <a:srgbClr val="263138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263138"/>
                </a:solidFill>
                <a:latin typeface="Times New Roman"/>
                <a:cs typeface="Times New Roman"/>
              </a:rPr>
              <a:t>print</a:t>
            </a:r>
            <a:r>
              <a:rPr sz="1800" dirty="0">
                <a:solidFill>
                  <a:srgbClr val="263138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263138"/>
                </a:solidFill>
                <a:latin typeface="Times New Roman"/>
                <a:cs typeface="Times New Roman"/>
              </a:rPr>
              <a:t>the</a:t>
            </a:r>
            <a:r>
              <a:rPr sz="1800" spc="5" dirty="0">
                <a:solidFill>
                  <a:srgbClr val="263138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263138"/>
                </a:solidFill>
                <a:latin typeface="Times New Roman"/>
                <a:cs typeface="Times New Roman"/>
              </a:rPr>
              <a:t>operators</a:t>
            </a:r>
            <a:r>
              <a:rPr sz="1800" dirty="0">
                <a:solidFill>
                  <a:srgbClr val="263138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263138"/>
                </a:solidFill>
                <a:latin typeface="Times New Roman"/>
                <a:cs typeface="Times New Roman"/>
              </a:rPr>
              <a:t>until</a:t>
            </a:r>
            <a:r>
              <a:rPr sz="1800" spc="5" dirty="0">
                <a:solidFill>
                  <a:srgbClr val="263138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263138"/>
                </a:solidFill>
                <a:latin typeface="Times New Roman"/>
                <a:cs typeface="Times New Roman"/>
              </a:rPr>
              <a:t>left</a:t>
            </a:r>
            <a:r>
              <a:rPr sz="1800" dirty="0">
                <a:solidFill>
                  <a:srgbClr val="263138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263138"/>
                </a:solidFill>
                <a:latin typeface="Times New Roman"/>
                <a:cs typeface="Times New Roman"/>
              </a:rPr>
              <a:t>parenthesis </a:t>
            </a:r>
            <a:r>
              <a:rPr sz="1800" spc="-5" dirty="0">
                <a:solidFill>
                  <a:srgbClr val="263138"/>
                </a:solidFill>
                <a:latin typeface="Times New Roman"/>
                <a:cs typeface="Times New Roman"/>
              </a:rPr>
              <a:t>is</a:t>
            </a:r>
            <a:r>
              <a:rPr sz="1800" spc="-10" dirty="0">
                <a:solidFill>
                  <a:srgbClr val="263138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263138"/>
                </a:solidFill>
                <a:latin typeface="Times New Roman"/>
                <a:cs typeface="Times New Roman"/>
              </a:rPr>
              <a:t>found.</a:t>
            </a:r>
            <a:endParaRPr sz="1800">
              <a:latin typeface="Times New Roman"/>
              <a:cs typeface="Times New Roman"/>
            </a:endParaRPr>
          </a:p>
          <a:p>
            <a:pPr marL="432434" lvl="1" indent="-191770">
              <a:lnSpc>
                <a:spcPct val="100000"/>
              </a:lnSpc>
              <a:spcBef>
                <a:spcPts val="244"/>
              </a:spcBef>
              <a:buSzPct val="94444"/>
              <a:buAutoNum type="alphaLcParenR"/>
              <a:tabLst>
                <a:tab pos="433070" algn="l"/>
              </a:tabLst>
            </a:pPr>
            <a:r>
              <a:rPr sz="1800" spc="-5" dirty="0">
                <a:solidFill>
                  <a:srgbClr val="263138"/>
                </a:solidFill>
                <a:latin typeface="Times New Roman"/>
                <a:cs typeface="Times New Roman"/>
              </a:rPr>
              <a:t>if</a:t>
            </a:r>
            <a:r>
              <a:rPr sz="1800" dirty="0">
                <a:solidFill>
                  <a:srgbClr val="263138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263138"/>
                </a:solidFill>
                <a:latin typeface="Times New Roman"/>
                <a:cs typeface="Times New Roman"/>
              </a:rPr>
              <a:t>the</a:t>
            </a:r>
            <a:r>
              <a:rPr sz="1800" spc="5" dirty="0">
                <a:solidFill>
                  <a:srgbClr val="263138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263138"/>
                </a:solidFill>
                <a:latin typeface="Times New Roman"/>
                <a:cs typeface="Times New Roman"/>
              </a:rPr>
              <a:t>incoming</a:t>
            </a:r>
            <a:r>
              <a:rPr sz="1800" spc="-5" dirty="0">
                <a:solidFill>
                  <a:srgbClr val="263138"/>
                </a:solidFill>
                <a:latin typeface="Times New Roman"/>
                <a:cs typeface="Times New Roman"/>
              </a:rPr>
              <a:t> </a:t>
            </a:r>
            <a:r>
              <a:rPr sz="1800" spc="-15" dirty="0">
                <a:solidFill>
                  <a:srgbClr val="263138"/>
                </a:solidFill>
                <a:latin typeface="Times New Roman"/>
                <a:cs typeface="Times New Roman"/>
              </a:rPr>
              <a:t>symbol </a:t>
            </a:r>
            <a:r>
              <a:rPr sz="1800" dirty="0">
                <a:solidFill>
                  <a:srgbClr val="263138"/>
                </a:solidFill>
                <a:latin typeface="Times New Roman"/>
                <a:cs typeface="Times New Roman"/>
              </a:rPr>
              <a:t>has</a:t>
            </a:r>
            <a:r>
              <a:rPr sz="1800" spc="-5" dirty="0">
                <a:solidFill>
                  <a:srgbClr val="263138"/>
                </a:solidFill>
                <a:latin typeface="Times New Roman"/>
                <a:cs typeface="Times New Roman"/>
              </a:rPr>
              <a:t> higher</a:t>
            </a:r>
            <a:r>
              <a:rPr sz="1800" spc="-10" dirty="0">
                <a:solidFill>
                  <a:srgbClr val="263138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263138"/>
                </a:solidFill>
                <a:latin typeface="Times New Roman"/>
                <a:cs typeface="Times New Roman"/>
              </a:rPr>
              <a:t>precedence</a:t>
            </a:r>
            <a:r>
              <a:rPr sz="1800" spc="-10" dirty="0">
                <a:solidFill>
                  <a:srgbClr val="263138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263138"/>
                </a:solidFill>
                <a:latin typeface="Times New Roman"/>
                <a:cs typeface="Times New Roman"/>
              </a:rPr>
              <a:t>than</a:t>
            </a:r>
            <a:r>
              <a:rPr sz="1800" spc="5" dirty="0">
                <a:solidFill>
                  <a:srgbClr val="263138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263138"/>
                </a:solidFill>
                <a:latin typeface="Times New Roman"/>
                <a:cs typeface="Times New Roman"/>
              </a:rPr>
              <a:t>the</a:t>
            </a:r>
            <a:r>
              <a:rPr sz="1800" dirty="0">
                <a:solidFill>
                  <a:srgbClr val="263138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263138"/>
                </a:solidFill>
                <a:latin typeface="Times New Roman"/>
                <a:cs typeface="Times New Roman"/>
              </a:rPr>
              <a:t>top</a:t>
            </a:r>
            <a:r>
              <a:rPr sz="1800" spc="5" dirty="0">
                <a:solidFill>
                  <a:srgbClr val="263138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63138"/>
                </a:solidFill>
                <a:latin typeface="Times New Roman"/>
                <a:cs typeface="Times New Roman"/>
              </a:rPr>
              <a:t>of</a:t>
            </a:r>
            <a:r>
              <a:rPr sz="1800" spc="5" dirty="0">
                <a:solidFill>
                  <a:srgbClr val="263138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263138"/>
                </a:solidFill>
                <a:latin typeface="Times New Roman"/>
                <a:cs typeface="Times New Roman"/>
              </a:rPr>
              <a:t>the</a:t>
            </a:r>
            <a:r>
              <a:rPr sz="1800" spc="5" dirty="0">
                <a:solidFill>
                  <a:srgbClr val="263138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263138"/>
                </a:solidFill>
                <a:latin typeface="Times New Roman"/>
                <a:cs typeface="Times New Roman"/>
              </a:rPr>
              <a:t>stack, </a:t>
            </a:r>
            <a:r>
              <a:rPr sz="1800" spc="-5" dirty="0">
                <a:solidFill>
                  <a:srgbClr val="263138"/>
                </a:solidFill>
                <a:latin typeface="Times New Roman"/>
                <a:cs typeface="Times New Roman"/>
              </a:rPr>
              <a:t>push</a:t>
            </a:r>
            <a:r>
              <a:rPr sz="1800" dirty="0">
                <a:solidFill>
                  <a:srgbClr val="263138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263138"/>
                </a:solidFill>
                <a:latin typeface="Times New Roman"/>
                <a:cs typeface="Times New Roman"/>
              </a:rPr>
              <a:t>it</a:t>
            </a:r>
            <a:r>
              <a:rPr sz="1800" dirty="0">
                <a:solidFill>
                  <a:srgbClr val="263138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263138"/>
                </a:solidFill>
                <a:latin typeface="Times New Roman"/>
                <a:cs typeface="Times New Roman"/>
              </a:rPr>
              <a:t>onto</a:t>
            </a:r>
            <a:r>
              <a:rPr sz="1800" spc="15" dirty="0">
                <a:solidFill>
                  <a:srgbClr val="263138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263138"/>
                </a:solidFill>
                <a:latin typeface="Times New Roman"/>
                <a:cs typeface="Times New Roman"/>
              </a:rPr>
              <a:t>the</a:t>
            </a:r>
            <a:r>
              <a:rPr sz="1800" spc="-15" dirty="0">
                <a:solidFill>
                  <a:srgbClr val="263138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263138"/>
                </a:solidFill>
                <a:latin typeface="Times New Roman"/>
                <a:cs typeface="Times New Roman"/>
              </a:rPr>
              <a:t>stack.</a:t>
            </a:r>
            <a:endParaRPr sz="1800">
              <a:latin typeface="Times New Roman"/>
              <a:cs typeface="Times New Roman"/>
            </a:endParaRPr>
          </a:p>
          <a:p>
            <a:pPr marL="358775" marR="5080" lvl="1" indent="-117475">
              <a:lnSpc>
                <a:spcPts val="2110"/>
              </a:lnSpc>
              <a:spcBef>
                <a:spcPts val="350"/>
              </a:spcBef>
              <a:buSzPct val="94444"/>
              <a:buAutoNum type="alphaLcParenR"/>
              <a:tabLst>
                <a:tab pos="420370" algn="l"/>
              </a:tabLst>
            </a:pPr>
            <a:r>
              <a:rPr sz="1800" spc="-5" dirty="0">
                <a:solidFill>
                  <a:srgbClr val="263138"/>
                </a:solidFill>
                <a:latin typeface="Times New Roman"/>
                <a:cs typeface="Times New Roman"/>
              </a:rPr>
              <a:t>if</a:t>
            </a:r>
            <a:r>
              <a:rPr sz="1800" dirty="0">
                <a:solidFill>
                  <a:srgbClr val="263138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263138"/>
                </a:solidFill>
                <a:latin typeface="Times New Roman"/>
                <a:cs typeface="Times New Roman"/>
              </a:rPr>
              <a:t>the</a:t>
            </a:r>
            <a:r>
              <a:rPr sz="1800" spc="5" dirty="0">
                <a:solidFill>
                  <a:srgbClr val="263138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263138"/>
                </a:solidFill>
                <a:latin typeface="Times New Roman"/>
                <a:cs typeface="Times New Roman"/>
              </a:rPr>
              <a:t>incoming</a:t>
            </a:r>
            <a:r>
              <a:rPr sz="1800" spc="-5" dirty="0">
                <a:solidFill>
                  <a:srgbClr val="263138"/>
                </a:solidFill>
                <a:latin typeface="Times New Roman"/>
                <a:cs typeface="Times New Roman"/>
              </a:rPr>
              <a:t> </a:t>
            </a:r>
            <a:r>
              <a:rPr sz="1800" spc="-15" dirty="0">
                <a:solidFill>
                  <a:srgbClr val="263138"/>
                </a:solidFill>
                <a:latin typeface="Times New Roman"/>
                <a:cs typeface="Times New Roman"/>
              </a:rPr>
              <a:t>symbol</a:t>
            </a:r>
            <a:r>
              <a:rPr sz="1800" spc="-20" dirty="0">
                <a:solidFill>
                  <a:srgbClr val="263138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263138"/>
                </a:solidFill>
                <a:latin typeface="Times New Roman"/>
                <a:cs typeface="Times New Roman"/>
              </a:rPr>
              <a:t>has</a:t>
            </a:r>
            <a:r>
              <a:rPr sz="1800" spc="-10" dirty="0">
                <a:solidFill>
                  <a:srgbClr val="263138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263138"/>
                </a:solidFill>
                <a:latin typeface="Times New Roman"/>
                <a:cs typeface="Times New Roman"/>
              </a:rPr>
              <a:t>lower</a:t>
            </a:r>
            <a:r>
              <a:rPr sz="1800" spc="-10" dirty="0">
                <a:solidFill>
                  <a:srgbClr val="263138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263138"/>
                </a:solidFill>
                <a:latin typeface="Times New Roman"/>
                <a:cs typeface="Times New Roman"/>
              </a:rPr>
              <a:t>precedence</a:t>
            </a:r>
            <a:r>
              <a:rPr sz="1800" spc="-10" dirty="0">
                <a:solidFill>
                  <a:srgbClr val="263138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263138"/>
                </a:solidFill>
                <a:latin typeface="Times New Roman"/>
                <a:cs typeface="Times New Roman"/>
              </a:rPr>
              <a:t>than</a:t>
            </a:r>
            <a:r>
              <a:rPr sz="1800" dirty="0">
                <a:solidFill>
                  <a:srgbClr val="263138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263138"/>
                </a:solidFill>
                <a:latin typeface="Times New Roman"/>
                <a:cs typeface="Times New Roman"/>
              </a:rPr>
              <a:t>the</a:t>
            </a:r>
            <a:r>
              <a:rPr sz="1800" spc="5" dirty="0">
                <a:solidFill>
                  <a:srgbClr val="263138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263138"/>
                </a:solidFill>
                <a:latin typeface="Times New Roman"/>
                <a:cs typeface="Times New Roman"/>
              </a:rPr>
              <a:t>top</a:t>
            </a:r>
            <a:r>
              <a:rPr sz="1800" spc="5" dirty="0">
                <a:solidFill>
                  <a:srgbClr val="263138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63138"/>
                </a:solidFill>
                <a:latin typeface="Times New Roman"/>
                <a:cs typeface="Times New Roman"/>
              </a:rPr>
              <a:t>of</a:t>
            </a:r>
            <a:r>
              <a:rPr sz="1800" spc="5" dirty="0">
                <a:solidFill>
                  <a:srgbClr val="263138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263138"/>
                </a:solidFill>
                <a:latin typeface="Times New Roman"/>
                <a:cs typeface="Times New Roman"/>
              </a:rPr>
              <a:t>the</a:t>
            </a:r>
            <a:r>
              <a:rPr sz="1800" dirty="0">
                <a:solidFill>
                  <a:srgbClr val="263138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263138"/>
                </a:solidFill>
                <a:latin typeface="Times New Roman"/>
                <a:cs typeface="Times New Roman"/>
              </a:rPr>
              <a:t>stack, </a:t>
            </a:r>
            <a:r>
              <a:rPr sz="1800" dirty="0">
                <a:solidFill>
                  <a:srgbClr val="263138"/>
                </a:solidFill>
                <a:latin typeface="Times New Roman"/>
                <a:cs typeface="Times New Roman"/>
              </a:rPr>
              <a:t>pop</a:t>
            </a:r>
            <a:r>
              <a:rPr sz="1800" spc="5" dirty="0">
                <a:solidFill>
                  <a:srgbClr val="263138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63138"/>
                </a:solidFill>
                <a:latin typeface="Times New Roman"/>
                <a:cs typeface="Times New Roman"/>
              </a:rPr>
              <a:t>and</a:t>
            </a:r>
            <a:r>
              <a:rPr sz="1800" spc="5" dirty="0">
                <a:solidFill>
                  <a:srgbClr val="263138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263138"/>
                </a:solidFill>
                <a:latin typeface="Times New Roman"/>
                <a:cs typeface="Times New Roman"/>
              </a:rPr>
              <a:t>print</a:t>
            </a:r>
            <a:r>
              <a:rPr sz="1800" spc="10" dirty="0">
                <a:solidFill>
                  <a:srgbClr val="263138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263138"/>
                </a:solidFill>
                <a:latin typeface="Times New Roman"/>
                <a:cs typeface="Times New Roman"/>
              </a:rPr>
              <a:t>the</a:t>
            </a:r>
            <a:r>
              <a:rPr sz="1800" dirty="0">
                <a:solidFill>
                  <a:srgbClr val="263138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263138"/>
                </a:solidFill>
                <a:latin typeface="Times New Roman"/>
                <a:cs typeface="Times New Roman"/>
              </a:rPr>
              <a:t>top.</a:t>
            </a:r>
            <a:r>
              <a:rPr sz="1800" spc="-30" dirty="0">
                <a:solidFill>
                  <a:srgbClr val="263138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263138"/>
                </a:solidFill>
                <a:latin typeface="Times New Roman"/>
                <a:cs typeface="Times New Roman"/>
              </a:rPr>
              <a:t>Then test </a:t>
            </a:r>
            <a:r>
              <a:rPr sz="1800" spc="-434" dirty="0">
                <a:solidFill>
                  <a:srgbClr val="263138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263138"/>
                </a:solidFill>
                <a:latin typeface="Times New Roman"/>
                <a:cs typeface="Times New Roman"/>
              </a:rPr>
              <a:t>the</a:t>
            </a:r>
            <a:r>
              <a:rPr sz="1800" dirty="0">
                <a:solidFill>
                  <a:srgbClr val="263138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263138"/>
                </a:solidFill>
                <a:latin typeface="Times New Roman"/>
                <a:cs typeface="Times New Roman"/>
              </a:rPr>
              <a:t>incoming </a:t>
            </a:r>
            <a:r>
              <a:rPr sz="1800" spc="-5" dirty="0">
                <a:solidFill>
                  <a:srgbClr val="263138"/>
                </a:solidFill>
                <a:latin typeface="Times New Roman"/>
                <a:cs typeface="Times New Roman"/>
              </a:rPr>
              <a:t>operator</a:t>
            </a:r>
            <a:r>
              <a:rPr sz="1800" dirty="0">
                <a:solidFill>
                  <a:srgbClr val="263138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263138"/>
                </a:solidFill>
                <a:latin typeface="Times New Roman"/>
                <a:cs typeface="Times New Roman"/>
              </a:rPr>
              <a:t>against </a:t>
            </a:r>
            <a:r>
              <a:rPr sz="1800" spc="-5" dirty="0">
                <a:solidFill>
                  <a:srgbClr val="263138"/>
                </a:solidFill>
                <a:latin typeface="Times New Roman"/>
                <a:cs typeface="Times New Roman"/>
              </a:rPr>
              <a:t>the</a:t>
            </a:r>
            <a:r>
              <a:rPr sz="1800" dirty="0">
                <a:solidFill>
                  <a:srgbClr val="263138"/>
                </a:solidFill>
                <a:latin typeface="Times New Roman"/>
                <a:cs typeface="Times New Roman"/>
              </a:rPr>
              <a:t> new </a:t>
            </a:r>
            <a:r>
              <a:rPr sz="1800" spc="-5" dirty="0">
                <a:solidFill>
                  <a:srgbClr val="263138"/>
                </a:solidFill>
                <a:latin typeface="Times New Roman"/>
                <a:cs typeface="Times New Roman"/>
              </a:rPr>
              <a:t>top</a:t>
            </a:r>
            <a:r>
              <a:rPr sz="1800" dirty="0">
                <a:solidFill>
                  <a:srgbClr val="263138"/>
                </a:solidFill>
                <a:latin typeface="Times New Roman"/>
                <a:cs typeface="Times New Roman"/>
              </a:rPr>
              <a:t> of </a:t>
            </a:r>
            <a:r>
              <a:rPr sz="1800" spc="-5" dirty="0">
                <a:solidFill>
                  <a:srgbClr val="263138"/>
                </a:solidFill>
                <a:latin typeface="Times New Roman"/>
                <a:cs typeface="Times New Roman"/>
              </a:rPr>
              <a:t>the</a:t>
            </a:r>
            <a:r>
              <a:rPr sz="1800" spc="-80" dirty="0">
                <a:solidFill>
                  <a:srgbClr val="263138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263138"/>
                </a:solidFill>
                <a:latin typeface="Times New Roman"/>
                <a:cs typeface="Times New Roman"/>
              </a:rPr>
              <a:t>stack.</a:t>
            </a:r>
            <a:endParaRPr sz="1800">
              <a:latin typeface="Times New Roman"/>
              <a:cs typeface="Times New Roman"/>
            </a:endParaRPr>
          </a:p>
          <a:p>
            <a:pPr marL="470534" marR="933450" lvl="1" indent="-228600">
              <a:lnSpc>
                <a:spcPct val="106700"/>
              </a:lnSpc>
              <a:spcBef>
                <a:spcPts val="35"/>
              </a:spcBef>
              <a:buSzPct val="94444"/>
              <a:buAutoNum type="alphaLcParenR"/>
              <a:tabLst>
                <a:tab pos="394970" algn="l"/>
              </a:tabLst>
            </a:pPr>
            <a:r>
              <a:rPr sz="1800" spc="-5" dirty="0">
                <a:solidFill>
                  <a:srgbClr val="263138"/>
                </a:solidFill>
                <a:latin typeface="Times New Roman"/>
                <a:cs typeface="Times New Roman"/>
              </a:rPr>
              <a:t>if</a:t>
            </a:r>
            <a:r>
              <a:rPr sz="1800" spc="5" dirty="0">
                <a:solidFill>
                  <a:srgbClr val="263138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263138"/>
                </a:solidFill>
                <a:latin typeface="Times New Roman"/>
                <a:cs typeface="Times New Roman"/>
              </a:rPr>
              <a:t>the</a:t>
            </a:r>
            <a:r>
              <a:rPr sz="1800" spc="5" dirty="0">
                <a:solidFill>
                  <a:srgbClr val="263138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263138"/>
                </a:solidFill>
                <a:latin typeface="Times New Roman"/>
                <a:cs typeface="Times New Roman"/>
              </a:rPr>
              <a:t>incoming</a:t>
            </a:r>
            <a:r>
              <a:rPr sz="1800" spc="-5" dirty="0">
                <a:solidFill>
                  <a:srgbClr val="263138"/>
                </a:solidFill>
                <a:latin typeface="Times New Roman"/>
                <a:cs typeface="Times New Roman"/>
              </a:rPr>
              <a:t> </a:t>
            </a:r>
            <a:r>
              <a:rPr sz="1800" spc="-15" dirty="0">
                <a:solidFill>
                  <a:srgbClr val="263138"/>
                </a:solidFill>
                <a:latin typeface="Times New Roman"/>
                <a:cs typeface="Times New Roman"/>
              </a:rPr>
              <a:t>symbol </a:t>
            </a:r>
            <a:r>
              <a:rPr sz="1800" spc="-5" dirty="0">
                <a:solidFill>
                  <a:srgbClr val="263138"/>
                </a:solidFill>
                <a:latin typeface="Times New Roman"/>
                <a:cs typeface="Times New Roman"/>
              </a:rPr>
              <a:t>has </a:t>
            </a:r>
            <a:r>
              <a:rPr sz="1800" dirty="0">
                <a:solidFill>
                  <a:srgbClr val="263138"/>
                </a:solidFill>
                <a:latin typeface="Times New Roman"/>
                <a:cs typeface="Times New Roman"/>
              </a:rPr>
              <a:t>equal</a:t>
            </a:r>
            <a:r>
              <a:rPr sz="1800" spc="5" dirty="0">
                <a:solidFill>
                  <a:srgbClr val="263138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263138"/>
                </a:solidFill>
                <a:latin typeface="Times New Roman"/>
                <a:cs typeface="Times New Roman"/>
              </a:rPr>
              <a:t>precedence </a:t>
            </a:r>
            <a:r>
              <a:rPr sz="1800" spc="-10" dirty="0">
                <a:solidFill>
                  <a:srgbClr val="263138"/>
                </a:solidFill>
                <a:latin typeface="Times New Roman"/>
                <a:cs typeface="Times New Roman"/>
              </a:rPr>
              <a:t>with </a:t>
            </a:r>
            <a:r>
              <a:rPr sz="1800" spc="-5" dirty="0">
                <a:solidFill>
                  <a:srgbClr val="263138"/>
                </a:solidFill>
                <a:latin typeface="Times New Roman"/>
                <a:cs typeface="Times New Roman"/>
              </a:rPr>
              <a:t>the</a:t>
            </a:r>
            <a:r>
              <a:rPr sz="1800" spc="5" dirty="0">
                <a:solidFill>
                  <a:srgbClr val="263138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263138"/>
                </a:solidFill>
                <a:latin typeface="Times New Roman"/>
                <a:cs typeface="Times New Roman"/>
              </a:rPr>
              <a:t>top</a:t>
            </a:r>
            <a:r>
              <a:rPr sz="1800" spc="10" dirty="0">
                <a:solidFill>
                  <a:srgbClr val="263138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63138"/>
                </a:solidFill>
                <a:latin typeface="Times New Roman"/>
                <a:cs typeface="Times New Roman"/>
              </a:rPr>
              <a:t>of</a:t>
            </a:r>
            <a:r>
              <a:rPr sz="1800" spc="5" dirty="0">
                <a:solidFill>
                  <a:srgbClr val="263138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263138"/>
                </a:solidFill>
                <a:latin typeface="Times New Roman"/>
                <a:cs typeface="Times New Roman"/>
              </a:rPr>
              <a:t>the</a:t>
            </a:r>
            <a:r>
              <a:rPr sz="1800" spc="5" dirty="0">
                <a:solidFill>
                  <a:srgbClr val="263138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263138"/>
                </a:solidFill>
                <a:latin typeface="Times New Roman"/>
                <a:cs typeface="Times New Roman"/>
              </a:rPr>
              <a:t>stack, use</a:t>
            </a:r>
            <a:r>
              <a:rPr sz="1800" spc="10" dirty="0">
                <a:solidFill>
                  <a:srgbClr val="263138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263138"/>
                </a:solidFill>
                <a:latin typeface="Times New Roman"/>
                <a:cs typeface="Times New Roman"/>
              </a:rPr>
              <a:t>associativity</a:t>
            </a:r>
            <a:r>
              <a:rPr sz="1800" dirty="0">
                <a:solidFill>
                  <a:srgbClr val="263138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263138"/>
                </a:solidFill>
                <a:latin typeface="Times New Roman"/>
                <a:cs typeface="Times New Roman"/>
              </a:rPr>
              <a:t>rule. </a:t>
            </a:r>
            <a:r>
              <a:rPr sz="1800" spc="-434" dirty="0">
                <a:solidFill>
                  <a:srgbClr val="263138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263138"/>
                </a:solidFill>
                <a:latin typeface="Times New Roman"/>
                <a:cs typeface="Times New Roman"/>
              </a:rPr>
              <a:t>i)if</a:t>
            </a:r>
            <a:r>
              <a:rPr sz="1800" spc="-50" dirty="0">
                <a:solidFill>
                  <a:srgbClr val="263138"/>
                </a:solidFill>
                <a:latin typeface="Times New Roman"/>
                <a:cs typeface="Times New Roman"/>
              </a:rPr>
              <a:t> </a:t>
            </a:r>
            <a:r>
              <a:rPr sz="1800" spc="-30" dirty="0">
                <a:solidFill>
                  <a:srgbClr val="263138"/>
                </a:solidFill>
                <a:latin typeface="Times New Roman"/>
                <a:cs typeface="Times New Roman"/>
              </a:rPr>
              <a:t>associativity</a:t>
            </a:r>
            <a:r>
              <a:rPr sz="1800" spc="-15" dirty="0">
                <a:solidFill>
                  <a:srgbClr val="263138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263138"/>
                </a:solidFill>
                <a:latin typeface="Times New Roman"/>
                <a:cs typeface="Times New Roman"/>
              </a:rPr>
              <a:t>is</a:t>
            </a:r>
            <a:r>
              <a:rPr sz="1800" spc="-60" dirty="0">
                <a:solidFill>
                  <a:srgbClr val="263138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63138"/>
                </a:solidFill>
                <a:latin typeface="Times New Roman"/>
                <a:cs typeface="Times New Roman"/>
              </a:rPr>
              <a:t>L</a:t>
            </a:r>
            <a:r>
              <a:rPr sz="1800" spc="-135" dirty="0">
                <a:solidFill>
                  <a:srgbClr val="263138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263138"/>
                </a:solidFill>
                <a:latin typeface="Times New Roman"/>
                <a:cs typeface="Times New Roman"/>
              </a:rPr>
              <a:t>to</a:t>
            </a:r>
            <a:r>
              <a:rPr sz="1800" spc="-50" dirty="0">
                <a:solidFill>
                  <a:srgbClr val="263138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263138"/>
                </a:solidFill>
                <a:latin typeface="Times New Roman"/>
                <a:cs typeface="Times New Roman"/>
              </a:rPr>
              <a:t>R,</a:t>
            </a:r>
            <a:r>
              <a:rPr sz="1800" spc="-60" dirty="0">
                <a:solidFill>
                  <a:srgbClr val="263138"/>
                </a:solidFill>
                <a:latin typeface="Times New Roman"/>
                <a:cs typeface="Times New Roman"/>
              </a:rPr>
              <a:t> </a:t>
            </a:r>
            <a:r>
              <a:rPr sz="1800" spc="-15" dirty="0">
                <a:solidFill>
                  <a:srgbClr val="263138"/>
                </a:solidFill>
                <a:latin typeface="Times New Roman"/>
                <a:cs typeface="Times New Roman"/>
              </a:rPr>
              <a:t>then</a:t>
            </a:r>
            <a:r>
              <a:rPr sz="1800" spc="-45" dirty="0">
                <a:solidFill>
                  <a:srgbClr val="263138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263138"/>
                </a:solidFill>
                <a:latin typeface="Times New Roman"/>
                <a:cs typeface="Times New Roman"/>
              </a:rPr>
              <a:t>pop</a:t>
            </a:r>
            <a:r>
              <a:rPr sz="1800" spc="-75" dirty="0">
                <a:solidFill>
                  <a:srgbClr val="263138"/>
                </a:solidFill>
                <a:latin typeface="Times New Roman"/>
                <a:cs typeface="Times New Roman"/>
              </a:rPr>
              <a:t> </a:t>
            </a:r>
            <a:r>
              <a:rPr sz="1800" spc="-15" dirty="0">
                <a:solidFill>
                  <a:srgbClr val="263138"/>
                </a:solidFill>
                <a:latin typeface="Times New Roman"/>
                <a:cs typeface="Times New Roman"/>
              </a:rPr>
              <a:t>and</a:t>
            </a:r>
            <a:r>
              <a:rPr sz="1800" spc="-50" dirty="0">
                <a:solidFill>
                  <a:srgbClr val="263138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263138"/>
                </a:solidFill>
                <a:latin typeface="Times New Roman"/>
                <a:cs typeface="Times New Roman"/>
              </a:rPr>
              <a:t>print</a:t>
            </a:r>
            <a:r>
              <a:rPr sz="1800" spc="-65" dirty="0">
                <a:solidFill>
                  <a:srgbClr val="263138"/>
                </a:solidFill>
                <a:latin typeface="Times New Roman"/>
                <a:cs typeface="Times New Roman"/>
              </a:rPr>
              <a:t> </a:t>
            </a:r>
            <a:r>
              <a:rPr sz="1800" spc="-15" dirty="0">
                <a:solidFill>
                  <a:srgbClr val="263138"/>
                </a:solidFill>
                <a:latin typeface="Times New Roman"/>
                <a:cs typeface="Times New Roman"/>
              </a:rPr>
              <a:t>the</a:t>
            </a:r>
            <a:r>
              <a:rPr sz="1800" spc="-50" dirty="0">
                <a:solidFill>
                  <a:srgbClr val="263138"/>
                </a:solidFill>
                <a:latin typeface="Times New Roman"/>
                <a:cs typeface="Times New Roman"/>
              </a:rPr>
              <a:t> </a:t>
            </a:r>
            <a:r>
              <a:rPr sz="1800" spc="-15" dirty="0">
                <a:solidFill>
                  <a:srgbClr val="263138"/>
                </a:solidFill>
                <a:latin typeface="Times New Roman"/>
                <a:cs typeface="Times New Roman"/>
              </a:rPr>
              <a:t>top.</a:t>
            </a:r>
            <a:r>
              <a:rPr sz="1800" spc="-110" dirty="0">
                <a:solidFill>
                  <a:srgbClr val="263138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263138"/>
                </a:solidFill>
                <a:latin typeface="Times New Roman"/>
                <a:cs typeface="Times New Roman"/>
              </a:rPr>
              <a:t>Then</a:t>
            </a:r>
            <a:r>
              <a:rPr sz="1800" spc="-50" dirty="0">
                <a:solidFill>
                  <a:srgbClr val="263138"/>
                </a:solidFill>
                <a:latin typeface="Times New Roman"/>
                <a:cs typeface="Times New Roman"/>
              </a:rPr>
              <a:t> </a:t>
            </a:r>
            <a:r>
              <a:rPr sz="1800" spc="-15" dirty="0">
                <a:solidFill>
                  <a:srgbClr val="263138"/>
                </a:solidFill>
                <a:latin typeface="Times New Roman"/>
                <a:cs typeface="Times New Roman"/>
              </a:rPr>
              <a:t>push</a:t>
            </a:r>
            <a:r>
              <a:rPr sz="1800" spc="-65" dirty="0">
                <a:solidFill>
                  <a:srgbClr val="263138"/>
                </a:solidFill>
                <a:latin typeface="Times New Roman"/>
                <a:cs typeface="Times New Roman"/>
              </a:rPr>
              <a:t> </a:t>
            </a:r>
            <a:r>
              <a:rPr sz="1800" spc="-15" dirty="0">
                <a:solidFill>
                  <a:srgbClr val="263138"/>
                </a:solidFill>
                <a:latin typeface="Times New Roman"/>
                <a:cs typeface="Times New Roman"/>
              </a:rPr>
              <a:t>the</a:t>
            </a:r>
            <a:r>
              <a:rPr sz="1800" spc="-55" dirty="0">
                <a:solidFill>
                  <a:srgbClr val="263138"/>
                </a:solidFill>
                <a:latin typeface="Times New Roman"/>
                <a:cs typeface="Times New Roman"/>
              </a:rPr>
              <a:t> </a:t>
            </a:r>
            <a:r>
              <a:rPr sz="1800" spc="-30" dirty="0">
                <a:solidFill>
                  <a:srgbClr val="263138"/>
                </a:solidFill>
                <a:latin typeface="Times New Roman"/>
                <a:cs typeface="Times New Roman"/>
              </a:rPr>
              <a:t>incoming</a:t>
            </a:r>
            <a:r>
              <a:rPr sz="1800" spc="-40" dirty="0">
                <a:solidFill>
                  <a:srgbClr val="263138"/>
                </a:solidFill>
                <a:latin typeface="Times New Roman"/>
                <a:cs typeface="Times New Roman"/>
              </a:rPr>
              <a:t> operator.</a:t>
            </a:r>
            <a:endParaRPr sz="1800">
              <a:latin typeface="Times New Roman"/>
              <a:cs typeface="Times New Roman"/>
            </a:endParaRPr>
          </a:p>
          <a:p>
            <a:pPr marL="470534">
              <a:lnSpc>
                <a:spcPct val="100000"/>
              </a:lnSpc>
              <a:spcBef>
                <a:spcPts val="240"/>
              </a:spcBef>
            </a:pPr>
            <a:r>
              <a:rPr sz="1800" spc="-15" dirty="0">
                <a:solidFill>
                  <a:srgbClr val="263138"/>
                </a:solidFill>
                <a:latin typeface="Times New Roman"/>
                <a:cs typeface="Times New Roman"/>
              </a:rPr>
              <a:t>ii)if</a:t>
            </a:r>
            <a:r>
              <a:rPr sz="1800" spc="-55" dirty="0">
                <a:solidFill>
                  <a:srgbClr val="263138"/>
                </a:solidFill>
                <a:latin typeface="Times New Roman"/>
                <a:cs typeface="Times New Roman"/>
              </a:rPr>
              <a:t> </a:t>
            </a:r>
            <a:r>
              <a:rPr sz="1800" spc="-35" dirty="0">
                <a:solidFill>
                  <a:srgbClr val="263138"/>
                </a:solidFill>
                <a:latin typeface="Times New Roman"/>
                <a:cs typeface="Times New Roman"/>
              </a:rPr>
              <a:t>associativity</a:t>
            </a:r>
            <a:r>
              <a:rPr sz="1800" spc="-20" dirty="0">
                <a:solidFill>
                  <a:srgbClr val="263138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263138"/>
                </a:solidFill>
                <a:latin typeface="Times New Roman"/>
                <a:cs typeface="Times New Roman"/>
              </a:rPr>
              <a:t>is</a:t>
            </a:r>
            <a:r>
              <a:rPr sz="1800" spc="-55" dirty="0">
                <a:solidFill>
                  <a:srgbClr val="263138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63138"/>
                </a:solidFill>
                <a:latin typeface="Times New Roman"/>
                <a:cs typeface="Times New Roman"/>
              </a:rPr>
              <a:t>R</a:t>
            </a:r>
            <a:r>
              <a:rPr sz="1800" spc="-60" dirty="0">
                <a:solidFill>
                  <a:srgbClr val="263138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263138"/>
                </a:solidFill>
                <a:latin typeface="Times New Roman"/>
                <a:cs typeface="Times New Roman"/>
              </a:rPr>
              <a:t>to</a:t>
            </a:r>
            <a:r>
              <a:rPr sz="1800" spc="-55" dirty="0">
                <a:solidFill>
                  <a:srgbClr val="263138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263138"/>
                </a:solidFill>
                <a:latin typeface="Times New Roman"/>
                <a:cs typeface="Times New Roman"/>
              </a:rPr>
              <a:t>L,</a:t>
            </a:r>
            <a:r>
              <a:rPr sz="1800" spc="-50" dirty="0">
                <a:solidFill>
                  <a:srgbClr val="263138"/>
                </a:solidFill>
                <a:latin typeface="Times New Roman"/>
                <a:cs typeface="Times New Roman"/>
              </a:rPr>
              <a:t> </a:t>
            </a:r>
            <a:r>
              <a:rPr sz="1800" spc="-15" dirty="0">
                <a:solidFill>
                  <a:srgbClr val="263138"/>
                </a:solidFill>
                <a:latin typeface="Times New Roman"/>
                <a:cs typeface="Times New Roman"/>
              </a:rPr>
              <a:t>then</a:t>
            </a:r>
            <a:r>
              <a:rPr sz="1800" spc="-55" dirty="0">
                <a:solidFill>
                  <a:srgbClr val="263138"/>
                </a:solidFill>
                <a:latin typeface="Times New Roman"/>
                <a:cs typeface="Times New Roman"/>
              </a:rPr>
              <a:t> </a:t>
            </a:r>
            <a:r>
              <a:rPr sz="1800" spc="-15" dirty="0">
                <a:solidFill>
                  <a:srgbClr val="263138"/>
                </a:solidFill>
                <a:latin typeface="Times New Roman"/>
                <a:cs typeface="Times New Roman"/>
              </a:rPr>
              <a:t>push</a:t>
            </a:r>
            <a:r>
              <a:rPr sz="1800" spc="-65" dirty="0">
                <a:solidFill>
                  <a:srgbClr val="263138"/>
                </a:solidFill>
                <a:latin typeface="Times New Roman"/>
                <a:cs typeface="Times New Roman"/>
              </a:rPr>
              <a:t> </a:t>
            </a:r>
            <a:r>
              <a:rPr sz="1800" spc="-15" dirty="0">
                <a:solidFill>
                  <a:srgbClr val="263138"/>
                </a:solidFill>
                <a:latin typeface="Times New Roman"/>
                <a:cs typeface="Times New Roman"/>
              </a:rPr>
              <a:t>the</a:t>
            </a:r>
            <a:r>
              <a:rPr sz="1800" spc="-55" dirty="0">
                <a:solidFill>
                  <a:srgbClr val="263138"/>
                </a:solidFill>
                <a:latin typeface="Times New Roman"/>
                <a:cs typeface="Times New Roman"/>
              </a:rPr>
              <a:t> </a:t>
            </a:r>
            <a:r>
              <a:rPr sz="1800" spc="-30" dirty="0">
                <a:solidFill>
                  <a:srgbClr val="263138"/>
                </a:solidFill>
                <a:latin typeface="Times New Roman"/>
                <a:cs typeface="Times New Roman"/>
              </a:rPr>
              <a:t>incoming</a:t>
            </a:r>
            <a:r>
              <a:rPr sz="1800" spc="-45" dirty="0">
                <a:solidFill>
                  <a:srgbClr val="263138"/>
                </a:solidFill>
                <a:latin typeface="Times New Roman"/>
                <a:cs typeface="Times New Roman"/>
              </a:rPr>
              <a:t> </a:t>
            </a:r>
            <a:r>
              <a:rPr sz="1800" spc="-40" dirty="0">
                <a:solidFill>
                  <a:srgbClr val="263138"/>
                </a:solidFill>
                <a:latin typeface="Times New Roman"/>
                <a:cs typeface="Times New Roman"/>
              </a:rPr>
              <a:t>operator.</a:t>
            </a:r>
            <a:endParaRPr sz="1800">
              <a:latin typeface="Times New Roman"/>
              <a:cs typeface="Times New Roman"/>
            </a:endParaRPr>
          </a:p>
          <a:p>
            <a:pPr marL="224790" indent="-212725">
              <a:lnSpc>
                <a:spcPct val="100000"/>
              </a:lnSpc>
              <a:spcBef>
                <a:spcPts val="240"/>
              </a:spcBef>
              <a:buAutoNum type="arabicPeriod" startAt="4"/>
              <a:tabLst>
                <a:tab pos="225425" algn="l"/>
              </a:tabLst>
            </a:pPr>
            <a:r>
              <a:rPr sz="1800" spc="-5" dirty="0">
                <a:solidFill>
                  <a:srgbClr val="263138"/>
                </a:solidFill>
                <a:latin typeface="Times New Roman"/>
                <a:cs typeface="Times New Roman"/>
              </a:rPr>
              <a:t>At</a:t>
            </a:r>
            <a:r>
              <a:rPr sz="1800" spc="-25" dirty="0">
                <a:solidFill>
                  <a:srgbClr val="263138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263138"/>
                </a:solidFill>
                <a:latin typeface="Times New Roman"/>
                <a:cs typeface="Times New Roman"/>
              </a:rPr>
              <a:t>the</a:t>
            </a:r>
            <a:r>
              <a:rPr sz="1800" dirty="0">
                <a:solidFill>
                  <a:srgbClr val="263138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263138"/>
                </a:solidFill>
                <a:latin typeface="Times New Roman"/>
                <a:cs typeface="Times New Roman"/>
              </a:rPr>
              <a:t>end</a:t>
            </a:r>
            <a:r>
              <a:rPr sz="1800" spc="-10" dirty="0">
                <a:solidFill>
                  <a:srgbClr val="263138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63138"/>
                </a:solidFill>
                <a:latin typeface="Times New Roman"/>
                <a:cs typeface="Times New Roman"/>
              </a:rPr>
              <a:t>of </a:t>
            </a:r>
            <a:r>
              <a:rPr sz="1800" spc="-5" dirty="0">
                <a:solidFill>
                  <a:srgbClr val="263138"/>
                </a:solidFill>
                <a:latin typeface="Times New Roman"/>
                <a:cs typeface="Times New Roman"/>
              </a:rPr>
              <a:t>the</a:t>
            </a:r>
            <a:r>
              <a:rPr sz="1800" dirty="0">
                <a:solidFill>
                  <a:srgbClr val="263138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263138"/>
                </a:solidFill>
                <a:latin typeface="Times New Roman"/>
                <a:cs typeface="Times New Roman"/>
              </a:rPr>
              <a:t>expression,</a:t>
            </a:r>
            <a:r>
              <a:rPr sz="1800" spc="-5" dirty="0">
                <a:solidFill>
                  <a:srgbClr val="263138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63138"/>
                </a:solidFill>
                <a:latin typeface="Times New Roman"/>
                <a:cs typeface="Times New Roman"/>
              </a:rPr>
              <a:t>pop and </a:t>
            </a:r>
            <a:r>
              <a:rPr sz="1800" spc="-5" dirty="0">
                <a:solidFill>
                  <a:srgbClr val="263138"/>
                </a:solidFill>
                <a:latin typeface="Times New Roman"/>
                <a:cs typeface="Times New Roman"/>
              </a:rPr>
              <a:t>print</a:t>
            </a:r>
            <a:r>
              <a:rPr sz="1800" dirty="0">
                <a:solidFill>
                  <a:srgbClr val="263138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263138"/>
                </a:solidFill>
                <a:latin typeface="Times New Roman"/>
                <a:cs typeface="Times New Roman"/>
              </a:rPr>
              <a:t>all</a:t>
            </a:r>
            <a:r>
              <a:rPr sz="1800" spc="-15" dirty="0">
                <a:solidFill>
                  <a:srgbClr val="263138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263138"/>
                </a:solidFill>
                <a:latin typeface="Times New Roman"/>
                <a:cs typeface="Times New Roman"/>
              </a:rPr>
              <a:t>operators </a:t>
            </a:r>
            <a:r>
              <a:rPr sz="1800" dirty="0">
                <a:solidFill>
                  <a:srgbClr val="263138"/>
                </a:solidFill>
                <a:latin typeface="Times New Roman"/>
                <a:cs typeface="Times New Roman"/>
              </a:rPr>
              <a:t>of</a:t>
            </a:r>
            <a:r>
              <a:rPr sz="1800" spc="-45" dirty="0">
                <a:solidFill>
                  <a:srgbClr val="263138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263138"/>
                </a:solidFill>
                <a:latin typeface="Times New Roman"/>
                <a:cs typeface="Times New Roman"/>
              </a:rPr>
              <a:t>stack.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5" dirty="0"/>
              <a:t>1/19/22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348287" y="6428920"/>
            <a:ext cx="1496060" cy="189796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 sz="1200" spc="-5" dirty="0">
                <a:solidFill>
                  <a:srgbClr val="898989"/>
                </a:solidFill>
                <a:cs typeface="Calibri"/>
                <a:hlinkClick r:id="rId2"/>
              </a:rPr>
              <a:t>fahmid@cse.uiu.ac.bd</a:t>
            </a:r>
            <a:endParaRPr lang="en-US" sz="1200" dirty="0"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5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79195"/>
            <a:ext cx="191071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" dirty="0"/>
              <a:t>Example</a:t>
            </a:r>
            <a:r>
              <a:rPr sz="3600" spc="-85" dirty="0"/>
              <a:t> </a:t>
            </a:r>
            <a:r>
              <a:rPr sz="3600" dirty="0"/>
              <a:t>1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960755" y="1781962"/>
            <a:ext cx="7053580" cy="814705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60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spc="-10" dirty="0">
                <a:latin typeface="Times New Roman"/>
                <a:cs typeface="Times New Roman"/>
              </a:rPr>
              <a:t>Convert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following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expressions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from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infix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to</a:t>
            </a:r>
            <a:r>
              <a:rPr sz="2400" spc="7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postfix:</a:t>
            </a:r>
            <a:endParaRPr sz="2400">
              <a:latin typeface="Times New Roman"/>
              <a:cs typeface="Times New Roman"/>
            </a:endParaRPr>
          </a:p>
          <a:p>
            <a:pPr marL="698500" lvl="1" indent="-228600">
              <a:lnSpc>
                <a:spcPct val="100000"/>
              </a:lnSpc>
              <a:spcBef>
                <a:spcPts val="425"/>
              </a:spcBef>
              <a:buFont typeface="Arial MT"/>
              <a:buChar char="•"/>
              <a:tabLst>
                <a:tab pos="697865" algn="l"/>
                <a:tab pos="698500" algn="l"/>
              </a:tabLst>
            </a:pPr>
            <a:r>
              <a:rPr sz="2000" dirty="0">
                <a:latin typeface="Tahoma"/>
                <a:cs typeface="Tahoma"/>
              </a:rPr>
              <a:t>3</a:t>
            </a:r>
            <a:r>
              <a:rPr sz="2000" spc="-2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+</a:t>
            </a:r>
            <a:r>
              <a:rPr sz="2000" spc="-4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2</a:t>
            </a:r>
            <a:r>
              <a:rPr sz="2000" spc="-2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*</a:t>
            </a:r>
            <a:r>
              <a:rPr sz="2000" spc="-3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4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5" dirty="0"/>
              <a:t>1/19/22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348287" y="6428920"/>
            <a:ext cx="1496060" cy="189796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 sz="1200" spc="-5" dirty="0">
                <a:solidFill>
                  <a:srgbClr val="898989"/>
                </a:solidFill>
                <a:cs typeface="Calibri"/>
                <a:hlinkClick r:id="rId2"/>
              </a:rPr>
              <a:t>fahmid@cse.uiu.ac.bd</a:t>
            </a:r>
            <a:endParaRPr lang="en-US" sz="1200" dirty="0"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6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79195"/>
            <a:ext cx="191071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" dirty="0"/>
              <a:t>Example</a:t>
            </a:r>
            <a:r>
              <a:rPr sz="3600" spc="-85" dirty="0"/>
              <a:t> </a:t>
            </a:r>
            <a:r>
              <a:rPr sz="3600" dirty="0"/>
              <a:t>2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956310" y="1792393"/>
            <a:ext cx="8194040" cy="915035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509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10" dirty="0">
                <a:latin typeface="Times New Roman"/>
                <a:cs typeface="Times New Roman"/>
              </a:rPr>
              <a:t>Convert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the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following expressions </a:t>
            </a:r>
            <a:r>
              <a:rPr sz="2800" spc="-5" dirty="0">
                <a:latin typeface="Times New Roman"/>
                <a:cs typeface="Times New Roman"/>
              </a:rPr>
              <a:t>from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infix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to</a:t>
            </a:r>
            <a:r>
              <a:rPr sz="2800" spc="6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postfix:</a:t>
            </a:r>
            <a:endParaRPr sz="2800">
              <a:latin typeface="Times New Roman"/>
              <a:cs typeface="Times New Roman"/>
            </a:endParaRPr>
          </a:p>
          <a:p>
            <a:pPr marL="469900" lvl="1" indent="-228600">
              <a:lnSpc>
                <a:spcPct val="100000"/>
              </a:lnSpc>
              <a:spcBef>
                <a:spcPts val="350"/>
              </a:spcBef>
              <a:buFont typeface="Arial MT"/>
              <a:buChar char="•"/>
              <a:tabLst>
                <a:tab pos="469900" algn="l"/>
              </a:tabLst>
            </a:pPr>
            <a:r>
              <a:rPr sz="2400" spc="-5" dirty="0">
                <a:latin typeface="Times New Roman"/>
                <a:cs typeface="Times New Roman"/>
              </a:rPr>
              <a:t>a)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2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^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3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^</a:t>
            </a:r>
            <a:r>
              <a:rPr sz="2400" b="1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4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+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5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*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7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5" dirty="0"/>
              <a:t>1/19/22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348287" y="6428920"/>
            <a:ext cx="1496060" cy="189796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 sz="1200" spc="-5" dirty="0">
                <a:solidFill>
                  <a:srgbClr val="898989"/>
                </a:solidFill>
                <a:cs typeface="Calibri"/>
                <a:hlinkClick r:id="rId2"/>
              </a:rPr>
              <a:t>fahmid@cse.uiu.ac.bd</a:t>
            </a:r>
            <a:endParaRPr lang="en-US" sz="1200" dirty="0"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7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79195"/>
            <a:ext cx="14827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0" dirty="0"/>
              <a:t>P</a:t>
            </a:r>
            <a:r>
              <a:rPr sz="3600" spc="-75" dirty="0"/>
              <a:t>r</a:t>
            </a:r>
            <a:r>
              <a:rPr sz="3600" spc="5" dirty="0"/>
              <a:t>a</a:t>
            </a:r>
            <a:r>
              <a:rPr sz="3600" spc="-10" dirty="0"/>
              <a:t>c</a:t>
            </a:r>
            <a:r>
              <a:rPr sz="3600" spc="5" dirty="0"/>
              <a:t>ti</a:t>
            </a:r>
            <a:r>
              <a:rPr sz="3600" spc="-10" dirty="0"/>
              <a:t>c</a:t>
            </a:r>
            <a:r>
              <a:rPr sz="3600" dirty="0"/>
              <a:t>e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956310" y="1800250"/>
            <a:ext cx="7053580" cy="3640454"/>
          </a:xfrm>
          <a:prstGeom prst="rect">
            <a:avLst/>
          </a:prstGeom>
        </p:spPr>
        <p:txBody>
          <a:bodyPr vert="horz" wrap="square" lIns="0" tIns="59054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464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spc="-10" dirty="0">
                <a:latin typeface="Times New Roman"/>
                <a:cs typeface="Times New Roman"/>
              </a:rPr>
              <a:t>Convert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following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expressions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from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infix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to</a:t>
            </a:r>
            <a:r>
              <a:rPr sz="2400" spc="7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postfix:</a:t>
            </a:r>
            <a:endParaRPr sz="24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300"/>
              </a:spcBef>
            </a:pPr>
            <a:r>
              <a:rPr sz="2000" spc="-5" dirty="0">
                <a:latin typeface="Times New Roman"/>
                <a:cs typeface="Times New Roman"/>
              </a:rPr>
              <a:t>a)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2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^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3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^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4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+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5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*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7</a:t>
            </a:r>
            <a:endParaRPr sz="20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315"/>
              </a:spcBef>
            </a:pPr>
            <a:r>
              <a:rPr sz="2000" spc="-5" dirty="0">
                <a:latin typeface="Times New Roman"/>
                <a:cs typeface="Times New Roman"/>
              </a:rPr>
              <a:t>Ans: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2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3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4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^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^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5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7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*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+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05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Times New Roman"/>
                <a:cs typeface="Times New Roman"/>
              </a:rPr>
              <a:t>b)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9 +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2 -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5 * 6 /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3 +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2 ^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3 /</a:t>
            </a:r>
            <a:r>
              <a:rPr sz="2000" spc="-1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4</a:t>
            </a:r>
            <a:endParaRPr sz="20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310"/>
              </a:spcBef>
            </a:pPr>
            <a:r>
              <a:rPr sz="2000" spc="-5" dirty="0">
                <a:latin typeface="Times New Roman"/>
                <a:cs typeface="Times New Roman"/>
              </a:rPr>
              <a:t>Ans: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9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2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+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5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6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*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3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/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-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2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3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^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4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/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+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95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5"/>
              </a:spcBef>
            </a:pPr>
            <a:r>
              <a:rPr sz="2000" spc="-5" dirty="0">
                <a:latin typeface="Times New Roman"/>
                <a:cs typeface="Times New Roman"/>
              </a:rPr>
              <a:t>c)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+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3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^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2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+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5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*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6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-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4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)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*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7</a:t>
            </a:r>
            <a:endParaRPr sz="20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190"/>
              </a:spcBef>
            </a:pPr>
            <a:r>
              <a:rPr sz="2000" spc="-5" dirty="0">
                <a:latin typeface="Times New Roman"/>
                <a:cs typeface="Times New Roman"/>
              </a:rPr>
              <a:t>Ans: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3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2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^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+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5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6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*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4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–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7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*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+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5" dirty="0"/>
              <a:t>1/19/22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348287" y="6428920"/>
            <a:ext cx="1496060" cy="189796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 sz="1200" spc="-5" dirty="0">
                <a:solidFill>
                  <a:srgbClr val="898989"/>
                </a:solidFill>
                <a:cs typeface="Calibri"/>
                <a:hlinkClick r:id="rId2"/>
              </a:rPr>
              <a:t>fahmid@cse.uiu.ac.bd</a:t>
            </a:r>
            <a:endParaRPr lang="en-US" sz="1200" dirty="0"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8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79195"/>
            <a:ext cx="57867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5" dirty="0"/>
              <a:t>Evaluation</a:t>
            </a:r>
            <a:r>
              <a:rPr sz="3600" spc="-20" dirty="0"/>
              <a:t> </a:t>
            </a:r>
            <a:r>
              <a:rPr sz="3600" spc="-5" dirty="0"/>
              <a:t>of</a:t>
            </a:r>
            <a:r>
              <a:rPr sz="3600" spc="-25" dirty="0"/>
              <a:t> </a:t>
            </a:r>
            <a:r>
              <a:rPr sz="3600" spc="-20" dirty="0"/>
              <a:t>Postfix</a:t>
            </a:r>
            <a:r>
              <a:rPr sz="3600" spc="-15" dirty="0"/>
              <a:t> </a:t>
            </a:r>
            <a:r>
              <a:rPr sz="3600" spc="-10" dirty="0"/>
              <a:t>Expression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949960" y="1805940"/>
            <a:ext cx="9958705" cy="2771775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409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000" spc="-5" dirty="0">
                <a:solidFill>
                  <a:srgbClr val="0000CC"/>
                </a:solidFill>
                <a:latin typeface="Times New Roman"/>
                <a:cs typeface="Times New Roman"/>
              </a:rPr>
              <a:t>for</a:t>
            </a:r>
            <a:r>
              <a:rPr sz="20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each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character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in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postfix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expression </a:t>
            </a:r>
            <a:r>
              <a:rPr sz="2000" spc="-5" dirty="0">
                <a:solidFill>
                  <a:srgbClr val="0000CC"/>
                </a:solidFill>
                <a:latin typeface="Times New Roman"/>
                <a:cs typeface="Times New Roman"/>
              </a:rPr>
              <a:t>do</a:t>
            </a:r>
            <a:endParaRPr sz="2000">
              <a:latin typeface="Times New Roman"/>
              <a:cs typeface="Times New Roman"/>
            </a:endParaRPr>
          </a:p>
          <a:p>
            <a:pPr marL="469265">
              <a:lnSpc>
                <a:spcPct val="100000"/>
              </a:lnSpc>
              <a:spcBef>
                <a:spcPts val="310"/>
              </a:spcBef>
            </a:pPr>
            <a:r>
              <a:rPr sz="1300" spc="150" dirty="0">
                <a:solidFill>
                  <a:srgbClr val="CC0000"/>
                </a:solidFill>
                <a:latin typeface="Georgia"/>
                <a:cs typeface="Georgia"/>
              </a:rPr>
              <a:t>□</a:t>
            </a:r>
            <a:r>
              <a:rPr sz="2000" spc="150" dirty="0">
                <a:solidFill>
                  <a:srgbClr val="0000CC"/>
                </a:solidFill>
                <a:latin typeface="Times New Roman"/>
                <a:cs typeface="Times New Roman"/>
              </a:rPr>
              <a:t>if</a:t>
            </a:r>
            <a:r>
              <a:rPr sz="20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it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operand </a:t>
            </a:r>
            <a:r>
              <a:rPr sz="2000" spc="-10" dirty="0">
                <a:solidFill>
                  <a:srgbClr val="0000CC"/>
                </a:solidFill>
                <a:latin typeface="Times New Roman"/>
                <a:cs typeface="Times New Roman"/>
              </a:rPr>
              <a:t>then</a:t>
            </a:r>
            <a:r>
              <a:rPr sz="20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push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it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onto the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stack</a:t>
            </a:r>
            <a:endParaRPr sz="2000">
              <a:latin typeface="Times New Roman"/>
              <a:cs typeface="Times New Roman"/>
            </a:endParaRPr>
          </a:p>
          <a:p>
            <a:pPr marL="469265">
              <a:lnSpc>
                <a:spcPct val="100000"/>
              </a:lnSpc>
              <a:spcBef>
                <a:spcPts val="290"/>
              </a:spcBef>
            </a:pPr>
            <a:r>
              <a:rPr sz="1300" spc="85" dirty="0">
                <a:solidFill>
                  <a:srgbClr val="CC0000"/>
                </a:solidFill>
                <a:latin typeface="Georgia"/>
                <a:cs typeface="Georgia"/>
              </a:rPr>
              <a:t>□</a:t>
            </a:r>
            <a:r>
              <a:rPr sz="2000" spc="85" dirty="0">
                <a:solidFill>
                  <a:srgbClr val="0000CC"/>
                </a:solidFill>
                <a:latin typeface="Times New Roman"/>
                <a:cs typeface="Times New Roman"/>
              </a:rPr>
              <a:t>else</a:t>
            </a:r>
            <a:r>
              <a:rPr sz="200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00CC"/>
                </a:solidFill>
                <a:latin typeface="Times New Roman"/>
                <a:cs typeface="Times New Roman"/>
              </a:rPr>
              <a:t>if</a:t>
            </a:r>
            <a:r>
              <a:rPr sz="20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operator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40" dirty="0">
                <a:latin typeface="Times New Roman"/>
                <a:cs typeface="Times New Roman"/>
              </a:rPr>
              <a:t>(say,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600"/>
                </a:solidFill>
                <a:latin typeface="Times New Roman"/>
                <a:cs typeface="Times New Roman"/>
              </a:rPr>
              <a:t>op</a:t>
            </a:r>
            <a:r>
              <a:rPr sz="2000" dirty="0">
                <a:latin typeface="Times New Roman"/>
                <a:cs typeface="Times New Roman"/>
              </a:rPr>
              <a:t>)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0000CC"/>
                </a:solidFill>
                <a:latin typeface="Times New Roman"/>
                <a:cs typeface="Times New Roman"/>
              </a:rPr>
              <a:t>then</a:t>
            </a:r>
            <a:endParaRPr sz="2000">
              <a:latin typeface="Times New Roman"/>
              <a:cs typeface="Times New Roman"/>
            </a:endParaRPr>
          </a:p>
          <a:p>
            <a:pPr marL="697865">
              <a:lnSpc>
                <a:spcPct val="100000"/>
              </a:lnSpc>
              <a:spcBef>
                <a:spcPts val="310"/>
              </a:spcBef>
            </a:pPr>
            <a:r>
              <a:rPr sz="1300" spc="484" dirty="0">
                <a:solidFill>
                  <a:srgbClr val="0033CC"/>
                </a:solidFill>
                <a:latin typeface="Georgia"/>
                <a:cs typeface="Georgia"/>
              </a:rPr>
              <a:t>□</a:t>
            </a:r>
            <a:r>
              <a:rPr sz="2000" dirty="0">
                <a:latin typeface="Times New Roman"/>
                <a:cs typeface="Times New Roman"/>
              </a:rPr>
              <a:t>pop </a:t>
            </a:r>
            <a:r>
              <a:rPr sz="2000" spc="-10" dirty="0">
                <a:latin typeface="Times New Roman"/>
                <a:cs typeface="Times New Roman"/>
              </a:rPr>
              <a:t>t</a:t>
            </a:r>
            <a:r>
              <a:rPr sz="2000" dirty="0">
                <a:latin typeface="Times New Roman"/>
                <a:cs typeface="Times New Roman"/>
              </a:rPr>
              <a:t>he</a:t>
            </a:r>
            <a:r>
              <a:rPr sz="2000" spc="-5" dirty="0">
                <a:latin typeface="Times New Roman"/>
                <a:cs typeface="Times New Roman"/>
              </a:rPr>
              <a:t> s</a:t>
            </a:r>
            <a:r>
              <a:rPr sz="2000" spc="-10" dirty="0">
                <a:latin typeface="Times New Roman"/>
                <a:cs typeface="Times New Roman"/>
              </a:rPr>
              <a:t>t</a:t>
            </a:r>
            <a:r>
              <a:rPr sz="2000" spc="-5" dirty="0">
                <a:latin typeface="Times New Roman"/>
                <a:cs typeface="Times New Roman"/>
              </a:rPr>
              <a:t>ac</a:t>
            </a:r>
            <a:r>
              <a:rPr sz="2000" dirty="0">
                <a:latin typeface="Times New Roman"/>
                <a:cs typeface="Times New Roman"/>
              </a:rPr>
              <a:t>k </a:t>
            </a:r>
            <a:r>
              <a:rPr sz="2000" spc="-5" dirty="0">
                <a:latin typeface="Times New Roman"/>
                <a:cs typeface="Times New Roman"/>
              </a:rPr>
              <a:t>f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5" dirty="0">
                <a:latin typeface="Times New Roman"/>
                <a:cs typeface="Times New Roman"/>
              </a:rPr>
              <a:t> t</a:t>
            </a:r>
            <a:r>
              <a:rPr sz="2000" spc="5" dirty="0">
                <a:latin typeface="Times New Roman"/>
                <a:cs typeface="Times New Roman"/>
              </a:rPr>
              <a:t>h</a:t>
            </a:r>
            <a:r>
              <a:rPr sz="2000" dirty="0">
                <a:latin typeface="Times New Roman"/>
                <a:cs typeface="Times New Roman"/>
              </a:rPr>
              <a:t>e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</a:t>
            </a:r>
            <a:r>
              <a:rPr sz="2000" spc="-15" dirty="0">
                <a:latin typeface="Times New Roman"/>
                <a:cs typeface="Times New Roman"/>
              </a:rPr>
              <a:t>i</a:t>
            </a:r>
            <a:r>
              <a:rPr sz="2000" spc="-5" dirty="0">
                <a:latin typeface="Times New Roman"/>
                <a:cs typeface="Times New Roman"/>
              </a:rPr>
              <a:t>gh</a:t>
            </a:r>
            <a:r>
              <a:rPr sz="2000" dirty="0">
                <a:latin typeface="Times New Roman"/>
                <a:cs typeface="Times New Roman"/>
              </a:rPr>
              <a:t>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</a:t>
            </a:r>
            <a:r>
              <a:rPr sz="2000" spc="-5" dirty="0">
                <a:latin typeface="Times New Roman"/>
                <a:cs typeface="Times New Roman"/>
              </a:rPr>
              <a:t>a</a:t>
            </a:r>
            <a:r>
              <a:rPr sz="2000" dirty="0">
                <a:latin typeface="Times New Roman"/>
                <a:cs typeface="Times New Roman"/>
              </a:rPr>
              <a:t>nd op</a:t>
            </a:r>
            <a:r>
              <a:rPr sz="2000" spc="-5" dirty="0">
                <a:latin typeface="Times New Roman"/>
                <a:cs typeface="Times New Roman"/>
              </a:rPr>
              <a:t>era</a:t>
            </a:r>
            <a:r>
              <a:rPr sz="2000" dirty="0">
                <a:latin typeface="Times New Roman"/>
                <a:cs typeface="Times New Roman"/>
              </a:rPr>
              <a:t>nd </a:t>
            </a:r>
            <a:r>
              <a:rPr sz="2000" spc="-5" dirty="0">
                <a:latin typeface="Times New Roman"/>
                <a:cs typeface="Times New Roman"/>
              </a:rPr>
              <a:t>(sa</a:t>
            </a:r>
            <a:r>
              <a:rPr sz="2000" spc="-130" dirty="0">
                <a:latin typeface="Times New Roman"/>
                <a:cs typeface="Times New Roman"/>
              </a:rPr>
              <a:t>y</a:t>
            </a:r>
            <a:r>
              <a:rPr sz="2000" dirty="0">
                <a:latin typeface="Times New Roman"/>
                <a:cs typeface="Times New Roman"/>
              </a:rPr>
              <a:t>,</a:t>
            </a:r>
            <a:r>
              <a:rPr sz="2000" spc="-130" dirty="0"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600"/>
                </a:solidFill>
                <a:latin typeface="Times New Roman"/>
                <a:cs typeface="Times New Roman"/>
              </a:rPr>
              <a:t>b</a:t>
            </a:r>
            <a:r>
              <a:rPr sz="2000" dirty="0">
                <a:latin typeface="Times New Roman"/>
                <a:cs typeface="Times New Roman"/>
              </a:rPr>
              <a:t>)</a:t>
            </a:r>
            <a:endParaRPr sz="2000">
              <a:latin typeface="Times New Roman"/>
              <a:cs typeface="Times New Roman"/>
            </a:endParaRPr>
          </a:p>
          <a:p>
            <a:pPr marL="697865">
              <a:lnSpc>
                <a:spcPct val="100000"/>
              </a:lnSpc>
              <a:spcBef>
                <a:spcPts val="290"/>
              </a:spcBef>
            </a:pPr>
            <a:r>
              <a:rPr sz="1300" spc="484" dirty="0">
                <a:solidFill>
                  <a:srgbClr val="0033CC"/>
                </a:solidFill>
                <a:latin typeface="Georgia"/>
                <a:cs typeface="Georgia"/>
              </a:rPr>
              <a:t>□</a:t>
            </a:r>
            <a:r>
              <a:rPr sz="2000" dirty="0">
                <a:latin typeface="Times New Roman"/>
                <a:cs typeface="Times New Roman"/>
              </a:rPr>
              <a:t>pop </a:t>
            </a:r>
            <a:r>
              <a:rPr sz="2000" spc="-10" dirty="0">
                <a:latin typeface="Times New Roman"/>
                <a:cs typeface="Times New Roman"/>
              </a:rPr>
              <a:t>t</a:t>
            </a:r>
            <a:r>
              <a:rPr sz="2000" dirty="0">
                <a:latin typeface="Times New Roman"/>
                <a:cs typeface="Times New Roman"/>
              </a:rPr>
              <a:t>he</a:t>
            </a:r>
            <a:r>
              <a:rPr sz="2000" spc="-5" dirty="0">
                <a:latin typeface="Times New Roman"/>
                <a:cs typeface="Times New Roman"/>
              </a:rPr>
              <a:t> s</a:t>
            </a:r>
            <a:r>
              <a:rPr sz="2000" spc="-10" dirty="0">
                <a:latin typeface="Times New Roman"/>
                <a:cs typeface="Times New Roman"/>
              </a:rPr>
              <a:t>t</a:t>
            </a:r>
            <a:r>
              <a:rPr sz="2000" spc="-5" dirty="0">
                <a:latin typeface="Times New Roman"/>
                <a:cs typeface="Times New Roman"/>
              </a:rPr>
              <a:t>ac</a:t>
            </a:r>
            <a:r>
              <a:rPr sz="2000" dirty="0">
                <a:latin typeface="Times New Roman"/>
                <a:cs typeface="Times New Roman"/>
              </a:rPr>
              <a:t>k </a:t>
            </a:r>
            <a:r>
              <a:rPr sz="2000" spc="-5" dirty="0">
                <a:latin typeface="Times New Roman"/>
                <a:cs typeface="Times New Roman"/>
              </a:rPr>
              <a:t>f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5" dirty="0">
                <a:latin typeface="Times New Roman"/>
                <a:cs typeface="Times New Roman"/>
              </a:rPr>
              <a:t> t</a:t>
            </a:r>
            <a:r>
              <a:rPr sz="2000" spc="5" dirty="0">
                <a:latin typeface="Times New Roman"/>
                <a:cs typeface="Times New Roman"/>
              </a:rPr>
              <a:t>h</a:t>
            </a:r>
            <a:r>
              <a:rPr sz="2000" dirty="0">
                <a:latin typeface="Times New Roman"/>
                <a:cs typeface="Times New Roman"/>
              </a:rPr>
              <a:t>e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l</a:t>
            </a:r>
            <a:r>
              <a:rPr sz="2000" spc="-5" dirty="0">
                <a:latin typeface="Times New Roman"/>
                <a:cs typeface="Times New Roman"/>
              </a:rPr>
              <a:t>ef</a:t>
            </a:r>
            <a:r>
              <a:rPr sz="2000" dirty="0">
                <a:latin typeface="Times New Roman"/>
                <a:cs typeface="Times New Roman"/>
              </a:rPr>
              <a:t>t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</a:t>
            </a:r>
            <a:r>
              <a:rPr sz="2000" spc="-5" dirty="0">
                <a:latin typeface="Times New Roman"/>
                <a:cs typeface="Times New Roman"/>
              </a:rPr>
              <a:t>a</a:t>
            </a:r>
            <a:r>
              <a:rPr sz="2000" dirty="0">
                <a:latin typeface="Times New Roman"/>
                <a:cs typeface="Times New Roman"/>
              </a:rPr>
              <a:t>nd op</a:t>
            </a:r>
            <a:r>
              <a:rPr sz="2000" spc="-5" dirty="0">
                <a:latin typeface="Times New Roman"/>
                <a:cs typeface="Times New Roman"/>
              </a:rPr>
              <a:t>era</a:t>
            </a:r>
            <a:r>
              <a:rPr sz="2000" dirty="0">
                <a:latin typeface="Times New Roman"/>
                <a:cs typeface="Times New Roman"/>
              </a:rPr>
              <a:t>nd </a:t>
            </a:r>
            <a:r>
              <a:rPr sz="2000" spc="-10" dirty="0">
                <a:latin typeface="Times New Roman"/>
                <a:cs typeface="Times New Roman"/>
              </a:rPr>
              <a:t>(s</a:t>
            </a:r>
            <a:r>
              <a:rPr sz="2000" spc="-5" dirty="0">
                <a:latin typeface="Times New Roman"/>
                <a:cs typeface="Times New Roman"/>
              </a:rPr>
              <a:t>a</a:t>
            </a:r>
            <a:r>
              <a:rPr sz="2000" spc="-135" dirty="0">
                <a:latin typeface="Times New Roman"/>
                <a:cs typeface="Times New Roman"/>
              </a:rPr>
              <a:t>y</a:t>
            </a:r>
            <a:r>
              <a:rPr sz="2000" dirty="0">
                <a:latin typeface="Times New Roman"/>
                <a:cs typeface="Times New Roman"/>
              </a:rPr>
              <a:t>,</a:t>
            </a:r>
            <a:r>
              <a:rPr sz="2000" spc="-145" dirty="0"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6600"/>
                </a:solidFill>
                <a:latin typeface="Times New Roman"/>
                <a:cs typeface="Times New Roman"/>
              </a:rPr>
              <a:t>a</a:t>
            </a:r>
            <a:r>
              <a:rPr sz="2000" dirty="0">
                <a:latin typeface="Times New Roman"/>
                <a:cs typeface="Times New Roman"/>
              </a:rPr>
              <a:t>)</a:t>
            </a:r>
            <a:endParaRPr sz="2000">
              <a:latin typeface="Times New Roman"/>
              <a:cs typeface="Times New Roman"/>
            </a:endParaRPr>
          </a:p>
          <a:p>
            <a:pPr marL="697865">
              <a:lnSpc>
                <a:spcPct val="100000"/>
              </a:lnSpc>
              <a:spcBef>
                <a:spcPts val="310"/>
              </a:spcBef>
            </a:pPr>
            <a:r>
              <a:rPr sz="1300" spc="484" dirty="0">
                <a:solidFill>
                  <a:srgbClr val="0033CC"/>
                </a:solidFill>
                <a:latin typeface="Georgia"/>
                <a:cs typeface="Georgia"/>
              </a:rPr>
              <a:t>□</a:t>
            </a:r>
            <a:r>
              <a:rPr sz="2000" spc="-5" dirty="0">
                <a:latin typeface="Times New Roman"/>
                <a:cs typeface="Times New Roman"/>
              </a:rPr>
              <a:t>a</a:t>
            </a:r>
            <a:r>
              <a:rPr sz="2000" dirty="0">
                <a:latin typeface="Times New Roman"/>
                <a:cs typeface="Times New Roman"/>
              </a:rPr>
              <a:t>pp</a:t>
            </a:r>
            <a:r>
              <a:rPr sz="2000" spc="-10" dirty="0">
                <a:latin typeface="Times New Roman"/>
                <a:cs typeface="Times New Roman"/>
              </a:rPr>
              <a:t>l</a:t>
            </a:r>
            <a:r>
              <a:rPr sz="2000" dirty="0">
                <a:latin typeface="Times New Roman"/>
                <a:cs typeface="Times New Roman"/>
              </a:rPr>
              <a:t>y </a:t>
            </a:r>
            <a:r>
              <a:rPr sz="2000" spc="-10" dirty="0">
                <a:latin typeface="Times New Roman"/>
                <a:cs typeface="Times New Roman"/>
              </a:rPr>
              <a:t>t</a:t>
            </a:r>
            <a:r>
              <a:rPr sz="2000" dirty="0">
                <a:latin typeface="Times New Roman"/>
                <a:cs typeface="Times New Roman"/>
              </a:rPr>
              <a:t>he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op</a:t>
            </a:r>
            <a:r>
              <a:rPr sz="2000" spc="-5" dirty="0">
                <a:latin typeface="Times New Roman"/>
                <a:cs typeface="Times New Roman"/>
              </a:rPr>
              <a:t>era</a:t>
            </a:r>
            <a:r>
              <a:rPr sz="2000" spc="-10" dirty="0">
                <a:latin typeface="Times New Roman"/>
                <a:cs typeface="Times New Roman"/>
              </a:rPr>
              <a:t>t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</a:t>
            </a:r>
            <a:r>
              <a:rPr sz="2000" dirty="0">
                <a:latin typeface="Times New Roman"/>
                <a:cs typeface="Times New Roman"/>
              </a:rPr>
              <a:t>o </a:t>
            </a:r>
            <a:r>
              <a:rPr sz="2000" spc="-10" dirty="0">
                <a:latin typeface="Times New Roman"/>
                <a:cs typeface="Times New Roman"/>
              </a:rPr>
              <a:t>t</a:t>
            </a:r>
            <a:r>
              <a:rPr sz="2000" dirty="0">
                <a:latin typeface="Times New Roman"/>
                <a:cs typeface="Times New Roman"/>
              </a:rPr>
              <a:t>he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</a:t>
            </a:r>
            <a:r>
              <a:rPr sz="2000" spc="5" dirty="0">
                <a:latin typeface="Times New Roman"/>
                <a:cs typeface="Times New Roman"/>
              </a:rPr>
              <a:t>w</a:t>
            </a:r>
            <a:r>
              <a:rPr sz="2000" dirty="0">
                <a:latin typeface="Times New Roman"/>
                <a:cs typeface="Times New Roman"/>
              </a:rPr>
              <a:t>o op</a:t>
            </a:r>
            <a:r>
              <a:rPr sz="2000" spc="-5" dirty="0">
                <a:latin typeface="Times New Roman"/>
                <a:cs typeface="Times New Roman"/>
              </a:rPr>
              <a:t>era</a:t>
            </a:r>
            <a:r>
              <a:rPr sz="2000" dirty="0">
                <a:latin typeface="Times New Roman"/>
                <a:cs typeface="Times New Roman"/>
              </a:rPr>
              <a:t>nds</a:t>
            </a:r>
            <a:r>
              <a:rPr sz="2000" spc="-5" dirty="0">
                <a:latin typeface="Times New Roman"/>
                <a:cs typeface="Times New Roman"/>
              </a:rPr>
              <a:t> (</a:t>
            </a:r>
            <a:r>
              <a:rPr sz="2000" spc="-5" dirty="0">
                <a:solidFill>
                  <a:srgbClr val="006600"/>
                </a:solidFill>
                <a:latin typeface="Times New Roman"/>
                <a:cs typeface="Times New Roman"/>
              </a:rPr>
              <a:t>res</a:t>
            </a:r>
            <a:r>
              <a:rPr sz="2000" dirty="0">
                <a:solidFill>
                  <a:srgbClr val="006600"/>
                </a:solidFill>
                <a:latin typeface="Times New Roman"/>
                <a:cs typeface="Times New Roman"/>
              </a:rPr>
              <a:t>u</a:t>
            </a:r>
            <a:r>
              <a:rPr sz="2000" spc="-10" dirty="0">
                <a:solidFill>
                  <a:srgbClr val="006600"/>
                </a:solidFill>
                <a:latin typeface="Times New Roman"/>
                <a:cs typeface="Times New Roman"/>
              </a:rPr>
              <a:t>l</a:t>
            </a:r>
            <a:r>
              <a:rPr sz="2000" dirty="0">
                <a:solidFill>
                  <a:srgbClr val="006600"/>
                </a:solidFill>
                <a:latin typeface="Times New Roman"/>
                <a:cs typeface="Times New Roman"/>
              </a:rPr>
              <a:t>t</a:t>
            </a:r>
            <a:r>
              <a:rPr sz="2000" spc="-10" dirty="0">
                <a:solidFill>
                  <a:srgbClr val="0066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600"/>
                </a:solidFill>
                <a:latin typeface="Times New Roman"/>
                <a:cs typeface="Times New Roman"/>
              </a:rPr>
              <a:t>=</a:t>
            </a:r>
            <a:r>
              <a:rPr sz="2000" spc="-5" dirty="0">
                <a:solidFill>
                  <a:srgbClr val="0066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600"/>
                </a:solidFill>
                <a:latin typeface="Times New Roman"/>
                <a:cs typeface="Times New Roman"/>
              </a:rPr>
              <a:t>a</a:t>
            </a:r>
            <a:r>
              <a:rPr sz="2000" spc="-5" dirty="0">
                <a:solidFill>
                  <a:srgbClr val="0066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600"/>
                </a:solidFill>
                <a:latin typeface="Times New Roman"/>
                <a:cs typeface="Times New Roman"/>
              </a:rPr>
              <a:t>op</a:t>
            </a:r>
            <a:r>
              <a:rPr sz="2000" spc="-145" dirty="0">
                <a:solidFill>
                  <a:srgbClr val="006600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6600"/>
                </a:solidFill>
                <a:latin typeface="Times New Roman"/>
                <a:cs typeface="Times New Roman"/>
              </a:rPr>
              <a:t>b</a:t>
            </a:r>
            <a:r>
              <a:rPr sz="2000" dirty="0">
                <a:latin typeface="Times New Roman"/>
                <a:cs typeface="Times New Roman"/>
              </a:rPr>
              <a:t>)</a:t>
            </a:r>
            <a:endParaRPr sz="2000">
              <a:latin typeface="Times New Roman"/>
              <a:cs typeface="Times New Roman"/>
            </a:endParaRPr>
          </a:p>
          <a:p>
            <a:pPr marL="697865">
              <a:lnSpc>
                <a:spcPct val="100000"/>
              </a:lnSpc>
              <a:spcBef>
                <a:spcPts val="290"/>
              </a:spcBef>
            </a:pPr>
            <a:r>
              <a:rPr sz="1300" spc="95" dirty="0">
                <a:solidFill>
                  <a:srgbClr val="0033CC"/>
                </a:solidFill>
                <a:latin typeface="Georgia"/>
                <a:cs typeface="Georgia"/>
              </a:rPr>
              <a:t>□</a:t>
            </a:r>
            <a:r>
              <a:rPr sz="2000" spc="95" dirty="0">
                <a:latin typeface="Times New Roman"/>
                <a:cs typeface="Times New Roman"/>
              </a:rPr>
              <a:t>push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6600"/>
                </a:solidFill>
                <a:latin typeface="Times New Roman"/>
                <a:cs typeface="Times New Roman"/>
              </a:rPr>
              <a:t>result</a:t>
            </a:r>
            <a:r>
              <a:rPr sz="2000" spc="-20" dirty="0">
                <a:solidFill>
                  <a:srgbClr val="006600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onto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the</a:t>
            </a:r>
            <a:r>
              <a:rPr sz="2000" spc="-8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stack</a:t>
            </a:r>
            <a:endParaRPr sz="20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310"/>
              </a:spcBef>
            </a:pPr>
            <a:r>
              <a:rPr sz="1300" spc="90" dirty="0">
                <a:solidFill>
                  <a:srgbClr val="CC0000"/>
                </a:solidFill>
                <a:latin typeface="Georgia"/>
                <a:cs typeface="Georgia"/>
              </a:rPr>
              <a:t>□</a:t>
            </a:r>
            <a:r>
              <a:rPr sz="2000" spc="90" dirty="0">
                <a:latin typeface="Times New Roman"/>
                <a:cs typeface="Times New Roman"/>
              </a:rPr>
              <a:t>when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the </a:t>
            </a:r>
            <a:r>
              <a:rPr sz="2000" spc="-10" dirty="0">
                <a:latin typeface="Times New Roman"/>
                <a:cs typeface="Times New Roman"/>
              </a:rPr>
              <a:t>expression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has been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exhausted </a:t>
            </a:r>
            <a:r>
              <a:rPr sz="2000" spc="-5" dirty="0">
                <a:latin typeface="Times New Roman"/>
                <a:cs typeface="Times New Roman"/>
              </a:rPr>
              <a:t>the </a:t>
            </a:r>
            <a:r>
              <a:rPr sz="2000" spc="-10" dirty="0">
                <a:latin typeface="Times New Roman"/>
                <a:cs typeface="Times New Roman"/>
              </a:rPr>
              <a:t>result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is the top</a:t>
            </a:r>
            <a:r>
              <a:rPr sz="2000" spc="50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(and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only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15" dirty="0">
                <a:latin typeface="Times New Roman"/>
                <a:cs typeface="Times New Roman"/>
              </a:rPr>
              <a:t>element)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5" dirty="0">
                <a:latin typeface="Times New Roman"/>
                <a:cs typeface="Times New Roman"/>
              </a:rPr>
              <a:t> the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stack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5" dirty="0"/>
              <a:t>1/19/22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348287" y="6428920"/>
            <a:ext cx="1496060" cy="189796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 sz="1200" spc="-5" dirty="0">
                <a:solidFill>
                  <a:srgbClr val="898989"/>
                </a:solidFill>
                <a:cs typeface="Calibri"/>
                <a:hlinkClick r:id="rId2"/>
              </a:rPr>
              <a:t>fahmid@cse.uiu.ac.bd</a:t>
            </a:r>
            <a:endParaRPr lang="en-US" sz="1200" dirty="0"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9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79195"/>
            <a:ext cx="191071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" dirty="0"/>
              <a:t>Example</a:t>
            </a:r>
            <a:r>
              <a:rPr sz="3600" spc="-85" dirty="0"/>
              <a:t> </a:t>
            </a:r>
            <a:r>
              <a:rPr sz="3600" dirty="0"/>
              <a:t>1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916939" y="1798827"/>
            <a:ext cx="650494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marR="5080" indent="-240665">
              <a:lnSpc>
                <a:spcPct val="113599"/>
              </a:lnSpc>
              <a:spcBef>
                <a:spcPts val="100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200" spc="-10" dirty="0">
                <a:latin typeface="Times New Roman"/>
                <a:cs typeface="Times New Roman"/>
              </a:rPr>
              <a:t>What does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the</a:t>
            </a:r>
            <a:r>
              <a:rPr sz="2200" spc="-10" dirty="0">
                <a:latin typeface="Times New Roman"/>
                <a:cs typeface="Times New Roman"/>
              </a:rPr>
              <a:t> following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postfix expression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evaluate</a:t>
            </a:r>
            <a:r>
              <a:rPr sz="2200" spc="8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to? </a:t>
            </a:r>
            <a:r>
              <a:rPr sz="2200" spc="-535" dirty="0"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432FF"/>
                </a:solidFill>
                <a:latin typeface="Times New Roman"/>
                <a:cs typeface="Times New Roman"/>
              </a:rPr>
              <a:t>6</a:t>
            </a:r>
            <a:r>
              <a:rPr sz="2200" spc="-15" dirty="0">
                <a:solidFill>
                  <a:srgbClr val="0432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432FF"/>
                </a:solidFill>
                <a:latin typeface="Times New Roman"/>
                <a:cs typeface="Times New Roman"/>
              </a:rPr>
              <a:t>3</a:t>
            </a:r>
            <a:r>
              <a:rPr sz="2200" spc="-15" dirty="0">
                <a:solidFill>
                  <a:srgbClr val="0432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432FF"/>
                </a:solidFill>
                <a:latin typeface="Times New Roman"/>
                <a:cs typeface="Times New Roman"/>
              </a:rPr>
              <a:t>2</a:t>
            </a:r>
            <a:r>
              <a:rPr sz="2200" spc="-15" dirty="0">
                <a:solidFill>
                  <a:srgbClr val="0432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432FF"/>
                </a:solidFill>
                <a:latin typeface="Times New Roman"/>
                <a:cs typeface="Times New Roman"/>
              </a:rPr>
              <a:t>+</a:t>
            </a:r>
            <a:r>
              <a:rPr sz="2200" spc="-30" dirty="0">
                <a:solidFill>
                  <a:srgbClr val="0432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432FF"/>
                </a:solidFill>
                <a:latin typeface="Times New Roman"/>
                <a:cs typeface="Times New Roman"/>
              </a:rPr>
              <a:t>*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5" dirty="0"/>
              <a:t>1/19/22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348287" y="6428920"/>
            <a:ext cx="1496060" cy="189796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 sz="1200" spc="-5" dirty="0" smtClean="0">
                <a:solidFill>
                  <a:srgbClr val="898989"/>
                </a:solidFill>
                <a:latin typeface="Calibri"/>
                <a:cs typeface="Calibri"/>
                <a:hlinkClick r:id="rId2"/>
              </a:rPr>
              <a:t>fahmid</a:t>
            </a:r>
            <a:r>
              <a:rPr sz="1200" spc="-5" dirty="0" smtClean="0">
                <a:solidFill>
                  <a:srgbClr val="898989"/>
                </a:solidFill>
                <a:latin typeface="Calibri"/>
                <a:cs typeface="Calibri"/>
                <a:hlinkClick r:id="rId2"/>
              </a:rPr>
              <a:t>@cse.uiu.ac.bd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10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79195"/>
            <a:ext cx="191071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" dirty="0"/>
              <a:t>Example</a:t>
            </a:r>
            <a:r>
              <a:rPr sz="3600" spc="-85" dirty="0"/>
              <a:t> </a:t>
            </a:r>
            <a:r>
              <a:rPr sz="3600" dirty="0"/>
              <a:t>2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916939" y="1798827"/>
            <a:ext cx="650494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marR="5080" indent="-240665">
              <a:lnSpc>
                <a:spcPct val="113599"/>
              </a:lnSpc>
              <a:spcBef>
                <a:spcPts val="100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200" spc="-10" dirty="0">
                <a:latin typeface="Times New Roman"/>
                <a:cs typeface="Times New Roman"/>
              </a:rPr>
              <a:t>What does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the</a:t>
            </a:r>
            <a:r>
              <a:rPr sz="2200" spc="-10" dirty="0">
                <a:latin typeface="Times New Roman"/>
                <a:cs typeface="Times New Roman"/>
              </a:rPr>
              <a:t> following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postfix expression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evaluate</a:t>
            </a:r>
            <a:r>
              <a:rPr sz="2200" spc="8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to? </a:t>
            </a:r>
            <a:r>
              <a:rPr sz="2200" spc="-535" dirty="0"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432FF"/>
                </a:solidFill>
                <a:latin typeface="Times New Roman"/>
                <a:cs typeface="Times New Roman"/>
              </a:rPr>
              <a:t>2</a:t>
            </a:r>
            <a:r>
              <a:rPr sz="2200" spc="-20" dirty="0">
                <a:solidFill>
                  <a:srgbClr val="0432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432FF"/>
                </a:solidFill>
                <a:latin typeface="Times New Roman"/>
                <a:cs typeface="Times New Roman"/>
              </a:rPr>
              <a:t>3</a:t>
            </a:r>
            <a:r>
              <a:rPr sz="2200" spc="-15" dirty="0">
                <a:solidFill>
                  <a:srgbClr val="0432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432FF"/>
                </a:solidFill>
                <a:latin typeface="Times New Roman"/>
                <a:cs typeface="Times New Roman"/>
              </a:rPr>
              <a:t>4</a:t>
            </a:r>
            <a:r>
              <a:rPr sz="2200" spc="-10" dirty="0">
                <a:solidFill>
                  <a:srgbClr val="0432F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432FF"/>
                </a:solidFill>
                <a:latin typeface="Times New Roman"/>
                <a:cs typeface="Times New Roman"/>
              </a:rPr>
              <a:t>^</a:t>
            </a:r>
            <a:r>
              <a:rPr sz="2200" b="1" spc="-20" dirty="0">
                <a:solidFill>
                  <a:srgbClr val="0432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432FF"/>
                </a:solidFill>
                <a:latin typeface="Times New Roman"/>
                <a:cs typeface="Times New Roman"/>
              </a:rPr>
              <a:t>^</a:t>
            </a:r>
            <a:r>
              <a:rPr sz="2200" spc="-10" dirty="0">
                <a:solidFill>
                  <a:srgbClr val="0432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432FF"/>
                </a:solidFill>
                <a:latin typeface="Times New Roman"/>
                <a:cs typeface="Times New Roman"/>
              </a:rPr>
              <a:t>5</a:t>
            </a:r>
            <a:r>
              <a:rPr sz="2200" spc="-15" dirty="0">
                <a:solidFill>
                  <a:srgbClr val="0432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432FF"/>
                </a:solidFill>
                <a:latin typeface="Times New Roman"/>
                <a:cs typeface="Times New Roman"/>
              </a:rPr>
              <a:t>7</a:t>
            </a:r>
            <a:r>
              <a:rPr sz="2200" spc="-20" dirty="0">
                <a:solidFill>
                  <a:srgbClr val="0432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432FF"/>
                </a:solidFill>
                <a:latin typeface="Times New Roman"/>
                <a:cs typeface="Times New Roman"/>
              </a:rPr>
              <a:t>*</a:t>
            </a:r>
            <a:r>
              <a:rPr sz="2200" spc="5" dirty="0">
                <a:solidFill>
                  <a:srgbClr val="0432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432FF"/>
                </a:solidFill>
                <a:latin typeface="Times New Roman"/>
                <a:cs typeface="Times New Roman"/>
              </a:rPr>
              <a:t>+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898989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744</Words>
  <Application>Microsoft Office PowerPoint</Application>
  <PresentationFormat>Widescreen</PresentationFormat>
  <Paragraphs>108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 MT</vt:lpstr>
      <vt:lpstr>Calibri</vt:lpstr>
      <vt:lpstr>Calibri Light</vt:lpstr>
      <vt:lpstr>Georgia</vt:lpstr>
      <vt:lpstr>Tahoma</vt:lpstr>
      <vt:lpstr>Times New Roman</vt:lpstr>
      <vt:lpstr>Office Theme</vt:lpstr>
      <vt:lpstr>CSE 2215: Data Structure &amp;  Algorithms - I Application of Stack</vt:lpstr>
      <vt:lpstr>Infix Postfix Expression</vt:lpstr>
      <vt:lpstr>Mathematical Calculations</vt:lpstr>
      <vt:lpstr>Algorithm: Convert Infix to Postfix</vt:lpstr>
      <vt:lpstr>Example 1</vt:lpstr>
      <vt:lpstr>Example 2</vt:lpstr>
      <vt:lpstr>Practice</vt:lpstr>
      <vt:lpstr>Evaluation of Postfix Expression</vt:lpstr>
      <vt:lpstr>Example 1</vt:lpstr>
      <vt:lpstr>Example 2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2215: Data Structure &amp;  Algorithms - I Application of Stack</dc:title>
  <cp:lastModifiedBy>Fahmid Rifat</cp:lastModifiedBy>
  <cp:revision>1</cp:revision>
  <dcterms:created xsi:type="dcterms:W3CDTF">2022-09-19T17:37:05Z</dcterms:created>
  <dcterms:modified xsi:type="dcterms:W3CDTF">2023-08-13T20:46:47Z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2022-01-19T00:00:00Z</vt:filetime>
  </property>
  <property fmtid="{D5CDD505-2E9C-101B-9397-08002B2CF9AE}" pid="3" name="LastSaved">
    <vt:filetime>2022-09-19T00:00:00Z</vt:filetime>
  </property>
</Properties>
</file>