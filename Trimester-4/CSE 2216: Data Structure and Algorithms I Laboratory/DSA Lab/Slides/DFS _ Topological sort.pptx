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320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21" r:id="rId33"/>
    <p:sldId id="308" r:id="rId34"/>
    <p:sldId id="317" r:id="rId35"/>
    <p:sldId id="31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9" r:id="rId45"/>
    <p:sldId id="270" r:id="rId4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D3A"/>
    <a:srgbClr val="7AF88F"/>
    <a:srgbClr val="B9B9B9"/>
    <a:srgbClr val="F9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67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0F817-F997-4BDC-AC74-26B65EFB376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5022-0398-4A5B-92D0-8DCAEC3C8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8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013FE-3E8F-4A2D-9857-A302187692DF}" type="datetime1">
              <a:rPr lang="en-US" smtClean="0"/>
              <a:t>7/23/2023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</p:spPr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8EA87-92B3-49F8-BEED-A39CD657838F}" type="datetime1">
              <a:rPr lang="en-US" smtClean="0"/>
              <a:t>7/23/2023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B0C87-A203-4D24-AA36-C5C19EA28595}" type="datetime1">
              <a:rPr lang="en-US" smtClean="0"/>
              <a:t>7/23/2023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768A0-8833-4E82-8460-0ACB2CC30344}" type="datetime1">
              <a:rPr lang="en-US" smtClean="0"/>
              <a:t>7/23/2023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90723"/>
            <a:ext cx="12192000" cy="635"/>
          </a:xfrm>
          <a:custGeom>
            <a:avLst/>
            <a:gdLst/>
            <a:ahLst/>
            <a:cxnLst/>
            <a:rect l="l" t="t" r="r" b="b"/>
            <a:pathLst>
              <a:path w="9144000" h="635">
                <a:moveTo>
                  <a:pt x="0" y="384"/>
                </a:moveTo>
                <a:lnTo>
                  <a:pt x="9143999" y="384"/>
                </a:lnTo>
                <a:lnTo>
                  <a:pt x="9143999" y="0"/>
                </a:lnTo>
                <a:lnTo>
                  <a:pt x="0" y="0"/>
                </a:lnTo>
                <a:lnTo>
                  <a:pt x="0" y="38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9"/>
            <a:ext cx="12192000" cy="4633595"/>
          </a:xfrm>
          <a:custGeom>
            <a:avLst/>
            <a:gdLst/>
            <a:ahLst/>
            <a:cxnLst/>
            <a:rect l="l" t="t" r="r" b="b"/>
            <a:pathLst>
              <a:path w="9144000" h="4633595">
                <a:moveTo>
                  <a:pt x="0" y="4633564"/>
                </a:moveTo>
                <a:lnTo>
                  <a:pt x="9143999" y="4633564"/>
                </a:lnTo>
                <a:lnTo>
                  <a:pt x="9143999" y="0"/>
                </a:lnTo>
                <a:lnTo>
                  <a:pt x="0" y="0"/>
                </a:lnTo>
                <a:lnTo>
                  <a:pt x="0" y="463356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4633565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5CF0F-EE22-4498-969A-8EF917E0D473}" type="datetime1">
              <a:rPr lang="en-US" smtClean="0"/>
              <a:t>7/23/2023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32408"/>
            <a:ext cx="12192000" cy="1270"/>
          </a:xfrm>
          <a:custGeom>
            <a:avLst/>
            <a:gdLst/>
            <a:ahLst/>
            <a:cxnLst/>
            <a:rect l="l" t="t" r="r" b="b"/>
            <a:pathLst>
              <a:path w="9144000" h="1269">
                <a:moveTo>
                  <a:pt x="0" y="890"/>
                </a:moveTo>
                <a:lnTo>
                  <a:pt x="9143999" y="890"/>
                </a:lnTo>
                <a:lnTo>
                  <a:pt x="9143999" y="0"/>
                </a:lnTo>
                <a:lnTo>
                  <a:pt x="0" y="0"/>
                </a:lnTo>
                <a:lnTo>
                  <a:pt x="0" y="890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475740"/>
          </a:xfrm>
          <a:custGeom>
            <a:avLst/>
            <a:gdLst/>
            <a:ahLst/>
            <a:cxnLst/>
            <a:rect l="l" t="t" r="r" b="b"/>
            <a:pathLst>
              <a:path w="9144000" h="1475740">
                <a:moveTo>
                  <a:pt x="0" y="1475258"/>
                </a:moveTo>
                <a:lnTo>
                  <a:pt x="9143999" y="1475258"/>
                </a:lnTo>
                <a:lnTo>
                  <a:pt x="9143999" y="0"/>
                </a:lnTo>
                <a:lnTo>
                  <a:pt x="0" y="0"/>
                </a:lnTo>
                <a:lnTo>
                  <a:pt x="0" y="1475258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1475259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8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E7372-B65B-4B36-9484-7607FFA746BD}" type="datetime1">
              <a:rPr lang="en-US" smtClean="0"/>
              <a:t>7/23/2023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19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400" y="2885995"/>
            <a:ext cx="922336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6000" b="1" spc="-5" dirty="0" smtClean="0">
                <a:solidFill>
                  <a:srgbClr val="FFFFFF"/>
                </a:solidFill>
                <a:latin typeface="Arial"/>
                <a:cs typeface="Arial"/>
              </a:rPr>
              <a:t>DFS &amp; Topological Sorting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2832" y="4019619"/>
            <a:ext cx="7699375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>
              <a:spcBef>
                <a:spcPts val="2560"/>
              </a:spcBef>
            </a:pP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CSE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2215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Lecture</a:t>
            </a:r>
            <a:r>
              <a:rPr sz="3000" spc="-15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dirty="0" smtClean="0">
                <a:solidFill>
                  <a:srgbClr val="2388DB"/>
                </a:solidFill>
                <a:latin typeface="Arial MT"/>
                <a:cs typeface="Arial MT"/>
              </a:rPr>
              <a:t>15</a:t>
            </a:r>
            <a:r>
              <a:rPr sz="3000" spc="-20" dirty="0" smtClean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Summer 2023</a:t>
            </a:r>
          </a:p>
          <a:p>
            <a:pPr marL="12700">
              <a:spcBef>
                <a:spcPts val="2560"/>
              </a:spcBef>
            </a:pPr>
            <a:r>
              <a:rPr lang="en-US" spc="-5" dirty="0" smtClean="0">
                <a:solidFill>
                  <a:srgbClr val="2388DB"/>
                </a:solidFill>
                <a:latin typeface="Arial MT"/>
                <a:cs typeface="Arial MT"/>
              </a:rPr>
              <a:t>Instructor </a:t>
            </a:r>
            <a:r>
              <a:rPr lang="en-US" spc="-5" dirty="0">
                <a:solidFill>
                  <a:srgbClr val="2388DB"/>
                </a:solidFill>
                <a:latin typeface="Arial MT"/>
                <a:cs typeface="Arial MT"/>
              </a:rPr>
              <a:t>: </a:t>
            </a:r>
            <a:r>
              <a:rPr lang="en-US" dirty="0"/>
              <a:t>Fahmid Al </a:t>
            </a:r>
            <a:r>
              <a:rPr lang="en-US" dirty="0" err="1"/>
              <a:t>Rifat</a:t>
            </a:r>
            <a:r>
              <a:rPr lang="en-US" dirty="0"/>
              <a:t>, Lecturer, Dept. of CSE , UIU</a:t>
            </a:r>
            <a:endParaRPr lang="en-US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</p:spPr>
        <p:txBody>
          <a:bodyPr/>
          <a:lstStyle/>
          <a:p>
            <a:r>
              <a:rPr lang="en-US" dirty="0" smtClean="0"/>
              <a:t>fahmid</a:t>
            </a:r>
            <a:r>
              <a:rPr lang="en-US" dirty="0" smtClean="0"/>
              <a:t>@cse.uiu.ac.bd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704595"/>
            <a:ext cx="548386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Depth-First</a:t>
            </a:r>
            <a:r>
              <a:rPr sz="3400" spc="-40" dirty="0"/>
              <a:t> </a:t>
            </a:r>
            <a:r>
              <a:rPr sz="3400" spc="-15" dirty="0"/>
              <a:t>Search</a:t>
            </a:r>
            <a:endParaRPr sz="34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84274" y="1805940"/>
            <a:ext cx="10474325" cy="201465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Depth-first</a:t>
            </a:r>
            <a:r>
              <a:rPr sz="2000" i="1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i="1" spc="-20" dirty="0">
                <a:solidFill>
                  <a:srgbClr val="CC0000"/>
                </a:solidFill>
                <a:latin typeface="Arial MT"/>
                <a:cs typeface="Times New Roman"/>
              </a:rPr>
              <a:t>search </a:t>
            </a:r>
            <a:r>
              <a:rPr sz="2000" spc="-20" dirty="0">
                <a:latin typeface="Arial MT"/>
                <a:cs typeface="Times New Roman"/>
              </a:rPr>
              <a:t>is</a:t>
            </a:r>
            <a:r>
              <a:rPr sz="2000" spc="-6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another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strategy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for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exploring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114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graph</a:t>
            </a:r>
            <a:endParaRPr sz="20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000" spc="-15" dirty="0">
                <a:latin typeface="Arial MT"/>
                <a:cs typeface="Times New Roman"/>
              </a:rPr>
              <a:t>Explore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“deeper” </a:t>
            </a:r>
            <a:r>
              <a:rPr sz="2000" spc="-20" dirty="0">
                <a:latin typeface="Arial MT"/>
                <a:cs typeface="Times New Roman"/>
              </a:rPr>
              <a:t>in</a:t>
            </a:r>
            <a:r>
              <a:rPr sz="2000" spc="-5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graph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whenever</a:t>
            </a:r>
            <a:r>
              <a:rPr sz="2000" spc="13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possible</a:t>
            </a:r>
            <a:endParaRPr sz="2000" dirty="0">
              <a:latin typeface="Arial MT"/>
              <a:cs typeface="Times New Roman"/>
            </a:endParaRPr>
          </a:p>
          <a:p>
            <a:pPr marL="384175" marR="5080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000" spc="-5" dirty="0">
                <a:latin typeface="Arial MT"/>
                <a:cs typeface="Times New Roman"/>
              </a:rPr>
              <a:t>Edges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are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explored </a:t>
            </a:r>
            <a:r>
              <a:rPr sz="2000" dirty="0">
                <a:latin typeface="Arial MT"/>
                <a:cs typeface="Times New Roman"/>
              </a:rPr>
              <a:t>out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most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recently discovered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vertex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v </a:t>
            </a:r>
            <a:r>
              <a:rPr sz="2000" spc="-10" dirty="0">
                <a:latin typeface="Arial MT"/>
                <a:cs typeface="Times New Roman"/>
              </a:rPr>
              <a:t>that </a:t>
            </a:r>
            <a:r>
              <a:rPr sz="2000" spc="-20" dirty="0">
                <a:latin typeface="Arial MT"/>
                <a:cs typeface="Times New Roman"/>
              </a:rPr>
              <a:t>still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has</a:t>
            </a:r>
            <a:r>
              <a:rPr sz="2000" spc="-15" dirty="0">
                <a:latin typeface="Arial MT"/>
                <a:cs typeface="Times New Roman"/>
              </a:rPr>
              <a:t> unexplored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edges</a:t>
            </a:r>
            <a:endParaRPr sz="2000" dirty="0">
              <a:latin typeface="Arial MT"/>
              <a:cs typeface="Times New Roman"/>
            </a:endParaRPr>
          </a:p>
          <a:p>
            <a:pPr marL="384175" marR="412115" lvl="1" indent="-143510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000" spc="-15" dirty="0">
                <a:latin typeface="Arial MT"/>
                <a:cs typeface="Times New Roman"/>
              </a:rPr>
              <a:t>When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all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20" dirty="0">
                <a:latin typeface="Arial MT"/>
                <a:cs typeface="Times New Roman"/>
              </a:rPr>
              <a:t> </a:t>
            </a:r>
            <a:r>
              <a:rPr sz="2000" i="1" spc="-50" dirty="0">
                <a:latin typeface="Arial MT"/>
                <a:cs typeface="Times New Roman"/>
              </a:rPr>
              <a:t>v</a:t>
            </a:r>
            <a:r>
              <a:rPr sz="2000" spc="-50" dirty="0">
                <a:latin typeface="Arial MT"/>
                <a:cs typeface="Times New Roman"/>
              </a:rPr>
              <a:t>’s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edges </a:t>
            </a:r>
            <a:r>
              <a:rPr sz="2000" spc="-15" dirty="0">
                <a:latin typeface="Arial MT"/>
                <a:cs typeface="Times New Roman"/>
              </a:rPr>
              <a:t>have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been </a:t>
            </a:r>
            <a:r>
              <a:rPr sz="2000" spc="-15" dirty="0">
                <a:latin typeface="Arial MT"/>
                <a:cs typeface="Times New Roman"/>
              </a:rPr>
              <a:t>explored,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backtrack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vertex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from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which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v </a:t>
            </a:r>
            <a:r>
              <a:rPr sz="2000" spc="-5" dirty="0">
                <a:latin typeface="Arial MT"/>
                <a:cs typeface="Times New Roman"/>
              </a:rPr>
              <a:t>was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discovered</a:t>
            </a:r>
            <a:endParaRPr sz="2000" dirty="0">
              <a:latin typeface="Arial MT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6818" y="4549140"/>
            <a:ext cx="8450581" cy="1052851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245" dirty="0">
                <a:latin typeface="Arial MT"/>
                <a:cs typeface="Times New Roman"/>
              </a:rPr>
              <a:t>V</a:t>
            </a:r>
            <a:r>
              <a:rPr sz="2000" spc="-30" dirty="0">
                <a:latin typeface="Arial MT"/>
                <a:cs typeface="Times New Roman"/>
              </a:rPr>
              <a:t>er</a:t>
            </a:r>
            <a:r>
              <a:rPr sz="2000" spc="-35" dirty="0">
                <a:latin typeface="Arial MT"/>
                <a:cs typeface="Times New Roman"/>
              </a:rPr>
              <a:t>ti</a:t>
            </a:r>
            <a:r>
              <a:rPr sz="2000" spc="-25" dirty="0">
                <a:latin typeface="Arial MT"/>
                <a:cs typeface="Times New Roman"/>
              </a:rPr>
              <a:t>ce</a:t>
            </a:r>
            <a:r>
              <a:rPr sz="2000" dirty="0">
                <a:latin typeface="Arial MT"/>
                <a:cs typeface="Times New Roman"/>
              </a:rPr>
              <a:t>s</a:t>
            </a:r>
            <a:r>
              <a:rPr sz="2000" spc="-60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i</a:t>
            </a:r>
            <a:r>
              <a:rPr sz="2000" spc="-15" dirty="0">
                <a:latin typeface="Arial MT"/>
                <a:cs typeface="Times New Roman"/>
              </a:rPr>
              <a:t>n</a:t>
            </a:r>
            <a:r>
              <a:rPr sz="2000" spc="-25" dirty="0">
                <a:latin typeface="Arial MT"/>
                <a:cs typeface="Times New Roman"/>
              </a:rPr>
              <a:t>iti</a:t>
            </a:r>
            <a:r>
              <a:rPr sz="2000" spc="-15" dirty="0">
                <a:latin typeface="Arial MT"/>
                <a:cs typeface="Times New Roman"/>
              </a:rPr>
              <a:t>a</a:t>
            </a:r>
            <a:r>
              <a:rPr sz="2000" spc="-25" dirty="0">
                <a:latin typeface="Arial MT"/>
                <a:cs typeface="Times New Roman"/>
              </a:rPr>
              <a:t>ll</a:t>
            </a:r>
            <a:r>
              <a:rPr sz="2000" dirty="0">
                <a:latin typeface="Arial MT"/>
                <a:cs typeface="Times New Roman"/>
              </a:rPr>
              <a:t>y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co</a:t>
            </a:r>
            <a:r>
              <a:rPr sz="2000" spc="-15" dirty="0">
                <a:latin typeface="Arial MT"/>
                <a:cs typeface="Times New Roman"/>
              </a:rPr>
              <a:t>l</a:t>
            </a:r>
            <a:r>
              <a:rPr sz="2000" spc="-10" dirty="0">
                <a:latin typeface="Arial MT"/>
                <a:cs typeface="Times New Roman"/>
              </a:rPr>
              <a:t>ore</a:t>
            </a:r>
            <a:r>
              <a:rPr sz="2000" dirty="0">
                <a:latin typeface="Arial MT"/>
                <a:cs typeface="Times New Roman"/>
              </a:rPr>
              <a:t>d</a:t>
            </a:r>
            <a:r>
              <a:rPr sz="2000" spc="9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w</a:t>
            </a:r>
            <a:r>
              <a:rPr sz="2000" spc="-15" dirty="0">
                <a:latin typeface="Arial MT"/>
                <a:cs typeface="Times New Roman"/>
              </a:rPr>
              <a:t>h</a:t>
            </a:r>
            <a:r>
              <a:rPr sz="2000" spc="-20" dirty="0">
                <a:latin typeface="Arial MT"/>
                <a:cs typeface="Times New Roman"/>
              </a:rPr>
              <a:t>it</a:t>
            </a:r>
            <a:r>
              <a:rPr sz="2000" dirty="0">
                <a:latin typeface="Arial MT"/>
                <a:cs typeface="Times New Roman"/>
              </a:rPr>
              <a:t>e</a:t>
            </a:r>
          </a:p>
          <a:p>
            <a:pPr marL="184150" indent="-17145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10" dirty="0">
                <a:latin typeface="Arial MT"/>
                <a:cs typeface="Times New Roman"/>
              </a:rPr>
              <a:t>Then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colored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 smtClean="0">
                <a:latin typeface="Arial MT"/>
                <a:cs typeface="Times New Roman"/>
              </a:rPr>
              <a:t>gr</a:t>
            </a:r>
            <a:r>
              <a:rPr lang="en-US" sz="2000" spc="-5" dirty="0" smtClean="0">
                <a:latin typeface="Arial MT"/>
                <a:cs typeface="Times New Roman"/>
              </a:rPr>
              <a:t>a</a:t>
            </a:r>
            <a:r>
              <a:rPr sz="2000" spc="-5" dirty="0" smtClean="0">
                <a:latin typeface="Arial MT"/>
                <a:cs typeface="Times New Roman"/>
              </a:rPr>
              <a:t>y</a:t>
            </a:r>
            <a:r>
              <a:rPr sz="2000" spc="-10" dirty="0" smtClean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when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discovered</a:t>
            </a:r>
            <a:endParaRPr sz="20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10" dirty="0">
                <a:latin typeface="Arial MT"/>
                <a:cs typeface="Times New Roman"/>
              </a:rPr>
              <a:t>T</a:t>
            </a:r>
            <a:r>
              <a:rPr sz="2000" spc="-15" dirty="0">
                <a:latin typeface="Arial MT"/>
                <a:cs typeface="Times New Roman"/>
              </a:rPr>
              <a:t>he</a:t>
            </a:r>
            <a:r>
              <a:rPr sz="2000" dirty="0">
                <a:latin typeface="Arial MT"/>
                <a:cs typeface="Times New Roman"/>
              </a:rPr>
              <a:t>n</a:t>
            </a:r>
            <a:r>
              <a:rPr sz="2000" spc="-20" dirty="0">
                <a:latin typeface="Arial MT"/>
                <a:cs typeface="Times New Roman"/>
              </a:rPr>
              <a:t> b</a:t>
            </a:r>
            <a:r>
              <a:rPr sz="2000" spc="-30" dirty="0">
                <a:latin typeface="Arial MT"/>
                <a:cs typeface="Times New Roman"/>
              </a:rPr>
              <a:t>l</a:t>
            </a:r>
            <a:r>
              <a:rPr sz="2000" spc="-20" dirty="0">
                <a:latin typeface="Arial MT"/>
                <a:cs typeface="Times New Roman"/>
              </a:rPr>
              <a:t>ac</a:t>
            </a:r>
            <a:r>
              <a:rPr sz="2000" dirty="0">
                <a:latin typeface="Arial MT"/>
                <a:cs typeface="Times New Roman"/>
              </a:rPr>
              <a:t>k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w</a:t>
            </a:r>
            <a:r>
              <a:rPr sz="2000" spc="-15" dirty="0">
                <a:latin typeface="Arial MT"/>
                <a:cs typeface="Times New Roman"/>
              </a:rPr>
              <a:t>h</a:t>
            </a:r>
            <a:r>
              <a:rPr sz="2000" spc="-10" dirty="0">
                <a:latin typeface="Arial MT"/>
                <a:cs typeface="Times New Roman"/>
              </a:rPr>
              <a:t>e</a:t>
            </a:r>
            <a:r>
              <a:rPr sz="2000" dirty="0">
                <a:latin typeface="Arial MT"/>
                <a:cs typeface="Times New Roman"/>
              </a:rPr>
              <a:t>n</a:t>
            </a:r>
            <a:r>
              <a:rPr sz="2000" spc="-170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f</a:t>
            </a:r>
            <a:r>
              <a:rPr sz="2000" spc="-30" dirty="0">
                <a:latin typeface="Arial MT"/>
                <a:cs typeface="Times New Roman"/>
              </a:rPr>
              <a:t>i</a:t>
            </a:r>
            <a:r>
              <a:rPr sz="2000" spc="-20" dirty="0">
                <a:latin typeface="Arial MT"/>
                <a:cs typeface="Times New Roman"/>
              </a:rPr>
              <a:t>n</a:t>
            </a:r>
            <a:r>
              <a:rPr sz="2000" spc="-30" dirty="0">
                <a:latin typeface="Arial MT"/>
                <a:cs typeface="Times New Roman"/>
              </a:rPr>
              <a:t>i</a:t>
            </a:r>
            <a:r>
              <a:rPr sz="2000" spc="-25" dirty="0">
                <a:latin typeface="Arial MT"/>
                <a:cs typeface="Times New Roman"/>
              </a:rPr>
              <a:t>s</a:t>
            </a:r>
            <a:r>
              <a:rPr sz="2000" spc="-20" dirty="0">
                <a:latin typeface="Arial MT"/>
                <a:cs typeface="Times New Roman"/>
              </a:rPr>
              <a:t>h</a:t>
            </a:r>
            <a:r>
              <a:rPr sz="2000" spc="-25" dirty="0">
                <a:latin typeface="Arial MT"/>
                <a:cs typeface="Times New Roman"/>
              </a:rPr>
              <a:t>e</a:t>
            </a:r>
            <a:r>
              <a:rPr sz="2000" dirty="0">
                <a:latin typeface="Arial MT"/>
                <a:cs typeface="Times New Roman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4628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5304" y="2363007"/>
            <a:ext cx="6326310" cy="349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0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825672" y="2101532"/>
            <a:ext cx="6541134" cy="3757929"/>
            <a:chOff x="2825672" y="2101532"/>
            <a:chExt cx="6541134" cy="37579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5304" y="2363007"/>
              <a:ext cx="6326310" cy="34964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672" y="2101532"/>
              <a:ext cx="6540653" cy="37579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64365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825672" y="2101532"/>
            <a:ext cx="6541134" cy="3810635"/>
            <a:chOff x="2825672" y="2101532"/>
            <a:chExt cx="6541134" cy="3810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5304" y="2363007"/>
              <a:ext cx="6326310" cy="34964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672" y="2101532"/>
              <a:ext cx="6540653" cy="37579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2753" y="2102764"/>
              <a:ext cx="6276827" cy="3809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52789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816726" y="2070002"/>
            <a:ext cx="6550025" cy="3842385"/>
            <a:chOff x="2816726" y="2070002"/>
            <a:chExt cx="6550025" cy="3842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5304" y="2363007"/>
              <a:ext cx="6326310" cy="34964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672" y="2101532"/>
              <a:ext cx="6540653" cy="37579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2754" y="2102764"/>
              <a:ext cx="6276827" cy="38092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6726" y="2070002"/>
              <a:ext cx="6443944" cy="3671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562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2926" y="2175640"/>
            <a:ext cx="6150052" cy="336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666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2715" y="2196662"/>
            <a:ext cx="6166568" cy="349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37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7309" y="2026197"/>
            <a:ext cx="6116274" cy="334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73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5719" y="1912883"/>
            <a:ext cx="6236930" cy="350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783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016" y="1953446"/>
            <a:ext cx="6379525" cy="348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51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1757" y="1871991"/>
            <a:ext cx="6499968" cy="388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48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1319" y="1835572"/>
            <a:ext cx="6537383" cy="367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8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2027" y="1889792"/>
            <a:ext cx="6593410" cy="360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43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0475" y="1965279"/>
            <a:ext cx="6576900" cy="35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933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0506" y="1974986"/>
            <a:ext cx="6454497" cy="363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58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270" y="1975944"/>
            <a:ext cx="6354868" cy="357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09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2978" y="1950965"/>
            <a:ext cx="6409683" cy="359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054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497" y="1957058"/>
            <a:ext cx="6533547" cy="366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655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40" dirty="0"/>
              <a:t> </a:t>
            </a:r>
            <a:r>
              <a:rPr sz="3400" dirty="0"/>
              <a:t>–</a:t>
            </a:r>
            <a:r>
              <a:rPr sz="3400" spc="-40" dirty="0"/>
              <a:t> </a:t>
            </a:r>
            <a:r>
              <a:rPr sz="3400" spc="-15" dirty="0"/>
              <a:t>Example</a:t>
            </a:r>
            <a:r>
              <a:rPr sz="3400" spc="-40" dirty="0"/>
              <a:t> </a:t>
            </a:r>
            <a:r>
              <a:rPr sz="3400" dirty="0"/>
              <a:t>2</a:t>
            </a:r>
            <a:endParaRPr sz="340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Class activity – Try this one yourselves</a:t>
            </a:r>
            <a:endParaRPr lang="en-US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9200" y="2895600"/>
            <a:ext cx="6013603" cy="253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0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40" dirty="0"/>
              <a:t> </a:t>
            </a:r>
            <a:r>
              <a:rPr sz="3400" dirty="0"/>
              <a:t>–</a:t>
            </a:r>
            <a:r>
              <a:rPr sz="3400" spc="-40" dirty="0"/>
              <a:t> </a:t>
            </a:r>
            <a:r>
              <a:rPr sz="3400" spc="-15" dirty="0"/>
              <a:t>Example</a:t>
            </a:r>
            <a:r>
              <a:rPr sz="3400" spc="-40" dirty="0"/>
              <a:t> </a:t>
            </a:r>
            <a:r>
              <a:rPr sz="3400" dirty="0" smtClean="0"/>
              <a:t>2</a:t>
            </a:r>
            <a:r>
              <a:rPr lang="en-US" sz="3400" dirty="0" smtClean="0"/>
              <a:t> </a:t>
            </a:r>
            <a:endParaRPr sz="3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Sample Solution(Not only solution)</a:t>
            </a:r>
            <a:endParaRPr lang="en-US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9200" y="2895600"/>
            <a:ext cx="6013603" cy="25320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53000" y="33528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1|16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200400" y="335280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2|5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200400" y="464820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3|4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458200" y="33528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8|13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59192" y="33528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7|14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955728" y="46482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6|15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436429" y="45720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9|12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94037" y="457200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10|11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2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DFS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0" dirty="0"/>
              <a:t> </a:t>
            </a:r>
            <a:r>
              <a:rPr sz="4400" dirty="0"/>
              <a:t>Code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5019" y="2270470"/>
            <a:ext cx="6921966" cy="428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DFS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0" dirty="0"/>
              <a:t> </a:t>
            </a:r>
            <a:r>
              <a:rPr sz="4400" dirty="0"/>
              <a:t>Code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5019" y="1905000"/>
            <a:ext cx="6921966" cy="428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52552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DFS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0" dirty="0"/>
              <a:t> </a:t>
            </a:r>
            <a:r>
              <a:rPr sz="4400" dirty="0"/>
              <a:t>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981200"/>
            <a:ext cx="6921966" cy="42833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51899" y="5778500"/>
            <a:ext cx="1684020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Time</a:t>
            </a:r>
            <a:r>
              <a:rPr sz="1800" spc="-6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Complexity?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sz="1800" b="1" spc="-5" dirty="0">
                <a:latin typeface="Calibri"/>
                <a:cs typeface="Calibri"/>
              </a:rPr>
              <a:t>O(V+E)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198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74650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Directed</a:t>
            </a:r>
            <a:r>
              <a:rPr sz="4400" spc="-25" dirty="0"/>
              <a:t> </a:t>
            </a:r>
            <a:r>
              <a:rPr sz="4400" spc="-10" dirty="0"/>
              <a:t>Acyclic</a:t>
            </a:r>
            <a:r>
              <a:rPr sz="4400" spc="-25" dirty="0"/>
              <a:t> </a:t>
            </a:r>
            <a:r>
              <a:rPr sz="4400" spc="-20" dirty="0"/>
              <a:t>Graph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51306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114" dirty="0">
                <a:latin typeface="Arial MT"/>
                <a:cs typeface="Times New Roman"/>
              </a:rPr>
              <a:t> </a:t>
            </a:r>
            <a:r>
              <a:rPr sz="2000" i="1" spc="-20" dirty="0">
                <a:solidFill>
                  <a:srgbClr val="CC0000"/>
                </a:solidFill>
                <a:latin typeface="Arial MT"/>
                <a:cs typeface="Times New Roman"/>
              </a:rPr>
              <a:t>directed</a:t>
            </a:r>
            <a:r>
              <a:rPr sz="2000" i="1" spc="-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acyclic </a:t>
            </a:r>
            <a:r>
              <a:rPr sz="2000" i="1" spc="-5" dirty="0">
                <a:solidFill>
                  <a:srgbClr val="CC0000"/>
                </a:solidFill>
                <a:latin typeface="Arial MT"/>
                <a:cs typeface="Times New Roman"/>
              </a:rPr>
              <a:t>graph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or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i="1" spc="-5" dirty="0">
                <a:solidFill>
                  <a:srgbClr val="CC0000"/>
                </a:solidFill>
                <a:latin typeface="Arial MT"/>
                <a:cs typeface="Times New Roman"/>
              </a:rPr>
              <a:t>DAG</a:t>
            </a:r>
            <a:r>
              <a:rPr sz="2000" i="1" spc="-1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is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10" dirty="0">
                <a:latin typeface="Arial MT"/>
                <a:cs typeface="Times New Roman"/>
              </a:rPr>
              <a:t> directed graph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5" dirty="0" smtClean="0">
                <a:latin typeface="Arial MT"/>
                <a:cs typeface="Times New Roman"/>
              </a:rPr>
              <a:t>with</a:t>
            </a:r>
            <a:r>
              <a:rPr lang="en-US" sz="2000" spc="470" dirty="0">
                <a:latin typeface="Arial MT"/>
                <a:cs typeface="Times New Roman"/>
              </a:rPr>
              <a:t> </a:t>
            </a:r>
            <a:r>
              <a:rPr sz="2000" spc="-5" dirty="0" smtClean="0">
                <a:latin typeface="Arial MT"/>
                <a:cs typeface="Times New Roman"/>
              </a:rPr>
              <a:t>no </a:t>
            </a:r>
            <a:r>
              <a:rPr sz="2000" spc="-10" dirty="0">
                <a:latin typeface="Arial MT"/>
                <a:cs typeface="Times New Roman"/>
              </a:rPr>
              <a:t>directed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cycles</a:t>
            </a:r>
            <a:endParaRPr sz="2000" dirty="0">
              <a:latin typeface="Arial MT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3150" y="3373382"/>
            <a:ext cx="4978400" cy="21463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9172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5318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70" dirty="0"/>
              <a:t> </a:t>
            </a:r>
            <a:r>
              <a:rPr sz="4400" spc="-5" dirty="0"/>
              <a:t>Sort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275" y="1805940"/>
            <a:ext cx="9404350" cy="40305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125" dirty="0"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topological</a:t>
            </a:r>
            <a:r>
              <a:rPr sz="2000" i="1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sort</a:t>
            </a:r>
            <a:r>
              <a:rPr sz="2000" i="1" spc="-4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of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DAG</a:t>
            </a:r>
            <a:r>
              <a:rPr sz="2000" spc="3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is</a:t>
            </a:r>
            <a:endParaRPr sz="2000" dirty="0">
              <a:latin typeface="Arial MT"/>
              <a:cs typeface="Times New Roman"/>
            </a:endParaRPr>
          </a:p>
          <a:p>
            <a:pPr marL="384175" marR="5080" lvl="1" indent="-143510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000" dirty="0">
                <a:latin typeface="Arial MT"/>
                <a:cs typeface="Times New Roman"/>
              </a:rPr>
              <a:t>a </a:t>
            </a:r>
            <a:r>
              <a:rPr sz="2000" spc="-20" dirty="0">
                <a:latin typeface="Arial MT"/>
                <a:cs typeface="Times New Roman"/>
              </a:rPr>
              <a:t>linear </a:t>
            </a:r>
            <a:r>
              <a:rPr sz="2000" spc="-15" dirty="0">
                <a:latin typeface="Arial MT"/>
                <a:cs typeface="Times New Roman"/>
              </a:rPr>
              <a:t>ordering </a:t>
            </a:r>
            <a:r>
              <a:rPr sz="2000" spc="5" dirty="0">
                <a:latin typeface="Arial MT"/>
                <a:cs typeface="Times New Roman"/>
              </a:rPr>
              <a:t>of </a:t>
            </a:r>
            <a:r>
              <a:rPr sz="2000" spc="-20" dirty="0">
                <a:latin typeface="Arial MT"/>
                <a:cs typeface="Times New Roman"/>
              </a:rPr>
              <a:t>all </a:t>
            </a:r>
            <a:r>
              <a:rPr sz="2000" spc="-15" dirty="0">
                <a:latin typeface="Arial MT"/>
                <a:cs typeface="Times New Roman"/>
              </a:rPr>
              <a:t>vertices </a:t>
            </a:r>
            <a:r>
              <a:rPr sz="2000" spc="5" dirty="0">
                <a:latin typeface="Arial MT"/>
                <a:cs typeface="Times New Roman"/>
              </a:rPr>
              <a:t>of </a:t>
            </a:r>
            <a:r>
              <a:rPr sz="2000" spc="-5" dirty="0">
                <a:latin typeface="Arial MT"/>
                <a:cs typeface="Times New Roman"/>
              </a:rPr>
              <a:t>the graph </a:t>
            </a:r>
            <a:r>
              <a:rPr sz="2000" i="1" dirty="0">
                <a:latin typeface="Arial MT"/>
                <a:cs typeface="Times New Roman"/>
              </a:rPr>
              <a:t>G </a:t>
            </a:r>
            <a:r>
              <a:rPr sz="2000" spc="-10" dirty="0">
                <a:latin typeface="Arial MT"/>
                <a:cs typeface="Times New Roman"/>
              </a:rPr>
              <a:t>such that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vertex </a:t>
            </a:r>
            <a:r>
              <a:rPr sz="2000" i="1" dirty="0">
                <a:latin typeface="Arial MT"/>
                <a:cs typeface="Times New Roman"/>
              </a:rPr>
              <a:t>u </a:t>
            </a:r>
            <a:r>
              <a:rPr sz="2000" spc="-15" dirty="0">
                <a:latin typeface="Arial MT"/>
                <a:cs typeface="Times New Roman"/>
              </a:rPr>
              <a:t>comes before </a:t>
            </a:r>
            <a:r>
              <a:rPr sz="2000" spc="-10" dirty="0">
                <a:latin typeface="Arial MT"/>
                <a:cs typeface="Times New Roman"/>
              </a:rPr>
              <a:t>vertex </a:t>
            </a:r>
            <a:r>
              <a:rPr sz="2000" i="1" dirty="0">
                <a:latin typeface="Arial MT"/>
                <a:cs typeface="Times New Roman"/>
              </a:rPr>
              <a:t>v </a:t>
            </a:r>
            <a:r>
              <a:rPr sz="2000" spc="-35" dirty="0">
                <a:latin typeface="Arial MT"/>
                <a:cs typeface="Times New Roman"/>
              </a:rPr>
              <a:t>if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(</a:t>
            </a:r>
            <a:r>
              <a:rPr sz="2000" i="1" spc="-5" dirty="0">
                <a:latin typeface="Arial MT"/>
                <a:cs typeface="Times New Roman"/>
              </a:rPr>
              <a:t>u</a:t>
            </a:r>
            <a:r>
              <a:rPr sz="2000" spc="-5" dirty="0">
                <a:latin typeface="Arial MT"/>
                <a:cs typeface="Times New Roman"/>
              </a:rPr>
              <a:t>, </a:t>
            </a:r>
            <a:r>
              <a:rPr sz="2000" i="1" spc="-5" dirty="0">
                <a:latin typeface="Arial MT"/>
                <a:cs typeface="Times New Roman"/>
              </a:rPr>
              <a:t>v</a:t>
            </a:r>
            <a:r>
              <a:rPr sz="2000" spc="-5" dirty="0">
                <a:latin typeface="Arial MT"/>
                <a:cs typeface="Times New Roman"/>
              </a:rPr>
              <a:t>)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an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edge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in</a:t>
            </a:r>
            <a:r>
              <a:rPr sz="2000" spc="19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G</a:t>
            </a:r>
            <a:r>
              <a:rPr sz="2000" dirty="0">
                <a:latin typeface="Arial MT"/>
                <a:cs typeface="Times New Roman"/>
              </a:rPr>
              <a:t>.</a:t>
            </a: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CC0000"/>
              </a:buClr>
              <a:buFont typeface="Wingdings"/>
              <a:buChar char=""/>
            </a:pPr>
            <a:endParaRPr sz="23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10" dirty="0">
                <a:latin typeface="Arial MT"/>
                <a:cs typeface="Times New Roman"/>
              </a:rPr>
              <a:t>DAG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indicates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precedence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among</a:t>
            </a:r>
            <a:r>
              <a:rPr sz="2000" spc="4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events:</a:t>
            </a:r>
            <a:endParaRPr sz="20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000" spc="-15" dirty="0">
                <a:latin typeface="Arial MT"/>
                <a:cs typeface="Times New Roman"/>
              </a:rPr>
              <a:t>events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are graph</a:t>
            </a:r>
            <a:r>
              <a:rPr sz="2000" spc="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vertices,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edge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from </a:t>
            </a:r>
            <a:r>
              <a:rPr sz="2000" i="1" dirty="0">
                <a:latin typeface="Arial MT"/>
                <a:cs typeface="Times New Roman"/>
              </a:rPr>
              <a:t>u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2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v</a:t>
            </a:r>
            <a:r>
              <a:rPr sz="2000" i="1" spc="-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means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event</a:t>
            </a:r>
            <a:r>
              <a:rPr sz="2000" spc="14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u </a:t>
            </a:r>
            <a:r>
              <a:rPr sz="2000" spc="-10" dirty="0">
                <a:latin typeface="Arial MT"/>
                <a:cs typeface="Times New Roman"/>
              </a:rPr>
              <a:t>has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precedence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over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event</a:t>
            </a:r>
            <a:r>
              <a:rPr sz="2000" spc="7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v</a:t>
            </a:r>
            <a:endParaRPr sz="2000" dirty="0">
              <a:latin typeface="Arial MT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CC0000"/>
              </a:buClr>
              <a:buFont typeface="Wingdings"/>
              <a:buChar char=""/>
            </a:pPr>
            <a:endParaRPr sz="23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10" dirty="0">
                <a:latin typeface="Arial MT"/>
                <a:cs typeface="Times New Roman"/>
              </a:rPr>
              <a:t>Real-world</a:t>
            </a:r>
            <a:r>
              <a:rPr sz="2000" spc="-5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example:</a:t>
            </a:r>
            <a:endParaRPr sz="20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000" spc="-10" dirty="0">
                <a:latin typeface="Arial MT"/>
                <a:cs typeface="Times New Roman"/>
              </a:rPr>
              <a:t>getting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dressed</a:t>
            </a:r>
            <a:endParaRPr sz="20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28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000" spc="-5" dirty="0">
                <a:latin typeface="Arial MT"/>
                <a:cs typeface="Times New Roman"/>
              </a:rPr>
              <a:t>course</a:t>
            </a:r>
            <a:r>
              <a:rPr sz="2000" spc="-8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registration</a:t>
            </a:r>
            <a:endParaRPr sz="20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000" spc="-5" dirty="0">
                <a:latin typeface="Arial MT"/>
                <a:cs typeface="Times New Roman"/>
              </a:rPr>
              <a:t>tasks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for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eating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meal</a:t>
            </a:r>
            <a:endParaRPr sz="20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690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6174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5" dirty="0"/>
              <a:t>Precedence</a:t>
            </a:r>
            <a:r>
              <a:rPr sz="4400" spc="-30" dirty="0"/>
              <a:t> </a:t>
            </a:r>
            <a:r>
              <a:rPr sz="4400" spc="-20" dirty="0"/>
              <a:t>Example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274" y="1805940"/>
            <a:ext cx="10321925" cy="174534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35" dirty="0">
                <a:latin typeface="Arial MT"/>
                <a:cs typeface="Times New Roman"/>
              </a:rPr>
              <a:t>Tasks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that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have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be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done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eat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breakfast</a:t>
            </a:r>
            <a:r>
              <a:rPr sz="2000" spc="-15" dirty="0" smtClean="0">
                <a:latin typeface="Arial MT"/>
                <a:cs typeface="Times New Roman"/>
              </a:rPr>
              <a:t>:</a:t>
            </a:r>
            <a:endParaRPr sz="20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-20" dirty="0">
                <a:latin typeface="Arial MT"/>
                <a:cs typeface="Times New Roman"/>
              </a:rPr>
              <a:t> glass,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pour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juice,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-15" dirty="0">
                <a:latin typeface="Arial MT"/>
                <a:cs typeface="Times New Roman"/>
              </a:rPr>
              <a:t> bowl,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pour</a:t>
            </a:r>
            <a:r>
              <a:rPr sz="2000" spc="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cereal,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pour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milk,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spoon,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eat</a:t>
            </a:r>
            <a:r>
              <a:rPr sz="2000" spc="-5" dirty="0" smtClean="0">
                <a:latin typeface="Arial MT"/>
                <a:cs typeface="Times New Roman"/>
              </a:rPr>
              <a:t>.</a:t>
            </a:r>
            <a:endParaRPr lang="en-US" sz="2000" spc="-5" dirty="0" smtClean="0">
              <a:latin typeface="Arial MT"/>
              <a:cs typeface="Times New Roman"/>
            </a:endParaRPr>
          </a:p>
          <a:p>
            <a:pPr marL="241300" lvl="1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tabLst>
                <a:tab pos="384810" algn="l"/>
              </a:tabLst>
            </a:pPr>
            <a:endParaRPr sz="20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10" dirty="0">
                <a:latin typeface="Arial MT"/>
                <a:cs typeface="Times New Roman"/>
              </a:rPr>
              <a:t>Certain </a:t>
            </a:r>
            <a:r>
              <a:rPr sz="2000" spc="-15" dirty="0">
                <a:latin typeface="Arial MT"/>
                <a:cs typeface="Times New Roman"/>
              </a:rPr>
              <a:t>events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must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happen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in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certain </a:t>
            </a:r>
            <a:r>
              <a:rPr sz="2000" spc="-5" dirty="0">
                <a:latin typeface="Arial MT"/>
                <a:cs typeface="Times New Roman"/>
              </a:rPr>
              <a:t>order </a:t>
            </a:r>
            <a:r>
              <a:rPr sz="2000" spc="-10" dirty="0">
                <a:latin typeface="Arial MT"/>
                <a:cs typeface="Times New Roman"/>
              </a:rPr>
              <a:t>(ex: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bowl</a:t>
            </a:r>
            <a:r>
              <a:rPr sz="2000" spc="47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before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pouring</a:t>
            </a:r>
            <a:r>
              <a:rPr sz="2000" spc="30" dirty="0">
                <a:latin typeface="Arial MT"/>
                <a:cs typeface="Times New Roman"/>
              </a:rPr>
              <a:t> </a:t>
            </a:r>
            <a:r>
              <a:rPr sz="2000" spc="-30" dirty="0">
                <a:latin typeface="Arial MT"/>
                <a:cs typeface="Times New Roman"/>
              </a:rPr>
              <a:t>milk)</a:t>
            </a:r>
            <a:endParaRPr sz="20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dirty="0">
                <a:latin typeface="Arial MT"/>
                <a:cs typeface="Times New Roman"/>
              </a:rPr>
              <a:t>For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other </a:t>
            </a:r>
            <a:r>
              <a:rPr sz="2000" spc="-15" dirty="0">
                <a:latin typeface="Arial MT"/>
                <a:cs typeface="Times New Roman"/>
              </a:rPr>
              <a:t>events,</a:t>
            </a:r>
            <a:r>
              <a:rPr sz="2000" spc="-20" dirty="0">
                <a:latin typeface="Arial MT"/>
                <a:cs typeface="Times New Roman"/>
              </a:rPr>
              <a:t> it</a:t>
            </a:r>
            <a:r>
              <a:rPr sz="2000" spc="-6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doesn't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matter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(ex: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bowl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and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16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spoon)</a:t>
            </a:r>
            <a:endParaRPr sz="20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817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5" dirty="0"/>
              <a:t>Precedence</a:t>
            </a:r>
            <a:r>
              <a:rPr sz="4400" spc="-30" dirty="0"/>
              <a:t> </a:t>
            </a:r>
            <a:r>
              <a:rPr sz="4400" spc="-20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7777" y="2102068"/>
            <a:ext cx="5570045" cy="317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5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0934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0" dirty="0"/>
              <a:t>Why</a:t>
            </a:r>
            <a:r>
              <a:rPr sz="4400" spc="-75" dirty="0"/>
              <a:t> </a:t>
            </a:r>
            <a:r>
              <a:rPr sz="4400" spc="-10" dirty="0"/>
              <a:t>Acyclic?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910" y="1805940"/>
            <a:ext cx="9787890" cy="70660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spc="-5" dirty="0">
                <a:latin typeface="Arial MT"/>
                <a:cs typeface="Times New Roman"/>
              </a:rPr>
              <a:t>Why</a:t>
            </a:r>
            <a:r>
              <a:rPr sz="2000" spc="-15" dirty="0">
                <a:latin typeface="Arial MT"/>
                <a:cs typeface="Times New Roman"/>
              </a:rPr>
              <a:t> must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directed graph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by </a:t>
            </a:r>
            <a:r>
              <a:rPr sz="2000" spc="-10" dirty="0">
                <a:latin typeface="Arial MT"/>
                <a:cs typeface="Times New Roman"/>
              </a:rPr>
              <a:t>acyclic </a:t>
            </a:r>
            <a:r>
              <a:rPr sz="2000" spc="-5" dirty="0">
                <a:latin typeface="Arial MT"/>
                <a:cs typeface="Times New Roman"/>
              </a:rPr>
              <a:t>for</a:t>
            </a:r>
            <a:r>
              <a:rPr sz="2000" spc="-10" dirty="0">
                <a:latin typeface="Arial MT"/>
                <a:cs typeface="Times New Roman"/>
              </a:rPr>
              <a:t> the topological</a:t>
            </a:r>
            <a:r>
              <a:rPr sz="2000" spc="48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sort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problem?</a:t>
            </a:r>
            <a:endParaRPr sz="20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spc="-15" dirty="0">
                <a:latin typeface="Arial MT"/>
                <a:cs typeface="Times New Roman"/>
              </a:rPr>
              <a:t>Otherwise, </a:t>
            </a:r>
            <a:r>
              <a:rPr sz="2000" spc="-5" dirty="0">
                <a:latin typeface="Arial MT"/>
                <a:cs typeface="Times New Roman"/>
              </a:rPr>
              <a:t>no </a:t>
            </a:r>
            <a:r>
              <a:rPr sz="2000" spc="-10" dirty="0">
                <a:latin typeface="Arial MT"/>
                <a:cs typeface="Times New Roman"/>
              </a:rPr>
              <a:t>way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to</a:t>
            </a:r>
            <a:r>
              <a:rPr sz="2000" spc="-5" dirty="0">
                <a:latin typeface="Arial MT"/>
                <a:cs typeface="Times New Roman"/>
              </a:rPr>
              <a:t> order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events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linearly </a:t>
            </a:r>
            <a:r>
              <a:rPr sz="2000" spc="-15" dirty="0">
                <a:latin typeface="Arial MT"/>
                <a:cs typeface="Times New Roman"/>
              </a:rPr>
              <a:t>without</a:t>
            </a:r>
            <a:r>
              <a:rPr sz="2000" spc="48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violating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precedence</a:t>
            </a:r>
            <a:r>
              <a:rPr sz="2000" spc="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constraint.</a:t>
            </a:r>
            <a:endParaRPr sz="20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631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3126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30" dirty="0"/>
              <a:t> </a:t>
            </a:r>
            <a:r>
              <a:rPr sz="4400" spc="-5" dirty="0"/>
              <a:t>Sort</a:t>
            </a:r>
            <a:r>
              <a:rPr sz="4400" spc="-25" dirty="0"/>
              <a:t> </a:t>
            </a:r>
            <a:r>
              <a:rPr sz="4400" spc="-5" dirty="0"/>
              <a:t>Algorithm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709" y="2192884"/>
            <a:ext cx="6393548" cy="11863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5068" y="4382516"/>
            <a:ext cx="7941332" cy="802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72222"/>
              <a:buFont typeface="Wingdings"/>
              <a:buChar char=""/>
              <a:tabLst>
                <a:tab pos="184150" algn="l"/>
              </a:tabLst>
            </a:pPr>
            <a:r>
              <a:rPr sz="1800" spc="-25" dirty="0">
                <a:solidFill>
                  <a:srgbClr val="0000CC"/>
                </a:solidFill>
                <a:latin typeface="Times New Roman"/>
                <a:cs typeface="Times New Roman"/>
              </a:rPr>
              <a:t>Time</a:t>
            </a:r>
            <a:r>
              <a:rPr sz="1800" spc="-25" dirty="0">
                <a:latin typeface="Times New Roman"/>
                <a:cs typeface="Times New Roman"/>
              </a:rPr>
              <a:t>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O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V</a:t>
            </a:r>
            <a:r>
              <a:rPr sz="1800" i="1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184150" marR="5080" indent="-184150">
              <a:lnSpc>
                <a:spcPts val="3820"/>
              </a:lnSpc>
              <a:spcBef>
                <a:spcPts val="175"/>
              </a:spcBef>
              <a:buClr>
                <a:srgbClr val="0033CC"/>
              </a:buClr>
              <a:buSzPct val="72222"/>
              <a:buFont typeface="Wingdings"/>
              <a:buChar char=""/>
              <a:tabLst>
                <a:tab pos="184150" algn="l"/>
              </a:tabLst>
            </a:pPr>
            <a:r>
              <a:rPr sz="1800" spc="-10" dirty="0">
                <a:solidFill>
                  <a:srgbClr val="0000CC"/>
                </a:solidFill>
                <a:latin typeface="Times New Roman"/>
                <a:cs typeface="Times New Roman"/>
              </a:rPr>
              <a:t>Correctness</a:t>
            </a:r>
            <a:r>
              <a:rPr sz="1800" spc="-10" dirty="0">
                <a:latin typeface="Times New Roman"/>
                <a:cs typeface="Times New Roman"/>
              </a:rPr>
              <a:t>: </a:t>
            </a:r>
            <a:r>
              <a:rPr sz="1800" spc="-45" dirty="0">
                <a:latin typeface="Times New Roman"/>
                <a:cs typeface="Times New Roman"/>
              </a:rPr>
              <a:t>Want </a:t>
            </a:r>
            <a:r>
              <a:rPr sz="1800" spc="-5" dirty="0">
                <a:latin typeface="Times New Roman"/>
                <a:cs typeface="Times New Roman"/>
              </a:rPr>
              <a:t>to </a:t>
            </a:r>
            <a:r>
              <a:rPr sz="1800" spc="-15" dirty="0">
                <a:latin typeface="Times New Roman"/>
                <a:cs typeface="Times New Roman"/>
              </a:rPr>
              <a:t>prove </a:t>
            </a:r>
            <a:r>
              <a:rPr sz="1800" spc="-10" dirty="0">
                <a:latin typeface="Times New Roman"/>
                <a:cs typeface="Times New Roman"/>
              </a:rPr>
              <a:t>that </a:t>
            </a:r>
            <a:r>
              <a:rPr sz="1800" spc="-5" dirty="0">
                <a:latin typeface="Times New Roman"/>
                <a:cs typeface="Times New Roman"/>
              </a:rPr>
              <a:t> (</a:t>
            </a:r>
            <a:r>
              <a:rPr sz="1800" i="1" spc="-5" dirty="0">
                <a:latin typeface="Times New Roman"/>
                <a:cs typeface="Times New Roman"/>
              </a:rPr>
              <a:t>u,</a:t>
            </a:r>
            <a:r>
              <a:rPr sz="1800" i="1" spc="-2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v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G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u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v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966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92938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30" dirty="0"/>
              <a:t> </a:t>
            </a:r>
            <a:r>
              <a:rPr sz="4400" spc="-5" dirty="0"/>
              <a:t>Sort:</a:t>
            </a:r>
            <a:r>
              <a:rPr sz="4400" spc="-40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1279" y="1925234"/>
            <a:ext cx="3922120" cy="331201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122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30" dirty="0"/>
              <a:t> </a:t>
            </a:r>
            <a:r>
              <a:rPr sz="4400" spc="-5" dirty="0"/>
              <a:t>Sort:</a:t>
            </a:r>
            <a:r>
              <a:rPr sz="4400" spc="-40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6400" y="1922897"/>
            <a:ext cx="3922120" cy="3312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925234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1|12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90240" y="1925234"/>
            <a:ext cx="67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8|11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094060" y="4648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3|4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490240" y="4648200"/>
            <a:ext cx="82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13|14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691208" y="3276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5|6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696200" y="3276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9|10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62746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2|7</a:t>
            </a:r>
            <a:endParaRPr lang="en-US" dirty="0"/>
          </a:p>
        </p:txBody>
      </p:sp>
      <p:sp>
        <p:nvSpPr>
          <p:cNvPr id="23" name="object 4"/>
          <p:cNvSpPr txBox="1"/>
          <p:nvPr/>
        </p:nvSpPr>
        <p:spPr>
          <a:xfrm>
            <a:off x="3798002" y="5336986"/>
            <a:ext cx="504119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Topological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 smtClean="0">
                <a:latin typeface="Calibri"/>
                <a:cs typeface="Calibri"/>
              </a:rPr>
              <a:t>Order:</a:t>
            </a:r>
            <a:r>
              <a:rPr lang="en-US" sz="1800" spc="-10" dirty="0" smtClean="0">
                <a:latin typeface="Calibri"/>
                <a:cs typeface="Calibri"/>
              </a:rPr>
              <a:t> v1-&gt;v2-&gt;v3-&gt;v4-&gt;v5-&gt;v6-&gt;v7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87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76174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30" dirty="0"/>
              <a:t> </a:t>
            </a:r>
            <a:r>
              <a:rPr sz="4400" spc="-5" dirty="0"/>
              <a:t>Sort:</a:t>
            </a:r>
            <a:r>
              <a:rPr sz="4400" spc="-40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981200"/>
            <a:ext cx="9067800" cy="2819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98002" y="5336986"/>
            <a:ext cx="396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Topological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v1,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v2,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v3,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v4,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v5,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v6,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v7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605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00"/>
            <a:ext cx="121132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" dirty="0"/>
              <a:t>Topological</a:t>
            </a:r>
            <a:r>
              <a:rPr sz="4000" dirty="0"/>
              <a:t> </a:t>
            </a:r>
            <a:r>
              <a:rPr sz="4000" spc="-5" dirty="0"/>
              <a:t>Sort:</a:t>
            </a:r>
            <a:r>
              <a:rPr sz="4000" spc="-10" dirty="0"/>
              <a:t> </a:t>
            </a:r>
            <a:r>
              <a:rPr sz="4000" spc="-5" dirty="0"/>
              <a:t>Using </a:t>
            </a:r>
            <a:r>
              <a:rPr sz="4000" dirty="0"/>
              <a:t>In </a:t>
            </a:r>
            <a:r>
              <a:rPr sz="4000" spc="-15" dirty="0"/>
              <a:t>Degree</a:t>
            </a:r>
            <a:r>
              <a:rPr sz="4000" spc="-5" dirty="0"/>
              <a:t> (Algorithm)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729740"/>
            <a:ext cx="11046461" cy="3896708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Times New Roman"/>
              </a:rPr>
              <a:t>Steps </a:t>
            </a:r>
            <a:r>
              <a:rPr sz="2000" spc="-10" dirty="0">
                <a:latin typeface="Arial MT"/>
                <a:cs typeface="Times New Roman"/>
              </a:rPr>
              <a:t>for</a:t>
            </a:r>
            <a:r>
              <a:rPr sz="2000" spc="-25" dirty="0">
                <a:latin typeface="Arial MT"/>
                <a:cs typeface="Times New Roman"/>
              </a:rPr>
              <a:t> finding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 </a:t>
            </a:r>
            <a:r>
              <a:rPr sz="2000" spc="-10" dirty="0">
                <a:latin typeface="Arial MT"/>
                <a:cs typeface="Times New Roman"/>
              </a:rPr>
              <a:t>topological</a:t>
            </a:r>
            <a:r>
              <a:rPr sz="2000" spc="-15" dirty="0">
                <a:latin typeface="Arial MT"/>
                <a:cs typeface="Times New Roman"/>
              </a:rPr>
              <a:t> ordering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2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DAG:</a:t>
            </a:r>
            <a:endParaRPr sz="2000" dirty="0">
              <a:latin typeface="Arial MT"/>
              <a:cs typeface="Times New Roman"/>
            </a:endParaRPr>
          </a:p>
          <a:p>
            <a:pPr marL="118110" marR="5080">
              <a:lnSpc>
                <a:spcPct val="100000"/>
              </a:lnSpc>
              <a:spcBef>
                <a:spcPts val="910"/>
              </a:spcBef>
            </a:pPr>
            <a:r>
              <a:rPr sz="2000" b="1" spc="-10" dirty="0">
                <a:solidFill>
                  <a:srgbClr val="C00000"/>
                </a:solidFill>
                <a:latin typeface="Arial MT"/>
                <a:cs typeface="Times New Roman"/>
              </a:rPr>
              <a:t>Step-1: </a:t>
            </a:r>
            <a:r>
              <a:rPr sz="2000" b="1" spc="-20" dirty="0">
                <a:latin typeface="Arial MT"/>
                <a:cs typeface="Times New Roman"/>
              </a:rPr>
              <a:t>Compute in-degree </a:t>
            </a:r>
            <a:r>
              <a:rPr sz="2000" spc="-15" dirty="0">
                <a:latin typeface="Arial MT"/>
                <a:cs typeface="Times New Roman"/>
              </a:rPr>
              <a:t>for </a:t>
            </a:r>
            <a:r>
              <a:rPr sz="2000" spc="-10" dirty="0">
                <a:latin typeface="Arial MT"/>
                <a:cs typeface="Times New Roman"/>
              </a:rPr>
              <a:t>each of the </a:t>
            </a:r>
            <a:r>
              <a:rPr sz="2000" spc="-20" dirty="0">
                <a:latin typeface="Arial MT"/>
                <a:cs typeface="Times New Roman"/>
              </a:rPr>
              <a:t>vertices </a:t>
            </a:r>
            <a:r>
              <a:rPr sz="2000" spc="-10" dirty="0">
                <a:latin typeface="Arial MT"/>
                <a:cs typeface="Times New Roman"/>
              </a:rPr>
              <a:t>present in the </a:t>
            </a:r>
            <a:r>
              <a:rPr sz="2000" spc="-5" dirty="0">
                <a:latin typeface="Arial MT"/>
                <a:cs typeface="Times New Roman"/>
              </a:rPr>
              <a:t>DAG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and </a:t>
            </a:r>
            <a:r>
              <a:rPr sz="2000" spc="-15" dirty="0">
                <a:latin typeface="Arial MT"/>
                <a:cs typeface="Times New Roman"/>
              </a:rPr>
              <a:t>initialize </a:t>
            </a:r>
            <a:r>
              <a:rPr sz="2000" spc="-10" dirty="0">
                <a:latin typeface="Arial MT"/>
                <a:cs typeface="Times New Roman"/>
              </a:rPr>
              <a:t>the </a:t>
            </a:r>
            <a:r>
              <a:rPr sz="2000" spc="-20" dirty="0">
                <a:latin typeface="Arial MT"/>
                <a:cs typeface="Times New Roman"/>
              </a:rPr>
              <a:t>count of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visited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nodes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as</a:t>
            </a:r>
            <a:r>
              <a:rPr sz="2000" spc="-16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0;</a:t>
            </a:r>
          </a:p>
          <a:p>
            <a:pPr marL="118110">
              <a:lnSpc>
                <a:spcPct val="100000"/>
              </a:lnSpc>
              <a:spcBef>
                <a:spcPts val="290"/>
              </a:spcBef>
            </a:pPr>
            <a:r>
              <a:rPr sz="2000" b="1" spc="-10" dirty="0">
                <a:solidFill>
                  <a:srgbClr val="C00000"/>
                </a:solidFill>
                <a:latin typeface="Arial MT"/>
                <a:cs typeface="Times New Roman"/>
              </a:rPr>
              <a:t>Step-2:</a:t>
            </a:r>
            <a:r>
              <a:rPr sz="2000" b="1" spc="-1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Add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all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b="1" spc="-15" dirty="0">
                <a:latin typeface="Arial MT"/>
                <a:cs typeface="Times New Roman"/>
              </a:rPr>
              <a:t>vertices</a:t>
            </a:r>
            <a:r>
              <a:rPr sz="2000" b="1" spc="-25" dirty="0">
                <a:latin typeface="Arial MT"/>
                <a:cs typeface="Times New Roman"/>
              </a:rPr>
              <a:t> </a:t>
            </a:r>
            <a:r>
              <a:rPr sz="2000" b="1" spc="-10" dirty="0">
                <a:latin typeface="Arial MT"/>
                <a:cs typeface="Times New Roman"/>
              </a:rPr>
              <a:t>with</a:t>
            </a:r>
            <a:r>
              <a:rPr sz="2000" b="1" spc="-20" dirty="0">
                <a:latin typeface="Arial MT"/>
                <a:cs typeface="Times New Roman"/>
              </a:rPr>
              <a:t> </a:t>
            </a:r>
            <a:r>
              <a:rPr sz="2000" b="1" spc="-25" dirty="0">
                <a:latin typeface="Arial MT"/>
                <a:cs typeface="Times New Roman"/>
              </a:rPr>
              <a:t>in-degree </a:t>
            </a:r>
            <a:r>
              <a:rPr sz="2000" b="1" spc="-20" dirty="0">
                <a:latin typeface="Arial MT"/>
                <a:cs typeface="Times New Roman"/>
              </a:rPr>
              <a:t>equals</a:t>
            </a:r>
            <a:r>
              <a:rPr sz="2000" b="1" spc="-50" dirty="0">
                <a:latin typeface="Arial MT"/>
                <a:cs typeface="Times New Roman"/>
              </a:rPr>
              <a:t> </a:t>
            </a:r>
            <a:r>
              <a:rPr sz="2000" b="1" dirty="0">
                <a:latin typeface="Arial MT"/>
                <a:cs typeface="Times New Roman"/>
              </a:rPr>
              <a:t>0 </a:t>
            </a:r>
            <a:r>
              <a:rPr sz="2000" spc="-15" dirty="0">
                <a:latin typeface="Arial MT"/>
                <a:cs typeface="Times New Roman"/>
              </a:rPr>
              <a:t>into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1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queue</a:t>
            </a:r>
            <a:endParaRPr sz="2000" dirty="0">
              <a:latin typeface="Arial MT"/>
              <a:cs typeface="Times New Roman"/>
            </a:endParaRPr>
          </a:p>
          <a:p>
            <a:pPr marL="486409" marR="4902835" indent="-368300">
              <a:lnSpc>
                <a:spcPct val="112000"/>
              </a:lnSpc>
              <a:spcBef>
                <a:spcPts val="25"/>
              </a:spcBef>
            </a:pPr>
            <a:r>
              <a:rPr sz="2000" b="1" spc="-10" dirty="0">
                <a:solidFill>
                  <a:srgbClr val="C00000"/>
                </a:solidFill>
                <a:latin typeface="Arial MT"/>
                <a:cs typeface="Times New Roman"/>
              </a:rPr>
              <a:t>Step-3:</a:t>
            </a:r>
            <a:r>
              <a:rPr sz="2000" b="1" spc="-20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Remove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vertex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from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queue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and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then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</a:t>
            </a:r>
            <a:r>
              <a:rPr sz="2000" spc="-15" dirty="0">
                <a:latin typeface="Arial MT"/>
                <a:cs typeface="Times New Roman"/>
              </a:rPr>
              <a:t>n</a:t>
            </a:r>
            <a:r>
              <a:rPr sz="2000" spc="-20" dirty="0">
                <a:latin typeface="Arial MT"/>
                <a:cs typeface="Times New Roman"/>
              </a:rPr>
              <a:t>cre</a:t>
            </a:r>
            <a:r>
              <a:rPr sz="2000" spc="-25" dirty="0">
                <a:latin typeface="Arial MT"/>
                <a:cs typeface="Times New Roman"/>
              </a:rPr>
              <a:t>m</a:t>
            </a:r>
            <a:r>
              <a:rPr sz="2000" spc="-20" dirty="0">
                <a:latin typeface="Arial MT"/>
                <a:cs typeface="Times New Roman"/>
              </a:rPr>
              <a:t>e</a:t>
            </a:r>
            <a:r>
              <a:rPr sz="2000" spc="-15" dirty="0">
                <a:latin typeface="Arial MT"/>
                <a:cs typeface="Times New Roman"/>
              </a:rPr>
              <a:t>n</a:t>
            </a:r>
            <a:r>
              <a:rPr sz="2000" dirty="0">
                <a:latin typeface="Arial MT"/>
                <a:cs typeface="Times New Roman"/>
              </a:rPr>
              <a:t>t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c</a:t>
            </a:r>
            <a:r>
              <a:rPr sz="2000" spc="-15" dirty="0">
                <a:latin typeface="Arial MT"/>
                <a:cs typeface="Times New Roman"/>
              </a:rPr>
              <a:t>oun</a:t>
            </a:r>
            <a:r>
              <a:rPr sz="2000" dirty="0">
                <a:latin typeface="Arial MT"/>
                <a:cs typeface="Times New Roman"/>
              </a:rPr>
              <a:t>t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o</a:t>
            </a:r>
            <a:r>
              <a:rPr sz="2000" dirty="0">
                <a:latin typeface="Arial MT"/>
                <a:cs typeface="Times New Roman"/>
              </a:rPr>
              <a:t>f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</a:t>
            </a:r>
            <a:r>
              <a:rPr sz="2000" spc="-20" dirty="0">
                <a:latin typeface="Arial MT"/>
                <a:cs typeface="Times New Roman"/>
              </a:rPr>
              <a:t>i</a:t>
            </a:r>
            <a:r>
              <a:rPr sz="2000" spc="-15" dirty="0">
                <a:latin typeface="Arial MT"/>
                <a:cs typeface="Times New Roman"/>
              </a:rPr>
              <a:t>s</a:t>
            </a:r>
            <a:r>
              <a:rPr sz="2000" spc="-20" dirty="0">
                <a:latin typeface="Arial MT"/>
                <a:cs typeface="Times New Roman"/>
              </a:rPr>
              <a:t>it</a:t>
            </a:r>
            <a:r>
              <a:rPr sz="2000" spc="-10" dirty="0">
                <a:latin typeface="Arial MT"/>
                <a:cs typeface="Times New Roman"/>
              </a:rPr>
              <a:t>e</a:t>
            </a:r>
            <a:r>
              <a:rPr sz="2000" dirty="0">
                <a:latin typeface="Arial MT"/>
                <a:cs typeface="Times New Roman"/>
              </a:rPr>
              <a:t>d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node</a:t>
            </a:r>
            <a:r>
              <a:rPr sz="2000" dirty="0">
                <a:latin typeface="Arial MT"/>
                <a:cs typeface="Times New Roman"/>
              </a:rPr>
              <a:t>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by</a:t>
            </a:r>
            <a:r>
              <a:rPr sz="2000" spc="-13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1;</a:t>
            </a:r>
          </a:p>
          <a:p>
            <a:pPr marL="486409">
              <a:lnSpc>
                <a:spcPct val="100000"/>
              </a:lnSpc>
              <a:spcBef>
                <a:spcPts val="310"/>
              </a:spcBef>
            </a:pPr>
            <a:r>
              <a:rPr sz="2000" spc="-10" dirty="0">
                <a:latin typeface="Arial MT"/>
                <a:cs typeface="Times New Roman"/>
              </a:rPr>
              <a:t>Decrease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in-degree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by 1 </a:t>
            </a:r>
            <a:r>
              <a:rPr sz="2000" spc="-15" dirty="0">
                <a:latin typeface="Arial MT"/>
                <a:cs typeface="Times New Roman"/>
              </a:rPr>
              <a:t>for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all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its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neighboring</a:t>
            </a:r>
            <a:r>
              <a:rPr sz="2000" spc="2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nodes;</a:t>
            </a:r>
            <a:endParaRPr sz="2000" dirty="0">
              <a:latin typeface="Arial MT"/>
              <a:cs typeface="Times New Roman"/>
            </a:endParaRPr>
          </a:p>
          <a:p>
            <a:pPr marL="487045">
              <a:lnSpc>
                <a:spcPct val="100000"/>
              </a:lnSpc>
              <a:spcBef>
                <a:spcPts val="290"/>
              </a:spcBef>
            </a:pPr>
            <a:r>
              <a:rPr sz="2000" spc="-5" dirty="0">
                <a:latin typeface="Arial MT"/>
                <a:cs typeface="Times New Roman"/>
              </a:rPr>
              <a:t>If</a:t>
            </a:r>
            <a:r>
              <a:rPr sz="2000" spc="-15" dirty="0">
                <a:latin typeface="Arial MT"/>
                <a:cs typeface="Times New Roman"/>
              </a:rPr>
              <a:t> in-degree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of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neighboring node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reduced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to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zero,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then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add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it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to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queue;</a:t>
            </a:r>
            <a:endParaRPr sz="2000" dirty="0">
              <a:latin typeface="Arial MT"/>
              <a:cs typeface="Times New Roman"/>
            </a:endParaRPr>
          </a:p>
          <a:p>
            <a:pPr marL="118110">
              <a:lnSpc>
                <a:spcPct val="100000"/>
              </a:lnSpc>
              <a:spcBef>
                <a:spcPts val="310"/>
              </a:spcBef>
            </a:pPr>
            <a:r>
              <a:rPr sz="2000" b="1" spc="-10" dirty="0">
                <a:solidFill>
                  <a:srgbClr val="C00000"/>
                </a:solidFill>
                <a:latin typeface="Arial MT"/>
                <a:cs typeface="Times New Roman"/>
              </a:rPr>
              <a:t>Step </a:t>
            </a:r>
            <a:r>
              <a:rPr sz="2000" b="1" dirty="0">
                <a:solidFill>
                  <a:srgbClr val="C00000"/>
                </a:solidFill>
                <a:latin typeface="Arial MT"/>
                <a:cs typeface="Times New Roman"/>
              </a:rPr>
              <a:t>4:</a:t>
            </a:r>
            <a:r>
              <a:rPr sz="2000" b="1" spc="-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Repeat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Step </a:t>
            </a:r>
            <a:r>
              <a:rPr sz="2000" dirty="0">
                <a:latin typeface="Arial MT"/>
                <a:cs typeface="Times New Roman"/>
              </a:rPr>
              <a:t>3 </a:t>
            </a:r>
            <a:r>
              <a:rPr sz="2000" spc="-15" dirty="0">
                <a:latin typeface="Arial MT"/>
                <a:cs typeface="Times New Roman"/>
              </a:rPr>
              <a:t>until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b="1" spc="-15" dirty="0">
                <a:latin typeface="Arial MT"/>
                <a:cs typeface="Times New Roman"/>
              </a:rPr>
              <a:t>the</a:t>
            </a:r>
            <a:r>
              <a:rPr sz="2000" b="1" spc="-30" dirty="0">
                <a:latin typeface="Arial MT"/>
                <a:cs typeface="Times New Roman"/>
              </a:rPr>
              <a:t> </a:t>
            </a:r>
            <a:r>
              <a:rPr sz="2000" b="1" spc="-20" dirty="0">
                <a:latin typeface="Arial MT"/>
                <a:cs typeface="Times New Roman"/>
              </a:rPr>
              <a:t>queue</a:t>
            </a:r>
            <a:r>
              <a:rPr sz="2000" b="1" spc="-40" dirty="0">
                <a:latin typeface="Arial MT"/>
                <a:cs typeface="Times New Roman"/>
              </a:rPr>
              <a:t> </a:t>
            </a:r>
            <a:r>
              <a:rPr sz="2000" b="1" spc="-10" dirty="0">
                <a:latin typeface="Arial MT"/>
                <a:cs typeface="Times New Roman"/>
              </a:rPr>
              <a:t>is</a:t>
            </a:r>
            <a:r>
              <a:rPr sz="2000" b="1" spc="-20" dirty="0">
                <a:latin typeface="Arial MT"/>
                <a:cs typeface="Times New Roman"/>
              </a:rPr>
              <a:t> empty</a:t>
            </a:r>
            <a:r>
              <a:rPr sz="2000" spc="-20" dirty="0">
                <a:latin typeface="Arial MT"/>
                <a:cs typeface="Times New Roman"/>
              </a:rPr>
              <a:t>;</a:t>
            </a:r>
            <a:endParaRPr sz="2000" dirty="0">
              <a:latin typeface="Arial MT"/>
              <a:cs typeface="Times New Roman"/>
            </a:endParaRPr>
          </a:p>
          <a:p>
            <a:pPr marL="118110" marR="918210">
              <a:lnSpc>
                <a:spcPct val="100000"/>
              </a:lnSpc>
              <a:spcBef>
                <a:spcPts val="290"/>
              </a:spcBef>
            </a:pPr>
            <a:r>
              <a:rPr sz="2000" b="1" spc="-10" dirty="0">
                <a:solidFill>
                  <a:srgbClr val="C00000"/>
                </a:solidFill>
                <a:latin typeface="Arial MT"/>
                <a:cs typeface="Times New Roman"/>
              </a:rPr>
              <a:t>Step</a:t>
            </a:r>
            <a:r>
              <a:rPr sz="2000" b="1" spc="-1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 MT"/>
                <a:cs typeface="Times New Roman"/>
              </a:rPr>
              <a:t>5:</a:t>
            </a:r>
            <a:r>
              <a:rPr sz="2000" b="1" spc="-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If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count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of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visited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nodes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b="1" spc="-10" dirty="0">
                <a:latin typeface="Arial MT"/>
                <a:cs typeface="Times New Roman"/>
              </a:rPr>
              <a:t>not</a:t>
            </a:r>
            <a:r>
              <a:rPr sz="2000" b="1" spc="-3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equal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to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number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of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nodes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in</a:t>
            </a:r>
            <a:r>
              <a:rPr sz="2000" spc="47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graph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then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topological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sort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not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possible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for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given</a:t>
            </a:r>
            <a:r>
              <a:rPr sz="2000" spc="1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graph.</a:t>
            </a:r>
            <a:endParaRPr sz="20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545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27990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" dirty="0"/>
              <a:t>Topological</a:t>
            </a:r>
            <a:r>
              <a:rPr sz="4000" dirty="0"/>
              <a:t> </a:t>
            </a:r>
            <a:r>
              <a:rPr sz="4000" spc="-5" dirty="0"/>
              <a:t>Sort:</a:t>
            </a:r>
            <a:r>
              <a:rPr sz="4000" spc="-10" dirty="0"/>
              <a:t> </a:t>
            </a:r>
            <a:r>
              <a:rPr sz="4000" spc="-5" dirty="0"/>
              <a:t>Using </a:t>
            </a:r>
            <a:r>
              <a:rPr sz="4000" dirty="0"/>
              <a:t>In </a:t>
            </a:r>
            <a:r>
              <a:rPr sz="4000" spc="-15" dirty="0"/>
              <a:t>Degree</a:t>
            </a:r>
            <a:r>
              <a:rPr sz="4000" spc="-5" dirty="0"/>
              <a:t> (Algorithm)</a:t>
            </a:r>
            <a:endParaRPr sz="4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967" y="1496609"/>
            <a:ext cx="3922120" cy="33120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53319" y="2816881"/>
          <a:ext cx="6018526" cy="76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97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97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5979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5978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978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5978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5978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4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6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8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1279" y="1925234"/>
            <a:ext cx="3922120" cy="331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6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7681" y="2209659"/>
            <a:ext cx="3508615" cy="344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6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3024" y="2241264"/>
            <a:ext cx="3427424" cy="334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8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7482" y="2855524"/>
            <a:ext cx="3446622" cy="246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6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4347" y="2779599"/>
            <a:ext cx="2911069" cy="260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6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283" y="2741571"/>
            <a:ext cx="3258228" cy="243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1484" y="3494759"/>
            <a:ext cx="2989384" cy="140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51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74650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30" dirty="0"/>
              <a:t> </a:t>
            </a:r>
            <a:r>
              <a:rPr sz="4400" spc="-5" dirty="0"/>
              <a:t>Sort:</a:t>
            </a:r>
            <a:r>
              <a:rPr sz="4400" spc="-40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5279" y="2271330"/>
            <a:ext cx="6875152" cy="18799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17340" y="4824476"/>
            <a:ext cx="396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Topological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v1,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v2,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v3,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v4,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v5,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v6,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08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82270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When </a:t>
            </a:r>
            <a:r>
              <a:rPr sz="4400" spc="-20" dirty="0"/>
              <a:t>to</a:t>
            </a:r>
            <a:r>
              <a:rPr sz="4400" spc="-5" dirty="0"/>
              <a:t> </a:t>
            </a:r>
            <a:r>
              <a:rPr sz="4400" dirty="0"/>
              <a:t>use:</a:t>
            </a:r>
            <a:r>
              <a:rPr sz="4400" spc="-15" dirty="0"/>
              <a:t> </a:t>
            </a:r>
            <a:r>
              <a:rPr sz="4400" spc="-25" dirty="0"/>
              <a:t>BFS</a:t>
            </a:r>
            <a:r>
              <a:rPr sz="4400" spc="-15" dirty="0"/>
              <a:t> </a:t>
            </a:r>
            <a:r>
              <a:rPr sz="4400" spc="-10" dirty="0"/>
              <a:t>vs </a:t>
            </a:r>
            <a:r>
              <a:rPr sz="4400" spc="-25" dirty="0"/>
              <a:t>DFS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08404"/>
            <a:ext cx="10207625" cy="286956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Calibri"/>
              </a:rPr>
              <a:t>If </a:t>
            </a:r>
            <a:r>
              <a:rPr sz="2000" spc="-15" dirty="0">
                <a:latin typeface="Arial MT"/>
                <a:cs typeface="Calibri"/>
              </a:rPr>
              <a:t>we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know</a:t>
            </a:r>
            <a:r>
              <a:rPr sz="2000" spc="-10" dirty="0">
                <a:latin typeface="Arial MT"/>
                <a:cs typeface="Calibri"/>
              </a:rPr>
              <a:t> </a:t>
            </a:r>
            <a:r>
              <a:rPr sz="2000" dirty="0">
                <a:latin typeface="Arial MT"/>
                <a:cs typeface="Calibri"/>
              </a:rPr>
              <a:t>a </a:t>
            </a:r>
            <a:r>
              <a:rPr sz="2000" spc="-5" dirty="0">
                <a:latin typeface="Arial MT"/>
                <a:cs typeface="Calibri"/>
              </a:rPr>
              <a:t>solution </a:t>
            </a:r>
            <a:r>
              <a:rPr sz="2000" dirty="0">
                <a:latin typeface="Arial MT"/>
                <a:cs typeface="Calibri"/>
              </a:rPr>
              <a:t>is </a:t>
            </a:r>
            <a:r>
              <a:rPr sz="2000" spc="-5" dirty="0">
                <a:latin typeface="Arial MT"/>
                <a:cs typeface="Calibri"/>
              </a:rPr>
              <a:t>not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far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from</a:t>
            </a:r>
            <a:r>
              <a:rPr sz="2000" dirty="0">
                <a:latin typeface="Arial MT"/>
                <a:cs typeface="Calibri"/>
              </a:rPr>
              <a:t> the</a:t>
            </a:r>
            <a:r>
              <a:rPr sz="2000" spc="-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root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of</a:t>
            </a:r>
            <a:r>
              <a:rPr sz="2000" dirty="0">
                <a:latin typeface="Arial MT"/>
                <a:cs typeface="Calibri"/>
              </a:rPr>
              <a:t> the </a:t>
            </a:r>
            <a:r>
              <a:rPr sz="2000" spc="-5" dirty="0">
                <a:latin typeface="Arial MT"/>
                <a:cs typeface="Calibri"/>
              </a:rPr>
              <a:t>tree,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BFS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might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be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40" dirty="0">
                <a:latin typeface="Arial MT"/>
                <a:cs typeface="Calibri"/>
              </a:rPr>
              <a:t>better.</a:t>
            </a:r>
            <a:endParaRPr sz="2000" dirty="0">
              <a:latin typeface="Arial MT"/>
              <a:cs typeface="Calibri"/>
            </a:endParaRPr>
          </a:p>
          <a:p>
            <a:pPr marL="241300" marR="333375" indent="-228600">
              <a:lnSpc>
                <a:spcPts val="2210"/>
              </a:lnSpc>
              <a:spcBef>
                <a:spcPts val="10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Calibri"/>
              </a:rPr>
              <a:t>If</a:t>
            </a:r>
            <a:r>
              <a:rPr sz="2000" dirty="0">
                <a:latin typeface="Arial MT"/>
                <a:cs typeface="Calibri"/>
              </a:rPr>
              <a:t> the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tree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dirty="0">
                <a:latin typeface="Arial MT"/>
                <a:cs typeface="Calibri"/>
              </a:rPr>
              <a:t>is </a:t>
            </a:r>
            <a:r>
              <a:rPr sz="2000" spc="-5" dirty="0">
                <a:latin typeface="Arial MT"/>
                <a:cs typeface="Calibri"/>
              </a:rPr>
              <a:t>very deep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and solutions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are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rare,</a:t>
            </a:r>
            <a:r>
              <a:rPr sz="2000" spc="10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DFS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might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25" dirty="0">
                <a:latin typeface="Arial MT"/>
                <a:cs typeface="Calibri"/>
              </a:rPr>
              <a:t>take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dirty="0">
                <a:latin typeface="Arial MT"/>
                <a:cs typeface="Calibri"/>
              </a:rPr>
              <a:t>an</a:t>
            </a:r>
            <a:r>
              <a:rPr sz="2000" spc="-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extremely</a:t>
            </a:r>
            <a:r>
              <a:rPr sz="2000" spc="-5" dirty="0">
                <a:latin typeface="Arial MT"/>
                <a:cs typeface="Calibri"/>
              </a:rPr>
              <a:t> long </a:t>
            </a:r>
            <a:r>
              <a:rPr sz="2000" dirty="0">
                <a:latin typeface="Arial MT"/>
                <a:cs typeface="Calibri"/>
              </a:rPr>
              <a:t>time,</a:t>
            </a:r>
            <a:r>
              <a:rPr sz="2000" spc="-5" dirty="0">
                <a:latin typeface="Arial MT"/>
                <a:cs typeface="Calibri"/>
              </a:rPr>
              <a:t> but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BFS </a:t>
            </a:r>
            <a:r>
              <a:rPr sz="2000" spc="-434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could</a:t>
            </a:r>
            <a:r>
              <a:rPr sz="2000" spc="-1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be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40" dirty="0">
                <a:latin typeface="Arial MT"/>
                <a:cs typeface="Calibri"/>
              </a:rPr>
              <a:t>faster.</a:t>
            </a:r>
            <a:endParaRPr sz="2000" dirty="0">
              <a:latin typeface="Arial MT"/>
              <a:cs typeface="Calibri"/>
            </a:endParaRPr>
          </a:p>
          <a:p>
            <a:pPr marL="241300" marR="1074420" indent="-228600">
              <a:lnSpc>
                <a:spcPts val="2180"/>
              </a:lnSpc>
              <a:spcBef>
                <a:spcPts val="9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Calibri"/>
              </a:rPr>
              <a:t>If</a:t>
            </a:r>
            <a:r>
              <a:rPr sz="2000" dirty="0">
                <a:latin typeface="Arial MT"/>
                <a:cs typeface="Calibri"/>
              </a:rPr>
              <a:t> the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tree</a:t>
            </a:r>
            <a:r>
              <a:rPr sz="2000" dirty="0">
                <a:latin typeface="Arial MT"/>
                <a:cs typeface="Calibri"/>
              </a:rPr>
              <a:t> is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very</a:t>
            </a:r>
            <a:r>
              <a:rPr sz="2000" spc="-1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wide,</a:t>
            </a:r>
            <a:r>
              <a:rPr sz="2000" dirty="0">
                <a:latin typeface="Arial MT"/>
                <a:cs typeface="Calibri"/>
              </a:rPr>
              <a:t> a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BFS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might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need </a:t>
            </a:r>
            <a:r>
              <a:rPr sz="2000" spc="-10" dirty="0">
                <a:latin typeface="Arial MT"/>
                <a:cs typeface="Calibri"/>
              </a:rPr>
              <a:t>too</a:t>
            </a:r>
            <a:r>
              <a:rPr sz="2000" spc="-5" dirty="0">
                <a:latin typeface="Arial MT"/>
                <a:cs typeface="Calibri"/>
              </a:rPr>
              <a:t> much </a:t>
            </a:r>
            <a:r>
              <a:rPr sz="2000" spc="-25" dirty="0">
                <a:latin typeface="Arial MT"/>
                <a:cs typeface="Calibri"/>
              </a:rPr>
              <a:t>memory,</a:t>
            </a:r>
            <a:r>
              <a:rPr sz="2000" dirty="0">
                <a:latin typeface="Arial MT"/>
                <a:cs typeface="Calibri"/>
              </a:rPr>
              <a:t> so</a:t>
            </a:r>
            <a:r>
              <a:rPr sz="2000" spc="-5" dirty="0">
                <a:latin typeface="Arial MT"/>
                <a:cs typeface="Calibri"/>
              </a:rPr>
              <a:t> </a:t>
            </a:r>
            <a:r>
              <a:rPr sz="2000" dirty="0">
                <a:latin typeface="Arial MT"/>
                <a:cs typeface="Calibri"/>
              </a:rPr>
              <a:t>it </a:t>
            </a:r>
            <a:r>
              <a:rPr sz="2000" spc="-5" dirty="0">
                <a:latin typeface="Arial MT"/>
                <a:cs typeface="Calibri"/>
              </a:rPr>
              <a:t>might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be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completely </a:t>
            </a:r>
            <a:r>
              <a:rPr sz="2000" spc="-434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impractical.</a:t>
            </a:r>
            <a:endParaRPr sz="2000" dirty="0">
              <a:latin typeface="Arial MT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Calibri"/>
              </a:rPr>
              <a:t>If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solutions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are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frequent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but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located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deep </a:t>
            </a:r>
            <a:r>
              <a:rPr sz="2000" dirty="0">
                <a:latin typeface="Arial MT"/>
                <a:cs typeface="Calibri"/>
              </a:rPr>
              <a:t>in the </a:t>
            </a:r>
            <a:r>
              <a:rPr sz="2000" spc="-5" dirty="0">
                <a:latin typeface="Arial MT"/>
                <a:cs typeface="Calibri"/>
              </a:rPr>
              <a:t>tree,</a:t>
            </a:r>
            <a:r>
              <a:rPr sz="2000" spc="10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DFS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could be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40" dirty="0">
                <a:latin typeface="Arial MT"/>
                <a:cs typeface="Calibri"/>
              </a:rPr>
              <a:t>better.</a:t>
            </a:r>
            <a:endParaRPr sz="2000" dirty="0">
              <a:latin typeface="Arial MT"/>
              <a:cs typeface="Calibri"/>
            </a:endParaRPr>
          </a:p>
          <a:p>
            <a:pPr marL="241300" marR="5080" indent="-228600">
              <a:lnSpc>
                <a:spcPts val="2210"/>
              </a:lnSpc>
              <a:spcBef>
                <a:spcPts val="10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Calibri"/>
              </a:rPr>
              <a:t>If</a:t>
            </a:r>
            <a:r>
              <a:rPr sz="2000" dirty="0">
                <a:latin typeface="Arial MT"/>
                <a:cs typeface="Calibri"/>
              </a:rPr>
              <a:t> the </a:t>
            </a:r>
            <a:r>
              <a:rPr sz="2000" spc="-5" dirty="0">
                <a:latin typeface="Arial MT"/>
                <a:cs typeface="Calibri"/>
              </a:rPr>
              <a:t>search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tree</a:t>
            </a:r>
            <a:r>
              <a:rPr sz="2000" dirty="0">
                <a:latin typeface="Arial MT"/>
                <a:cs typeface="Calibri"/>
              </a:rPr>
              <a:t> is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very</a:t>
            </a:r>
            <a:r>
              <a:rPr sz="2000" spc="-1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deep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we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will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need </a:t>
            </a:r>
            <a:r>
              <a:rPr sz="2000" spc="-10" dirty="0">
                <a:latin typeface="Arial MT"/>
                <a:cs typeface="Calibri"/>
              </a:rPr>
              <a:t>to</a:t>
            </a:r>
            <a:r>
              <a:rPr sz="2000" spc="-5" dirty="0">
                <a:latin typeface="Arial MT"/>
                <a:cs typeface="Calibri"/>
              </a:rPr>
              <a:t> restrict</a:t>
            </a:r>
            <a:r>
              <a:rPr sz="2000" dirty="0">
                <a:latin typeface="Arial MT"/>
                <a:cs typeface="Calibri"/>
              </a:rPr>
              <a:t> the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search depth </a:t>
            </a:r>
            <a:r>
              <a:rPr sz="2000" spc="-15" dirty="0">
                <a:latin typeface="Arial MT"/>
                <a:cs typeface="Calibri"/>
              </a:rPr>
              <a:t>for</a:t>
            </a:r>
            <a:r>
              <a:rPr sz="2000" spc="10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DFS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(for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example</a:t>
            </a:r>
            <a:r>
              <a:rPr sz="2000" dirty="0">
                <a:latin typeface="Arial MT"/>
                <a:cs typeface="Calibri"/>
              </a:rPr>
              <a:t> with </a:t>
            </a:r>
            <a:r>
              <a:rPr sz="2000" spc="-434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iterative</a:t>
            </a:r>
            <a:r>
              <a:rPr sz="2000" spc="-5" dirty="0">
                <a:latin typeface="Arial MT"/>
                <a:cs typeface="Calibri"/>
              </a:rPr>
              <a:t> deepening).</a:t>
            </a:r>
            <a:endParaRPr sz="2000" dirty="0">
              <a:latin typeface="Arial M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169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4A546C-FFF8-027D-C16D-33B0687C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225" y="3152001"/>
            <a:ext cx="8083550" cy="55399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5DA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</TotalTime>
  <Words>849</Words>
  <Application>Microsoft Office PowerPoint</Application>
  <PresentationFormat>Widescreen</PresentationFormat>
  <Paragraphs>170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Arial MT</vt:lpstr>
      <vt:lpstr>Calibri</vt:lpstr>
      <vt:lpstr>Symbol</vt:lpstr>
      <vt:lpstr>Times New Roman</vt:lpstr>
      <vt:lpstr>Wingdings</vt:lpstr>
      <vt:lpstr>Office Theme</vt:lpstr>
      <vt:lpstr>PowerPoint Presentation</vt:lpstr>
      <vt:lpstr>Depth-First Search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– Example 2</vt:lpstr>
      <vt:lpstr>DFS – Example 2 </vt:lpstr>
      <vt:lpstr>DFS – Code</vt:lpstr>
      <vt:lpstr>DFS – Code</vt:lpstr>
      <vt:lpstr>DFS – Code</vt:lpstr>
      <vt:lpstr>Directed Acyclic Graph</vt:lpstr>
      <vt:lpstr>Topological Sort</vt:lpstr>
      <vt:lpstr>Precedence Example</vt:lpstr>
      <vt:lpstr>Precedence Example</vt:lpstr>
      <vt:lpstr>Why Acyclic?</vt:lpstr>
      <vt:lpstr>Topological Sort Algorithm</vt:lpstr>
      <vt:lpstr>Topological Sort: Example</vt:lpstr>
      <vt:lpstr>Topological Sort: Example</vt:lpstr>
      <vt:lpstr>Topological Sort: Example</vt:lpstr>
      <vt:lpstr>Topological Sort: Using In Degree (Algorithm)</vt:lpstr>
      <vt:lpstr>Topological Sort: Using In Degree (Algorithm)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Example</vt:lpstr>
      <vt:lpstr>When to use: BFS vs DFS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Fahmid Rifat</cp:lastModifiedBy>
  <cp:revision>424</cp:revision>
  <dcterms:created xsi:type="dcterms:W3CDTF">2022-06-16T11:58:56Z</dcterms:created>
  <dcterms:modified xsi:type="dcterms:W3CDTF">2023-07-23T14:01:31Z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